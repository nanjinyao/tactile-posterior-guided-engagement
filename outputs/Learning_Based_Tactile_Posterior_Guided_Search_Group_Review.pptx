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0" Type="http://schemas.openxmlformats.org/officeDocument/2006/relationships/tableStyles" Target="tableStyles.xml"/><Relationship Id="rId6" Type="http://schemas.openxmlformats.org/officeDocument/2006/relationships/slide" Target="slides/slide3.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Open the journal-review presentation with the paper's formal title, central question, and exact task boundary.</a:t>
            </a:r>
          </a:p>
          <a:p/>
          <a:p>
            <a:r>
              <a:t>Speaker notes</a:t>
            </a:r>
          </a:p>
          <a:p>
            <a:r>
              <a:t>Good afternoon. This work is titled Learning-Based Tactile Posterior-Guided Search for Robotic Hex-Socket Engagement. The question is deliberately narrow: after vision and CAD have brought a hex driver onto the screw head, can one low-force tactile observation reduce the remaining search effort without giving a learned model authority to declare success? The proposed answer is to use touch as partial evidence. A conical probe produces a circular posterior over direction and a contact-support estimate. That evidence updates a planar prior, supports only a bounded shortcut, and leaves unresolved uncertainty to a guarded physical search. Capture, recovery, and the terminal dwell remain independent of the network. I will first define why the direction-distance ambiguity matters, then build the framework layer by layer, and finally examine the simulation and hardware evidence. The demonstrated scope ends at verified geometric engagement, before any screw turning. Let me begin with the paper's answer in one picture.</a:t>
            </a:r>
          </a:p>
          <a:p/>
          <a:p>
            <a:r>
              <a:t>Discussion notes</a:t>
            </a:r>
          </a:p>
          <a:p>
            <a:r>
              <a:t>Q1: Is this a full robotic unscrewing system?</a:t>
            </a:r>
          </a:p>
          <a:p>
            <a:r>
              <a:t>A1: No. The paper starts at stable top contact and stops at verified geometric engagement. Torque coupling, thread release, and extraction are outside the demonstrated scope.</a:t>
            </a:r>
          </a:p>
          <a:p/>
          <a:p>
            <a:r>
              <a:t>Q2: What is the learned component allowed to decide?</a:t>
            </a:r>
          </a:p>
          <a:p>
            <a:r>
              <a:t>A2: It may propose a direction-conditioned, bounded search move. It may not certify capture, engagement, or task completion.</a:t>
            </a:r>
          </a:p>
          <a:p/>
          <a:p>
            <a:r>
              <a:t>Q3: Why use the word Search rather than Control in the title?</a:t>
            </a:r>
          </a:p>
          <a:p>
            <a:r>
              <a:t>A3: Search is the paper's formal title and scientific focus. Control refers to the shared compliant execution and guard layer inside the framework.</a:t>
            </a:r>
          </a:p>
          <a:p/>
          <a:p>
            <a:r>
              <a:t>Source map</a:t>
            </a:r>
          </a:p>
          <a:p>
            <a:r>
              <a:t>Paper title, Abstract, Introduction contribution list and scope statement, p.1; Fig. 1 for the hardware hero image.</a:t>
            </a:r>
          </a:p>
          <a:p/>
          <a:p>
            <a:r>
              <a:t>Permitted claim</a:t>
            </a:r>
          </a:p>
          <a:p>
            <a:r>
              <a:t>The paper studies learning-based tactile posterior-guided search for verified geometric hex-socket engagement.</a:t>
            </a:r>
          </a:p>
          <a:p/>
          <a:p>
            <a:r>
              <a:t>Claim not supported</a:t>
            </a:r>
          </a:p>
          <a:p>
            <a:r>
              <a:t>The work demonstrates full autonomous unscrewing or successful torque application.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State the complete method and authority boundary in under one minute.</a:t>
            </a:r>
          </a:p>
          <a:p/>
          <a:p>
            <a:r>
              <a:t>Speaker notes</a:t>
            </a:r>
          </a:p>
          <a:p>
            <a:r>
              <a:t>Here is the complete argument of the paper. We make one prescribed, low-force conical touch and interpret the resulting phase-indexed force, bending-torque, and height signal with a calibrated ensemble. The output is not a socket-center estimate. It is a circular direction posterior plus rough contact support. We combine that evidence with the existing CAD prior over possible centers. Only the well-supported part of the posterior becomes a short, capped move. Whatever remains uncertain is handled by either a local outward spiral or an entropy-grid residual route. Most importantly, the route proposal sits above an authority line. The physical loop still checks capture from measured contact, performs compliant insertion, recovers from rejected attempts, enforces wrench and tilt limits, and requires an independent bottom dwell. So the one-sentence takeaway is: learned touch can decide where to spend search motion, but it cannot decide that engagement has occurred. To see why this split is needed, we should first place engagement inside the larger unscrewing sequence.</a:t>
            </a:r>
          </a:p>
          <a:p/>
          <a:p>
            <a:r>
              <a:t>Discussion notes</a:t>
            </a:r>
          </a:p>
          <a:p>
            <a:r>
              <a:t>Q1: Why not let the network output the center directly?</a:t>
            </a:r>
          </a:p>
          <a:p>
            <a:r>
              <a:t>A1: The conical signal is usually more informative about bearing than radial offset. A point center would hide that ambiguity and could authorize an unsafe overshoot.</a:t>
            </a:r>
          </a:p>
          <a:p/>
          <a:p>
            <a:r>
              <a:t>Q2: What happens when the posterior is weak or points backward?</a:t>
            </a:r>
          </a:p>
          <a:p>
            <a:r>
              <a:t>A2: Its direct-motion budget contracts; if posterior mass behind the current contact reaches 0.20, the shortcut is set to zero.</a:t>
            </a:r>
          </a:p>
          <a:p/>
          <a:p>
            <a:r>
              <a:t>Q3: Does residual search mean the tactile model failed?</a:t>
            </a:r>
          </a:p>
          <a:p>
            <a:r>
              <a:t>A3: No. Residual search is an intentional part of the policy that handles uncertainty the observation cannot resolve.</a:t>
            </a:r>
          </a:p>
          <a:p/>
          <a:p>
            <a:r>
              <a:t>Source map</a:t>
            </a:r>
          </a:p>
          <a:p>
            <a:r>
              <a:t>Abstract, p.1; control architecture and authority split, Sec. III and Fig. 2, p.4; Discussion and Conclusion, p.13.</a:t>
            </a:r>
          </a:p>
          <a:p/>
          <a:p>
            <a:r>
              <a:t>Permitted claim</a:t>
            </a:r>
          </a:p>
          <a:p>
            <a:r>
              <a:t>One tactile observation can support a bounded shortcut while guarded residual search and independent verification retain physical authority.</a:t>
            </a:r>
          </a:p>
          <a:p/>
          <a:p>
            <a:r>
              <a:t>Claim not supported</a:t>
            </a:r>
          </a:p>
          <a:p>
            <a:r>
              <a:t>The model predicts the exact socket center or detects engagement on its own.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Narrow the task from complete unscrewing to the geometric engagement gate that precedes torque.</a:t>
            </a:r>
          </a:p>
          <a:p/>
          <a:p>
            <a:r>
              <a:t>Speaker notes</a:t>
            </a:r>
          </a:p>
          <a:p>
            <a:r>
              <a:t>Hex-socket unscrewing is often discussed as a torque-control problem, but torque control cannot begin until the driver has entered the recessed socket. The larger operation can be viewed as localization, geometric engagement, first-turn coupling, thread release, and extraction. This paper isolates the second stage. The robot begins after a visual or CAD estimate has brought the tool to a stable top contact. It then searches laterally, detects a physical capture cue, inserts compliantly, and accepts the trial only after a safe terminal-depth dwell. This separation is important for interpreting every result that follows. A terminal event means that the driver reached and maintained the geometric engagement condition defined in the paper. It does not show that the driver coupled under torque, that the fastener broke free, or that the screw was extracted. By studying this gate separately, we can ask a clean question about how touch changes search effort. The next slide shows why a nominally small residual localization error makes that gate nontrivial.</a:t>
            </a:r>
          </a:p>
          <a:p/>
          <a:p>
            <a:r>
              <a:t>Discussion notes</a:t>
            </a:r>
          </a:p>
          <a:p>
            <a:r>
              <a:t>Q1: Why stop before applying torque?</a:t>
            </a:r>
          </a:p>
          <a:p>
            <a:r>
              <a:t>A1: Torque introduces additional failure modes such as first-turn slip, coupling loss, thread release, and extraction. They require separate contact rules and evidence.</a:t>
            </a:r>
          </a:p>
          <a:p/>
          <a:p>
            <a:r>
              <a:t>Q2: What exactly is the endpoint in this study?</a:t>
            </a:r>
          </a:p>
          <a:p>
            <a:r>
              <a:t>A2: A sensor-side capture followed by safe depth progress and the prescribed steady bottom-mode dwell before the time limit.</a:t>
            </a:r>
          </a:p>
          <a:p/>
          <a:p>
            <a:r>
              <a:t>Q3: Can the hardware terminal runs be called unscrewing successes?</a:t>
            </a:r>
          </a:p>
          <a:p>
            <a:r>
              <a:t>A3: No. They are verified geometric-engagement runs only.</a:t>
            </a:r>
          </a:p>
          <a:p/>
          <a:p>
            <a:r>
              <a:t>Source map</a:t>
            </a:r>
          </a:p>
          <a:p>
            <a:r>
              <a:t>Introduction opening and explicit scope statement, p.1; verified-engagement definition, Sec. II-A, Eqs. (4)-(5), p.2; Discussion and Conclusion, p.13.</a:t>
            </a:r>
          </a:p>
          <a:p/>
          <a:p>
            <a:r>
              <a:t>Permitted claim</a:t>
            </a:r>
          </a:p>
          <a:p>
            <a:r>
              <a:t>Geometric socket engagement is a necessary gate before torque can be applied, and it is the endpoint evaluated here.</a:t>
            </a:r>
          </a:p>
          <a:p/>
          <a:p>
            <a:r>
              <a:t>Claim not supported</a:t>
            </a:r>
          </a:p>
          <a:p>
            <a:r>
              <a:t>A verified terminal dwell demonstrates torque coupling, thread release, or screw extraction.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Make the residual alignment uncertainty concrete relative to the socket's limited capture geometry.</a:t>
            </a:r>
          </a:p>
          <a:p/>
          <a:p>
            <a:r>
              <a:t>Speaker notes</a:t>
            </a:r>
          </a:p>
          <a:p>
            <a:r>
              <a:t>At stable top contact, the controller knows the tool position, which I denote by x-zero, but it does not know the true socket center C. The visual and CAD estimate is represented as a planar distribution rather than a trusted point. For the M8 study, the prior uses a two-millimeter standard deviation and is truncated at a radius of 4.895 millimeters. That range is comparable to the few-millimeter geometry in which chamfer and compliance can guide the driver into capture. If the tool descends too early, it stays on the screw head. A global outward spiral is designed to cover the region, but it revisits locations that the first contact may already make unlikely. The design opportunity is to use the tactile cue to contract where we search, without pretending that it removes all uncertainty. This geometric tension motivates the literature gap: existing methods provide compliance, exploration, or tactile inference, but they do not directly resolve how much motion authority an incomplete cue should receive.</a:t>
            </a:r>
          </a:p>
          <a:p/>
          <a:p>
            <a:r>
              <a:t>Discussion notes</a:t>
            </a:r>
          </a:p>
          <a:p>
            <a:r>
              <a:t>Q1: Where do sigma_v = 2 mm and R_v = 4.895 mm apply?</a:t>
            </a:r>
          </a:p>
          <a:p>
            <a:r>
              <a:t>A1: They parameterize the truncated M8 visual/CAD prior used in the paper's particle belief; they are not universal camera-error values.</a:t>
            </a:r>
          </a:p>
          <a:p/>
          <a:p>
            <a:r>
              <a:t>Q2: Is the capture radius the same as the prior radius?</a:t>
            </a:r>
          </a:p>
          <a:p>
            <a:r>
              <a:t>A2: No. The prior radius bounds possible center locations. The effective capture radius is size-specific and comes from clearance, chamfer geometry, and compliant slack.</a:t>
            </a:r>
          </a:p>
          <a:p/>
          <a:p>
            <a:r>
              <a:t>Q3: Why not simply increase compliance?</a:t>
            </a:r>
          </a:p>
          <a:p>
            <a:r>
              <a:t>A3: Compliance can absorb small errors, but it does not choose where to contact next when the residual offset exceeds the passive capture region.</a:t>
            </a:r>
          </a:p>
          <a:p/>
          <a:p>
            <a:r>
              <a:t>Source map</a:t>
            </a:r>
          </a:p>
          <a:p>
            <a:r>
              <a:t>Introduction, pp.1-2; task variables and prior, Sec. II-A, p.2; M8 particle prior, Eq. (13), p.3; shortcut geometry, Fig. 4, p.5.</a:t>
            </a:r>
          </a:p>
          <a:p/>
          <a:p>
            <a:r>
              <a:t>Permitted claim</a:t>
            </a:r>
          </a:p>
          <a:p>
            <a:r>
              <a:t>The M8 prior spans a few-millimeter region that can be comparable to the available capture geometry, so search remains necessary after visual alignment.</a:t>
            </a:r>
          </a:p>
          <a:p/>
          <a:p>
            <a:r>
              <a:t>Claim not supported</a:t>
            </a:r>
          </a:p>
          <a:p>
            <a:r>
              <a:t>The stated prior parameters are a measured universal vision error or an exact capture-range measurement.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Position the research gap by organizing prior work around what it does and does not decide.</a:t>
            </a:r>
          </a:p>
          <a:p/>
          <a:p>
            <a:r>
              <a:t>Speaker notes</a:t>
            </a:r>
          </a:p>
          <a:p>
            <a:r>
              <a:t>The related work can be read as a progression of capabilities. Compliance and remote-center mechanisms let geometry correct small mating errors, but they do not decide the next contact when the offset is larger. Global search provides coverage, but it spends motion without using directional evidence already present in touch. Belief-space, contact-implicit, and complementarity methods reason more explicitly about uncertainty and contact modes, although their general planning problem is broader than the last few millimeters considered here. Tactile pose estimation and active extrinsic sensing show that prescribed contact motions can reveal geometry. More recent learned tactile, visuotactile, and insertion policies extend the sensing and adaptation capability. Yet one operational question remains exposed for this probe: when touch indicates bearing more reliably than distance, how far should the robot actually move? Final engagement also still needs explicit force and timing rules. This paper addresses that missing motion-authority decision, rather than proposing a new general contact planner. The next slide turns the gap into a simple geometric choice.</a:t>
            </a:r>
          </a:p>
          <a:p/>
          <a:p>
            <a:r>
              <a:t>Discussion notes</a:t>
            </a:r>
          </a:p>
          <a:p>
            <a:r>
              <a:t>Q1: Is this paper claiming that belief-space planning cannot solve the task?</a:t>
            </a:r>
          </a:p>
          <a:p>
            <a:r>
              <a:t>A1: No. Those methods are important context. The paper targets a narrower action-allocation rule for one tactile observation near the socket.</a:t>
            </a:r>
          </a:p>
          <a:p/>
          <a:p>
            <a:r>
              <a:t>Q2: Are FORGE or other recent methods quantitatively compared?</a:t>
            </a:r>
          </a:p>
          <a:p>
            <a:r>
              <a:t>A2: No. Their sensing, action, and terminal rules are not reproduced, so the paper does not assign them a numerical baseline row.</a:t>
            </a:r>
          </a:p>
          <a:p/>
          <a:p>
            <a:r>
              <a:t>Q3: What is novel relative to tactile pose identification?</a:t>
            </a:r>
          </a:p>
          <a:p>
            <a:r>
              <a:t>A3: The emphasis is converting incomplete directional evidence into a bounded action and residual search while keeping verification outside learning.</a:t>
            </a:r>
          </a:p>
          <a:p/>
          <a:p>
            <a:r>
              <a:t>Source map</a:t>
            </a:r>
          </a:p>
          <a:p>
            <a:r>
              <a:t>Introduction literature funnel and references [2], [4]-[33], p.1; baseline disclaimer concerning related force-guided and belief-space work, Sec. IV-A, p.6.</a:t>
            </a:r>
          </a:p>
          <a:p/>
          <a:p>
            <a:r>
              <a:t>Permitted claim</a:t>
            </a:r>
          </a:p>
          <a:p>
            <a:r>
              <a:t>Prior work motivates compliance, tactile inference, and uncertainty-aware planning; this paper focuses on the unresolved action distance justified by incomplete tactile direction evidence.</a:t>
            </a:r>
          </a:p>
          <a:p/>
          <a:p>
            <a:r>
              <a:t>Claim not supported</a:t>
            </a:r>
          </a:p>
          <a:p>
            <a:r>
              <a:t>The paper proves superiority over all belief-space, tactile-insertion, or diffusion-policy methods.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Define the core research question as selecting a safe travel distance along an uncertain bearing.</a:t>
            </a:r>
          </a:p>
          <a:p/>
          <a:p>
            <a:r>
              <a:t>Speaker notes</a:t>
            </a:r>
          </a:p>
          <a:p>
            <a:r>
              <a:t>Suppose the tactile scan gives a plausible bearing from the current contact toward the socket. That still leaves a continuum of possible centers along the same ray. If we ignore the cue, we fall back to a global search and waste the useful contact. If we treat the bearing as a complete pose estimate and move to a guessed endpoint, we may overshoot a small socket or pass beside it. The key decision is therefore not simply which direction to move, but how far that direction should be trusted. The paper answers with two safeguards. First, the tactile posterior reweights a planar prior that still contains radial uncertainty. Second, the controller converts only a supported quantile of that belief into direct travel, subject to a radial fraction and a command cap. The remaining region is searched explicitly. This framing changes learning from point prediction into motion-budget allocation. Before showing the equations, I want to make the resulting authority boundary completely explicit.</a:t>
            </a:r>
          </a:p>
          <a:p/>
          <a:p>
            <a:r>
              <a:t>Discussion notes</a:t>
            </a:r>
          </a:p>
          <a:p>
            <a:r>
              <a:t>Q1: Could distance be learned from the same four channels?</a:t>
            </a:r>
          </a:p>
          <a:p>
            <a:r>
              <a:t>A1: Possibly with different data and validation, but this paper preserves the observed direction-distance ambiguity instead of claiming reliable radial regression.</a:t>
            </a:r>
          </a:p>
          <a:p/>
          <a:p>
            <a:r>
              <a:t>Q2: Why use a quantile rather than the posterior mean?</a:t>
            </a:r>
          </a:p>
          <a:p>
            <a:r>
              <a:t>A2: A quantile provides a direct retained-mass interpretation and avoids turning asymmetric or multimodal support into one potentially unsafe mean endpoint.</a:t>
            </a:r>
          </a:p>
          <a:p/>
          <a:p>
            <a:r>
              <a:t>Q3: What prevents a long shortcut when direction looks sharp but points the wrong way?</a:t>
            </a:r>
          </a:p>
          <a:p>
            <a:r>
              <a:t>A3: Ensemble disagreement and posterior mass behind the contact reduce the quality score; reverse mass at or above 0.20 disables the shortcut.</a:t>
            </a:r>
          </a:p>
          <a:p/>
          <a:p>
            <a:r>
              <a:t>Source map</a:t>
            </a:r>
          </a:p>
          <a:p>
            <a:r>
              <a:t>Introduction direction-distance gap, p.1; Direction-distance ambiguity, Sec. II-B, Eqs. (6)-(7), p.3; shortcut rule, Sec. III-C, Eqs. (16)-(19), pp.3-5.</a:t>
            </a:r>
          </a:p>
          <a:p/>
          <a:p>
            <a:r>
              <a:t>Permitted claim</a:t>
            </a:r>
          </a:p>
          <a:p>
            <a:r>
              <a:t>The method treats travel distance as a risk-bounded decision derived from a posterior-weighted planar belief.</a:t>
            </a:r>
          </a:p>
          <a:p/>
          <a:p>
            <a:r>
              <a:t>Claim not supported</a:t>
            </a:r>
          </a:p>
          <a:p>
            <a:r>
              <a:t>A reliable radial offset is directly inferred from the conical scan.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Establish the non-negotiable authority split between learned route proposals and physical task certification.</a:t>
            </a:r>
          </a:p>
          <a:p/>
          <a:p>
            <a:r>
              <a:t>Speaker notes</a:t>
            </a:r>
          </a:p>
          <a:p>
            <a:r>
              <a:t>This authority split is the central safety and validity principle of the paper. Above the line, learning may summarize the conical observation, reweight the CAD prior, and propose a bounded shortcut plus a residual route. Below the line, measured interaction remains in charge. A capture cue only hands control to a compliant insertion attempt; it does not force insertion and does not count as success. If progress stalls or tilt grows, the controller recovers to a searchable contact state. Every wrench and tilt component is guarded, and a force-limit event ends the trial. Finally, engagement is accepted only after the independent depth-based bottom dwell is satisfied within the time budget. This separation matters because the observation model can shift with friction, compliance, registration, sensor bias, or the installed tool stack. A weak learned cue may still shorten a route, but it cannot sign off on its own result. With that contract fixed, we can state the paper's contributions without overstating what learning does.</a:t>
            </a:r>
          </a:p>
          <a:p/>
          <a:p>
            <a:r>
              <a:t>Discussion notes</a:t>
            </a:r>
          </a:p>
          <a:p>
            <a:r>
              <a:t>Q1: Is the independent verifier formally certified?</a:t>
            </a:r>
          </a:p>
          <a:p>
            <a:r>
              <a:t>A1: No. It is a deterministic sensor-side predicate with explicit depth, dwell, safety, and time rules; the paper does not claim formal system certification.</a:t>
            </a:r>
          </a:p>
          <a:p/>
          <a:p>
            <a:r>
              <a:t>Q2: Can a predicted high contact-support score trigger success?</a:t>
            </a:r>
          </a:p>
          <a:p>
            <a:r>
              <a:t>A2: No. Contact support contributes to belief weighting only. Capture and terminal acceptance use the physical loop.</a:t>
            </a:r>
          </a:p>
          <a:p/>
          <a:p>
            <a:r>
              <a:t>Q3: What happens after a physical guard is violated?</a:t>
            </a:r>
          </a:p>
          <a:p>
            <a:r>
              <a:t>A3: A force-limit stop ends the trial; protected post-capture exits and budget or terminal rejection also count as failures in the benchmark.</a:t>
            </a:r>
          </a:p>
          <a:p/>
          <a:p>
            <a:r>
              <a:t>Source map</a:t>
            </a:r>
          </a:p>
          <a:p>
            <a:r>
              <a:t>Abstract and Introduction authority statements, p.1; Fig. 2 and Sec. III, p.4; compliant capture, recovery, and verification, Sec. III-D, Eqs. (26)-(30), pp.5-6; Discussion, p.13.</a:t>
            </a:r>
          </a:p>
          <a:p/>
          <a:p>
            <a:r>
              <a:t>Permitted claim</a:t>
            </a:r>
          </a:p>
          <a:p>
            <a:r>
              <a:t>Learning proposes bounded routing, while measured capture, recovery, safety guards, and terminal verification remain separate.</a:t>
            </a:r>
          </a:p>
          <a:p/>
          <a:p>
            <a:r>
              <a:t>Claim not supported</a:t>
            </a:r>
          </a:p>
          <a:p>
            <a:r>
              <a:t>The neural model provides a safety certificate or determines successful engagement.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Summarize the paper's three contributions and preview the progressive method zoom-in.</a:t>
            </a:r>
          </a:p>
          <a:p/>
          <a:p>
            <a:r>
              <a:t>Speaker notes</a:t>
            </a:r>
          </a:p>
          <a:p>
            <a:r>
              <a:t>The paper makes three linked contributions. First, it extracts a phase-indexed tactile observation from one low-force conical touch. A calibrated ensemble produces a circular direction posterior and a rough contact-support estimate while leaving radial ambiguity visible. Second, it turns that partial evidence into action. The posterior reweights a finite planar prior, a quality-adaptive rule allocates a capped shortcut, and either a local spiral or an entropy grid searches the residual region through the same compliant controller. Third, it evaluates the complete split between learned guidance and physical checking. The study includes paired M8 search, a controlled direct-ray representation check, recovery ablation, cross-size simulation, registered conical acquisition at M8, M10, and M12, and selected real-robot mechanism runs. These contributions should be judged together: a tactile cue, a bounded action rule, and a guarded execution loop. I will now define the task and outcome precisely, because the experimental conclusions are only meaningful once the start state, hidden variables, and verified endpoint are frozen.</a:t>
            </a:r>
          </a:p>
          <a:p/>
          <a:p>
            <a:r>
              <a:t>Discussion notes</a:t>
            </a:r>
          </a:p>
          <a:p>
            <a:r>
              <a:t>Q1: Which contribution is the main algorithmic novelty?</a:t>
            </a:r>
          </a:p>
          <a:p>
            <a:r>
              <a:t>A1: The key method contribution is converting a circular tactile posterior and planar prior into a quality-adaptive bounded shortcut plus residual search.</a:t>
            </a:r>
          </a:p>
          <a:p/>
          <a:p>
            <a:r>
              <a:t>Q2: Does the evaluation establish randomized hardware performance?</a:t>
            </a:r>
          </a:p>
          <a:p>
            <a:r>
              <a:t>A2: No. Hardware provides acquisition evidence and selected named or fixed-start mechanism checks, not a policy-level success rate.</a:t>
            </a:r>
          </a:p>
          <a:p/>
          <a:p>
            <a:r>
              <a:t>Q3: Why include both PGS-O and PGS-G?</a:t>
            </a:r>
          </a:p>
          <a:p>
            <a:r>
              <a:t>A3: They share the same posterior shortcut and physical loop, allowing the study to ask whether a more task-aware residual planner improves on a local spiral.</a:t>
            </a:r>
          </a:p>
          <a:p/>
          <a:p>
            <a:r>
              <a:t>Source map</a:t>
            </a:r>
          </a:p>
          <a:p>
            <a:r>
              <a:t>Introduction contribution list, p.1; method overview, Sec. III, pp.3-6; experiment structure, Sec. IV-A to IV-F, pp.6-12.</a:t>
            </a:r>
          </a:p>
          <a:p/>
          <a:p>
            <a:r>
              <a:t>Permitted claim</a:t>
            </a:r>
          </a:p>
          <a:p>
            <a:r>
              <a:t>The contributions are a phase-indexed tactile cue, a bounded posterior-guided action rule with residual search, and a paired evaluation under shared physical guards.</a:t>
            </a:r>
          </a:p>
          <a:p/>
          <a:p>
            <a:r>
              <a:t>Claim not supported</a:t>
            </a:r>
          </a:p>
          <a:p>
            <a:r>
              <a:t>Each component independently guarantees engagement or generalizes to arbitrary sockets and hardware.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Define the trial start, endpoint, coordinate frames, and unknown geometric state.</a:t>
            </a:r>
          </a:p>
          <a:p/>
          <a:p>
            <a:r>
              <a:t>Speaker notes</a:t>
            </a:r>
          </a:p>
          <a:p>
            <a:r>
              <a:t>The task begins at the first stable top contact. In the paper's convention, frame b is the robot base, frame p is the fixture and socket plate, and frame f is the force-sensing tool interaction frame. All planar quantities are written in the fixture frame, and all z axes point upward, so engagement depth grows along negative z-p. The known initial tool location is x-zero. The unknown socket center is C. A truncated visual or CAD prior distributes possible centers over a finite planar support around that contact. From this state, the robot performs the conical observation, plans its route, searches for a measured capture cue, and attempts compliant insertion. The trial ends successfully only at verified geometric engagement, not at the first apparent drop or at the model's preferred location. This coordinate and state definition lets us separate commanded motion, measured motion, and privileged grading information. That distinction is the subject of the next slide: what the controller may observe online, and what it must never use.</a:t>
            </a:r>
          </a:p>
          <a:p/>
          <a:p>
            <a:r>
              <a:t>Discussion notes</a:t>
            </a:r>
          </a:p>
          <a:p>
            <a:r>
              <a:t>Q1: Why express planar motion in the fixture frame?</a:t>
            </a:r>
          </a:p>
          <a:p>
            <a:r>
              <a:t>A1: The socket geometry and registered task plane are fixed there, making offsets, paths, and insertion depth interpretable across robot commands.</a:t>
            </a:r>
          </a:p>
          <a:p/>
          <a:p>
            <a:r>
              <a:t>Q2: Is x-zero the visual estimate of the center?</a:t>
            </a:r>
          </a:p>
          <a:p>
            <a:r>
              <a:t>A2: No. It is the tool position at first stable top contact. The unknown center C is represented by a prior around that state.</a:t>
            </a:r>
          </a:p>
          <a:p/>
          <a:p>
            <a:r>
              <a:t>Q3: Does the task start before touchdown?</a:t>
            </a:r>
          </a:p>
          <a:p>
            <a:r>
              <a:t>A3: No. The analyzed engagement trial starts from stable top contact; upstream visual approach is assumed rather than evaluated.</a:t>
            </a:r>
          </a:p>
          <a:p/>
          <a:p>
            <a:r>
              <a:t>Source map</a:t>
            </a:r>
          </a:p>
          <a:p>
            <a:r>
              <a:t>Fig. 1 and caption, pp.1-2; Task and observations, Sec. II-A, p.2; Eqs. (1)-(5).</a:t>
            </a:r>
          </a:p>
          <a:p/>
          <a:p>
            <a:r>
              <a:t>Permitted claim</a:t>
            </a:r>
          </a:p>
          <a:p>
            <a:r>
              <a:t>The controller searches from a known stable-contact tool state x0 toward an unknown planar socket center represented by a finite CAD prior.</a:t>
            </a:r>
          </a:p>
          <a:p/>
          <a:p>
            <a:r>
              <a:t>Claim not supported</a:t>
            </a:r>
          </a:p>
          <a:p>
            <a:r>
              <a:t>The upstream visual approach or global socket localization is evaluated as part of this paper.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Separate online controller inputs from true-center and contact labels used only for offline grading.</a:t>
            </a:r>
          </a:p>
          <a:p/>
          <a:p>
            <a:r>
              <a:t>Speaker notes</a:t>
            </a:r>
          </a:p>
          <a:p>
            <a:r>
              <a:t>Online, the controller has a deliberately limited information set. It reads the robot pose, the six-axis wrench, probe phase, the registered socket geometry, and the visual or CAD prior. During the conical scan, it also records the axial-force, bending-torque, and tip-height channels that feed the observation model. It never receives the true center C or simulator contact labels. Those variables are held back and appear only in offline grading and explanatory figures. This matters when reading plots that show a center marker or a capture disk: those marks help us assess the route after the fact; they are not controller inputs. The height channel needs the same caution. It records the tool motion synchronized with the wrench signal, but the paper explicitly does not treat it as an insertion detector. Capture and bottom mode come from separate physical predicates. With privileged information removed from online control, we can now define exactly what must happen before any trial is counted as successful.</a:t>
            </a:r>
          </a:p>
          <a:p/>
          <a:p>
            <a:r>
              <a:t>Discussion notes</a:t>
            </a:r>
          </a:p>
          <a:p>
            <a:r>
              <a:t>Q1: Does simulation expose ground-truth contacts to the planner?</a:t>
            </a:r>
          </a:p>
          <a:p>
            <a:r>
              <a:t>A1: No. Ground-truth center and contact labels are withheld from online policies and used only for offline checking.</a:t>
            </a:r>
          </a:p>
          <a:p/>
          <a:p>
            <a:r>
              <a:t>Q2: Why include z_tip if it cannot detect insertion?</a:t>
            </a:r>
          </a:p>
          <a:p>
            <a:r>
              <a:t>A2: It provides phase-aligned geometric context to the tactile model; terminal depth is evaluated by an independent runtime predicate.</a:t>
            </a:r>
          </a:p>
          <a:p/>
          <a:p>
            <a:r>
              <a:t>Q3: What wrench is measured?</a:t>
            </a:r>
          </a:p>
          <a:p>
            <a:r>
              <a:t>A3: The controller reads six components at the interaction sensor frame. Hardware plots are same-run baseline-relative at the Bota sensor origin, not certified tip wrench.</a:t>
            </a:r>
          </a:p>
          <a:p/>
          <a:p>
            <a:r>
              <a:t>Source map</a:t>
            </a:r>
          </a:p>
          <a:p>
            <a:r>
              <a:t>Sec. II-A, Eq. (1) and observation description, p.2; Eqs. (2)-(3); Fig. 4 grading-label caption, p.5; hardware wrench qualification, Fig. 8 caption and Discussion, pp.10 and 13.</a:t>
            </a:r>
          </a:p>
          <a:p/>
          <a:p>
            <a:r>
              <a:t>Permitted claim</a:t>
            </a:r>
          </a:p>
          <a:p>
            <a:r>
              <a:t>Online routing uses pose, measured wrench, phase-indexed observation channels, registered geometry, and a CAD prior; truth labels remain offline.</a:t>
            </a:r>
          </a:p>
          <a:p/>
          <a:p>
            <a:r>
              <a:t>Claim not supported</a:t>
            </a:r>
          </a:p>
          <a:p>
            <a:r>
              <a:t>Ground-truth center, simulator contact labels, or z_tip-based success labels are available to the deployed policy.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Freeze the verified-engagement predicate and conditional efficiency measures before showing results.</a:t>
            </a:r>
          </a:p>
          <a:p/>
          <a:p>
            <a:r>
              <a:t>Speaker notes</a:t>
            </a:r>
          </a:p>
          <a:p>
            <a:r>
              <a:t>A trial is not successful at the first apparent capture. The paper requires a sequence and a safety condition. First, a measured sensor-side capture predicate must occur at time t-c. Then the tool must make sufficient axial progress and remain in bottom mode for the prescribed dwell, producing t-b. Safety must remain true throughout, and t-b must occur before the 130-second limit. Only this combined event is called verified engagement. For verified trials, the paper reports completion time from touchdown to the terminal dwell, measured planar path length, and a contact-work proxy formed from force-motion and torque-rotation terms. That last quantity is a comparative proxy, not a direct measurement of wear or electrical energy. Peak wrench and exit reason are retained to interpret failures. A force-limit stop, protected post-capture stop, or exhausted search or time budget is a failure. Freezing this definition avoids counting visually plausible intermediate states. Next, I will show why the directional estimate alone still cannot choose a safe endpoint.</a:t>
            </a:r>
          </a:p>
          <a:p/>
          <a:p>
            <a:r>
              <a:t>Discussion notes</a:t>
            </a:r>
          </a:p>
          <a:p>
            <a:r>
              <a:t>Q1: Why require both capture and bottom dwell?</a:t>
            </a:r>
          </a:p>
          <a:p>
            <a:r>
              <a:t>A1: Capture marks a possible geometric handoff; sustained depth progress under safety guards rejects transient or false capture cues.</a:t>
            </a:r>
          </a:p>
          <a:p/>
          <a:p>
            <a:r>
              <a:t>Q2: Are time and path medians computed over all trials?</a:t>
            </a:r>
          </a:p>
          <a:p>
            <a:r>
              <a:t>A2: Table II's within-method medians are over verified trials and are descriptive. Inferential efficiency comparisons use paired differences on joint completions.</a:t>
            </a:r>
          </a:p>
          <a:p/>
          <a:p>
            <a:r>
              <a:t>Q3: Is E_w physical wear or consumed energy?</a:t>
            </a:r>
          </a:p>
          <a:p>
            <a:r>
              <a:t>A3: No. It is explicitly a contact-work proxy used for comparative interpretation.</a:t>
            </a:r>
          </a:p>
          <a:p/>
          <a:p>
            <a:r>
              <a:t>Q4: Can a late engagement after 130 seconds count?</a:t>
            </a:r>
          </a:p>
          <a:p>
            <a:r>
              <a:t>A4: Not in the benchmark. Exceeding T_max is a failure unless a separately described extension is used only as a mechanism check.</a:t>
            </a:r>
          </a:p>
          <a:p/>
          <a:p>
            <a:r>
              <a:t>Source map</a:t>
            </a:r>
          </a:p>
          <a:p>
            <a:r>
              <a:t>Verified event and measures, Sec. II-A, Eqs. (4)-(5), p.2; experiment measure definitions, Sec. IV-A, p.6; Table II, p.7.</a:t>
            </a:r>
          </a:p>
          <a:p/>
          <a:p>
            <a:r>
              <a:t>Permitted claim</a:t>
            </a:r>
          </a:p>
          <a:p>
            <a:r>
              <a:t>Verified engagement requires capture, a safe terminal-depth dwell, and completion within 130 seconds; efficiency measures are interpreted under that endpoint.</a:t>
            </a:r>
          </a:p>
          <a:p/>
          <a:p>
            <a:r>
              <a:t>Claim not supported</a:t>
            </a:r>
          </a:p>
          <a:p>
            <a:r>
              <a:t>Any capture cue, visible insertion, or post-budget engagement is automatically a benchmark success.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planar geometry to show why a direction-only prediction cannot determine endpoint distance.</a:t>
            </a:r>
          </a:p>
          <a:p/>
          <a:p>
            <a:r>
              <a:t>Speaker notes</a:t>
            </a:r>
          </a:p>
          <a:p>
            <a:r>
              <a:t>Let r be the unknown distance from the current contact x-zero to the true center, and let epsilon be the circular error between the predicted and true bearings. For an ideal planar ray, the closest lateral miss is r times the absolute sine of epsilon, while the forward projection is r times the cosine of epsilon. The ray can intersect the effective capture disk only if the lateral gap is no larger than r-effective and the projection remains forward. The consequence is simple but important: the same angular error may be harmless when the socket is nearby and a complete miss when it is farther away. The conical scan does not directly observe r, so even a sharp direction posterior is insufficient to select a safe endpoint. This is why the paper does not convert the top angular bin into a center coordinate. It first updates a planar center belief and then allocates travel from that belief. The next slide summarizes how uncertainty changes that allocation before we examine each computation.</a:t>
            </a:r>
          </a:p>
          <a:p/>
          <a:p>
            <a:r>
              <a:t>Discussion notes</a:t>
            </a:r>
          </a:p>
          <a:p>
            <a:r>
              <a:t>Q1: What does r_eff represent?</a:t>
            </a:r>
          </a:p>
          <a:p>
            <a:r>
              <a:t>A1: It is a size-specific safe planar capture radius derived from hex clearance, chamfer geometry, and compliant contact slack.</a:t>
            </a:r>
          </a:p>
          <a:p/>
          <a:p>
            <a:r>
              <a:t>Q2: Does a zero angular error guarantee capture?</a:t>
            </a:r>
          </a:p>
          <a:p>
            <a:r>
              <a:t>A2: Only under the ideal planar geometry and forward-ray conditions; real tracking, contact, safety, and budget limits still apply.</a:t>
            </a:r>
          </a:p>
          <a:p/>
          <a:p>
            <a:r>
              <a:t>Q3: Why require a positive forward projection?</a:t>
            </a:r>
          </a:p>
          <a:p>
            <a:r>
              <a:t>A3: A center behind the current contact is not reached by advancing along the estimated ray, even if its perpendicular gap is small.</a:t>
            </a:r>
          </a:p>
          <a:p/>
          <a:p>
            <a:r>
              <a:t>Source map</a:t>
            </a:r>
          </a:p>
          <a:p>
            <a:r>
              <a:t>Direction-distance ambiguity, Sec. II-B, Eqs. (6)-(7), p.3.</a:t>
            </a:r>
          </a:p>
          <a:p/>
          <a:p>
            <a:r>
              <a:t>Permitted claim</a:t>
            </a:r>
          </a:p>
          <a:p>
            <a:r>
              <a:t>For a fixed angular error, lateral miss grows with the unknown radial offset, so a direction estimate alone cannot safely determine travel distance.</a:t>
            </a:r>
          </a:p>
          <a:p/>
          <a:p>
            <a:r>
              <a:t>Claim not supported</a:t>
            </a:r>
          </a:p>
          <a:p>
            <a:r>
              <a:t>Angular accuracy by itself determines capture probability or guarantees a successful ray.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Introduce the qualitative rule that stronger, consistent evidence receives more direct-motion authority.</a:t>
            </a:r>
          </a:p>
          <a:p/>
          <a:p>
            <a:r>
              <a:t>Speaker notes</a:t>
            </a:r>
          </a:p>
          <a:p>
            <a:r>
              <a:t>The design principle is quality-adaptive authority. When the circular posterior is concentrated, ensemble members agree, and little posterior mass lies behind the current contact, the observation can support a longer direct move. When the posterior is spread out or the models disagree, the supported quantile becomes more conservative and a larger residual region is left for physical search. If too much posterior mass points behind the contact, the method assigns no shortcut at all. Notice what this rule does not say. It does not label an observation good or bad with one classification threshold, and it does not let confidence certify success. Instead, multiple uncertainty diagnostics change how much of a finite center belief is converted into motion. The residual search is therefore not an afterthought; it is where unresolved evidence is deliberately placed. This principle connects perception to action while preserving graceful fallback. We can now zoom out once, view the complete architecture, and then trace the information flow from probing to posterior, belief update, route, and physical verification.</a:t>
            </a:r>
          </a:p>
          <a:p/>
          <a:p>
            <a:r>
              <a:t>Discussion notes</a:t>
            </a:r>
          </a:p>
          <a:p>
            <a:r>
              <a:t>Q1: Which diagnostics control the travel budget?</a:t>
            </a:r>
          </a:p>
          <a:p>
            <a:r>
              <a:t>A1: Circular concentration, ensemble disagreement, and reverse posterior mass enter the quality score; planar weighted quantiles and an optional command cap then bound travel.</a:t>
            </a:r>
          </a:p>
          <a:p/>
          <a:p>
            <a:r>
              <a:t>Q2: Is entropy directly used in the shortcut length?</a:t>
            </a:r>
          </a:p>
          <a:p>
            <a:r>
              <a:t>A2: No. Entropy is retained as a diagnostic and is used in the PGS-G residual utility, while the shortcut quality uses concentration, disagreement, and reverse mass.</a:t>
            </a:r>
          </a:p>
          <a:p/>
          <a:p>
            <a:r>
              <a:t>Q3: Does a zero shortcut terminate the task?</a:t>
            </a:r>
          </a:p>
          <a:p>
            <a:r>
              <a:t>A3: No. It means direct travel is withheld; residual coverage remains available under the physical loop.</a:t>
            </a:r>
          </a:p>
          <a:p/>
          <a:p>
            <a:r>
              <a:t>Source map</a:t>
            </a:r>
          </a:p>
          <a:p>
            <a:r>
              <a:t>Circular posterior diagnostics, Eqs. (9)-(12), p.3; quality and shortcut rule, Eqs. (16)-(17), pp.3-4; Fig. 4, p.5.</a:t>
            </a:r>
          </a:p>
          <a:p/>
          <a:p>
            <a:r>
              <a:t>Permitted claim</a:t>
            </a:r>
          </a:p>
          <a:p>
            <a:r>
              <a:t>Observation uncertainty modulates direct-travel authority, including a zero-shortcut fallback, while residual search handles remaining support.</a:t>
            </a:r>
          </a:p>
          <a:p/>
          <a:p>
            <a:r>
              <a:t>Claim not supported</a:t>
            </a:r>
          </a:p>
          <a:p>
            <a:r>
              <a:t>One scalar confidence score proves that the tactile direction is correct.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Show the complete framework and the dashed authority line before progressively zooming into its modules.</a:t>
            </a:r>
          </a:p>
          <a:p/>
          <a:p>
            <a:r>
              <a:t>Speaker notes</a:t>
            </a:r>
          </a:p>
          <a:p>
            <a:r>
              <a:t>Figure 2 organizes the framework into three functional layers. The blue path performs learned tactile inference from the conical observation. The orange prior and green path combine that circular evidence with planar geometric support, allocate a bounded shortcut, and construct the residual route. Below the dashed authority line, the black loop executes contact through the shared task-frame admittance and RCC controller. The red loop separately enforces wrench and tilt guards, performs recovery, and checks the terminal condition. This separation also defines the policy comparisons. PGS-O and PGS-G change how the remaining belief is searched; Outward removes the tactile shortcut and covers globally; Direct-4C spends a limited budget on physical rays. Yet every task-level policy uses the same capture controller and terminal check. The architecture is therefore not a feed-forward learned controller. It is an inference-and-routing proposal embedded inside guarded closed-loop interaction. I will reuse this same view as we zoom in, beginning with the active tactile observation that creates the evidence.</a:t>
            </a:r>
          </a:p>
          <a:p/>
          <a:p>
            <a:r>
              <a:t>Discussion notes</a:t>
            </a:r>
          </a:p>
          <a:p>
            <a:r>
              <a:t>Q1: Which blocks are learned?</a:t>
            </a:r>
          </a:p>
          <a:p>
            <a:r>
              <a:t>A1: The circular direction and contact-support inference blocks are learned. Belief weighting, shortcut allocation, residual routing, compliant control, guards, recovery, and verification are explicit.</a:t>
            </a:r>
          </a:p>
          <a:p/>
          <a:p>
            <a:r>
              <a:t>Q2: Why call this closed loop if the scan occurs once?</a:t>
            </a:r>
          </a:p>
          <a:p>
            <a:r>
              <a:t>A2: Measured endpoints, capture rejection, negative evidence, residual replanning, recovery, and verification all feed subsequent physical actions; Direct-4C may also probe again after a missed ray.</a:t>
            </a:r>
          </a:p>
          <a:p/>
          <a:p>
            <a:r>
              <a:t>Q3: Are controller gains changed between policies?</a:t>
            </a:r>
          </a:p>
          <a:p>
            <a:r>
              <a:t>A3: No. The main benchmark fixes the task tuple, budget, capture controller, and terminal check across policies.</a:t>
            </a:r>
          </a:p>
          <a:p/>
          <a:p>
            <a:r>
              <a:t>Source map</a:t>
            </a:r>
          </a:p>
          <a:p>
            <a:r>
              <a:t>Framework overview, Sec. III opening, p.3; control architecture, Fig. 2 and caption, p.4; baseline definitions and shared-controller protocol, Sec. IV-A, p.6.</a:t>
            </a:r>
          </a:p>
          <a:p/>
          <a:p>
            <a:r>
              <a:t>Permitted claim</a:t>
            </a:r>
          </a:p>
          <a:p>
            <a:r>
              <a:t>The framework explicitly separates learned tactile inference and belief-space routing from shared physical control, guards, recovery, and verification.</a:t>
            </a:r>
          </a:p>
          <a:p/>
          <a:p>
            <a:r>
              <a:t>Claim not supported</a:t>
            </a:r>
          </a:p>
          <a:p>
            <a:r>
              <a:t>The complete controller is end-to-end learned or policies use different success criteria.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Explain how the prescribed low-force conical motion turns contact into a phase-indexed active observation.</a:t>
            </a:r>
          </a:p>
          <a:p/>
          <a:p>
            <a:r>
              <a:t>Speaker notes</a:t>
            </a:r>
          </a:p>
          <a:p>
            <a:r>
              <a:t>The observation begins only after stable top contact. The tool executes a 15-degree, low-force conical motion while maintaining guarded interaction with the screw head. This is active sensing: the prescribed motion creates a repeatable change in contact geometry, and the force, bending moment, and tool height vary with the scan phase. The phase variable phi describes where the tool is within this conical cycle. It is not the planar bearing theta from the current contact to the socket center. Confusing those two angles would turn the signal into the wrong geometric quantity. The real keyframes in Figure 3 show first contact, probing, and the complete cone; the learned posterior is computed only after this observation is placed on a common circular phase grid. Throughout the motion, the physical wrench and tilt guards remain active. The probe is therefore informative but intentionally low authority: it produces evidence rather than a task decision. Next, I will define the four-channel observation contract and reconcile the raw hardware sample count with the model input size.</a:t>
            </a:r>
          </a:p>
          <a:p/>
          <a:p>
            <a:r>
              <a:t>Discussion notes</a:t>
            </a:r>
          </a:p>
          <a:p>
            <a:r>
              <a:t>Q1: Why use a conical rather than a purely planar circle?</a:t>
            </a:r>
          </a:p>
          <a:p>
            <a:r>
              <a:t>A1: The prescribed cone modulates contact load and geometry while maintaining low-force contact, generating phase-dependent axial force, bending torque, and height cues.</a:t>
            </a:r>
          </a:p>
          <a:p/>
          <a:p>
            <a:r>
              <a:t>Q2: Is the 15-degree value learned?</a:t>
            </a:r>
          </a:p>
          <a:p>
            <a:r>
              <a:t>A2: No. It is the prescribed probe geometry used in the study.</a:t>
            </a:r>
          </a:p>
          <a:p/>
          <a:p>
            <a:r>
              <a:t>Q3: Does the probe itself search for capture?</a:t>
            </a:r>
          </a:p>
          <a:p>
            <a:r>
              <a:t>A3: Its primary role is observation. Capture decisions and route execution remain in the downstream physical loop.</a:t>
            </a:r>
          </a:p>
          <a:p/>
          <a:p>
            <a:r>
              <a:t>Source map</a:t>
            </a:r>
          </a:p>
          <a:p>
            <a:r>
              <a:t>Task observation, Sec. II-A, Eq. (2), p.2; closed-loop tactile-guided search, Fig. 3 and caption, p.4.</a:t>
            </a:r>
          </a:p>
          <a:p/>
          <a:p>
            <a:r>
              <a:t>Permitted claim</a:t>
            </a:r>
          </a:p>
          <a:p>
            <a:r>
              <a:t>A prescribed 15-degree low-force conical motion creates a phase-indexed tactile observation under active physical guards.</a:t>
            </a:r>
          </a:p>
          <a:p/>
          <a:p>
            <a:r>
              <a:t>Claim not supported</a:t>
            </a:r>
          </a:p>
          <a:p>
            <a:r>
              <a:t>Probe phase is the socket-bearing angle or the probe alone verifies capture.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Specify the four model channels and explain the 240-raw-sample versus 360-phase-sample distinction.</a:t>
            </a:r>
          </a:p>
          <a:p/>
          <a:p>
            <a:r>
              <a:t>Speaker notes</a:t>
            </a:r>
          </a:p>
          <a:p>
            <a:r>
              <a:t>The model input has four channels: axial force F-z, bending torques tau-x and tau-y, and tip height z-tip. Each channel is ordered around the conical phase and linearly interpolated with periodic boundary conditions onto 360 phase locations, giving a four-by-360 tensor. This operation standardizes the representation across recordings; it does not smooth the raw signal. The hardware run highlighted later contains 240 raw scan samples. Those timestamped measurements remain the evidence record, while periodic interpolation maps them to the model's fixed 360-point phase grid. The two numbers therefore refer to different stages, not conflicting versions of the experiment. In the hardware plots, height may be centered on its scan mean for display, but that does not change its role in inference. The paper also states that height is not an insertion detector. Keeping this contract precise is essential when comparing simulated and installed-stack observations. With the input defined, the next step is to see what the three calibrated models output.</a:t>
            </a:r>
          </a:p>
          <a:p/>
          <a:p>
            <a:r>
              <a:t>Discussion notes</a:t>
            </a:r>
          </a:p>
          <a:p>
            <a:r>
              <a:t>Q1: Why 360 phase points?</a:t>
            </a:r>
          </a:p>
          <a:p>
            <a:r>
              <a:t>A1: It gives a fixed circular input format for the network and supports periodic boundary conditions; the paper does not claim it is an optimized sampling rate.</a:t>
            </a:r>
          </a:p>
          <a:p/>
          <a:p>
            <a:r>
              <a:t>Q2: Does interpolation fabricate extra physical measurements?</a:t>
            </a:r>
          </a:p>
          <a:p>
            <a:r>
              <a:t>A2: No. It evaluates a periodic linear interpolant on a common grid. The underlying hardware evidence remains the 240 raw samples.</a:t>
            </a:r>
          </a:p>
          <a:p/>
          <a:p>
            <a:r>
              <a:t>Q3: Are the raw hardware curves filtered or smoothed for the figures?</a:t>
            </a:r>
          </a:p>
          <a:p>
            <a:r>
              <a:t>A3: No. The paper describes them as raw, unsmoothed timestamped records; same-run baseline subtraction and stated coordinate or display transforms are separate.</a:t>
            </a:r>
          </a:p>
          <a:p/>
          <a:p>
            <a:r>
              <a:t>Q4: Can z_tip be used as a success label?</a:t>
            </a:r>
          </a:p>
          <a:p>
            <a:r>
              <a:t>A4: Not by the learned observation model. Terminal depth and dwell are checked independently in the physical loop.</a:t>
            </a:r>
          </a:p>
          <a:p/>
          <a:p>
            <a:r>
              <a:t>Source map</a:t>
            </a:r>
          </a:p>
          <a:p>
            <a:r>
              <a:t>Observation tensor and periodic interpolation, Sec. II-A, Eqs. (2)-(3), p.2; one-run 240-sample hardware signal, Sec. IV-F and Fig. 8, pp.8 and 10.</a:t>
            </a:r>
          </a:p>
          <a:p/>
          <a:p>
            <a:r>
              <a:t>Permitted claim</a:t>
            </a:r>
          </a:p>
          <a:p>
            <a:r>
              <a:t>Hardware records 240 raw scan samples in the highlighted run; periodic linear interpolation produces the fixed 4 x 360 model input without smoothing the raw evidence.</a:t>
            </a:r>
          </a:p>
          <a:p/>
          <a:p>
            <a:r>
              <a:t>Claim not supported</a:t>
            </a:r>
          </a:p>
          <a:p>
            <a:r>
              <a:t>There are 360 independent hardware measurements, or interpolation improves the physical signal quality.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Explain the calibrated ensemble's circular direction posterior and separate contact support from center estimation.</a:t>
            </a:r>
          </a:p>
          <a:p/>
          <a:p>
            <a:r>
              <a:t>Speaker notes</a:t>
            </a:r>
          </a:p>
          <a:p>
            <a:r>
              <a:t>Three separately trained models map the four-by-360 observation to logits over 48 direction bins. Each member is temperature calibrated, and the paper averages their softmax probabilities to form one circular posterior. From that distribution we compute a circular mean direction and a concentration. A second head estimates rough contact support. The output remains deliberately factorized: direction is represented over the circle, and contact support affects how radial belief is weighted. No head outputs a two-dimensional socket center. The ensemble also provides disagreement information that a single averaged posterior could hide. One notation point is worth fixing now. The ensemble size is always three. The adaptive prediction set may contain three, eight, ten, or another number of angular bins depending on the posterior; that set size is not the number of models. The posterior is therefore a calibrated description of the observation, not a capture event. On the next slide, I will distinguish the uncertainty diagnostics extracted from this same distribution and explain why no single one is sufficient.</a:t>
            </a:r>
          </a:p>
          <a:p/>
          <a:p>
            <a:r>
              <a:t>Discussion notes</a:t>
            </a:r>
          </a:p>
          <a:p>
            <a:r>
              <a:t>Q1: Why use 48 bins rather than continuous angle regression?</a:t>
            </a:r>
          </a:p>
          <a:p>
            <a:r>
              <a:t>A1: The circular categorical posterior preserves multimodality and supports calibrated mass sets and belief weighting. The paper does not claim 48 is uniquely optimal.</a:t>
            </a:r>
          </a:p>
          <a:p/>
          <a:p>
            <a:r>
              <a:t>Q2: How are ensemble members combined?</a:t>
            </a:r>
          </a:p>
          <a:p>
            <a:r>
              <a:t>A2: Each member's temperature-scaled softmax distribution is computed, then the three distributions are averaged bin by bin.</a:t>
            </a:r>
          </a:p>
          <a:p/>
          <a:p>
            <a:r>
              <a:t>Q3: Is contact support a binary capture prediction?</a:t>
            </a:r>
          </a:p>
          <a:p>
            <a:r>
              <a:t>A3: No. It is a rough observation score used in particle weighting; physical capture is checked separately.</a:t>
            </a:r>
          </a:p>
          <a:p/>
          <a:p>
            <a:r>
              <a:t>Q4: Does top-bin direction equal the final shortcut endpoint?</a:t>
            </a:r>
          </a:p>
          <a:p>
            <a:r>
              <a:t>A4: No. Direction defines a ray; posterior-weighted planar quantiles and explicit caps determine how far the shortcut may travel.</a:t>
            </a:r>
          </a:p>
          <a:p/>
          <a:p>
            <a:r>
              <a:t>Source map</a:t>
            </a:r>
          </a:p>
          <a:p>
            <a:r>
              <a:t>Circular tactile posterior, Sec. III-A, Eqs. (8)-(10), p.3; Fig. 3 and caption, p.4.</a:t>
            </a:r>
          </a:p>
          <a:p/>
          <a:p>
            <a:r>
              <a:t>Permitted claim</a:t>
            </a:r>
          </a:p>
          <a:p>
            <a:r>
              <a:t>A three-member calibrated ensemble produces a 48-bin circular direction posterior and a separate rough contact-support estimate.</a:t>
            </a:r>
          </a:p>
          <a:p/>
          <a:p>
            <a:r>
              <a:t>Claim not supported</a:t>
            </a:r>
          </a:p>
          <a:p>
            <a:r>
              <a:t>The ensemble regresses the exact two-dimensional socket center or declares physical capture.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Distinguish posterior concentration, prediction-set support, entropy, ensemble disagreement, and reverse mass as different diagnostics.</a:t>
            </a:r>
          </a:p>
          <a:p/>
          <a:p>
            <a:r>
              <a:t>Speaker notes</a:t>
            </a:r>
          </a:p>
          <a:p>
            <a:r>
              <a:t>Several uncertainty summaries are retained because they reveal different failure modes. Circular concentration, rho, measures how strongly the averaged posterior points in one resultant direction. The adaptive prediction set records how many high-probability bins are needed to retain the prescribed mass, so it makes angular support visible. Entropy measures the overall spread of the averaged posterior in nats. Ensemble disagreement, Delta-ensemble, instead takes the largest circular separation among the three members' top bins. A posterior can look concentrated after averaging while its members disagree, or look broad while all members agree that the observation is intrinsically diffuse. These quantities are therefore not interchangeable. After the posterior reweights planar particles, reverse mass adds a geometric check: it measures weighted support behind the current contact along the proposed ray. Contact support is another separate output used in radial weighting. None of these diagnostics is a capture predicate. They only characterize how much routing authority the observation deserves. The next slide shows how the circular posterior becomes a planar center belief without inventing a distance estimate.</a:t>
            </a:r>
          </a:p>
          <a:p/>
          <a:p>
            <a:r>
              <a:t>Discussion notes</a:t>
            </a:r>
          </a:p>
          <a:p>
            <a:r>
              <a:t>Q1: Why keep both entropy and concentration?</a:t>
            </a:r>
          </a:p>
          <a:p>
            <a:r>
              <a:t>A1: Both summarize the averaged posterior but emphasize different structure; entropy measures total spread, while circular concentration measures resultant directional strength.</a:t>
            </a:r>
          </a:p>
          <a:p/>
          <a:p>
            <a:r>
              <a:t>Q2: Why is ensemble disagreement needed after averaging?</a:t>
            </a:r>
          </a:p>
          <a:p>
            <a:r>
              <a:t>A2: Averaging can conceal member-to-member conflict. The maximum top-bin separation exposes epistemic inconsistency among the three trained models.</a:t>
            </a:r>
          </a:p>
          <a:p/>
          <a:p>
            <a:r>
              <a:t>Q3: Is adaptive prediction-set coverage a hardware guarantee?</a:t>
            </a:r>
          </a:p>
          <a:p>
            <a:r>
              <a:t>A3: No. It summarizes calibrated angular support under the calibration lineage; distribution shift can invalidate coverage.</a:t>
            </a:r>
          </a:p>
          <a:p/>
          <a:p>
            <a:r>
              <a:t>Q4: Where is reverse mass computed?</a:t>
            </a:r>
          </a:p>
          <a:p>
            <a:r>
              <a:t>A4: After circular evidence has reweighted the planar center particles and those particles are projected onto the estimated ray.</a:t>
            </a:r>
          </a:p>
          <a:p/>
          <a:p>
            <a:r>
              <a:t>Source map</a:t>
            </a:r>
          </a:p>
          <a:p>
            <a:r>
              <a:t>Circular mean, concentration, adaptive prediction set, ensemble disagreement, and entropy, Sec. III-A, Eqs. (9)-(12), p.3; reverse mass and quality, Sec. III-C, Eq. (16), p.3.</a:t>
            </a:r>
          </a:p>
          <a:p/>
          <a:p>
            <a:r>
              <a:t>Permitted claim</a:t>
            </a:r>
          </a:p>
          <a:p>
            <a:r>
              <a:t>The method retains multiple complementary diagnostics because posterior spread, member disagreement, and backward planar support are distinct.</a:t>
            </a:r>
          </a:p>
          <a:p/>
          <a:p>
            <a:r>
              <a:t>Claim not supported</a:t>
            </a:r>
          </a:p>
          <a:p>
            <a:r>
              <a:t>Any one diagnostic is a calibrated probability of physical engagement or a universal out-of-distribution detector.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Show how tactile angular evidence reweights, rather than replaces, the finite CAD prior over socket centers.</a:t>
            </a:r>
          </a:p>
          <a:p/>
          <a:p>
            <a:r>
              <a:t>Speaker notes</a:t>
            </a:r>
          </a:p>
          <a:p>
            <a:r>
              <a:t>The planar belief begins with 4,096 center particles drawn from the truncated visual or CAD prior. For M8, each particle is an offset from x-zero under the two-millimeter isotropic Gaussian, truncated at 4.895 millimeters. The tactile posterior contributes the probability of each particle's angular bin. The contact-support head contributes a rough radial likelihood. These terms multiply the prior support and are normalized into new particle weights. A small uniform component, 0.02 in the weighting rule, prevents one shaky observation from deleting geometric support entirely. The result is still a distribution over possible centers, often extended along a bearing. In other words, tactile evidence changes which prior locations are plausible; it does not manufacture a measured radial coordinate. Weighted empirical quantiles can now answer action questions such as how much posterior mass lies ahead and how far support extends. Those quantiles are the bridge from inference to bounded travel. On the next slide, I will step through the shortcut budget and its explicit zero-motion condition.</a:t>
            </a:r>
          </a:p>
          <a:p/>
          <a:p>
            <a:r>
              <a:t>Discussion notes</a:t>
            </a:r>
          </a:p>
          <a:p>
            <a:r>
              <a:t>Q1: Why use particles rather than a parametric Gaussian update?</a:t>
            </a:r>
          </a:p>
          <a:p>
            <a:r>
              <a:t>A1: Particles preserve truncation, directional reweighting, and potentially non-Gaussian or multimodal support while supporting direct weighted quantiles.</a:t>
            </a:r>
          </a:p>
          <a:p/>
          <a:p>
            <a:r>
              <a:t>Q2: What is the purpose of the 0.02 uniform term?</a:t>
            </a:r>
          </a:p>
          <a:p>
            <a:r>
              <a:t>A2: It prevents an uncertain tactile reading from assigning effectively zero weight to otherwise valid geometric support.</a:t>
            </a:r>
          </a:p>
          <a:p/>
          <a:p>
            <a:r>
              <a:t>Q3: Is the radial likelihood learned as metric distance?</a:t>
            </a:r>
          </a:p>
          <a:p>
            <a:r>
              <a:t>A3: No. It is a rough likelihood tied to contact support and prior radius; the paper keeps radial ambiguity explicit.</a:t>
            </a:r>
          </a:p>
          <a:p/>
          <a:p>
            <a:r>
              <a:t>Q4: Does the controller know the center markers shown in Figure 4?</a:t>
            </a:r>
          </a:p>
          <a:p>
            <a:r>
              <a:t>A4: No. Ground-truth center and capture marks in that figure are for grading only.</a:t>
            </a:r>
          </a:p>
          <a:p/>
          <a:p>
            <a:r>
              <a:t>Source map</a:t>
            </a:r>
          </a:p>
          <a:p>
            <a:r>
              <a:t>Planar particle prior and tactile reweighting, Sec. III-B, Eqs. (13)-(15), p.3; M8 particle parameters in Eq. (13); Fig. 4 caption, p.5.</a:t>
            </a:r>
          </a:p>
          <a:p/>
          <a:p>
            <a:r>
              <a:t>Permitted claim</a:t>
            </a:r>
          </a:p>
          <a:p>
            <a:r>
              <a:t>The circular posterior and contact support reweight a 4,096-particle planar CAD prior while preserving radial uncertainty.</a:t>
            </a:r>
          </a:p>
          <a:p/>
          <a:p>
            <a:r>
              <a:t>Claim not supported</a:t>
            </a:r>
          </a:p>
          <a:p>
            <a:r>
              <a:t>The tactile network observes or predicts an exact metric center distance.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Explain the quality-adaptive equations that convert supported posterior mass into a capped shortcut.</a:t>
            </a:r>
          </a:p>
          <a:p/>
          <a:p>
            <a:r>
              <a:t>Speaker notes</a:t>
            </a:r>
          </a:p>
          <a:p>
            <a:r>
              <a:t>To allocate direct travel, each weighted particle is projected onto the estimated direction. The posterior mass with nonpositive projection is p-minus, the mass behind the current contact. Observation quality q combines circular concentration, the cosine penalty from ensemble disagreement, and a reverse-mass penalty, then clips the result to zero-one. That quality adjusts two budgets: alpha ranges from 0.10 to 0.25 for the supported projection quantile, and lambda ranges from 0.35 to 0.65 for the allowed fraction of the 99th-percentile radial support. The projection budget also stops a quarter of the effective capture radius short. The commanded length is the minimum of projection support, radial support, and an optional command cap. If p-minus is at least 0.20, the shortcut is exactly zero. Otherwise the endpoint is x-zero plus this length along the circular-mean ray. A residual radius is then computed around that endpoint. The rule therefore converts confidence into limited authority, not unrestricted motion. Figure 4 makes the behavior tangible in three frozen cases.</a:t>
            </a:r>
          </a:p>
          <a:p/>
          <a:p>
            <a:r>
              <a:t>Discussion notes</a:t>
            </a:r>
          </a:p>
          <a:p>
            <a:r>
              <a:t>Q1: Why use both L_proj and L_rad?</a:t>
            </a:r>
          </a:p>
          <a:p>
            <a:r>
              <a:t>A1: L_proj preserves forward posterior mass with a capture margin, while L_rad prevents travel from becoming too large relative to overall radial support.</a:t>
            </a:r>
          </a:p>
          <a:p/>
          <a:p>
            <a:r>
              <a:t>Q2: Are alpha(q), lambda(q), and the 0.20 threshold learned?</a:t>
            </a:r>
          </a:p>
          <a:p>
            <a:r>
              <a:t>A2: No. They are hand-designed routing parameters in the paper and should be treated as such.</a:t>
            </a:r>
          </a:p>
          <a:p/>
          <a:p>
            <a:r>
              <a:t>Q3: What does the optional cap L_c do?</a:t>
            </a:r>
          </a:p>
          <a:p>
            <a:r>
              <a:t>A3: It imposes an external maximum command length even when posterior-derived budgets are larger.</a:t>
            </a:r>
          </a:p>
          <a:p/>
          <a:p>
            <a:r>
              <a:t>Q4: Does a long shortcut imply high probability of immediate capture?</a:t>
            </a:r>
          </a:p>
          <a:p>
            <a:r>
              <a:t>A4: No. It means more direct travel is supported by the current empirical belief; capture still requires measured physical evidence.</a:t>
            </a:r>
          </a:p>
          <a:p/>
          <a:p>
            <a:r>
              <a:t>Source map</a:t>
            </a:r>
          </a:p>
          <a:p>
            <a:r>
              <a:t>Quality score and adaptive budgets, Sec. III-C, Eq. (16), p.3; shortcut length and endpoint, Eq. (17), pp.3-4; residual radius, Eq. (19), p.4.</a:t>
            </a:r>
          </a:p>
          <a:p/>
          <a:p>
            <a:r>
              <a:t>Permitted claim</a:t>
            </a:r>
          </a:p>
          <a:p>
            <a:r>
              <a:t>The shortcut is the minimum of posterior-supported projection, radial, and command budgets, with a zero shortcut when reverse mass reaches 0.20.</a:t>
            </a:r>
          </a:p>
          <a:p/>
          <a:p>
            <a:r>
              <a:t>Claim not supported</a:t>
            </a:r>
          </a:p>
          <a:p>
            <a:r>
              <a:t>The shortcut endpoint is the predicted socket center or is guaranteed to lie inside the capture region.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Translate the shortcut equations into clear, ambiguous, and reversed physical cases.</a:t>
            </a:r>
          </a:p>
          <a:p/>
          <a:p>
            <a:r>
              <a:t>Speaker notes</a:t>
            </a:r>
          </a:p>
          <a:p>
            <a:r>
              <a:t>These three frozen M8 examples show how the same rule changes the motion budget. In the clear case, the posterior is concentrated, ensemble agreement is strong, and reverse mass is negligible. The controller allocates 2.873 millimeters of direct travel and leaves a 1.732-millimeter residual search radius. In the ambiguous case, broader angular support and lower quality reduce the shortcut to 0.903 millimeters, leaving 3.402 millimeters for residual coverage. In the reversed case, posterior mass behind the contact exceeds the guard, so the shortcut becomes zero and the method falls back to search. The prediction sets contain three, eight, and ten bins respectively; those numbers describe supported angular bins, not the three-member ensemble. Across the frozen 24-task M8 batch, Figure 4 reports contraction of the conservative search disk in 23 cases, with a median area reduction of 58.7 percent. That is a belief-geometry diagnostic, not an engagement-rate result. These cases build intuition for the formal retained-mass statement on the next slide.</a:t>
            </a:r>
          </a:p>
          <a:p/>
          <a:p>
            <a:r>
              <a:t>Discussion notes</a:t>
            </a:r>
          </a:p>
          <a:p>
            <a:r>
              <a:t>Q1: Why does the ambiguous case still move directly?</a:t>
            </a:r>
          </a:p>
          <a:p>
            <a:r>
              <a:t>A1: Some forward support remains, but lower quality selects a more conservative quantile and radial fraction, preserving a larger residual region.</a:t>
            </a:r>
          </a:p>
          <a:p/>
          <a:p>
            <a:r>
              <a:t>Q2: Does 58.7 percent area reduction equal path reduction?</a:t>
            </a:r>
          </a:p>
          <a:p>
            <a:r>
              <a:t>A2: No. It describes the median contraction of a conservative belief-derived search disk, not measured route length or task time.</a:t>
            </a:r>
          </a:p>
          <a:p/>
          <a:p>
            <a:r>
              <a:t>Q3: Are the three examples representative performance statistics?</a:t>
            </a:r>
          </a:p>
          <a:p>
            <a:r>
              <a:t>A3: They are frozen mechanism examples selected to show the rule's response; policy performance is evaluated later on all paired tasks.</a:t>
            </a:r>
          </a:p>
          <a:p/>
          <a:p>
            <a:r>
              <a:t>Q4: Does zero shortcut mean the tactile observation is discarded?</a:t>
            </a:r>
          </a:p>
          <a:p>
            <a:r>
              <a:t>A4: It withholds direct travel. The belief and residual-search machinery can still use available support under explicit coverage.</a:t>
            </a:r>
          </a:p>
          <a:p/>
          <a:p>
            <a:r>
              <a:t>Source map</a:t>
            </a:r>
          </a:p>
          <a:p>
            <a:r>
              <a:t>Adaptive allocation examples and frozen-batch contraction, Fig. 4(a)-(c) and caption, p.5; shortcut and residual definitions, Eqs. (17) and (19).</a:t>
            </a:r>
          </a:p>
          <a:p/>
          <a:p>
            <a:r>
              <a:t>Permitted claim</a:t>
            </a:r>
          </a:p>
          <a:p>
            <a:r>
              <a:t>The frozen examples allocate 2.873/1.732 mm, 0.903/3.402 mm, and zero shortcut for clear, ambiguous, and reversed evidence respectively.</a:t>
            </a:r>
          </a:p>
          <a:p/>
          <a:p>
            <a:r>
              <a:t>Claim not supported</a:t>
            </a:r>
          </a:p>
          <a:p>
            <a:r>
              <a:t>These three cases establish an average task-success advantage or a guaranteed percentage reduction in executed path.</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State Proposition 1 as an empirical posterior-mass allocation result, with all assumptions and non-guarantees visible.</a:t>
            </a:r>
          </a:p>
          <a:p/>
          <a:p>
            <a:r>
              <a:t>Speaker notes</a:t>
            </a:r>
          </a:p>
          <a:p>
            <a:r>
              <a:t>Proposition 1 formalizes what the shortcut preserves, not what the robot will capture. Assume reverse mass is below 0.20, the shortcut length is positive, the weighted particle set remains fixed, and the commanded endpoint is reached exactly. Then at least one minus alpha of the empirical posterior mass projects beyond the shortcut endpoint plus the quarter-capture-radius margin. The shortcut is also bounded by lambda times the 99th-percentile radial support. These statements follow directly from the weighted-quantile construction. They explain why the move does not consume all plausible forward support. But the proposition does not say that the true center was sampled from this posterior, that the observation model remains calibrated under shift, or that the endpoint enters the capture disk. Real tracking error, prior truncation, finite search budget, boundary effects, and contact dynamics remain outside the result. I therefore describe it as posterior mass retention under exact execution, never as a capture theorem. Once a real shortcut is executed, its measured success or miss can add new physical evidence, which is the next step.</a:t>
            </a:r>
          </a:p>
          <a:p/>
          <a:p>
            <a:r>
              <a:t>Discussion notes</a:t>
            </a:r>
          </a:p>
          <a:p>
            <a:r>
              <a:t>Q1: What exactly is guaranteed by Proposition 1?</a:t>
            </a:r>
          </a:p>
          <a:p>
            <a:r>
              <a:t>A1: Under its stated assumptions, it bounds retained empirical posterior mass ahead of the endpoint and bounds shortcut length relative to radial support.</a:t>
            </a:r>
          </a:p>
          <a:p/>
          <a:p>
            <a:r>
              <a:t>Q2: Does the proposition guarantee the true socket lies in the retained set?</a:t>
            </a:r>
          </a:p>
          <a:p>
            <a:r>
              <a:t>A2: No. That would require additional assumptions connecting the empirical posterior to the true center under deployment distribution.</a:t>
            </a:r>
          </a:p>
          <a:p/>
          <a:p>
            <a:r>
              <a:t>Q3: Why assume exact endpoint execution?</a:t>
            </a:r>
          </a:p>
          <a:p>
            <a:r>
              <a:t>A3: The proof uses the commanded endpoint directly. Tracking error changes the segment and therefore the retained-mass geometry.</a:t>
            </a:r>
          </a:p>
          <a:p/>
          <a:p>
            <a:r>
              <a:t>Q4: Does the proposition cover residual-search completion?</a:t>
            </a:r>
          </a:p>
          <a:p>
            <a:r>
              <a:t>A4: No. Finite spiral or grid coverage can still be limited by truncation, tracking, safety stops, or exhausted budget.</a:t>
            </a:r>
          </a:p>
          <a:p/>
          <a:p>
            <a:r>
              <a:t>Source map</a:t>
            </a:r>
          </a:p>
          <a:p>
            <a:r>
              <a:t>Proposition 1, proof, and Eq. (18), p.4; residual radius Eq. (19); limitations, Discussion, p.13.</a:t>
            </a:r>
          </a:p>
          <a:p/>
          <a:p>
            <a:r>
              <a:t>Permitted claim</a:t>
            </a:r>
          </a:p>
          <a:p>
            <a:r>
              <a:t>Under fixed-particle, positive-shortcut, low-reverse-mass, exact-endpoint assumptions, the rule retains a quantified amount of empirical posterior support.</a:t>
            </a:r>
          </a:p>
          <a:p/>
          <a:p>
            <a:r>
              <a:t>Claim not supported</a:t>
            </a:r>
          </a:p>
          <a:p>
            <a:r>
              <a:t>Proposition 1 guarantees capture, successful engagement, calibrated deployment coverage, or complete residual-search coverage.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Show how a valid executed shortcut miss becomes measured negative evidence for replanning.</a:t>
            </a:r>
          </a:p>
          <a:p/>
          <a:p>
            <a:r>
              <a:t>Speaker notes</a:t>
            </a:r>
          </a:p>
          <a:p>
            <a:r>
              <a:t>The shortcut is not only a command; once executed, it becomes a physical observation. For the measured segment from x to x-a, the planner computes each particle's shortest planar distance to that segment and maps it through a smooth capture-likelihood model. If the endpoint is valid, the robot remains in guarded contact, and physical capture is rejected, particles that should likely have produced capture along that segment are downweighted by one minus their capture likelihood. The weights are then normalized, and the residual geometry is rebuilt around the measured endpoint rather than the ideal command. A small likelihood floor prevents total particle extinction. This is intentionally a soft update because capture sensing and contact geometry are imperfect. An invalid endpoint, an unobserved endpoint, or a guard termination does not authorize the negative-evidence update. The method therefore learns from a verified miss without pretending to observe the true center. This closes the perception-action loop: action tests the belief, measured rejection revises it, and only then does the residual policy choose what remains to search.</a:t>
            </a:r>
          </a:p>
          <a:p/>
          <a:p>
            <a:r>
              <a:t>Discussion notes</a:t>
            </a:r>
          </a:p>
          <a:p>
            <a:r>
              <a:t>Q1: Why is the miss update soft rather than deleting every nearby particle?</a:t>
            </a:r>
          </a:p>
          <a:p>
            <a:r>
              <a:t>A1: Capture sensing and geometry are imperfect; a smooth likelihood and floor avoid brittle elimination from one possibly noisy rejection.</a:t>
            </a:r>
          </a:p>
          <a:p/>
          <a:p>
            <a:r>
              <a:t>Q2: Can a force-limit exit be interpreted as negative evidence?</a:t>
            </a:r>
          </a:p>
          <a:p>
            <a:r>
              <a:t>A2: No. The update requires a valid measured endpoint in guarded contact with capture specifically rejected.</a:t>
            </a:r>
          </a:p>
          <a:p/>
          <a:p>
            <a:r>
              <a:t>Q3: Is the commanded or measured endpoint used?</a:t>
            </a:r>
          </a:p>
          <a:p>
            <a:r>
              <a:t>A3: The residual belief and geometry are rebuilt around the measured endpoint.</a:t>
            </a:r>
          </a:p>
          <a:p/>
          <a:p>
            <a:r>
              <a:t>Q4: Does negative evidence reveal the true center?</a:t>
            </a:r>
          </a:p>
          <a:p>
            <a:r>
              <a:t>A4: No. It only reduces support for centers that were likely to have caused capture along the observed segment.</a:t>
            </a:r>
          </a:p>
          <a:p/>
          <a:p>
            <a:r>
              <a:t>Source map</a:t>
            </a:r>
          </a:p>
          <a:p>
            <a:r>
              <a:t>Measured shortcut, smooth capture likelihood, and miss update, Sec. III-C, Eqs. (20)-(21), p.5; same-run hardware example of negative-evidence replanning, Sec. IV-F and Fig. 8, pp.8-10.</a:t>
            </a:r>
          </a:p>
          <a:p/>
          <a:p>
            <a:r>
              <a:t>Permitted claim</a:t>
            </a:r>
          </a:p>
          <a:p>
            <a:r>
              <a:t>A valid, guarded, measured shortcut miss softly downweights center particles expected to have produced capture and triggers residual replanning.</a:t>
            </a:r>
          </a:p>
          <a:p/>
          <a:p>
            <a:r>
              <a:t>Claim not supported</a:t>
            </a:r>
          </a:p>
          <a:p>
            <a:r>
              <a:t>Every failed action is safe to treat as negative evidence, or the update identifies the true center.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Define PGS-O and PGS-G as two residual-search variants sharing the same posterior shortcut and physical loop.</a:t>
            </a:r>
          </a:p>
          <a:p/>
          <a:p>
            <a:r>
              <a:t>Speaker notes</a:t>
            </a:r>
          </a:p>
          <a:p>
            <a:r>
              <a:t>After the shared posterior-guided shortcut, the two proposed variants differ only in how they cover the remaining region. PGS-O draws a finite local Archimedean spiral around the measured shortcut endpoint, with pitch h-sp and radius set by the remaining 99-percent support after subtracting the effective capture radius. PGS-G instead selects from a finite grid of remaining contact actions. Its utility rewards expected information gain and the probability that a candidate segment covers likely capture disks, while charging for switching and travel. If further contact is not informative, it falls back to plain coverage rather than forcing entropy to decrease indefinitely. Both variants use the same belief update, negative evidence, capture handoff, compliant controller, recovery, guards, terminal dwell, and 130-second benchmark budget. Therefore PGS-G is a more task-aware residual planner, not a more authoritative verifier. The paper tests whether that extra planning improves the small residual regions in this benchmark; we should not assume the answer in advance. Before the comparison, the final method layer is the physical loop shared by every policy.</a:t>
            </a:r>
          </a:p>
          <a:p/>
          <a:p>
            <a:r>
              <a:t>Discussion notes</a:t>
            </a:r>
          </a:p>
          <a:p>
            <a:r>
              <a:t>Q1: What is the precise difference between PGS-O and global Outward?</a:t>
            </a:r>
          </a:p>
          <a:p>
            <a:r>
              <a:t>A1: PGS-O first takes the posterior-supported shortcut and then spirals only over the local residual region. Outward starts a global Archimedean search without tactile guidance.</a:t>
            </a:r>
          </a:p>
          <a:p/>
          <a:p>
            <a:r>
              <a:t>Q2: What terms appear in the PGS-G utility?</a:t>
            </a:r>
          </a:p>
          <a:p>
            <a:r>
              <a:t>A2: Expected information gain, likely capture-disk coverage, a switching cost, and a travel cost over the remaining action set.</a:t>
            </a:r>
          </a:p>
          <a:p/>
          <a:p>
            <a:r>
              <a:t>Q3: Must PGS-G always reduce posterior entropy?</a:t>
            </a:r>
          </a:p>
          <a:p>
            <a:r>
              <a:t>A3: No. When further informative contact is not useful, the planner falls back to coverage.</a:t>
            </a:r>
          </a:p>
          <a:p/>
          <a:p>
            <a:r>
              <a:t>Q4: Does the paper show PGS-G outperforming PGS-O?</a:t>
            </a:r>
          </a:p>
          <a:p>
            <a:r>
              <a:t>A4: No. The paired benchmark later shows no significant path or time advantage for PGS-G.</a:t>
            </a:r>
          </a:p>
          <a:p/>
          <a:p>
            <a:r>
              <a:t>Source map</a:t>
            </a:r>
          </a:p>
          <a:p>
            <a:r>
              <a:t>PGS-O spiral, Eq. (22), p.5; PGS-G utility and action selection, Eqs. (23)-(25), pp.5-6; policy definitions, Sec. IV-A, p.6; paired comparison, Sec. IV-D, p.7.</a:t>
            </a:r>
          </a:p>
          <a:p/>
          <a:p>
            <a:r>
              <a:t>Permitted claim</a:t>
            </a:r>
          </a:p>
          <a:p>
            <a:r>
              <a:t>PGS-O and PGS-G share the shortcut and guarded physical loop; they differ in local spiral versus entropy-and-coverage grid residual routing.</a:t>
            </a:r>
          </a:p>
          <a:p/>
          <a:p>
            <a:r>
              <a:t>Claim not supported</a:t>
            </a:r>
          </a:p>
          <a:p>
            <a:r>
              <a:t>PGS-G is proven or empirically shown to outperform PGS-O in this benchmark.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Close the method section by assigning capture, insertion, recovery, guards, and terminal acceptance to the shared physical loop.</a:t>
            </a:r>
          </a:p>
          <a:p/>
          <a:p>
            <a:r>
              <a:t>Speaker notes</a:t>
            </a:r>
          </a:p>
          <a:p>
            <a:r>
              <a:t>Every route is executed through the same task-frame admittance and RCC controller, with rate saturation and a causal first-order wrench filter. Safety checks each wrench component against its limit and also bounds tool tilt. A measured capture cue only hands control to an insertion attempt; it does not force the attempt to continue. If depth progress stalls or tilt becomes excessive, recovery unloads for 0.10 seconds, retracts 0.35 millimeters over 0.15 seconds, returns upright, and retouches for 0.20 seconds from the measured state. At most three such post-capture recoveries are allowed. This budget is distinct from Direct-4C's budget of up to three physical rays; one counts rejected insertion recovery, the other counts search attempts. Engagement is accepted only when measured axial progress satisfies the registered depth tolerance and the independent bottom dwell while safety remains true. Force-limit or exhausted-budget events end the trial. We have now separated every authority clearly. The next section can ask whether the representation, routing, and recovery actually improve task evidence under paired conditions.</a:t>
            </a:r>
          </a:p>
          <a:p/>
          <a:p>
            <a:r>
              <a:t>Discussion notes</a:t>
            </a:r>
          </a:p>
          <a:p>
            <a:r>
              <a:t>Q1: What triggers recovery rather than immediate failure?</a:t>
            </a:r>
          </a:p>
          <a:p>
            <a:r>
              <a:t>A1: A rejected insertion with stalled progress or excessive tilt can invoke the guarded recovery operator; an actual force-limit violation ends the trial.</a:t>
            </a:r>
          </a:p>
          <a:p/>
          <a:p>
            <a:r>
              <a:t>Q2: Why distinguish three recoveries from three direct rays?</a:t>
            </a:r>
          </a:p>
          <a:p>
            <a:r>
              <a:t>A2: They are different mechanisms and denominators: recoveries restore contact after capture rejection, while direct rays are repeated search-and-probe attempts in Direct-4C.</a:t>
            </a:r>
          </a:p>
          <a:p/>
          <a:p>
            <a:r>
              <a:t>Q3: Is the wrench used at the physical tool tip?</a:t>
            </a:r>
          </a:p>
          <a:p>
            <a:r>
              <a:t>A3: The controller uses the measured interaction wrench. Hardware evidence is baseline-relative at the Bota origin and is not certified as absolute tip wrench.</a:t>
            </a:r>
          </a:p>
          <a:p/>
          <a:p>
            <a:r>
              <a:t>Q4: What makes the final decision independent of learning?</a:t>
            </a:r>
          </a:p>
          <a:p>
            <a:r>
              <a:t>A4: The terminal predicate uses measured depth, dwell, and safety conditions; no posterior or neural score appears in the acceptance rule.</a:t>
            </a:r>
          </a:p>
          <a:p/>
          <a:p>
            <a:r>
              <a:t>Source map</a:t>
            </a:r>
          </a:p>
          <a:p>
            <a:r>
              <a:t>Task-frame admittance and filtering, Sec. III-D, Eqs. (26)-(27), pp.5-6; componentwise safety, recovery, and terminal predicates, Eqs. (28)-(30), p.6; Direct-4C ray budget, Sec. IV-A, p.6.</a:t>
            </a:r>
          </a:p>
          <a:p/>
          <a:p>
            <a:r>
              <a:t>Permitted claim</a:t>
            </a:r>
          </a:p>
          <a:p>
            <a:r>
              <a:t>Shared compliant execution, componentwise guards, bounded recovery, and an independent depth-dwell predicate own the physical and terminal decisions.</a:t>
            </a:r>
          </a:p>
          <a:p/>
          <a:p>
            <a:r>
              <a:t>Claim not supported</a:t>
            </a:r>
          </a:p>
          <a:p>
            <a:r>
              <a:t>A learned capture score can override guards, recovery logic, or the terminal dwell.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Five questions organize the evidence</a:t>
            </a:r>
          </a:p>
          <a:p/>
          <a:p>
            <a:r>
              <a:t>Speaker notes</a:t>
            </a:r>
          </a:p>
          <a:p>
            <a:r>
              <a:t>I will organize the evidence around five questions rather than walk through figures as an inventory. First, does the four-channel representation change the direction that the controller actually executes? Second, does posterior-guided search reduce task effort relative to global Outward search? Third, does the entropy-grid residual improve on the simpler local spiral? Fourth, does bounded recovery change what states are reachable after a rejected insertion? Fifth, what transfers across socket sizes and onto hardware? Each question has a different denominator and therefore a different permissible conclusion. The strongest efficiency result is paired on joint completions. The recovery result comes from a separate fixed stress set. The hardware records are named or fixed-start mechanism checks. Keeping these evidence classes separate is essential for the rest of the presentation.</a:t>
            </a:r>
          </a:p>
          <a:p/>
          <a:p>
            <a:r>
              <a:t>Discussion notes</a:t>
            </a:r>
          </a:p>
          <a:p>
            <a:r>
              <a:t>If asked why hardware is not a sixth statistical question, answer that the paper provides acquisition coverage and selected closed-loop feasibility records, but no randomized population sample. The evidence hierarchy is revisited on Slides 35-37 and Appendix A12.</a:t>
            </a:r>
          </a:p>
          <a:p/>
          <a:p>
            <a:r>
              <a:t>Source map</a:t>
            </a:r>
          </a:p>
          <a:p>
            <a:r>
              <a:t>Paper Sec. IV-A to IV-F, PDF pp. 6-12; Paper Discussion, PDF p. 13</a:t>
            </a:r>
          </a:p>
          <a:p/>
          <a:p>
            <a:r>
              <a:t>Permitted claim</a:t>
            </a:r>
          </a:p>
          <a:p>
            <a:r>
              <a:t>The experiments address distinct representation, efficiency, residual-search, recovery, transfer, and hardware questions.; Different claims use different paired sets and denominators.</a:t>
            </a:r>
          </a:p>
          <a:p/>
          <a:p>
            <a:r>
              <a:t>Claim not supported</a:t>
            </a:r>
          </a:p>
          <a:p>
            <a:r>
              <a:t>All figures form one common statistical benchmark.; Selected hardware runs estimate a policy success rate.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Every M8 policy faces the same 24 tasks, budget, and physical controller</a:t>
            </a:r>
          </a:p>
          <a:p/>
          <a:p>
            <a:r>
              <a:t>Speaker notes</a:t>
            </a:r>
          </a:p>
          <a:p>
            <a:r>
              <a:t>The main benchmark contains twenty-four task tuples fixed before comparing policies. A Sobol design varies planar offset, socket phase, friction, contact dynamics, target force, sensing delay, and posterior and noise seeds together. Radial offset spans 1.74 to 4.88 millimeters. Every policy receives the same tuple, the same 130-second active budget, the same capture controller, and the same terminal verifier. There is no simulator reset and no budget extension within a trial. This design matters because route choice is the intended difference, while physical capture and verification remain common. Direct policies may use up to three physical rays, but a missed ray unloads, shifts 0.25 millimeters, and performs a complete new probe in the same rollout. Those actions and their time are not free retries.</a:t>
            </a:r>
          </a:p>
          <a:p/>
          <a:p>
            <a:r>
              <a:t>Discussion notes</a:t>
            </a:r>
          </a:p>
          <a:p>
            <a:r>
              <a:t>Likely question: are the twenty-four starts sufficient for a broad success guarantee? No. They support paired comparisons on this frozen batch, not an asymptotic or population guarantee. Full nuisance ranges and exit rules are available in Appendices A08-A09.</a:t>
            </a:r>
          </a:p>
          <a:p/>
          <a:p>
            <a:r>
              <a:t>Source map</a:t>
            </a:r>
          </a:p>
          <a:p>
            <a:r>
              <a:t>Paper Sec. IV-A, PDF p. 6; Paper Table II, PDF p. 7</a:t>
            </a:r>
          </a:p>
          <a:p/>
          <a:p>
            <a:r>
              <a:t>Permitted claim</a:t>
            </a:r>
          </a:p>
          <a:p>
            <a:r>
              <a:t>The M8 comparison is paired across 24 frozen task tuples.; All policies share the 130 s budget, capture controller, and terminal check.</a:t>
            </a:r>
          </a:p>
          <a:p/>
          <a:p>
            <a:r>
              <a:t>Claim not supported</a:t>
            </a:r>
          </a:p>
          <a:p>
            <a:r>
              <a:t>The batch proves performance over all possible starts.; Each direct ray is an independent trial or simulator reset.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Four channels improve the median direction error, but not the tail</a:t>
            </a:r>
          </a:p>
          <a:p/>
          <a:p>
            <a:r>
              <a:t>Speaker notes</a:t>
            </a:r>
          </a:p>
          <a:p>
            <a:r>
              <a:t>This controlled ablation holds the first conical touch, task tuple, noise seed, ray budget, and post-capture controller fixed. Direct-4C has a lower median executed-direction error than the Direct-3C proxy: 4.75 versus 7.41 degrees. However, its 90th-percentile error is worse: 31.45 versus 13.79 degrees. Direct-4C is within fifteen degrees in 19 of 24 cases, compared with 22 of 24 for the proxy. First-ray capture is 18 versus 16, but the paired McNemar value is 0.6875. Any-ray capture ties at 19 of 24, and verified terminal counts are 17 versus 16. The result is deliberately mixed. We retain the four-channel representation because it supports the circular posterior and downstream routing, not because this batch proves uniformly better direction accuracy or engagement.</a:t>
            </a:r>
          </a:p>
          <a:p/>
          <a:p>
            <a:r>
              <a:t>Discussion notes</a:t>
            </a:r>
          </a:p>
          <a:p>
            <a:r>
              <a:t>Direct-3C is our task-specific three-channel, twelve-sector proxy inspired by contact-pose work. It is not a reproduction of Jin et al.'s complete controller. If challenged on significance, point to Table I: none of the binary paired differences establishes superiority.</a:t>
            </a:r>
          </a:p>
          <a:p/>
          <a:p>
            <a:r>
              <a:t>Source map</a:t>
            </a:r>
          </a:p>
          <a:p>
            <a:r>
              <a:t>Paper Sec. IV-B and Table I, PDF p. 6; Paper Fig. 5, PDF p. 7</a:t>
            </a:r>
          </a:p>
          <a:p/>
          <a:p>
            <a:r>
              <a:t>Permitted claim</a:t>
            </a:r>
          </a:p>
          <a:p>
            <a:r>
              <a:t>Direct-4C has the lower median error but a heavier error tail in this batch.; Any-ray capture ties at 19/24, and terminal counts differ by one.</a:t>
            </a:r>
          </a:p>
          <a:p/>
          <a:p>
            <a:r>
              <a:t>Claim not supported</a:t>
            </a:r>
          </a:p>
          <a:p>
            <a:r>
              <a:t>Direct-4C is uniformly more accurate or significantly more successful.; Direct-4C outperforms the full method of Jin et al.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One muted-touch case explains why bounded guidance still needs residual search</a:t>
            </a:r>
          </a:p>
          <a:p/>
          <a:p>
            <a:r>
              <a:t>Speaker notes</a:t>
            </a:r>
          </a:p>
          <a:p>
            <a:r>
              <a:t>This is one mechanism case, Sobol 016, not a population ranking. The first tactile cue is weak, so PGS-G spends it on only a short bounded move and then selects residual contacts. PGS-O uses the same principle but covers the remaining region with a local outward spiral. Global Outward ignores the tactile posterior and pays for coverage from the original contact. Direct-4C commits its limited budget to physical rays and, in this case, exhausts them without capture. PGS-G, PGS-O, and Outward eventually reach CAD-bottom verification in the recorded rollout. The lesson is not that one residual policy is always superior. It is that a directional cue can be useful without being accurate enough to determine an endpoint. Residual search retains responsibility for unresolved distance and for tactile misses.</a:t>
            </a:r>
          </a:p>
          <a:p/>
          <a:p>
            <a:r>
              <a:t>Discussion notes</a:t>
            </a:r>
          </a:p>
          <a:p>
            <a:r>
              <a:t>If the video is played, state before playback that frame spacing is normalized for narrative order; efficiency is determined from raw recorded time and path, not from visual playback duration. Ground-truth center marks are for offline grading only.</a:t>
            </a:r>
          </a:p>
          <a:p/>
          <a:p>
            <a:r>
              <a:t>Source map</a:t>
            </a:r>
          </a:p>
          <a:p>
            <a:r>
              <a:t>Paper Sec. IV-C, PDF pp. 6-8; Paper Fig. 6, PDF p. 8; Unscrewing_NanJinyao_0729.pptx mechanism media, supporting only</a:t>
            </a:r>
          </a:p>
          <a:p/>
          <a:p>
            <a:r>
              <a:t>Permitted claim</a:t>
            </a:r>
          </a:p>
          <a:p>
            <a:r>
              <a:t>Sobol 016 demonstrates why a bounded cue still needs residual search.; The displayed frames describe one frozen trial.</a:t>
            </a:r>
          </a:p>
          <a:p/>
          <a:p>
            <a:r>
              <a:t>Claim not supported</a:t>
            </a:r>
          </a:p>
          <a:p>
            <a:r>
              <a:t>This case estimates method-level success or efficiency.; The controller observes the plotted true center or contact labels online.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Engagement counts are comparable; the stronger result is paired efficiency</a:t>
            </a:r>
          </a:p>
          <a:p/>
          <a:p>
            <a:r>
              <a:t>Speaker notes</a:t>
            </a:r>
          </a:p>
          <a:p>
            <a:r>
              <a:t>Across all twenty-four paired M8 tasks, PGS-O reaches verified engagement in 20 cases. PGS-G and Outward each reach 19, while Direct-4C reaches 17. These counts show that posterior-guided routing did not trade away the engagement count in this batch, but I will not call 20 versus 19 an identical rate or a statistically established success advantage. The successful-subset medians in Table II are descriptive: PGS-O has 13.87 seconds and 14.52 millimeters, PGS-G 13.74 seconds and 6.76 millimeters, Outward 34.63 seconds and 71.27 millimeters, and Direct-4C 9.22 seconds and 6.07 millimeters. Because those medians use different successful subsets, the defensible efficiency claim comes next from the nineteen tasks completed by both PGS-O and Outward.</a:t>
            </a:r>
          </a:p>
          <a:p/>
          <a:p>
            <a:r>
              <a:t>Discussion notes</a:t>
            </a:r>
          </a:p>
          <a:p>
            <a:r>
              <a:t>If asked whether PGS-G is best because its table median path is 6.76 mm, answer no: successful-subset medians have different membership. The paired PGS-G versus PGS-O analysis on Slide 32 is the appropriate comparison.</a:t>
            </a:r>
          </a:p>
          <a:p/>
          <a:p>
            <a:r>
              <a:t>Source map</a:t>
            </a:r>
          </a:p>
          <a:p>
            <a:r>
              <a:t>Paper Table II, PDF p. 7; Paper Fig. 7, PDF p. 9; Paper Sec. IV-C and IV-D, PDF pp. 6-7</a:t>
            </a:r>
          </a:p>
          <a:p/>
          <a:p>
            <a:r>
              <a:t>Permitted claim</a:t>
            </a:r>
          </a:p>
          <a:p>
            <a:r>
              <a:t>Verified counts are PGS-O 20/24, PGS-G 19/24, Outward 19/24, and Direct-4C 17/24.; Table medians are conditional descriptive summaries.</a:t>
            </a:r>
          </a:p>
          <a:p/>
          <a:p>
            <a:r>
              <a:t>Claim not supported</a:t>
            </a:r>
          </a:p>
          <a:p>
            <a:r>
              <a:t>PGS-O and Outward have identical success counts.; Successful-subset medians alone establish a policy ranking.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On 19 joint completions, PGS-O saves 41.14 mm and 16.79 s versus Outward</a:t>
            </a:r>
          </a:p>
          <a:p/>
          <a:p>
            <a:r>
              <a:t>Speaker notes</a:t>
            </a:r>
          </a:p>
          <a:p>
            <a:r>
              <a:t>This is the strongest quantitative result in the paper. PGS-O and Outward share nineteen completed tasks; that is the denominator. On this joint-completion subset, PGS-O has a shorter measured planar path in all 19 pairs. The paired median gap, PGS-O minus Outward, is negative 41.14 millimeters, with a two-sided exact sign-test value of 3.8 times 10 to the minus 6. Completion time is lower in 18 of 19 pairs, with a paired median gap of negative 16.79 seconds and p equal to 7.6 times 10 to the minus 5. These are median paired differences, not percentages and not means. The comparison evaluates the complete probe, shortcut, and local-residual policy against global coverage; it does not isolate shortcut length as a single causal variable.</a:t>
            </a:r>
          </a:p>
          <a:p/>
          <a:p>
            <a:r>
              <a:t>Discussion notes</a:t>
            </a:r>
          </a:p>
          <a:p>
            <a:r>
              <a:t>If asked for a pure shortcut ablation, acknowledge that a same-probe, same-residual arm with forced L-star equal to zero would be required. Also clarify the paper's wording: PGS-O completes 20/24 overall; nineteen is the joint-completion subset with Outward.</a:t>
            </a:r>
          </a:p>
          <a:p/>
          <a:p>
            <a:r>
              <a:t>Source map</a:t>
            </a:r>
          </a:p>
          <a:p>
            <a:r>
              <a:t>Paper Sec. IV-D, PDF pp. 6-7; Paper Table II, PDF p. 7; Paired-difference source figure m8_paired_efficiency.pdf</a:t>
            </a:r>
          </a:p>
          <a:p/>
          <a:p>
            <a:r>
              <a:t>Permitted claim</a:t>
            </a:r>
          </a:p>
          <a:p>
            <a:r>
              <a:t>On 19 joint completions, PGS-O is shorter in 19/19 and faster in 18/19.; Paired median gaps are -41.14 mm and -16.79 s.</a:t>
            </a:r>
          </a:p>
          <a:p/>
          <a:p>
            <a:r>
              <a:t>Claim not supported</a:t>
            </a:r>
          </a:p>
          <a:p>
            <a:r>
              <a:t>Path is reduced by 41.14 percent.; The paired result applies to all 24 tasks or isolates the shortcut alone.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The entropy grid does not outperform the local spiral in this benchmark</a:t>
            </a:r>
          </a:p>
          <a:p/>
          <a:p>
            <a:r>
              <a:t>Speaker notes</a:t>
            </a:r>
          </a:p>
          <a:p>
            <a:r>
              <a:t>PGS-G and PGS-O share nineteen completions, allowing a direct paired comparison of their residual-routing choices. The median paired path gap is negative 0.061 millimeters; PGS-G is shorter in 11 of 19 pairs, with Wilcoxon p equal to 0.465. The median paired time gap is positive 0.536 seconds; PGS-G is faster in only 7 of 19 pairs, with p equal to 0.196. Therefore this benchmark does not establish an efficiency advantage for the entropy grid. The residual regions are already only a few millimeters wide, so a local spiral covers them with little waste. Grid actions also pay unloading, switching, and repeated-contact costs, while close utility scores remain sensitive to model error. Larger residual sets or a better calibrated likelihood might change the result, but these twenty-four starts do not show that advantage.</a:t>
            </a:r>
          </a:p>
          <a:p/>
          <a:p>
            <a:r>
              <a:t>Discussion notes</a:t>
            </a:r>
          </a:p>
          <a:p>
            <a:r>
              <a:t>Recommended positioning for the paper: keep PGS-O as the primary result and present PGS-G as a technically motivated variant with a negative current result. Do not infer equivalence; the current data simply fail to establish superiority.</a:t>
            </a:r>
          </a:p>
          <a:p/>
          <a:p>
            <a:r>
              <a:t>Source map</a:t>
            </a:r>
          </a:p>
          <a:p>
            <a:r>
              <a:t>Paper Sec. IV-D, PDF pp. 6-7; Paper Discussion, PDF p. 13</a:t>
            </a:r>
          </a:p>
          <a:p/>
          <a:p>
            <a:r>
              <a:t>Permitted claim</a:t>
            </a:r>
          </a:p>
          <a:p>
            <a:r>
              <a:t>No significant paired efficiency advantage of PGS-G over PGS-O is established in this batch.; Small residual regions and contact-switching costs are plausible explanations discussed by the paper.</a:t>
            </a:r>
          </a:p>
          <a:p/>
          <a:p>
            <a:r>
              <a:t>Claim not supported</a:t>
            </a:r>
          </a:p>
          <a:p>
            <a:r>
              <a:t>PGS-G outperforms PGS-O.; The entropy grid can never help on larger or different tasks.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Recovery restores 9 of 12 stressed cases, but remains non-guaranteed</a:t>
            </a:r>
          </a:p>
          <a:p/>
          <a:p>
            <a:r>
              <a:t>Speaker notes</a:t>
            </a:r>
          </a:p>
          <a:p>
            <a:r>
              <a:t>Recovery is tested on a separate, fixed twelve-case post-capture stress set. The RCC and wrench guards remain unchanged; only the recovery allowance changes. With recovery disabled, none of the twelve cases reaches verified engagement. Allowing at most three recoveries produces nine verified engagements, with no paired case moving in the opposite direction. The exact two-sided paired value is 0.00390625. Two force-limit exits and one protected exit remain, so recovery is not a success guarantee. Mechanistically, recovery unloads, retracts, uprights, retouches, and restarts the dwell from the measured state. It releases wedging and stale compliant displacement after a rejected insertion. It does not estimate the socket center, remove persistent bias, or alter the learned posterior's authority. This study isolates post-capture reachability, not task-level search quality.</a:t>
            </a:r>
          </a:p>
          <a:p/>
          <a:p>
            <a:r>
              <a:t>Discussion notes</a:t>
            </a:r>
          </a:p>
          <a:p>
            <a:r>
              <a:t>If the legacy three-arm plot includes a no-funnel condition, identify it as supplementary mechanism context. The paper's central paired inference is R0 0/12 versus up-to-three recoveries 9/12 under the same RCC and guards.</a:t>
            </a:r>
          </a:p>
          <a:p/>
          <a:p>
            <a:r>
              <a:t>Source map</a:t>
            </a:r>
          </a:p>
          <a:p>
            <a:r>
              <a:t>Paper Sec. IV-D, PDF p. 7; Paper Eq. (29), PDF p. 5; Figure asset m8_r3_paired_ablation_en.png</a:t>
            </a:r>
          </a:p>
          <a:p/>
          <a:p>
            <a:r>
              <a:t>Permitted claim</a:t>
            </a:r>
          </a:p>
          <a:p>
            <a:r>
              <a:t>Up to three recoveries increase verified outcomes from 0/12 to 9/12 on the fixed stress set.; Recovery changes reachable post-rejection states but does not guarantee success.</a:t>
            </a:r>
          </a:p>
          <a:p/>
          <a:p>
            <a:r>
              <a:t>Claim not supported</a:t>
            </a:r>
          </a:p>
          <a:p>
            <a:r>
              <a:t>Recovery guarantees engagement.; The recovery result estimates performance on the 24-task search benchmark or on hardware.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Cross-size tests do not establish a benefit from anchored fine-tuning</a:t>
            </a:r>
          </a:p>
          <a:p/>
          <a:p>
            <a:r>
              <a:t>Speaker notes</a:t>
            </a:r>
          </a:p>
          <a:p>
            <a:r>
              <a:t>This is a simulation cross-size study, not sim-to-real transfer. For each of M10 and M12, the protocol uses 72 training, 36 validation, and 36 calibration scans split by sixfold symmetry. The encoder remains fixed; only contact-state and direction heads are updated with an L2 anchor to M8. On held-out tests, M8 zero-shot records 12 verified M10 cases and 10 M12 cases. Calibration-only records 12 and 11. Anchored fine-tuning records 10 and 10, with one M10 force-limit and protected exits remaining. These cells also list force-limit and protected terminations; other trials end by budget or terminal rejection. The conclusion is negative but useful: anchored fine-tuning does not steadily exceed zero-shot or calibration-only transfer, so residual search and physical guards remain outside the transferred network.</a:t>
            </a:r>
          </a:p>
          <a:p/>
          <a:p>
            <a:r>
              <a:t>Discussion notes</a:t>
            </a:r>
          </a:p>
          <a:p>
            <a:r>
              <a:t>Do not describe fine-tuning as harmful in general; the evidence says it is not consistently superior in this protocol. Privileged-center rows are an upper-reference condition, not a deployable policy. Hardware adaptation is a separate evidence line.</a:t>
            </a:r>
          </a:p>
          <a:p/>
          <a:p>
            <a:r>
              <a:t>Source map</a:t>
            </a:r>
          </a:p>
          <a:p>
            <a:r>
              <a:t>Paper Sec. IV-E and Table III, PDF pp. 7-8</a:t>
            </a:r>
          </a:p>
          <a:p/>
          <a:p>
            <a:r>
              <a:t>Permitted claim</a:t>
            </a:r>
          </a:p>
          <a:p>
            <a:r>
              <a:t>Anchored fine-tuning shows no steady held-out gain over zero-shot or calibration-only cross-size simulation.; Cross-size simulation motivates keeping physical search and guards outside the learned interface.</a:t>
            </a:r>
          </a:p>
          <a:p/>
          <a:p>
            <a:r>
              <a:t>Claim not supported</a:t>
            </a:r>
          </a:p>
          <a:p>
            <a:r>
              <a:t>Fine-tuning is necessary or proven beneficial.; Table III demonstrates sim-to-real transfer.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Real signals require an installed-stack observation model</a:t>
            </a:r>
          </a:p>
          <a:p/>
          <a:p>
            <a:r>
              <a:t>Speaker notes</a:t>
            </a:r>
          </a:p>
          <a:p>
            <a:r>
              <a:t>The hardware scan campaign separates acquisition from engagement. For each socket size, M8, M10, and M12, there are twenty-six scheduled conical traces: sixteen clean records, four development holdouts, four quarantined points, and two repeated sentinels. All seventy-eight scheduled traces passed acquisition checks. That is a 78-of-78 acquisition result, not seventy-eight engagement successes and not seventy-eight training examples. The phase-aligned real signals differ clearly from rendered signals because the installed stack includes friction, stiction, printed-part deformation, sensor bias, registration error, and gravity moment at the Bota origin. Therefore the circular observation model used on the robot was fitted again on real installed-stack signals. This addresses the immediate observation mismatch, but it does not solve session drift, wear, temperature changes, or shifts across socket size.</a:t>
            </a:r>
          </a:p>
          <a:p/>
          <a:p>
            <a:r>
              <a:t>Discussion notes</a:t>
            </a:r>
          </a:p>
          <a:p>
            <a:r>
              <a:t>The M12 holdouts were already seen during development, so they cannot be called an untouched qualification set. If asked about zero-shot accuracy, answer that the final paper does not make a numerical zero-shot hardware claim; it reports the mismatch and refitting decision.</a:t>
            </a:r>
          </a:p>
          <a:p/>
          <a:p>
            <a:r>
              <a:t>Source map</a:t>
            </a:r>
          </a:p>
          <a:p>
            <a:r>
              <a:t>Paper Sec. IV-F, PDF p. 8; Paper Table IV, PDF p. 10; Paper Discussion, PDF p. 13</a:t>
            </a:r>
          </a:p>
          <a:p/>
          <a:p>
            <a:r>
              <a:t>Permitted claim</a:t>
            </a:r>
          </a:p>
          <a:p>
            <a:r>
              <a:t>All 78 scheduled multisize conical traces passed acquisition checks.; The robot observation model was refitted on installed-stack real signals.</a:t>
            </a:r>
          </a:p>
          <a:p/>
          <a:p>
            <a:r>
              <a:t>Claim not supported</a:t>
            </a:r>
          </a:p>
          <a:p>
            <a:r>
              <a:t>78/78 is a task success rate or training-set size.; Real refitting resolves drift, wear, temperature, or unseen-size shift.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Selected M10/M12 runs demonstrate the mechanism, not a success rate</a:t>
            </a:r>
          </a:p>
          <a:p/>
          <a:p>
            <a:r>
              <a:t>Speaker notes</a:t>
            </a:r>
          </a:p>
          <a:p>
            <a:r>
              <a:t>The main hardware trace is one named M12 PGS-G run from touchdown to terminal logging, without mixing trials. Its 240 raw scan samples produce a 3.00-millimeter shortcut after phase preprocessing. The measured endpoint differs from the command by 0.054 millimeters and does not capture. That valid miss supplies negative evidence, after which the residual route captures at 42.45 seconds. A terminal candidate is logged at 116.63 seconds with 5.792 millimeters of measured insertion depth. Other named M12 PGS-O, PGS-G, and Direct-4C records reach terminal events; Outward exceeds the 130-second budget and engages only after extension. Two fixed-site M10 PGS-G pilots reach terminal depths of 4.834 and 4.726 millimeters. These are feasibility and mechanism records from chosen starts, not randomized rates or policy-level speed estimates.</a:t>
            </a:r>
          </a:p>
          <a:p/>
          <a:p>
            <a:r>
              <a:t>Discussion notes</a:t>
            </a:r>
          </a:p>
          <a:p>
            <a:r>
              <a:t>Avoid converting the M12 registry into three-of-four success or the M10 pilots into two-of-two success. Figure 10 badges use run-specific timing; do not reconcile them into a common 130-second comparison. Hardware wrench is baseline-relative at the Bota sensor origin.</a:t>
            </a:r>
          </a:p>
          <a:p/>
          <a:p>
            <a:r>
              <a:t>Source map</a:t>
            </a:r>
          </a:p>
          <a:p>
            <a:r>
              <a:t>Paper Sec. IV-F, PDF pp. 8-9; Paper Figs. 8-10, PDF pp. 10-12; Paper Table IV, PDF p. 10; 实验结果.pptx Slides 2-7, media only</a:t>
            </a:r>
          </a:p>
          <a:p/>
          <a:p>
            <a:r>
              <a:t>Permitted claim</a:t>
            </a:r>
          </a:p>
          <a:p>
            <a:r>
              <a:t>The named M12 PGS-G trace demonstrates shortcut miss, negative-evidence replan, capture, and terminal logging in one run.; Selected M10/M12 runs establish closed-loop feasibility at fixed or named starts.</a:t>
            </a:r>
          </a:p>
          <a:p/>
          <a:p>
            <a:r>
              <a:t>Claim not supported</a:t>
            </a:r>
          </a:p>
          <a:p>
            <a:r>
              <a:t>The hardware records estimate success probability or policy speed.; The selected M12 methods all satisfy the same 130 s benchmark.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The evidence supports bounded search guidance, with clear validity limits</a:t>
            </a:r>
          </a:p>
          <a:p/>
          <a:p>
            <a:r>
              <a:t>Speaker notes</a:t>
            </a:r>
          </a:p>
          <a:p>
            <a:r>
              <a:t>The evidence supports four bounded statements. First, a conical tactile signal can update a circular direction and contact-support belief without estimating the full socket pose. Second, the posterior can allocate a capped shortcut while leaving unresolved mass to residual search. Third, on nineteen joint M8 completions, PGS-O reduces paired planar path and completion time relative to global Outward. Fourth, bounded recovery changes outcomes on a fixed simulated stress set, and selected hardware runs show that the perception-action-contact chain can execute on the robot. The evidence does not establish PGS-G superiority, a benefit from anchored fine-tuning, a randomized hardware success rate, or a theorem of capture. It also does not provide certified absolute tip wrench. Most importantly, the terminal event establishes geometric engagement only, not first-turn coupling, slip resistance, thread release, or extraction.</a:t>
            </a:r>
          </a:p>
          <a:p/>
          <a:p>
            <a:r>
              <a:t>Discussion notes</a:t>
            </a:r>
          </a:p>
          <a:p>
            <a:r>
              <a:t>Use this slide as the claim ledger during questions. If a proposed sentence exceeds the right-hand boundary, either move it to future work or acquire new evidence. Proposition assumptions are detailed in A06 and hardware provenance in A12-A13.</a:t>
            </a:r>
          </a:p>
          <a:p/>
          <a:p>
            <a:r>
              <a:t>Source map</a:t>
            </a:r>
          </a:p>
          <a:p>
            <a:r>
              <a:t>Paper Discussion and Conclusion, PDF p. 13; Paper Proposition 1, PDF p. 4; Paper Table IV, PDF p. 10</a:t>
            </a:r>
          </a:p>
          <a:p/>
          <a:p>
            <a:r>
              <a:t>Permitted claim</a:t>
            </a:r>
          </a:p>
          <a:p>
            <a:r>
              <a:t>The work demonstrates bounded tactile search guidance, paired PGS-O efficiency, recovery effect on a fixed stress set, and selected hardware feasibility.; The demonstrated terminal scope is geometric engagement.</a:t>
            </a:r>
          </a:p>
          <a:p/>
          <a:p>
            <a:r>
              <a:t>Claim not supported</a:t>
            </a:r>
          </a:p>
          <a:p>
            <a:r>
              <a:t>The work demonstrates full unscrewing or torque coupling.; The proposition, hardware cases, or cross-size study establish general success guarantees.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The paper is defensible as a geometric-engagement study</a:t>
            </a:r>
          </a:p>
          <a:p/>
          <a:p>
            <a:r>
              <a:t>Speaker notes</a:t>
            </a:r>
          </a:p>
          <a:p>
            <a:r>
              <a:t>The paper's defensible contribution is narrow and coherent. One low-force conical touch provides partial directional evidence. The controller spends only the supported portion of that evidence on a capped shortcut, keeps the remaining uncertainty inside finite residual search, and leaves capture, recovery, safety, and terminal verification to a shared physical loop. This separation explains both the positive and negative results: PGS-O saves motion against global coverage, the entropy grid adds no demonstrated advantage on these small residual regions, and hardware evidence remains feasibility rather than a rate. I propose three decisions for discussion. Should PGS-O be the primary method and PGS-G a variant? What randomized paired hardware campaign is the minimum required before journal submission? Finally, should submission retain the geometric terminal scope, or should first-turn torque coupling be added before claiming a broader unscrewing contribution?</a:t>
            </a:r>
          </a:p>
          <a:p/>
          <a:p>
            <a:r>
              <a:t>Discussion notes</a:t>
            </a:r>
          </a:p>
          <a:p>
            <a:r>
              <a:t>This is the end of the 45-minute main presentation. Open appendix slides only in response to the committee's chosen decision path. The closing sentence should remain about bounded search authority, not autonomous unscrewing.</a:t>
            </a:r>
          </a:p>
          <a:p/>
          <a:p>
            <a:r>
              <a:t>Source map</a:t>
            </a:r>
          </a:p>
          <a:p>
            <a:r>
              <a:t>Paper Abstract and Contributions, PDF p. 1; Paper Discussion and Conclusion, PDF p. 13</a:t>
            </a:r>
          </a:p>
          <a:p/>
          <a:p>
            <a:r>
              <a:t>Permitted claim</a:t>
            </a:r>
          </a:p>
          <a:p>
            <a:r>
              <a:t>The paper is a geometric-engagement and bounded-search study.; PGS-O can be positioned as the primary empirical result while PGS-G remains a tested variant.</a:t>
            </a:r>
          </a:p>
          <a:p/>
          <a:p>
            <a:r>
              <a:t>Claim not supported</a:t>
            </a:r>
          </a:p>
          <a:p>
            <a:r>
              <a:t>The paper already demonstrates complete unscrewing.; The committee must accept one predetermined submission strategy.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A01 · Coordinate frames, notation and online/offline authority</a:t>
            </a:r>
          </a:p>
          <a:p/>
          <a:p>
            <a:r>
              <a:t>Speaker notes</a:t>
            </a:r>
          </a:p>
          <a:p>
            <a:r>
              <a:t>This appendix fixes the coordinate and authority conventions used throughout the paper. Frame b is the robot base, frame p is the registered fixture or socket plate, and frame f is the force-sensing tool interaction frame. All planar beliefs and routes are expressed in frame p, and engagement depth increases along negative z-p. The online controller knows the first stable contact x-zero, robot pose, the measured six-axis wrench, probe phase, and the truncated visual or CAD prior. It does not know the true socket center C, simulator contact labels, or ground-truth capture geometry. Those privileged quantities appear only in offline grading and explanatory figures. This separation matters whenever a plot shows the true center, capture disk, or contact tags: they clarify evaluation, but they are never inputs to online routing or terminal verification.</a:t>
            </a:r>
          </a:p>
          <a:p/>
          <a:p>
            <a:r>
              <a:t>Discussion notes</a:t>
            </a:r>
          </a:p>
          <a:p>
            <a:r>
              <a:t>If asked about registration uncertainty, note that the prior represents planar center uncertainty, while the hardware discussion separately acknowledges fixture and TCP registration error. The paper does not claim a certified metrology chain.</a:t>
            </a:r>
          </a:p>
          <a:p/>
          <a:p>
            <a:r>
              <a:t>Source map</a:t>
            </a:r>
          </a:p>
          <a:p>
            <a:r>
              <a:t>Paper Fig. 1 and Sec. II-A, PDF p. 2; Paper Fig. 4 caption, PDF p. 5</a:t>
            </a:r>
          </a:p>
          <a:p/>
          <a:p>
            <a:r>
              <a:t>Permitted claim</a:t>
            </a:r>
          </a:p>
          <a:p>
            <a:r>
              <a:t>The controller uses pose, wrench, phase, and a visual/CAD prior online.; True center and simulator contact labels are reserved for offline checking.</a:t>
            </a:r>
          </a:p>
          <a:p/>
          <a:p>
            <a:r>
              <a:t>Claim not supported</a:t>
            </a:r>
          </a:p>
          <a:p>
            <a:r>
              <a:t>Ground-truth center or capture labels guide online actions.; The coordinate registration is certified or error-free.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A02 · Verified-engagement predicate and failure taxonomy</a:t>
            </a:r>
          </a:p>
          <a:p/>
          <a:p>
            <a:r>
              <a:t>Speaker notes</a:t>
            </a:r>
          </a:p>
          <a:p>
            <a:r>
              <a:t>The outcome predicate is intentionally stricter than a capture cue. A trial must first produce sensor-side capture at time t-c. It must then reach bottom mode and hold that predicate continuously for the required dwell by a time t-b no later than 130 seconds. The safety predicate must remain valid over the interval; a force-limit stop prevents verified engagement. Completion time is measured from stable touchdown to the verified dwell. Planar path integrates measured tip motion, and the contact-work proxy integrates absolute translational and rotational wrench-work terms. A force-limit stop, protected post-capture stop, or exhausted search budget is a failure. This taxonomy prevents a transient descent, a capture candidate, or a video label from being counted as engagement. On hardware, named terminal records are still reported as mechanism cases rather than population outcomes.</a:t>
            </a:r>
          </a:p>
          <a:p/>
          <a:p>
            <a:r>
              <a:t>Discussion notes</a:t>
            </a:r>
          </a:p>
          <a:p>
            <a:r>
              <a:t>If asked about a terminal candidate versus a verified terminal, use the exact source record. The main hardware case reports a terminal candidate at 116.63 s, while Table IV records named terminal outcomes. Do not silently upgrade any earlier capture-only record.</a:t>
            </a:r>
          </a:p>
          <a:p/>
          <a:p>
            <a:r>
              <a:t>Source map</a:t>
            </a:r>
          </a:p>
          <a:p>
            <a:r>
              <a:t>Paper Eqs. (4)-(5), PDF p. 2; Paper Eq. (30), PDF p. 6; Paper Sec. IV-A, PDF p. 6</a:t>
            </a:r>
          </a:p>
          <a:p/>
          <a:p>
            <a:r>
              <a:t>Permitted claim</a:t>
            </a:r>
          </a:p>
          <a:p>
            <a:r>
              <a:t>Verified engagement requires capture followed by a safe persistent bottom dwell within the task budget.; Capture-only, protected, force-limit, and budget exits are not verified engagement.</a:t>
            </a:r>
          </a:p>
          <a:p/>
          <a:p>
            <a:r>
              <a:t>Claim not supported</a:t>
            </a:r>
          </a:p>
          <a:p>
            <a:r>
              <a:t>Any insertion depth crossing or capture cue is success.; Old PPT labels override the paper predicate.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A03 · Model split, symmetry, augmentation and calibration lineage</a:t>
            </a:r>
          </a:p>
          <a:p/>
          <a:p>
            <a:r>
              <a:t>Speaker notes</a:t>
            </a:r>
          </a:p>
          <a:p>
            <a:r>
              <a:t>This lineage slide separates paper-stated facts from implementation details that require an artifact audit. The paper states that three separately trained models produce forty-eight direction-bin logits and are temperature calibrated before averaging. It also states that cross-size M10 and M12 data use 72 training, 36 validation, and 36 calibration scans per size, with the sets separated by sixfold symmetry. During anchored adaptation, the encoder remains fixed and only the contact-state and direction heads are updated. A concentration and source-agreement gate can suppress the shortcut. The paper does not provide a complete augmentation recipe or enough detail to claim that every implementation split is untouched. Any additional augmentation, checkpoint-selection, or seed statement on this slide must be read directly from frozen training manifests before submission, rather than inferred from the older presentation.</a:t>
            </a:r>
          </a:p>
          <a:p/>
          <a:p>
            <a:r>
              <a:t>Discussion notes</a:t>
            </a:r>
          </a:p>
          <a:p>
            <a:r>
              <a:t>Likely question: were hardware holdouts untouched? No. The paper explicitly says the M12 holdouts had been seen during development. Keep simulation cross-size splits, hardware development partitions, and model-member training lineage separate.</a:t>
            </a:r>
          </a:p>
          <a:p/>
          <a:p>
            <a:r>
              <a:t>Source map</a:t>
            </a:r>
          </a:p>
          <a:p>
            <a:r>
              <a:t>Paper Sec. III-A, PDF p. 3; Paper Sec. IV-E, PDF pp. 7-8; Paper Sec. IV-F, PDF p. 8</a:t>
            </a:r>
          </a:p>
          <a:p/>
          <a:p>
            <a:r>
              <a:t>Permitted claim</a:t>
            </a:r>
          </a:p>
          <a:p>
            <a:r>
              <a:t>The ensemble has three separately trained, temperature-calibrated members over 48 bins.; Cross-size adaptation fixes the encoder and separates train, validation, and calibration scans by sixfold symmetry.</a:t>
            </a:r>
          </a:p>
          <a:p/>
          <a:p>
            <a:r>
              <a:t>Claim not supported</a:t>
            </a:r>
          </a:p>
          <a:p>
            <a:r>
              <a:t>An unreported augmentation recipe or untouched split is established by the paper.; M12 hardware holdouts form a pristine test set.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A04 · Posterior diagnostics beyond top-1 accuracy</a:t>
            </a:r>
          </a:p>
          <a:p/>
          <a:p>
            <a:r>
              <a:t>Speaker notes</a:t>
            </a:r>
          </a:p>
          <a:p>
            <a:r>
              <a:t>A top direction alone cannot describe whether a shortcut is justified. The circular mean supplies the executed bearing, while concentration measures how tightly the average posterior wraps around that bearing. The adaptive prediction set records how many high-probability bins are needed to retain the selected mass. Ensemble disagreement instead measures the largest gap among the members' top bins. Entropy measures overall spread, and reverse posterior mass asks how much weighted center belief lies behind the proposed direction. These diagnostics are deliberately not interchangeable: a posterior may be concentrated while ensemble members disagree, or diffuse while their top bins agree. The shortcut quality combines concentration, disagreement, and reverse mass, whereas APS and entropy remain useful telemetry. None of these quantities is a capture detector or a calibrated probability of task success. Physical capture and terminal verification remain independent.</a:t>
            </a:r>
          </a:p>
          <a:p/>
          <a:p>
            <a:r>
              <a:t>Discussion notes</a:t>
            </a:r>
          </a:p>
          <a:p>
            <a:r>
              <a:t>Clarify that the three-bin prediction set shown in Fig. 3 is not the ensemble size, although both happen to equal three in that example. Also avoid interpreting softmax magnitude as success probability.</a:t>
            </a:r>
          </a:p>
          <a:p/>
          <a:p>
            <a:r>
              <a:t>Source map</a:t>
            </a:r>
          </a:p>
          <a:p>
            <a:r>
              <a:t>Paper Eqs. (8)-(12), PDF p. 3; Paper Fig. 3, PDF p. 4; Paper Eq. (16), PDF p. 3</a:t>
            </a:r>
          </a:p>
          <a:p/>
          <a:p>
            <a:r>
              <a:t>Permitted claim</a:t>
            </a:r>
          </a:p>
          <a:p>
            <a:r>
              <a:t>Concentration, APS, entropy, ensemble disagreement, and reverse mass diagnose different aspects of uncertainty.; These diagnostics regulate route authority, not task success.</a:t>
            </a:r>
          </a:p>
          <a:p/>
          <a:p>
            <a:r>
              <a:t>Claim not supported</a:t>
            </a:r>
          </a:p>
          <a:p>
            <a:r>
              <a:t>APS size equals ensemble size by definition.; Posterior confidence is a calibrated probability of engagement.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A05 · Radial likelihood and shortcut parameters</a:t>
            </a:r>
          </a:p>
          <a:p/>
          <a:p>
            <a:r>
              <a:t>Speaker notes</a:t>
            </a:r>
          </a:p>
          <a:p>
            <a:r>
              <a:t>The center belief combines learned angular evidence with hand-designed geometric support. For M8, 4,096 particles are sampled from a truncated planar Gaussian with sigma two millimeters and radius 4.895 millimeters. Each weight includes the posterior probability of the particle's angular bin and a radial likelihood tied to the contact-support head. A small uniform term, 0.02, prevents one uncertain observation from deleting geometric support. Shortcut quality maps to alpha from 0.10 to 0.25 and lambda from 0.35 to 0.65. A quarter of the effective capture radius is retained as a projected margin, and reverse mass at or above 0.20 forces zero direct travel. These are designed risk-allocation parameters, not learned physical constants. The effective radius itself is a conservative planning surrogate derived per socket size, not an exact capture boundary.</a:t>
            </a:r>
          </a:p>
          <a:p/>
          <a:p>
            <a:r>
              <a:t>Discussion notes</a:t>
            </a:r>
          </a:p>
          <a:p>
            <a:r>
              <a:t>If asked for sensitivity, acknowledge that the final paper does not provide a full hyperparameter sweep. A submission-strength follow-up would vary the reverse-mass threshold, quantile schedule, command cap, and effective radius on frozen tasks.</a:t>
            </a:r>
          </a:p>
          <a:p/>
          <a:p>
            <a:r>
              <a:t>Source map</a:t>
            </a:r>
          </a:p>
          <a:p>
            <a:r>
              <a:t>Paper Eqs. (13)-(17), PDF p. 3; Paper Fig. 4, PDF p. 5</a:t>
            </a:r>
          </a:p>
          <a:p/>
          <a:p>
            <a:r>
              <a:t>Permitted claim</a:t>
            </a:r>
          </a:p>
          <a:p>
            <a:r>
              <a:t>The radial likelihood and shortcut schedule are explicit, conservative design choices.; A small uniform term preserves geometric support under uncertain observations.</a:t>
            </a:r>
          </a:p>
          <a:p/>
          <a:p>
            <a:r>
              <a:t>Claim not supported</a:t>
            </a:r>
          </a:p>
          <a:p>
            <a:r>
              <a:t>The hand-designed thresholds are optimal or learned from data.; The effective capture radius is an exact physical capture boundary.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A06 · Proposition 1: statement, proof idea and assumption ledger</a:t>
            </a:r>
          </a:p>
          <a:p/>
          <a:p>
            <a:r>
              <a:t>Speaker notes</a:t>
            </a:r>
          </a:p>
          <a:p>
            <a:r>
              <a:t>Proposition 1 is a posterior-mass retention statement, not a capture theorem. It assumes reverse mass below 0.20, a positive shortcut, a fixed weighted-particle set, and exact execution of the commanded endpoint. Because L-star is bounded by the lower projected quantile, at least one minus alpha of the empirical weighted mass remains beyond the endpoint plus the retained quarter-radius margin. Because L-star is also bounded by the radial cap, it cannot exceed lambda times the weighted 99th-percentile radius. The proof follows directly from the definition of the weighted empirical quantiles. What is not covered is equally important: model misspecification, distribution shift, finite particle error, boundary truncation, tracking error, or insufficient residual-search time. A real endpoint miss therefore remains a measured event that must update the belief and be handled by physical control.</a:t>
            </a:r>
          </a:p>
          <a:p/>
          <a:p>
            <a:r>
              <a:t>Discussion notes</a:t>
            </a:r>
          </a:p>
          <a:p>
            <a:r>
              <a:t>If a reviewer asks for probabilistic safety, state that the proposition conditions empirical allocation for a fixed posterior. It is not a conformal coverage result over deployed tasks and provides no force, contact, or capture guarantee.</a:t>
            </a:r>
          </a:p>
          <a:p/>
          <a:p>
            <a:r>
              <a:t>Source map</a:t>
            </a:r>
          </a:p>
          <a:p>
            <a:r>
              <a:t>Paper Proposition 1 and Eq. (18), PDF p. 4; Paper Discussion, PDF p. 13</a:t>
            </a:r>
          </a:p>
          <a:p/>
          <a:p>
            <a:r>
              <a:t>Permitted claim</a:t>
            </a:r>
          </a:p>
          <a:p>
            <a:r>
              <a:t>The shortcut retains a stated fraction of fixed empirical posterior mass under exact endpoint execution.; The result bounds allocated travel relative to the weighted radial quantile.</a:t>
            </a:r>
          </a:p>
          <a:p/>
          <a:p>
            <a:r>
              <a:t>Claim not supported</a:t>
            </a:r>
          </a:p>
          <a:p>
            <a:r>
              <a:t>Proposition 1 guarantees capture, safety, or full residual coverage.; The bound remains valid under arbitrary distribution shift or tracking error.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A07 · PGS-G utility, switching and geometric coverage</a:t>
            </a:r>
          </a:p>
          <a:p/>
          <a:p>
            <a:r>
              <a:t>Speaker notes</a:t>
            </a:r>
          </a:p>
          <a:p>
            <a:r>
              <a:t>PGS-G chooses among remaining candidate moves using four terms. Expected information gain rewards an observation that is predicted to separate hit from miss beliefs. A capture-coverage term rewards a segment likely to intersect a particle's effective capture disk. A fixed switching cost and a distance cost penalize extra contact actions and travel. The next action is selected only from the remaining action set. This utility explains why PGS-G is not an entropy-minimization controller: when another contact has little information value, coverage can dominate, and entropy need not decrease monotonically. It also explains the negative benchmark result. On small residual disks, candidate utilities may be close, the likelihood is approximate, and unloading and touching again can erase a modest geometric benefit. The formulation is technically meaningful, but the current paired data do not show superiority over PGS-O.</a:t>
            </a:r>
          </a:p>
          <a:p/>
          <a:p>
            <a:r>
              <a:t>Discussion notes</a:t>
            </a:r>
          </a:p>
          <a:p>
            <a:r>
              <a:t>Potential next ablation: retain the same shortcut and physical controller while varying information, coverage, switching, and distance terms one at a time on larger residual regions. Current results cannot identify which utility term helps or hurts.</a:t>
            </a:r>
          </a:p>
          <a:p/>
          <a:p>
            <a:r>
              <a:t>Source map</a:t>
            </a:r>
          </a:p>
          <a:p>
            <a:r>
              <a:t>Paper Eqs. (23)-(25), PDF p. 5; Paper Sec. IV-D, PDF pp. 6-7; Paper Discussion, PDF p. 13</a:t>
            </a:r>
          </a:p>
          <a:p/>
          <a:p>
            <a:r>
              <a:t>Permitted claim</a:t>
            </a:r>
          </a:p>
          <a:p>
            <a:r>
              <a:t>PGS-G balances information, likely capture coverage, switching, and travel.; The current benchmark does not establish a PGS-G advantage.</a:t>
            </a:r>
          </a:p>
          <a:p/>
          <a:p>
            <a:r>
              <a:t>Claim not supported</a:t>
            </a:r>
          </a:p>
          <a:p>
            <a:r>
              <a:t>PGS-G minimizes entropy monotonically.; The utility weights are proven optimal or each term has an isolated causal effect.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A08 · Full M8 outcomes and conditional metrics</a:t>
            </a:r>
          </a:p>
          <a:p/>
          <a:p>
            <a:r>
              <a:t>Speaker notes</a:t>
            </a:r>
          </a:p>
          <a:p>
            <a:r>
              <a:t>This table should be read row by row without turning conditional medians into an unconditional ranking. PGS-O records 20 verified outcomes, median successful completion time 13.87 seconds, path 14.52 millimeters, contact-work proxy 28.48 millijoules, and hard, protected, budget exits of 3, 0, and 1. PGS-G records 19, 13.74, 6.76, 9.54, and 4, 0, 1. Outward records 19, 34.63, 71.27, 120.38, and 4, 1, 0. Direct-4C records 17, 9.22, 6.07, 13.67, and 3, 0, 4. Median peak force across all starts is 7.33, 7.69, 7.45, and 7.33 newtons respectively. These peak-force summaries are descriptive, not separate success criteria. Contact-work is a proxy, not measured wear or energy consumption.</a:t>
            </a:r>
          </a:p>
          <a:p/>
          <a:p>
            <a:r>
              <a:t>Discussion notes</a:t>
            </a:r>
          </a:p>
          <a:p>
            <a:r>
              <a:t>Why can Direct-4C have the shortest successful median but fewer completions? It finishes quickly when a ray lands in the capture basin, while missed cases exhaust the ray budget. This selection effect is why joint-completion pairing is required for efficiency inference.</a:t>
            </a:r>
          </a:p>
          <a:p/>
          <a:p>
            <a:r>
              <a:t>Source map</a:t>
            </a:r>
          </a:p>
          <a:p>
            <a:r>
              <a:t>Paper Table II, PDF p. 7; Paper Sec. IV-A, PDF p. 6</a:t>
            </a:r>
          </a:p>
          <a:p/>
          <a:p>
            <a:r>
              <a:t>Permitted claim</a:t>
            </a:r>
          </a:p>
          <a:p>
            <a:r>
              <a:t>The table reports verified counts, successful-subset medians, median trial peak force, and mutually exclusive exit classes.; Contact-work E_w is explicitly a proxy.</a:t>
            </a:r>
          </a:p>
          <a:p/>
          <a:p>
            <a:r>
              <a:t>Claim not supported</a:t>
            </a:r>
          </a:p>
          <a:p>
            <a:r>
              <a:t>Table medians are unconditional population estimates.; E_w directly measures wear, damage, or consumed energy.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A09 · Paired-statistics denominators and exact tests</a:t>
            </a:r>
          </a:p>
          <a:p/>
          <a:p>
            <a:r>
              <a:t>Speaker notes</a:t>
            </a:r>
          </a:p>
          <a:p>
            <a:r>
              <a:t>The denominator changes with the question. The task-level count table uses all twenty-four paired starts. PGS-O versus Outward efficiency uses only the nineteen starts completed by both methods; it yields exact sign tests for nineteen path signs and eighteen favorable time signs. PGS-G versus PGS-O also uses nineteen shared completions, but Wilcoxon tests retain the magnitude and sign of paired gaps. Direct-4C versus Direct-3C binary outcomes use exact McNemar tests on all twenty-four paired starts, while their error medians and 90th percentiles are descriptive. Recovery uses twelve fixed paired stresses and an exact two-sided binary comparison. No failed trial is assigned an artificial time or path, and no curve is smoothed, interpolated, or filled in. These choices avoid inventing efficiency for tasks that did not reach the verified terminal set.</a:t>
            </a:r>
          </a:p>
          <a:p/>
          <a:p>
            <a:r>
              <a:t>Discussion notes</a:t>
            </a:r>
          </a:p>
          <a:p>
            <a:r>
              <a:t>If asked about survival analysis or censored-time models, acknowledge that the paper instead separates completion counts from paired efficiency among joint completions. A future larger study could preregister a censored model, but it is not part of the current claim.</a:t>
            </a:r>
          </a:p>
          <a:p/>
          <a:p>
            <a:r>
              <a:t>Source map</a:t>
            </a:r>
          </a:p>
          <a:p>
            <a:r>
              <a:t>Paper Sec. IV-A and IV-D, PDF pp. 6-7; Paper Table I, PDF p. 6; Paper Table II, PDF p. 7</a:t>
            </a:r>
          </a:p>
          <a:p/>
          <a:p>
            <a:r>
              <a:t>Permitted claim</a:t>
            </a:r>
          </a:p>
          <a:p>
            <a:r>
              <a:t>Each statistical result is tied to its explicit paired denominator.; Failed trials receive no imputed efficiency value.</a:t>
            </a:r>
          </a:p>
          <a:p/>
          <a:p>
            <a:r>
              <a:t>Claim not supported</a:t>
            </a:r>
          </a:p>
          <a:p>
            <a:r>
              <a:t>The paired median gaps apply to failures or all 24 starts.; Missing outcomes were interpolated, smoothed, or assigned the budget limit.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A10 · Recovery evidence: R3, R0 and no-funnel interpretation</a:t>
            </a:r>
          </a:p>
          <a:p/>
          <a:p>
            <a:r>
              <a:t>Speaker notes</a:t>
            </a:r>
          </a:p>
          <a:p>
            <a:r>
              <a:t>The paper's inferential recovery comparison is R0 versus R3 under the same RCC and wrench guards. R0 allows no recovery and reaches zero of twelve verified engagements. R3 allows up to three recovery cycles and reaches nine of twelve, with no reverse paired case and exact two-sided p equal to 0.00390625. Two force-limit and one protected termination remain. A legacy no-compliant-funnel arm may be shown only as supplementary mechanism context; it changes more than recovery and therefore is not the basis of the paper's isolated recovery claim. The physical interpretation is that RCC and guards alone can leave the system safely trapped after a rejected insertion, while a bounded unload, retract, upright, and retouch sequence restores a searchable state. This is reachability evidence on a fixed simulation stress set, not robustness certification.</a:t>
            </a:r>
          </a:p>
          <a:p/>
          <a:p>
            <a:r>
              <a:t>Discussion notes</a:t>
            </a:r>
          </a:p>
          <a:p>
            <a:r>
              <a:t>Keep pre-capture direct-ray attempts and post-capture recovery cycles separate. Each has a maximum of three, but they solve different problems and use different counters. Do not report the no-funnel arm as part of the paper's primary paired test.</a:t>
            </a:r>
          </a:p>
          <a:p/>
          <a:p>
            <a:r>
              <a:t>Source map</a:t>
            </a:r>
          </a:p>
          <a:p>
            <a:r>
              <a:t>Paper Sec. III-E and Eq. (29), PDF p. 5; Paper Sec. IV-D, PDF p. 7; Legacy recovery figure, supplementary only</a:t>
            </a:r>
          </a:p>
          <a:p/>
          <a:p>
            <a:r>
              <a:t>Permitted claim</a:t>
            </a:r>
          </a:p>
          <a:p>
            <a:r>
              <a:t>R3 versus R0 isolates recovery allowance under the same RCC and guards.; Recovery restores a searchable state after some rejected insertions.</a:t>
            </a:r>
          </a:p>
          <a:p/>
          <a:p>
            <a:r>
              <a:t>Claim not supported</a:t>
            </a:r>
          </a:p>
          <a:p>
            <a:r>
              <a:t>The no-funnel arm isolates recovery or proves the compliant funnel's full causal effect.; Three recovery cycles guarantee engagement.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A11 · Cross-size adapter, abstention and one-use test lineage</a:t>
            </a:r>
          </a:p>
          <a:p/>
          <a:p>
            <a:r>
              <a:t>Speaker notes</a:t>
            </a:r>
          </a:p>
          <a:p>
            <a:r>
              <a:t>The cross-size adapter preserves a narrow learning interface. The encoder is frozen, and only contact-state and circular-direction heads are updated with an L2 anchor to the M8 weights. A concentration and source-agreement gate can suppress direct travel when the adapted and source directions disagree or the adapted posterior is weak; residual search and every physical guard remain unchanged. Development and held-out cells in Table III must remain distinct because development performance helped select the adapter. The held-out results do not show a stable benefit from anchored fine-tuning. This entire lineage is simulated M8-to-M10/M12 transfer. The hardware observation model is a separate real-signal fit, and the paper explicitly states that M12 hardware holdouts were already seen during development. Therefore neither line should be described as a pristine one-use sim-to-real test.</a:t>
            </a:r>
          </a:p>
          <a:p/>
          <a:p>
            <a:r>
              <a:t>Discussion notes</a:t>
            </a:r>
          </a:p>
          <a:p>
            <a:r>
              <a:t>If asked what would establish necessity, propose a preregistered three-arm hardware comparison: frozen source, calibration-only, and anchored adaptation on the same untouched starts, with model selection completed before test exposure.</a:t>
            </a:r>
          </a:p>
          <a:p/>
          <a:p>
            <a:r>
              <a:t>Source map</a:t>
            </a:r>
          </a:p>
          <a:p>
            <a:r>
              <a:t>Paper Sec. IV-E and Table III, PDF pp. 7-8; Paper Sec. IV-F, PDF p. 8</a:t>
            </a:r>
          </a:p>
          <a:p/>
          <a:p>
            <a:r>
              <a:t>Permitted claim</a:t>
            </a:r>
          </a:p>
          <a:p>
            <a:r>
              <a:t>The adapter can abstain by suppressing shortcut authority while keeping physical search unchanged.; Held-out simulation does not establish that fine-tuning is necessary.</a:t>
            </a:r>
          </a:p>
          <a:p/>
          <a:p>
            <a:r>
              <a:t>Claim not supported</a:t>
            </a:r>
          </a:p>
          <a:p>
            <a:r>
              <a:t>The cross-size table is hardware or sim-to-real evidence.; The present hardware holdouts constitute an untouched one-use test.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A12 · Hardware acquisition partition and named-run registry</a:t>
            </a:r>
          </a:p>
          <a:p/>
          <a:p>
            <a:r>
              <a:t>Speaker notes</a:t>
            </a:r>
          </a:p>
          <a:p>
            <a:r>
              <a:t>The hardware registry has two evidence levels. Acquisition covers twenty-six conical traces per size, seventy-eight total. Each size contains sixteen clean records, four development holdouts, four quarantined points, and two repeated sentinels. All scheduled traces pass acquisition checks, but the partitions serve different modeling and diagnostic roles. Closed-loop evidence is much smaller: one named or fixed-seed M12 record per PGS-O, PGS-G, Direct-4C, and Outward, plus two fixed-site M10 PGS-G pilots. Table IV reports what those records contain; it does not estimate a rate. The selected M12 figures preserve same-run timestamps, routes, force, torque, axial progress, capture, negative evidence, and terminal markers. Wrench is baseline-relative at the Bota sensor origin, without certified gravity correction or moment transfer to the tool tip.</a:t>
            </a:r>
          </a:p>
          <a:p/>
          <a:p>
            <a:r>
              <a:t>Discussion notes</a:t>
            </a:r>
          </a:p>
          <a:p>
            <a:r>
              <a:t>The raw registry should include run identifiers and immutable file hashes before submission. Video titles from the old result deck must be relabeled as named mechanism records; words such as successful must not substitute for the terminal predicate.</a:t>
            </a:r>
          </a:p>
          <a:p/>
          <a:p>
            <a:r>
              <a:t>Source map</a:t>
            </a:r>
          </a:p>
          <a:p>
            <a:r>
              <a:t>Paper Sec. IV-F, PDF pp. 8-9; Paper Table IV and Fig. 8, PDF p. 10; Paper Figs. 9-10, PDF pp. 11-12</a:t>
            </a:r>
          </a:p>
          <a:p/>
          <a:p>
            <a:r>
              <a:t>Permitted claim</a:t>
            </a:r>
          </a:p>
          <a:p>
            <a:r>
              <a:t>The registry contains 78 acquisition-valid scans and a small set of named closed-loop records.; Hardware traces are raw, timestamped, and baseline-relative at the sensor origin.</a:t>
            </a:r>
          </a:p>
          <a:p/>
          <a:p>
            <a:r>
              <a:t>Claim not supported</a:t>
            </a:r>
          </a:p>
          <a:p>
            <a:r>
              <a:t>All 78 records are training samples or engagement successes.; Named M12 and fixed-site M10 runs form a randomized benchmark.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A13 · Evidence-version audit</a:t>
            </a:r>
          </a:p>
          <a:p/>
          <a:p>
            <a:r>
              <a:t>Speaker notes</a:t>
            </a:r>
          </a:p>
          <a:p>
            <a:r>
              <a:t>Three version issues are resolved here. First, the formal title on the fourteen-page paper uses Posterior-Guided Search. Control remains appropriate only for the shared framework and physical loop. Second, 240 and 360 describe different stages: hardware records 240 raw SCAN rows, then periodic phase interpolation produces the four-by-360 model input. The interpolation fixes phase format and does not smooth the raw signal. Third, the July 29 summary slide reported zero verified bottom outcomes in the records then available. The final paper uses later selected M12 and M10 terminal records, so the earlier status cannot govern the new presentation. Likewise, old hardware videos labeled successful must be relabeled by their actual capture or terminal event. The paper's final tables and predicates control every visible claim.</a:t>
            </a:r>
          </a:p>
          <a:p/>
          <a:p>
            <a:r>
              <a:t>Discussion notes</a:t>
            </a:r>
          </a:p>
          <a:p>
            <a:r>
              <a:t>A second internal wording issue is also fixed: Table II gives PGS-O 20/24 and Outward 19/24. Nineteen is their joint-completion subset, not both methods' total. Preserve this distinction in every chart and note.</a:t>
            </a:r>
          </a:p>
          <a:p/>
          <a:p>
            <a:r>
              <a:t>Source map</a:t>
            </a:r>
          </a:p>
          <a:p>
            <a:r>
              <a:t>Paper title page, PDF p. 1; Paper Eqs. (2)-(3), PDF p. 2; Paper Fig. 8, PDF p. 10; Unscrewing_NanJinyao_0729.pptx Slide 32, superseded status only; Verified preprocessing code: infer_conical_direction.py</a:t>
            </a:r>
          </a:p>
          <a:p/>
          <a:p>
            <a:r>
              <a:t>Permitted claim</a:t>
            </a:r>
          </a:p>
          <a:p>
            <a:r>
              <a:t>The formal method title uses Search, while Control names the framework layer.; Hardware raw 240-sample scans are periodically resampled to a 4x360 model input.</a:t>
            </a:r>
          </a:p>
          <a:p/>
          <a:p>
            <a:r>
              <a:t>Claim not supported</a:t>
            </a:r>
          </a:p>
          <a:p>
            <a:r>
              <a:t>The model input has only 240 phase bins or hardware records 360 raw rows.; The July 29 zero-terminal status overrides the final paper's later evidence.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A14 · Prioritized next experiments and decision criteria</a:t>
            </a:r>
          </a:p>
          <a:p/>
          <a:p>
            <a:r>
              <a:t>Speaker notes</a:t>
            </a:r>
          </a:p>
          <a:p>
            <a:r>
              <a:t>The next experiments should close the paper's largest evidence gaps rather than add more selected demonstrations. Priority one is a preregistered randomized or counterbalanced hardware benchmark with untouched starts, shared fixture-reset rules, and the paper's verified geometric terminal predicate fixed before execution. Priority two is a same-probe, same-residual shortcut ablation with L-star forced to zero, which would isolate the shortcut from other differences against Outward. Priority three is a larger-residual benchmark for PGS-G, with utility-term ablations and calibrated contact likelihoods. Priority four is a hardware adaptation necessity test comparing frozen source, calibration-only, and anchored heads. If the research claim is expanded beyond engagement, add an independent first-turn torque-coupling and slip criterion before thread release or extraction. These are proposed study designs, not results already supported by the paper.</a:t>
            </a:r>
          </a:p>
          <a:p/>
          <a:p>
            <a:r>
              <a:t>Discussion notes</a:t>
            </a:r>
          </a:p>
          <a:p>
            <a:r>
              <a:t>Suggested decision gates: report exact denominators and confidence intervals; predefine force, protected, budget, and terminal-rejection exits; lock model and thresholds before untouched tests; inspect fixture wear between runs. The committee should choose scope before choosing sample size.</a:t>
            </a:r>
          </a:p>
          <a:p/>
          <a:p>
            <a:r>
              <a:t>Source map</a:t>
            </a:r>
          </a:p>
          <a:p>
            <a:r>
              <a:t>Paper Discussion, PDF p. 13; Evidence gaps derived from Sec. IV-D to IV-F, PDF pp. 6-12</a:t>
            </a:r>
          </a:p>
          <a:p/>
          <a:p>
            <a:r>
              <a:t>Permitted claim</a:t>
            </a:r>
          </a:p>
          <a:p>
            <a:r>
              <a:t>These experiments are prioritized proposals addressing identified evidence gaps.; A torque-coupling criterion is required before broadening the claim beyond geometric engagement.</a:t>
            </a:r>
          </a:p>
          <a:p/>
          <a:p>
            <a:r>
              <a:t>Claim not supported</a:t>
            </a:r>
          </a:p>
          <a:p>
            <a:r>
              <a:t>The proposed experiments have already been run or passed.; Adding more selected videos would establish a randomized hardware rate.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A15 · Selected references and Direct-3C proxy disclaimer</a:t>
            </a:r>
          </a:p>
          <a:p/>
          <a:p>
            <a:r>
              <a:t>Speaker notes</a:t>
            </a:r>
          </a:p>
          <a:p>
            <a:r>
              <a:t>The related-work positioning is intentionally narrow. Classical compliance and impedance explain how mating geometry can absorb small errors. Belief-space, contact-planning, and force-guided exploration motivate reasoning under contact uncertainty. Active extrinsic sensing and contact-pose identification show that prescribed motion can reveal geometry. Learned tactile and visuotactile work demonstrates richer representations, while insertion and force-control studies motivate explicit physical guards. The present contribution is not a reproduced benchmark against all of these systems; their sensing, actions, and terminal rules differ. In particular, Direct-3C is our engineering proxy using three polar channels and a twelve-sector decision for this task. It is inspired by contact-pose ideas but is not the complete Jin et al. controller. Accordingly, the ablation can compare the two implemented representations, but it cannot claim superiority over Jin et al. or over the broader state of the art.</a:t>
            </a:r>
          </a:p>
          <a:p/>
          <a:p>
            <a:r>
              <a:t>Discussion notes</a:t>
            </a:r>
          </a:p>
          <a:p>
            <a:r>
              <a:t>If the committee requests a quantitative literature row, answer that a fair row requires reproducing sensing, action, budget, and terminal definitions. The paper currently cites FORGE and belief-space work for context without assigning them a numerical score.</a:t>
            </a:r>
          </a:p>
          <a:p/>
          <a:p>
            <a:r>
              <a:t>Source map</a:t>
            </a:r>
          </a:p>
          <a:p>
            <a:r>
              <a:t>Paper Introduction and references [2], [4]-[30], PDF pp. 1 and 13-14; Paper Sec. IV-A and IV-B, PDF p. 6</a:t>
            </a:r>
          </a:p>
          <a:p/>
          <a:p>
            <a:r>
              <a:t>Permitted claim</a:t>
            </a:r>
          </a:p>
          <a:p>
            <a:r>
              <a:t>Direct-3C is a task-specific proxy used for a controlled representation check.; Prior work motivates compliance, active sensing, and belief-guided contact planning.</a:t>
            </a:r>
          </a:p>
          <a:p/>
          <a:p>
            <a:r>
              <a:t>Claim not supported</a:t>
            </a:r>
          </a:p>
          <a:p>
            <a:r>
              <a:t>Direct-3C reproduces Jin et al.'s full method.; The current experiments establish superiority over FORGE, belief-space planning, or the tactile-learning literature.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Purpose</a:t>
            </a:r>
          </a:p>
          <a:p>
            <a:r>
              <a:t>Use this slide to establish: Declaration</a:t>
            </a:r>
          </a:p>
          <a:p/>
          <a:p>
            <a:r>
              <a:t>Speaker notes</a:t>
            </a:r>
          </a:p>
          <a:p>
            <a:r>
              <a:t>This final page records the required originality declaration and must remain the absolute last slide. The visible text should read exactly: I hereby declare that this work is my original work and it has been written by me in its entirety. I have duly acknowledged all the sources of information which have been used in the work. The author line should show NAN JINYAO. Insert only the author's genuine signature asset after it is supplied and approved. Until then, retain an explicit signature placeholder; do not generate, imitate, or infer a handwritten signature. The date must be the actual final document date used for the submitted presentation, not a guessed meeting date. Nothing should follow this slide, including references, backups, hidden media pages, or production notes.</a:t>
            </a:r>
          </a:p>
          <a:p/>
          <a:p>
            <a:r>
              <a:t>Discussion notes</a:t>
            </a:r>
          </a:p>
          <a:p>
            <a:r>
              <a:t>Production check: replace the placeholder only with a user-supplied real signature; update the date at final export; confirm all sources are acknowledged in the deck and notes. Placeholder: [NAN JINYAO - INSERT REAL SIGNATURE ASSET HERE].</a:t>
            </a:r>
          </a:p>
          <a:p/>
          <a:p>
            <a:r>
              <a:t>Source map</a:t>
            </a:r>
          </a:p>
          <a:p>
            <a:r>
              <a:t>User-provided meeting email and declaration instruction in pasted-text.txt</a:t>
            </a:r>
          </a:p>
          <a:p/>
          <a:p>
            <a:r>
              <a:t>Permitted claim</a:t>
            </a:r>
          </a:p>
          <a:p>
            <a:r>
              <a:t>Exact required declaration text, author name NAN JINYAO, genuine signature asset or explicit placeholder, and actual final document date.</a:t>
            </a:r>
          </a:p>
          <a:p/>
          <a:p>
            <a:r>
              <a:t>Claim not supported</a:t>
            </a:r>
          </a:p>
          <a:p>
            <a:r>
              <a:t>A synthesized or inferred signature.; A fabricated signing date or any slide placed after the declaration.</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4282"/>
        </a:solidFill>
        <a:effectLst/>
      </p:bgPr>
    </p:bg>
    <p:spTree>
      <p:nvGrpSpPr>
        <p:cNvPr id="1" name=""/>
        <p:cNvGrpSpPr/>
        <p:nvPr/>
      </p:nvGrpSpPr>
      <p:grpSpPr/>
      <p:pic>
        <p:nvPicPr>
          <p:cNvPr id="10" name="图片 9"/>
          <p:cNvPicPr>
            <a:picLocks noChangeAspect="1"/>
          </p:cNvPicPr>
          <p:nvPr/>
        </p:nvPicPr>
        <p:blipFill>
          <a:blip r:embed="rId1"/>
          <a:srcRect l="25391" r="25391"/>
          <a:stretch>
            <a:fillRect/>
          </a:stretch>
        </p:blipFill>
        <p:spPr>
          <a:xfrm>
            <a:off x="6191250" y="0"/>
            <a:ext cx="6000750" cy="6858000"/>
          </a:xfrm>
          <a:prstGeom prst="roundRect">
            <a:avLst>
              <a:gd name="adj" fmla="val 1270"/>
            </a:avLst>
          </a:prstGeom>
        </p:spPr>
      </p:pic>
      <p:sp>
        <p:nvSpPr>
          <p:cNvPr id="2" name="矩形 1"/>
          <p:cNvSpPr>
            <a:spLocks noGrp="1"/>
          </p:cNvSpPr>
          <p:nvPr/>
        </p:nvSpPr>
        <p:spPr>
          <a:xfrm>
            <a:off x="0" y="0"/>
            <a:ext cx="6572250" cy="6858000"/>
          </a:xfrm>
          <a:prstGeom prst="rect">
            <a:avLst/>
          </a:prstGeom>
          <a:solidFill>
            <a:srgbClr val="004282"/>
          </a:solidFill>
          <a:ln w="0">
            <a:noFill/>
            <a:prstDash val="solid"/>
          </a:ln>
        </p:spPr>
      </p:sp>
      <p:sp>
        <p:nvSpPr>
          <p:cNvPr id="3" name="矩形 2"/>
          <p:cNvSpPr>
            <a:spLocks noGrp="1"/>
          </p:cNvSpPr>
          <p:nvPr/>
        </p:nvSpPr>
        <p:spPr>
          <a:xfrm>
            <a:off x="666750" y="876300"/>
            <a:ext cx="781050" cy="76200"/>
          </a:xfrm>
          <a:prstGeom prst="rect">
            <a:avLst/>
          </a:prstGeom>
          <a:solidFill>
            <a:srgbClr val="ED7F0D"/>
          </a:solidFill>
          <a:ln w="0">
            <a:noFill/>
            <a:prstDash val="solid"/>
          </a:ln>
        </p:spPr>
      </p:sp>
      <p:sp>
        <p:nvSpPr>
          <p:cNvPr id="4" name="矩形 3"/>
          <p:cNvSpPr>
            <a:spLocks noGrp="1"/>
          </p:cNvSpPr>
          <p:nvPr/>
        </p:nvSpPr>
        <p:spPr>
          <a:xfrm>
            <a:off x="666750" y="1162050"/>
            <a:ext cx="4572000" cy="323850"/>
          </a:xfrm>
          <a:prstGeom prst="rect">
            <a:avLst/>
          </a:prstGeom>
          <a:noFill/>
          <a:ln w="0">
            <a:noFill/>
            <a:prstDash val="solid"/>
          </a:ln>
        </p:spPr>
        <p:txBody>
          <a:bodyPr anchor="ctr"/>
          <a:lstStyle/>
          <a:p>
            <a:pPr algn="l">
              <a:defRPr sz="1125" b="1">
                <a:solidFill>
                  <a:srgbClr val="FFF0E2"/>
                </a:solidFill>
              </a:defRPr>
            </a:pPr>
            <a:r>
              <a:rPr sz="1125" b="1">
                <a:solidFill>
                  <a:srgbClr val="FFF0E2"/>
                </a:solidFill>
              </a:rPr>
              <a:t>PAPER-ALIGNED GROUP REVIEW</a:t>
            </a:r>
            <a:endParaRPr sz="1125" b="1">
              <a:solidFill>
                <a:srgbClr val="FFF0E2"/>
              </a:solidFill>
            </a:endParaRPr>
          </a:p>
        </p:txBody>
      </p:sp>
      <p:sp>
        <p:nvSpPr>
          <p:cNvPr id="5" name="矩形 4"/>
          <p:cNvSpPr>
            <a:spLocks noGrp="1"/>
          </p:cNvSpPr>
          <p:nvPr/>
        </p:nvSpPr>
        <p:spPr>
          <a:xfrm>
            <a:off x="666750" y="1676400"/>
            <a:ext cx="5095875" cy="2571750"/>
          </a:xfrm>
          <a:prstGeom prst="rect">
            <a:avLst/>
          </a:prstGeom>
          <a:noFill/>
          <a:ln w="0">
            <a:noFill/>
            <a:prstDash val="solid"/>
          </a:ln>
        </p:spPr>
        <p:txBody>
          <a:bodyPr anchor="t"/>
          <a:lstStyle/>
          <a:p>
            <a:pPr algn="l">
              <a:defRPr sz="3600" b="1">
                <a:solidFill>
                  <a:srgbClr val="FFFFFF"/>
                </a:solidFill>
              </a:defRPr>
            </a:pPr>
            <a:r>
              <a:rPr sz="3600" b="1">
                <a:solidFill>
                  <a:srgbClr val="FFFFFF"/>
                </a:solidFill>
              </a:rPr>
              <a:t>Learning-Based Tactile Posterior-Guided Search for Robotic Hex-Socket Engagement</a:t>
            </a:r>
            <a:endParaRPr sz="3600" b="1">
              <a:solidFill>
                <a:srgbClr val="FFFFFF"/>
              </a:solidFill>
            </a:endParaRPr>
          </a:p>
        </p:txBody>
      </p:sp>
      <p:sp>
        <p:nvSpPr>
          <p:cNvPr id="6" name="矩形 5"/>
          <p:cNvSpPr>
            <a:spLocks noGrp="1"/>
          </p:cNvSpPr>
          <p:nvPr/>
        </p:nvSpPr>
        <p:spPr>
          <a:xfrm>
            <a:off x="666750" y="4457700"/>
            <a:ext cx="4762500" cy="457200"/>
          </a:xfrm>
          <a:prstGeom prst="rect">
            <a:avLst/>
          </a:prstGeom>
          <a:noFill/>
          <a:ln w="0">
            <a:noFill/>
            <a:prstDash val="solid"/>
          </a:ln>
        </p:spPr>
        <p:txBody>
          <a:bodyPr anchor="ctr"/>
          <a:lstStyle/>
          <a:p>
            <a:pPr algn="l">
              <a:defRPr sz="1725" b="0">
                <a:solidFill>
                  <a:srgbClr val="E8F1F8"/>
                </a:solidFill>
              </a:defRPr>
            </a:pPr>
            <a:r>
              <a:rPr sz="1725" b="0">
                <a:solidFill>
                  <a:srgbClr val="E8F1F8"/>
                </a:solidFill>
              </a:rPr>
              <a:t>Detailed paper-aligned group review</a:t>
            </a:r>
            <a:endParaRPr sz="1725" b="0">
              <a:solidFill>
                <a:srgbClr val="E8F1F8"/>
              </a:solidFill>
            </a:endParaRPr>
          </a:p>
        </p:txBody>
      </p:sp>
      <p:sp>
        <p:nvSpPr>
          <p:cNvPr id="7" name="矩形 6"/>
          <p:cNvSpPr>
            <a:spLocks noGrp="1"/>
          </p:cNvSpPr>
          <p:nvPr/>
        </p:nvSpPr>
        <p:spPr>
          <a:xfrm>
            <a:off x="666750" y="5305425"/>
            <a:ext cx="2476500" cy="2857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Nan Jinyao</a:t>
            </a:r>
            <a:endParaRPr sz="1500" b="1">
              <a:solidFill>
                <a:srgbClr val="FFFFFF"/>
              </a:solidFill>
            </a:endParaRPr>
          </a:p>
        </p:txBody>
      </p:sp>
      <p:sp>
        <p:nvSpPr>
          <p:cNvPr id="8" name="矩形 7"/>
          <p:cNvSpPr>
            <a:spLocks noGrp="1"/>
          </p:cNvSpPr>
          <p:nvPr/>
        </p:nvSpPr>
        <p:spPr>
          <a:xfrm>
            <a:off x="666750" y="5638800"/>
            <a:ext cx="2476500" cy="266700"/>
          </a:xfrm>
          <a:prstGeom prst="rect">
            <a:avLst/>
          </a:prstGeom>
          <a:noFill/>
          <a:ln w="0">
            <a:noFill/>
            <a:prstDash val="solid"/>
          </a:ln>
        </p:spPr>
        <p:txBody>
          <a:bodyPr anchor="ctr"/>
          <a:lstStyle/>
          <a:p>
            <a:pPr algn="l">
              <a:defRPr sz="1200" b="0">
                <a:solidFill>
                  <a:srgbClr val="E8F1F8"/>
                </a:solidFill>
              </a:defRPr>
            </a:pPr>
            <a:r>
              <a:rPr sz="1200" b="0">
                <a:solidFill>
                  <a:srgbClr val="E8F1F8"/>
                </a:solidFill>
              </a:rPr>
              <a:t>29 August 2026</a:t>
            </a:r>
            <a:endParaRPr sz="1200" b="0">
              <a:solidFill>
                <a:srgbClr val="E8F1F8"/>
              </a:solidFill>
            </a:endParaRPr>
          </a:p>
        </p:txBody>
      </p:sp>
      <p:sp>
        <p:nvSpPr>
          <p:cNvPr id="9" name="矩形 8"/>
          <p:cNvSpPr>
            <a:spLocks noGrp="1"/>
          </p:cNvSpPr>
          <p:nvPr/>
        </p:nvSpPr>
        <p:spPr>
          <a:xfrm>
            <a:off x="666750" y="6153150"/>
            <a:ext cx="4857750" cy="400050"/>
          </a:xfrm>
          <a:prstGeom prst="rect">
            <a:avLst/>
          </a:prstGeom>
          <a:noFill/>
          <a:ln w="0">
            <a:noFill/>
            <a:prstDash val="solid"/>
          </a:ln>
        </p:spPr>
        <p:txBody>
          <a:bodyPr anchor="t"/>
          <a:lstStyle/>
          <a:p>
            <a:pPr algn="l">
              <a:defRPr sz="1125" b="1">
                <a:solidFill>
                  <a:srgbClr val="FFF0E2"/>
                </a:solidFill>
              </a:defRPr>
            </a:pPr>
            <a:r>
              <a:rPr sz="1125" b="1">
                <a:solidFill>
                  <a:srgbClr val="FFF0E2"/>
                </a:solidFill>
              </a:rPr>
              <a:t>Learned touch proposes where to search. Physical interaction decides engagement.</a:t>
            </a:r>
            <a:endParaRPr sz="1125" b="1">
              <a:solidFill>
                <a:srgbClr val="FFF0E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02</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PROBLEM</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 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325" b="1">
                <a:solidFill>
                  <a:srgbClr val="004282"/>
                </a:solidFill>
              </a:defRPr>
            </a:pPr>
            <a:r>
              <a:rPr sz="2325" b="1">
                <a:solidFill>
                  <a:srgbClr val="004282"/>
                </a:solidFill>
              </a:rPr>
              <a:t>One tactile touch should shorten the search without being allowed to declare success</a:t>
            </a:r>
            <a:endParaRPr sz="232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Abstract · Sec. III · Fig. 2</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2</a:t>
            </a:r>
            <a:endParaRPr sz="825" b="1">
              <a:solidFill>
                <a:srgbClr val="004282"/>
              </a:solidFill>
            </a:endParaRPr>
          </a:p>
        </p:txBody>
      </p:sp>
      <p:sp>
        <p:nvSpPr>
          <p:cNvPr id="10" name="圆角矩形 9"/>
          <p:cNvSpPr>
            <a:spLocks noGrp="1"/>
          </p:cNvSpPr>
          <p:nvPr/>
        </p:nvSpPr>
        <p:spPr>
          <a:xfrm>
            <a:off x="781050" y="2305050"/>
            <a:ext cx="2952750" cy="1428750"/>
          </a:xfrm>
          <a:prstGeom prst="roundRect">
            <a:avLst>
              <a:gd name="adj" fmla="val 5333"/>
            </a:avLst>
          </a:prstGeom>
          <a:solidFill>
            <a:srgbClr val="E8F1F8"/>
          </a:solidFill>
          <a:ln w="19050">
            <a:solidFill>
              <a:srgbClr val="004282"/>
            </a:solidFill>
            <a:prstDash val="solid"/>
          </a:ln>
        </p:spPr>
      </p:sp>
      <p:sp>
        <p:nvSpPr>
          <p:cNvPr id="11" name="矩形 10"/>
          <p:cNvSpPr>
            <a:spLocks noGrp="1"/>
          </p:cNvSpPr>
          <p:nvPr/>
        </p:nvSpPr>
        <p:spPr>
          <a:xfrm>
            <a:off x="971550" y="2457450"/>
            <a:ext cx="457200" cy="266700"/>
          </a:xfrm>
          <a:prstGeom prst="rect">
            <a:avLst/>
          </a:prstGeom>
          <a:noFill/>
          <a:ln w="0">
            <a:noFill/>
            <a:prstDash val="solid"/>
          </a:ln>
        </p:spPr>
        <p:txBody>
          <a:bodyPr anchor="ctr"/>
          <a:lstStyle/>
          <a:p>
            <a:pPr algn="l">
              <a:defRPr sz="1050" b="1">
                <a:solidFill>
                  <a:srgbClr val="004282"/>
                </a:solidFill>
              </a:defRPr>
            </a:pPr>
            <a:r>
              <a:rPr sz="1050" b="1">
                <a:solidFill>
                  <a:srgbClr val="004282"/>
                </a:solidFill>
              </a:rPr>
              <a:t>01</a:t>
            </a:r>
            <a:endParaRPr sz="1050" b="1">
              <a:solidFill>
                <a:srgbClr val="004282"/>
              </a:solidFill>
            </a:endParaRPr>
          </a:p>
        </p:txBody>
      </p:sp>
      <p:sp>
        <p:nvSpPr>
          <p:cNvPr id="12" name="矩形 11"/>
          <p:cNvSpPr>
            <a:spLocks noGrp="1"/>
          </p:cNvSpPr>
          <p:nvPr/>
        </p:nvSpPr>
        <p:spPr>
          <a:xfrm>
            <a:off x="990600" y="2819400"/>
            <a:ext cx="2533650" cy="495300"/>
          </a:xfrm>
          <a:prstGeom prst="rect">
            <a:avLst/>
          </a:prstGeom>
          <a:noFill/>
          <a:ln w="0">
            <a:noFill/>
            <a:prstDash val="solid"/>
          </a:ln>
        </p:spPr>
        <p:txBody>
          <a:bodyPr anchor="ctr"/>
          <a:lstStyle/>
          <a:p>
            <a:pPr algn="ctr">
              <a:defRPr sz="1650" b="1">
                <a:solidFill>
                  <a:srgbClr val="004282"/>
                </a:solidFill>
              </a:defRPr>
            </a:pPr>
            <a:r>
              <a:rPr sz="1650" b="1">
                <a:solidFill>
                  <a:srgbClr val="004282"/>
                </a:solidFill>
              </a:rPr>
              <a:t>LOW-FORCE PROBE</a:t>
            </a:r>
            <a:endParaRPr sz="1650" b="1">
              <a:solidFill>
                <a:srgbClr val="004282"/>
              </a:solidFill>
            </a:endParaRPr>
          </a:p>
        </p:txBody>
      </p:sp>
      <p:sp>
        <p:nvSpPr>
          <p:cNvPr id="13" name="矩形 12"/>
          <p:cNvSpPr>
            <a:spLocks noGrp="1"/>
          </p:cNvSpPr>
          <p:nvPr/>
        </p:nvSpPr>
        <p:spPr>
          <a:xfrm>
            <a:off x="1009650" y="3333750"/>
            <a:ext cx="2495550" cy="285750"/>
          </a:xfrm>
          <a:prstGeom prst="rect">
            <a:avLst/>
          </a:prstGeom>
          <a:noFill/>
          <a:ln w="0">
            <a:noFill/>
            <a:prstDash val="solid"/>
          </a:ln>
        </p:spPr>
        <p:txBody>
          <a:bodyPr anchor="ctr"/>
          <a:lstStyle/>
          <a:p>
            <a:pPr algn="ctr">
              <a:defRPr sz="1125" b="0">
                <a:solidFill>
                  <a:srgbClr val="6B7580"/>
                </a:solidFill>
              </a:defRPr>
            </a:pPr>
            <a:r>
              <a:rPr sz="1125" b="0">
                <a:solidFill>
                  <a:srgbClr val="6B7580"/>
                </a:solidFill>
              </a:rPr>
              <a:t>one phase-indexed observation</a:t>
            </a:r>
            <a:endParaRPr sz="1125" b="0">
              <a:solidFill>
                <a:srgbClr val="6B7580"/>
              </a:solidFill>
            </a:endParaRPr>
          </a:p>
        </p:txBody>
      </p:sp>
      <p:sp>
        <p:nvSpPr>
          <p:cNvPr id="14" name="右箭头 13"/>
          <p:cNvSpPr>
            <a:spLocks noGrp="1"/>
          </p:cNvSpPr>
          <p:nvPr/>
        </p:nvSpPr>
        <p:spPr>
          <a:xfrm>
            <a:off x="3848100" y="2886075"/>
            <a:ext cx="457200" cy="266700"/>
          </a:xfrm>
          <a:prstGeom prst="rightArrow">
            <a:avLst/>
          </a:prstGeom>
          <a:solidFill>
            <a:srgbClr val="ED7F0D"/>
          </a:solidFill>
          <a:ln w="0">
            <a:noFill/>
            <a:prstDash val="solid"/>
          </a:ln>
        </p:spPr>
      </p:sp>
      <p:sp>
        <p:nvSpPr>
          <p:cNvPr id="15" name="圆角矩形 14"/>
          <p:cNvSpPr>
            <a:spLocks noGrp="1"/>
          </p:cNvSpPr>
          <p:nvPr/>
        </p:nvSpPr>
        <p:spPr>
          <a:xfrm>
            <a:off x="4457700" y="2305050"/>
            <a:ext cx="2952750" cy="1428750"/>
          </a:xfrm>
          <a:prstGeom prst="roundRect">
            <a:avLst>
              <a:gd name="adj" fmla="val 5333"/>
            </a:avLst>
          </a:prstGeom>
          <a:solidFill>
            <a:srgbClr val="E6F5EF"/>
          </a:solidFill>
          <a:ln w="19050">
            <a:solidFill>
              <a:srgbClr val="009E73"/>
            </a:solidFill>
            <a:prstDash val="solid"/>
          </a:ln>
        </p:spPr>
      </p:sp>
      <p:sp>
        <p:nvSpPr>
          <p:cNvPr id="16" name="矩形 15"/>
          <p:cNvSpPr>
            <a:spLocks noGrp="1"/>
          </p:cNvSpPr>
          <p:nvPr/>
        </p:nvSpPr>
        <p:spPr>
          <a:xfrm>
            <a:off x="4648200" y="2457450"/>
            <a:ext cx="457200" cy="266700"/>
          </a:xfrm>
          <a:prstGeom prst="rect">
            <a:avLst/>
          </a:prstGeom>
          <a:noFill/>
          <a:ln w="0">
            <a:noFill/>
            <a:prstDash val="solid"/>
          </a:ln>
        </p:spPr>
        <p:txBody>
          <a:bodyPr anchor="ctr"/>
          <a:lstStyle/>
          <a:p>
            <a:pPr algn="l">
              <a:defRPr sz="1050" b="1">
                <a:solidFill>
                  <a:srgbClr val="009E73"/>
                </a:solidFill>
              </a:defRPr>
            </a:pPr>
            <a:r>
              <a:rPr sz="1050" b="1">
                <a:solidFill>
                  <a:srgbClr val="009E73"/>
                </a:solidFill>
              </a:rPr>
              <a:t>02</a:t>
            </a:r>
            <a:endParaRPr sz="1050" b="1">
              <a:solidFill>
                <a:srgbClr val="009E73"/>
              </a:solidFill>
            </a:endParaRPr>
          </a:p>
        </p:txBody>
      </p:sp>
      <p:sp>
        <p:nvSpPr>
          <p:cNvPr id="17" name="矩形 16"/>
          <p:cNvSpPr>
            <a:spLocks noGrp="1"/>
          </p:cNvSpPr>
          <p:nvPr/>
        </p:nvSpPr>
        <p:spPr>
          <a:xfrm>
            <a:off x="4667250" y="2819400"/>
            <a:ext cx="2533650" cy="495300"/>
          </a:xfrm>
          <a:prstGeom prst="rect">
            <a:avLst/>
          </a:prstGeom>
          <a:noFill/>
          <a:ln w="0">
            <a:noFill/>
            <a:prstDash val="solid"/>
          </a:ln>
        </p:spPr>
        <p:txBody>
          <a:bodyPr anchor="ctr"/>
          <a:lstStyle/>
          <a:p>
            <a:pPr algn="ctr">
              <a:defRPr sz="1650" b="1">
                <a:solidFill>
                  <a:srgbClr val="009E73"/>
                </a:solidFill>
              </a:defRPr>
            </a:pPr>
            <a:r>
              <a:rPr sz="1650" b="1">
                <a:solidFill>
                  <a:srgbClr val="009E73"/>
                </a:solidFill>
              </a:rPr>
              <a:t>BOUNDED SHORTCUT + RESIDUAL</a:t>
            </a:r>
            <a:endParaRPr sz="1650" b="1">
              <a:solidFill>
                <a:srgbClr val="009E73"/>
              </a:solidFill>
            </a:endParaRPr>
          </a:p>
        </p:txBody>
      </p:sp>
      <p:sp>
        <p:nvSpPr>
          <p:cNvPr id="18" name="矩形 17"/>
          <p:cNvSpPr>
            <a:spLocks noGrp="1"/>
          </p:cNvSpPr>
          <p:nvPr/>
        </p:nvSpPr>
        <p:spPr>
          <a:xfrm>
            <a:off x="4686300" y="3333750"/>
            <a:ext cx="2495550" cy="285750"/>
          </a:xfrm>
          <a:prstGeom prst="rect">
            <a:avLst/>
          </a:prstGeom>
          <a:noFill/>
          <a:ln w="0">
            <a:noFill/>
            <a:prstDash val="solid"/>
          </a:ln>
        </p:spPr>
        <p:txBody>
          <a:bodyPr anchor="ctr"/>
          <a:lstStyle/>
          <a:p>
            <a:pPr algn="ctr">
              <a:defRPr sz="1125" b="0">
                <a:solidFill>
                  <a:srgbClr val="6B7580"/>
                </a:solidFill>
              </a:defRPr>
            </a:pPr>
            <a:r>
              <a:rPr sz="1125" b="0">
                <a:solidFill>
                  <a:srgbClr val="6B7580"/>
                </a:solidFill>
              </a:rPr>
              <a:t>learning allocates search motion</a:t>
            </a:r>
            <a:endParaRPr sz="1125" b="0">
              <a:solidFill>
                <a:srgbClr val="6B7580"/>
              </a:solidFill>
            </a:endParaRPr>
          </a:p>
        </p:txBody>
      </p:sp>
      <p:sp>
        <p:nvSpPr>
          <p:cNvPr id="19" name="右箭头 18"/>
          <p:cNvSpPr>
            <a:spLocks noGrp="1"/>
          </p:cNvSpPr>
          <p:nvPr/>
        </p:nvSpPr>
        <p:spPr>
          <a:xfrm>
            <a:off x="7524750" y="2886075"/>
            <a:ext cx="457200" cy="266700"/>
          </a:xfrm>
          <a:prstGeom prst="rightArrow">
            <a:avLst/>
          </a:prstGeom>
          <a:solidFill>
            <a:srgbClr val="ED7F0D"/>
          </a:solidFill>
          <a:ln w="0">
            <a:noFill/>
            <a:prstDash val="solid"/>
          </a:ln>
        </p:spPr>
      </p:sp>
      <p:sp>
        <p:nvSpPr>
          <p:cNvPr id="20" name="圆角矩形 19"/>
          <p:cNvSpPr>
            <a:spLocks noGrp="1"/>
          </p:cNvSpPr>
          <p:nvPr/>
        </p:nvSpPr>
        <p:spPr>
          <a:xfrm>
            <a:off x="8134350" y="2305050"/>
            <a:ext cx="2952750" cy="1428750"/>
          </a:xfrm>
          <a:prstGeom prst="roundRect">
            <a:avLst>
              <a:gd name="adj" fmla="val 5333"/>
            </a:avLst>
          </a:prstGeom>
          <a:solidFill>
            <a:srgbClr val="FCE9E8"/>
          </a:solidFill>
          <a:ln w="19050">
            <a:solidFill>
              <a:srgbClr val="C74A4A"/>
            </a:solidFill>
            <a:prstDash val="solid"/>
          </a:ln>
        </p:spPr>
      </p:sp>
      <p:sp>
        <p:nvSpPr>
          <p:cNvPr id="21" name="矩形 20"/>
          <p:cNvSpPr>
            <a:spLocks noGrp="1"/>
          </p:cNvSpPr>
          <p:nvPr/>
        </p:nvSpPr>
        <p:spPr>
          <a:xfrm>
            <a:off x="8324850" y="2457450"/>
            <a:ext cx="457200" cy="266700"/>
          </a:xfrm>
          <a:prstGeom prst="rect">
            <a:avLst/>
          </a:prstGeom>
          <a:noFill/>
          <a:ln w="0">
            <a:noFill/>
            <a:prstDash val="solid"/>
          </a:ln>
        </p:spPr>
        <p:txBody>
          <a:bodyPr anchor="ctr"/>
          <a:lstStyle/>
          <a:p>
            <a:pPr algn="l">
              <a:defRPr sz="1050" b="1">
                <a:solidFill>
                  <a:srgbClr val="C74A4A"/>
                </a:solidFill>
              </a:defRPr>
            </a:pPr>
            <a:r>
              <a:rPr sz="1050" b="1">
                <a:solidFill>
                  <a:srgbClr val="C74A4A"/>
                </a:solidFill>
              </a:rPr>
              <a:t>03</a:t>
            </a:r>
            <a:endParaRPr sz="1050" b="1">
              <a:solidFill>
                <a:srgbClr val="C74A4A"/>
              </a:solidFill>
            </a:endParaRPr>
          </a:p>
        </p:txBody>
      </p:sp>
      <p:sp>
        <p:nvSpPr>
          <p:cNvPr id="22" name="矩形 21"/>
          <p:cNvSpPr>
            <a:spLocks noGrp="1"/>
          </p:cNvSpPr>
          <p:nvPr/>
        </p:nvSpPr>
        <p:spPr>
          <a:xfrm>
            <a:off x="8343900" y="2819400"/>
            <a:ext cx="2533650" cy="495300"/>
          </a:xfrm>
          <a:prstGeom prst="rect">
            <a:avLst/>
          </a:prstGeom>
          <a:noFill/>
          <a:ln w="0">
            <a:noFill/>
            <a:prstDash val="solid"/>
          </a:ln>
        </p:spPr>
        <p:txBody>
          <a:bodyPr anchor="ctr"/>
          <a:lstStyle/>
          <a:p>
            <a:pPr algn="ctr">
              <a:defRPr sz="1650" b="1">
                <a:solidFill>
                  <a:srgbClr val="C74A4A"/>
                </a:solidFill>
              </a:defRPr>
            </a:pPr>
            <a:r>
              <a:rPr sz="1650" b="1">
                <a:solidFill>
                  <a:srgbClr val="C74A4A"/>
                </a:solidFill>
              </a:rPr>
              <a:t>INDEPENDENT VERIFIER</a:t>
            </a:r>
            <a:endParaRPr sz="1650" b="1">
              <a:solidFill>
                <a:srgbClr val="C74A4A"/>
              </a:solidFill>
            </a:endParaRPr>
          </a:p>
        </p:txBody>
      </p:sp>
      <p:sp>
        <p:nvSpPr>
          <p:cNvPr id="23" name="矩形 22"/>
          <p:cNvSpPr>
            <a:spLocks noGrp="1"/>
          </p:cNvSpPr>
          <p:nvPr/>
        </p:nvSpPr>
        <p:spPr>
          <a:xfrm>
            <a:off x="8362950" y="3333750"/>
            <a:ext cx="2495550" cy="285750"/>
          </a:xfrm>
          <a:prstGeom prst="rect">
            <a:avLst/>
          </a:prstGeom>
          <a:noFill/>
          <a:ln w="0">
            <a:noFill/>
            <a:prstDash val="solid"/>
          </a:ln>
        </p:spPr>
        <p:txBody>
          <a:bodyPr anchor="ctr"/>
          <a:lstStyle/>
          <a:p>
            <a:pPr algn="ctr">
              <a:defRPr sz="1125" b="0">
                <a:solidFill>
                  <a:srgbClr val="6B7580"/>
                </a:solidFill>
              </a:defRPr>
            </a:pPr>
            <a:r>
              <a:rPr sz="1125" b="0">
                <a:solidFill>
                  <a:srgbClr val="6B7580"/>
                </a:solidFill>
              </a:rPr>
              <a:t>capture, safety and dwell own outcome</a:t>
            </a:r>
            <a:endParaRPr sz="1125" b="0">
              <a:solidFill>
                <a:srgbClr val="6B7580"/>
              </a:solidFill>
            </a:endParaRPr>
          </a:p>
        </p:txBody>
      </p:sp>
      <p:sp>
        <p:nvSpPr>
          <p:cNvPr id="24" name="矩形 23"/>
          <p:cNvSpPr>
            <a:spLocks noGrp="1"/>
          </p:cNvSpPr>
          <p:nvPr/>
        </p:nvSpPr>
        <p:spPr>
          <a:xfrm>
            <a:off x="4000500" y="1866900"/>
            <a:ext cx="3810000" cy="266700"/>
          </a:xfrm>
          <a:prstGeom prst="rect">
            <a:avLst/>
          </a:prstGeom>
          <a:noFill/>
          <a:ln w="0">
            <a:noFill/>
            <a:prstDash val="solid"/>
          </a:ln>
        </p:spPr>
        <p:txBody>
          <a:bodyPr anchor="ctr"/>
          <a:lstStyle/>
          <a:p>
            <a:pPr algn="ctr">
              <a:defRPr sz="1050" b="1">
                <a:solidFill>
                  <a:srgbClr val="ED7F0D"/>
                </a:solidFill>
              </a:defRPr>
            </a:pPr>
            <a:r>
              <a:rPr sz="1050" b="1">
                <a:solidFill>
                  <a:srgbClr val="ED7F0D"/>
                </a:solidFill>
              </a:rPr>
              <a:t>LEARNING AUTHORITY</a:t>
            </a:r>
            <a:endParaRPr sz="1050" b="1">
              <a:solidFill>
                <a:srgbClr val="ED7F0D"/>
              </a:solidFill>
            </a:endParaRPr>
          </a:p>
        </p:txBody>
      </p:sp>
      <p:sp>
        <p:nvSpPr>
          <p:cNvPr id="25" name="矩形 24"/>
          <p:cNvSpPr>
            <a:spLocks noGrp="1"/>
          </p:cNvSpPr>
          <p:nvPr/>
        </p:nvSpPr>
        <p:spPr>
          <a:xfrm>
            <a:off x="4000500" y="2152650"/>
            <a:ext cx="3810000" cy="19050"/>
          </a:xfrm>
          <a:prstGeom prst="rect">
            <a:avLst/>
          </a:prstGeom>
          <a:solidFill>
            <a:srgbClr val="ED7F0D"/>
          </a:solidFill>
          <a:ln w="0">
            <a:noFill/>
            <a:prstDash val="solid"/>
          </a:ln>
        </p:spPr>
      </p:sp>
      <p:sp>
        <p:nvSpPr>
          <p:cNvPr id="26" name="矩形 25"/>
          <p:cNvSpPr>
            <a:spLocks noGrp="1"/>
          </p:cNvSpPr>
          <p:nvPr/>
        </p:nvSpPr>
        <p:spPr>
          <a:xfrm>
            <a:off x="647700" y="5943600"/>
            <a:ext cx="10839450" cy="400050"/>
          </a:xfrm>
          <a:prstGeom prst="rect">
            <a:avLst/>
          </a:prstGeom>
          <a:solidFill>
            <a:srgbClr val="FFF0E2"/>
          </a:solidFill>
          <a:ln w="0">
            <a:noFill/>
            <a:prstDash val="solid"/>
          </a:ln>
        </p:spPr>
      </p:sp>
      <p:sp>
        <p:nvSpPr>
          <p:cNvPr id="27" name="矩形 26"/>
          <p:cNvSpPr>
            <a:spLocks noGrp="1"/>
          </p:cNvSpPr>
          <p:nvPr/>
        </p:nvSpPr>
        <p:spPr>
          <a:xfrm>
            <a:off x="647700" y="5943600"/>
            <a:ext cx="57150" cy="400050"/>
          </a:xfrm>
          <a:prstGeom prst="rect">
            <a:avLst/>
          </a:prstGeom>
          <a:solidFill>
            <a:srgbClr val="ED7F0D"/>
          </a:solidFill>
          <a:ln w="0">
            <a:noFill/>
            <a:prstDash val="solid"/>
          </a:ln>
        </p:spPr>
      </p:sp>
      <p:sp>
        <p:nvSpPr>
          <p:cNvPr id="28" name="矩形 27"/>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paper’s complete answer in one slide.</a:t>
            </a:r>
            <a:endParaRPr sz="1275" b="1">
              <a:solidFill>
                <a:srgbClr val="15253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03</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PROBLEM</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 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Socket engagement is the gate before torque can begin</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Introduction · Discussion</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3</a:t>
            </a:r>
            <a:endParaRPr sz="825" b="1">
              <a:solidFill>
                <a:srgbClr val="004282"/>
              </a:solidFill>
            </a:endParaRPr>
          </a:p>
        </p:txBody>
      </p:sp>
      <p:sp>
        <p:nvSpPr>
          <p:cNvPr id="10" name="圆角矩形 9"/>
          <p:cNvSpPr>
            <a:spLocks noGrp="1"/>
          </p:cNvSpPr>
          <p:nvPr/>
        </p:nvSpPr>
        <p:spPr>
          <a:xfrm>
            <a:off x="704850" y="2419350"/>
            <a:ext cx="1952625" cy="1066800"/>
          </a:xfrm>
          <a:prstGeom prst="roundRect">
            <a:avLst>
              <a:gd name="adj" fmla="val 7143"/>
            </a:avLst>
          </a:prstGeom>
          <a:solidFill>
            <a:srgbClr val="FFFFFF"/>
          </a:solidFill>
          <a:ln w="9525">
            <a:solidFill>
              <a:srgbClr val="D9E0E6"/>
            </a:solidFill>
            <a:prstDash val="solid"/>
          </a:ln>
        </p:spPr>
      </p:sp>
      <p:sp>
        <p:nvSpPr>
          <p:cNvPr id="11" name="矩形 10"/>
          <p:cNvSpPr>
            <a:spLocks noGrp="1"/>
          </p:cNvSpPr>
          <p:nvPr/>
        </p:nvSpPr>
        <p:spPr>
          <a:xfrm>
            <a:off x="819150" y="2533650"/>
            <a:ext cx="228600" cy="228600"/>
          </a:xfrm>
          <a:prstGeom prst="rect">
            <a:avLst/>
          </a:prstGeom>
          <a:noFill/>
          <a:ln w="0">
            <a:noFill/>
            <a:prstDash val="solid"/>
          </a:ln>
        </p:spPr>
        <p:txBody>
          <a:bodyPr anchor="ctr"/>
          <a:lstStyle/>
          <a:p>
            <a:pPr algn="l">
              <a:defRPr sz="1050" b="1">
                <a:solidFill>
                  <a:srgbClr val="6B7580"/>
                </a:solidFill>
              </a:defRPr>
            </a:pPr>
            <a:r>
              <a:rPr sz="1050" b="1">
                <a:solidFill>
                  <a:srgbClr val="6B7580"/>
                </a:solidFill>
              </a:rPr>
              <a:t>1</a:t>
            </a:r>
            <a:endParaRPr sz="1050" b="1">
              <a:solidFill>
                <a:srgbClr val="6B7580"/>
              </a:solidFill>
            </a:endParaRPr>
          </a:p>
        </p:txBody>
      </p:sp>
      <p:sp>
        <p:nvSpPr>
          <p:cNvPr id="12" name="矩形 11"/>
          <p:cNvSpPr>
            <a:spLocks noGrp="1"/>
          </p:cNvSpPr>
          <p:nvPr/>
        </p:nvSpPr>
        <p:spPr>
          <a:xfrm>
            <a:off x="876300" y="2819400"/>
            <a:ext cx="1609725" cy="495300"/>
          </a:xfrm>
          <a:prstGeom prst="rect">
            <a:avLst/>
          </a:prstGeom>
          <a:noFill/>
          <a:ln w="0">
            <a:noFill/>
            <a:prstDash val="solid"/>
          </a:ln>
        </p:spPr>
        <p:txBody>
          <a:bodyPr anchor="ctr"/>
          <a:lstStyle/>
          <a:p>
            <a:pPr algn="ctr">
              <a:defRPr sz="1425" b="1">
                <a:solidFill>
                  <a:srgbClr val="152538"/>
                </a:solidFill>
              </a:defRPr>
            </a:pPr>
            <a:r>
              <a:rPr sz="1425" b="1">
                <a:solidFill>
                  <a:srgbClr val="152538"/>
                </a:solidFill>
              </a:rPr>
              <a:t>Localization</a:t>
            </a:r>
            <a:endParaRPr sz="1425" b="1">
              <a:solidFill>
                <a:srgbClr val="152538"/>
              </a:solidFill>
            </a:endParaRPr>
          </a:p>
        </p:txBody>
      </p:sp>
      <p:sp>
        <p:nvSpPr>
          <p:cNvPr id="13" name="右箭头 12"/>
          <p:cNvSpPr>
            <a:spLocks noGrp="1"/>
          </p:cNvSpPr>
          <p:nvPr/>
        </p:nvSpPr>
        <p:spPr>
          <a:xfrm>
            <a:off x="2686050" y="2819400"/>
            <a:ext cx="152400" cy="266700"/>
          </a:xfrm>
          <a:prstGeom prst="rightArrow">
            <a:avLst/>
          </a:prstGeom>
          <a:solidFill>
            <a:srgbClr val="D9E0E6"/>
          </a:solidFill>
          <a:ln w="0">
            <a:noFill/>
            <a:prstDash val="solid"/>
          </a:ln>
        </p:spPr>
      </p:sp>
      <p:sp>
        <p:nvSpPr>
          <p:cNvPr id="14" name="圆角矩形 13"/>
          <p:cNvSpPr>
            <a:spLocks noGrp="1"/>
          </p:cNvSpPr>
          <p:nvPr/>
        </p:nvSpPr>
        <p:spPr>
          <a:xfrm>
            <a:off x="2867025" y="2419350"/>
            <a:ext cx="1952625" cy="1066800"/>
          </a:xfrm>
          <a:prstGeom prst="roundRect">
            <a:avLst>
              <a:gd name="adj" fmla="val 7143"/>
            </a:avLst>
          </a:prstGeom>
          <a:solidFill>
            <a:srgbClr val="ED7F0D"/>
          </a:solidFill>
          <a:ln w="19050">
            <a:solidFill>
              <a:srgbClr val="ED7F0D"/>
            </a:solidFill>
            <a:prstDash val="solid"/>
          </a:ln>
        </p:spPr>
      </p:sp>
      <p:sp>
        <p:nvSpPr>
          <p:cNvPr id="15" name="矩形 14"/>
          <p:cNvSpPr>
            <a:spLocks noGrp="1"/>
          </p:cNvSpPr>
          <p:nvPr/>
        </p:nvSpPr>
        <p:spPr>
          <a:xfrm>
            <a:off x="2981325" y="2533650"/>
            <a:ext cx="228600" cy="228600"/>
          </a:xfrm>
          <a:prstGeom prst="rect">
            <a:avLst/>
          </a:prstGeom>
          <a:noFill/>
          <a:ln w="0">
            <a:noFill/>
            <a:prstDash val="solid"/>
          </a:ln>
        </p:spPr>
        <p:txBody>
          <a:bodyPr anchor="ctr"/>
          <a:lstStyle/>
          <a:p>
            <a:pPr algn="l">
              <a:defRPr sz="1050" b="1">
                <a:solidFill>
                  <a:srgbClr val="FFFFFF"/>
                </a:solidFill>
              </a:defRPr>
            </a:pPr>
            <a:r>
              <a:rPr sz="1050" b="1">
                <a:solidFill>
                  <a:srgbClr val="FFFFFF"/>
                </a:solidFill>
              </a:rPr>
              <a:t>2</a:t>
            </a:r>
            <a:endParaRPr sz="1050" b="1">
              <a:solidFill>
                <a:srgbClr val="FFFFFF"/>
              </a:solidFill>
            </a:endParaRPr>
          </a:p>
        </p:txBody>
      </p:sp>
      <p:sp>
        <p:nvSpPr>
          <p:cNvPr id="16" name="矩形 15"/>
          <p:cNvSpPr>
            <a:spLocks noGrp="1"/>
          </p:cNvSpPr>
          <p:nvPr/>
        </p:nvSpPr>
        <p:spPr>
          <a:xfrm>
            <a:off x="3038475" y="2819400"/>
            <a:ext cx="1609725" cy="495300"/>
          </a:xfrm>
          <a:prstGeom prst="rect">
            <a:avLst/>
          </a:prstGeom>
          <a:noFill/>
          <a:ln w="0">
            <a:noFill/>
            <a:prstDash val="solid"/>
          </a:ln>
        </p:spPr>
        <p:txBody>
          <a:bodyPr anchor="ctr"/>
          <a:lstStyle/>
          <a:p>
            <a:pPr algn="ctr">
              <a:defRPr sz="1425" b="1">
                <a:solidFill>
                  <a:srgbClr val="FFFFFF"/>
                </a:solidFill>
              </a:defRPr>
            </a:pPr>
            <a:r>
              <a:rPr sz="1425" b="1">
                <a:solidFill>
                  <a:srgbClr val="FFFFFF"/>
                </a:solidFill>
              </a:rPr>
              <a:t>Geometric engagement</a:t>
            </a:r>
            <a:endParaRPr sz="1425" b="1">
              <a:solidFill>
                <a:srgbClr val="FFFFFF"/>
              </a:solidFill>
            </a:endParaRPr>
          </a:p>
        </p:txBody>
      </p:sp>
      <p:sp>
        <p:nvSpPr>
          <p:cNvPr id="17" name="右箭头 16"/>
          <p:cNvSpPr>
            <a:spLocks noGrp="1"/>
          </p:cNvSpPr>
          <p:nvPr/>
        </p:nvSpPr>
        <p:spPr>
          <a:xfrm>
            <a:off x="4848225" y="2819400"/>
            <a:ext cx="152400" cy="266700"/>
          </a:xfrm>
          <a:prstGeom prst="rightArrow">
            <a:avLst/>
          </a:prstGeom>
          <a:solidFill>
            <a:srgbClr val="D9E0E6"/>
          </a:solidFill>
          <a:ln w="0">
            <a:noFill/>
            <a:prstDash val="solid"/>
          </a:ln>
        </p:spPr>
      </p:sp>
      <p:sp>
        <p:nvSpPr>
          <p:cNvPr id="18" name="圆角矩形 17"/>
          <p:cNvSpPr>
            <a:spLocks noGrp="1"/>
          </p:cNvSpPr>
          <p:nvPr/>
        </p:nvSpPr>
        <p:spPr>
          <a:xfrm>
            <a:off x="5029200" y="2419350"/>
            <a:ext cx="1952625" cy="1066800"/>
          </a:xfrm>
          <a:prstGeom prst="roundRect">
            <a:avLst>
              <a:gd name="adj" fmla="val 7143"/>
            </a:avLst>
          </a:prstGeom>
          <a:solidFill>
            <a:srgbClr val="FFFFFF"/>
          </a:solidFill>
          <a:ln w="9525">
            <a:solidFill>
              <a:srgbClr val="D9E0E6"/>
            </a:solidFill>
            <a:prstDash val="solid"/>
          </a:ln>
        </p:spPr>
      </p:sp>
      <p:sp>
        <p:nvSpPr>
          <p:cNvPr id="19" name="矩形 18"/>
          <p:cNvSpPr>
            <a:spLocks noGrp="1"/>
          </p:cNvSpPr>
          <p:nvPr/>
        </p:nvSpPr>
        <p:spPr>
          <a:xfrm>
            <a:off x="5143500" y="2533650"/>
            <a:ext cx="228600" cy="228600"/>
          </a:xfrm>
          <a:prstGeom prst="rect">
            <a:avLst/>
          </a:prstGeom>
          <a:noFill/>
          <a:ln w="0">
            <a:noFill/>
            <a:prstDash val="solid"/>
          </a:ln>
        </p:spPr>
        <p:txBody>
          <a:bodyPr anchor="ctr"/>
          <a:lstStyle/>
          <a:p>
            <a:pPr algn="l">
              <a:defRPr sz="1050" b="1">
                <a:solidFill>
                  <a:srgbClr val="6B7580"/>
                </a:solidFill>
              </a:defRPr>
            </a:pPr>
            <a:r>
              <a:rPr sz="1050" b="1">
                <a:solidFill>
                  <a:srgbClr val="6B7580"/>
                </a:solidFill>
              </a:rPr>
              <a:t>3</a:t>
            </a:r>
            <a:endParaRPr sz="1050" b="1">
              <a:solidFill>
                <a:srgbClr val="6B7580"/>
              </a:solidFill>
            </a:endParaRPr>
          </a:p>
        </p:txBody>
      </p:sp>
      <p:sp>
        <p:nvSpPr>
          <p:cNvPr id="20" name="矩形 19"/>
          <p:cNvSpPr>
            <a:spLocks noGrp="1"/>
          </p:cNvSpPr>
          <p:nvPr/>
        </p:nvSpPr>
        <p:spPr>
          <a:xfrm>
            <a:off x="5200650" y="2819400"/>
            <a:ext cx="1609725" cy="495300"/>
          </a:xfrm>
          <a:prstGeom prst="rect">
            <a:avLst/>
          </a:prstGeom>
          <a:noFill/>
          <a:ln w="0">
            <a:noFill/>
            <a:prstDash val="solid"/>
          </a:ln>
        </p:spPr>
        <p:txBody>
          <a:bodyPr anchor="ctr"/>
          <a:lstStyle/>
          <a:p>
            <a:pPr algn="ctr">
              <a:defRPr sz="1425" b="1">
                <a:solidFill>
                  <a:srgbClr val="152538"/>
                </a:solidFill>
              </a:defRPr>
            </a:pPr>
            <a:r>
              <a:rPr sz="1425" b="1">
                <a:solidFill>
                  <a:srgbClr val="152538"/>
                </a:solidFill>
              </a:rPr>
              <a:t>Torque coupling</a:t>
            </a:r>
            <a:endParaRPr sz="1425" b="1">
              <a:solidFill>
                <a:srgbClr val="152538"/>
              </a:solidFill>
            </a:endParaRPr>
          </a:p>
        </p:txBody>
      </p:sp>
      <p:sp>
        <p:nvSpPr>
          <p:cNvPr id="21" name="右箭头 20"/>
          <p:cNvSpPr>
            <a:spLocks noGrp="1"/>
          </p:cNvSpPr>
          <p:nvPr/>
        </p:nvSpPr>
        <p:spPr>
          <a:xfrm>
            <a:off x="7010400" y="2819400"/>
            <a:ext cx="152400" cy="266700"/>
          </a:xfrm>
          <a:prstGeom prst="rightArrow">
            <a:avLst/>
          </a:prstGeom>
          <a:solidFill>
            <a:srgbClr val="D9E0E6"/>
          </a:solidFill>
          <a:ln w="0">
            <a:noFill/>
            <a:prstDash val="solid"/>
          </a:ln>
        </p:spPr>
      </p:sp>
      <p:sp>
        <p:nvSpPr>
          <p:cNvPr id="22" name="圆角矩形 21"/>
          <p:cNvSpPr>
            <a:spLocks noGrp="1"/>
          </p:cNvSpPr>
          <p:nvPr/>
        </p:nvSpPr>
        <p:spPr>
          <a:xfrm>
            <a:off x="7191375" y="2419350"/>
            <a:ext cx="1952625" cy="1066800"/>
          </a:xfrm>
          <a:prstGeom prst="roundRect">
            <a:avLst>
              <a:gd name="adj" fmla="val 7143"/>
            </a:avLst>
          </a:prstGeom>
          <a:solidFill>
            <a:srgbClr val="FFFFFF"/>
          </a:solidFill>
          <a:ln w="9525">
            <a:solidFill>
              <a:srgbClr val="D9E0E6"/>
            </a:solidFill>
            <a:prstDash val="solid"/>
          </a:ln>
        </p:spPr>
      </p:sp>
      <p:sp>
        <p:nvSpPr>
          <p:cNvPr id="23" name="矩形 22"/>
          <p:cNvSpPr>
            <a:spLocks noGrp="1"/>
          </p:cNvSpPr>
          <p:nvPr/>
        </p:nvSpPr>
        <p:spPr>
          <a:xfrm>
            <a:off x="7305675" y="2533650"/>
            <a:ext cx="228600" cy="228600"/>
          </a:xfrm>
          <a:prstGeom prst="rect">
            <a:avLst/>
          </a:prstGeom>
          <a:noFill/>
          <a:ln w="0">
            <a:noFill/>
            <a:prstDash val="solid"/>
          </a:ln>
        </p:spPr>
        <p:txBody>
          <a:bodyPr anchor="ctr"/>
          <a:lstStyle/>
          <a:p>
            <a:pPr algn="l">
              <a:defRPr sz="1050" b="1">
                <a:solidFill>
                  <a:srgbClr val="6B7580"/>
                </a:solidFill>
              </a:defRPr>
            </a:pPr>
            <a:r>
              <a:rPr sz="1050" b="1">
                <a:solidFill>
                  <a:srgbClr val="6B7580"/>
                </a:solidFill>
              </a:rPr>
              <a:t>4</a:t>
            </a:r>
            <a:endParaRPr sz="1050" b="1">
              <a:solidFill>
                <a:srgbClr val="6B7580"/>
              </a:solidFill>
            </a:endParaRPr>
          </a:p>
        </p:txBody>
      </p:sp>
      <p:sp>
        <p:nvSpPr>
          <p:cNvPr id="24" name="矩形 23"/>
          <p:cNvSpPr>
            <a:spLocks noGrp="1"/>
          </p:cNvSpPr>
          <p:nvPr/>
        </p:nvSpPr>
        <p:spPr>
          <a:xfrm>
            <a:off x="7362825" y="2819400"/>
            <a:ext cx="1609725" cy="495300"/>
          </a:xfrm>
          <a:prstGeom prst="rect">
            <a:avLst/>
          </a:prstGeom>
          <a:noFill/>
          <a:ln w="0">
            <a:noFill/>
            <a:prstDash val="solid"/>
          </a:ln>
        </p:spPr>
        <p:txBody>
          <a:bodyPr anchor="ctr"/>
          <a:lstStyle/>
          <a:p>
            <a:pPr algn="ctr">
              <a:defRPr sz="1425" b="1">
                <a:solidFill>
                  <a:srgbClr val="152538"/>
                </a:solidFill>
              </a:defRPr>
            </a:pPr>
            <a:r>
              <a:rPr sz="1425" b="1">
                <a:solidFill>
                  <a:srgbClr val="152538"/>
                </a:solidFill>
              </a:rPr>
              <a:t>Thread release</a:t>
            </a:r>
            <a:endParaRPr sz="1425" b="1">
              <a:solidFill>
                <a:srgbClr val="152538"/>
              </a:solidFill>
            </a:endParaRPr>
          </a:p>
        </p:txBody>
      </p:sp>
      <p:sp>
        <p:nvSpPr>
          <p:cNvPr id="25" name="右箭头 24"/>
          <p:cNvSpPr>
            <a:spLocks noGrp="1"/>
          </p:cNvSpPr>
          <p:nvPr/>
        </p:nvSpPr>
        <p:spPr>
          <a:xfrm>
            <a:off x="9172575" y="2819400"/>
            <a:ext cx="152400" cy="266700"/>
          </a:xfrm>
          <a:prstGeom prst="rightArrow">
            <a:avLst/>
          </a:prstGeom>
          <a:solidFill>
            <a:srgbClr val="D9E0E6"/>
          </a:solidFill>
          <a:ln w="0">
            <a:noFill/>
            <a:prstDash val="solid"/>
          </a:ln>
        </p:spPr>
      </p:sp>
      <p:sp>
        <p:nvSpPr>
          <p:cNvPr id="26" name="圆角矩形 25"/>
          <p:cNvSpPr>
            <a:spLocks noGrp="1"/>
          </p:cNvSpPr>
          <p:nvPr/>
        </p:nvSpPr>
        <p:spPr>
          <a:xfrm>
            <a:off x="9353550" y="2419350"/>
            <a:ext cx="1952625" cy="1066800"/>
          </a:xfrm>
          <a:prstGeom prst="roundRect">
            <a:avLst>
              <a:gd name="adj" fmla="val 7143"/>
            </a:avLst>
          </a:prstGeom>
          <a:solidFill>
            <a:srgbClr val="FFFFFF"/>
          </a:solidFill>
          <a:ln w="9525">
            <a:solidFill>
              <a:srgbClr val="D9E0E6"/>
            </a:solidFill>
            <a:prstDash val="solid"/>
          </a:ln>
        </p:spPr>
      </p:sp>
      <p:sp>
        <p:nvSpPr>
          <p:cNvPr id="27" name="矩形 26"/>
          <p:cNvSpPr>
            <a:spLocks noGrp="1"/>
          </p:cNvSpPr>
          <p:nvPr/>
        </p:nvSpPr>
        <p:spPr>
          <a:xfrm>
            <a:off x="9467850" y="2533650"/>
            <a:ext cx="228600" cy="228600"/>
          </a:xfrm>
          <a:prstGeom prst="rect">
            <a:avLst/>
          </a:prstGeom>
          <a:noFill/>
          <a:ln w="0">
            <a:noFill/>
            <a:prstDash val="solid"/>
          </a:ln>
        </p:spPr>
        <p:txBody>
          <a:bodyPr anchor="ctr"/>
          <a:lstStyle/>
          <a:p>
            <a:pPr algn="l">
              <a:defRPr sz="1050" b="1">
                <a:solidFill>
                  <a:srgbClr val="6B7580"/>
                </a:solidFill>
              </a:defRPr>
            </a:pPr>
            <a:r>
              <a:rPr sz="1050" b="1">
                <a:solidFill>
                  <a:srgbClr val="6B7580"/>
                </a:solidFill>
              </a:rPr>
              <a:t>5</a:t>
            </a:r>
            <a:endParaRPr sz="1050" b="1">
              <a:solidFill>
                <a:srgbClr val="6B7580"/>
              </a:solidFill>
            </a:endParaRPr>
          </a:p>
        </p:txBody>
      </p:sp>
      <p:sp>
        <p:nvSpPr>
          <p:cNvPr id="28" name="矩形 27"/>
          <p:cNvSpPr>
            <a:spLocks noGrp="1"/>
          </p:cNvSpPr>
          <p:nvPr/>
        </p:nvSpPr>
        <p:spPr>
          <a:xfrm>
            <a:off x="9525000" y="2819400"/>
            <a:ext cx="1609725" cy="495300"/>
          </a:xfrm>
          <a:prstGeom prst="rect">
            <a:avLst/>
          </a:prstGeom>
          <a:noFill/>
          <a:ln w="0">
            <a:noFill/>
            <a:prstDash val="solid"/>
          </a:ln>
        </p:spPr>
        <p:txBody>
          <a:bodyPr anchor="ctr"/>
          <a:lstStyle/>
          <a:p>
            <a:pPr algn="ctr">
              <a:defRPr sz="1425" b="1">
                <a:solidFill>
                  <a:srgbClr val="152538"/>
                </a:solidFill>
              </a:defRPr>
            </a:pPr>
            <a:r>
              <a:rPr sz="1425" b="1">
                <a:solidFill>
                  <a:srgbClr val="152538"/>
                </a:solidFill>
              </a:rPr>
              <a:t>Extraction</a:t>
            </a:r>
            <a:endParaRPr sz="1425" b="1">
              <a:solidFill>
                <a:srgbClr val="152538"/>
              </a:solidFill>
            </a:endParaRPr>
          </a:p>
        </p:txBody>
      </p:sp>
      <p:sp>
        <p:nvSpPr>
          <p:cNvPr id="29" name="矩形 28"/>
          <p:cNvSpPr>
            <a:spLocks noGrp="1"/>
          </p:cNvSpPr>
          <p:nvPr/>
        </p:nvSpPr>
        <p:spPr>
          <a:xfrm>
            <a:off x="2857500" y="3848100"/>
            <a:ext cx="2857500" cy="285750"/>
          </a:xfrm>
          <a:prstGeom prst="rect">
            <a:avLst/>
          </a:prstGeom>
          <a:noFill/>
          <a:ln w="0">
            <a:noFill/>
            <a:prstDash val="solid"/>
          </a:ln>
        </p:spPr>
        <p:txBody>
          <a:bodyPr anchor="ctr"/>
          <a:lstStyle/>
          <a:p>
            <a:pPr algn="ctr">
              <a:defRPr sz="1200" b="1">
                <a:solidFill>
                  <a:srgbClr val="ED7F0D"/>
                </a:solidFill>
              </a:defRPr>
            </a:pPr>
            <a:r>
              <a:rPr sz="1200" b="1">
                <a:solidFill>
                  <a:srgbClr val="ED7F0D"/>
                </a:solidFill>
              </a:rPr>
              <a:t>SCOPE OF THIS PAPER</a:t>
            </a:r>
            <a:endParaRPr sz="1200" b="1">
              <a:solidFill>
                <a:srgbClr val="ED7F0D"/>
              </a:solidFill>
            </a:endParaRPr>
          </a:p>
        </p:txBody>
      </p:sp>
      <p:sp>
        <p:nvSpPr>
          <p:cNvPr id="30" name="下箭头 29"/>
          <p:cNvSpPr>
            <a:spLocks noGrp="1"/>
          </p:cNvSpPr>
          <p:nvPr/>
        </p:nvSpPr>
        <p:spPr>
          <a:xfrm>
            <a:off x="4067175" y="3543300"/>
            <a:ext cx="438150" cy="381000"/>
          </a:xfrm>
          <a:prstGeom prst="downArrow">
            <a:avLst/>
          </a:prstGeom>
          <a:solidFill>
            <a:srgbClr val="ED7F0D"/>
          </a:solidFill>
          <a:ln w="0">
            <a:noFill/>
            <a:prstDash val="solid"/>
          </a:ln>
        </p:spPr>
      </p:sp>
      <p:sp>
        <p:nvSpPr>
          <p:cNvPr id="31" name="矩形 30"/>
          <p:cNvSpPr>
            <a:spLocks noGrp="1"/>
          </p:cNvSpPr>
          <p:nvPr/>
        </p:nvSpPr>
        <p:spPr>
          <a:xfrm>
            <a:off x="2609850" y="4257675"/>
            <a:ext cx="3429000" cy="876300"/>
          </a:xfrm>
          <a:prstGeom prst="rect">
            <a:avLst/>
          </a:prstGeom>
          <a:noFill/>
          <a:ln w="0">
            <a:noFill/>
            <a:prstDash val="solid"/>
          </a:ln>
        </p:spPr>
        <p:txBody>
          <a:bodyPr anchor="ctr"/>
          <a:lstStyle/>
          <a:p>
            <a:pPr algn="ctr">
              <a:defRPr sz="1575" b="1">
                <a:solidFill>
                  <a:srgbClr val="004282"/>
                </a:solidFill>
              </a:defRPr>
            </a:pPr>
            <a:r>
              <a:rPr sz="1575" b="1">
                <a:solidFill>
                  <a:srgbClr val="004282"/>
                </a:solidFill>
              </a:rPr>
              <a:t>Geometric engagement is the enabling gate; downstream unscrewing stages are outside the demonstrated claim.</a:t>
            </a:r>
            <a:endParaRPr sz="1575" b="1">
              <a:solidFill>
                <a:srgbClr val="004282"/>
              </a:solidFill>
            </a:endParaRPr>
          </a:p>
        </p:txBody>
      </p:sp>
      <p:sp>
        <p:nvSpPr>
          <p:cNvPr id="32" name="矩形 31"/>
          <p:cNvSpPr>
            <a:spLocks noGrp="1"/>
          </p:cNvSpPr>
          <p:nvPr/>
        </p:nvSpPr>
        <p:spPr>
          <a:xfrm>
            <a:off x="647700" y="5943600"/>
            <a:ext cx="10839450" cy="400050"/>
          </a:xfrm>
          <a:prstGeom prst="rect">
            <a:avLst/>
          </a:prstGeom>
          <a:solidFill>
            <a:srgbClr val="FFF0E2"/>
          </a:solidFill>
          <a:ln w="0">
            <a:noFill/>
            <a:prstDash val="solid"/>
          </a:ln>
        </p:spPr>
      </p:sp>
      <p:sp>
        <p:nvSpPr>
          <p:cNvPr id="33" name="矩形 32"/>
          <p:cNvSpPr>
            <a:spLocks noGrp="1"/>
          </p:cNvSpPr>
          <p:nvPr/>
        </p:nvSpPr>
        <p:spPr>
          <a:xfrm>
            <a:off x="647700" y="5943600"/>
            <a:ext cx="57150" cy="400050"/>
          </a:xfrm>
          <a:prstGeom prst="rect">
            <a:avLst/>
          </a:prstGeom>
          <a:solidFill>
            <a:srgbClr val="ED7F0D"/>
          </a:solidFill>
          <a:ln w="0">
            <a:noFill/>
            <a:prstDash val="solid"/>
          </a:ln>
        </p:spPr>
      </p:sp>
      <p:sp>
        <p:nvSpPr>
          <p:cNvPr id="34" name="矩形 33"/>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This study stops at verified geometric engagement.</a:t>
            </a:r>
            <a:endParaRPr sz="1275" b="1">
              <a:solidFill>
                <a:srgbClr val="15253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04</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PROBLEM</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 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Residual alignment error can rival the available capture range</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 · M8 prior</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4</a:t>
            </a:r>
            <a:endParaRPr sz="825" b="1">
              <a:solidFill>
                <a:srgbClr val="004282"/>
              </a:solidFill>
            </a:endParaRPr>
          </a:p>
        </p:txBody>
      </p:sp>
      <p:sp>
        <p:nvSpPr>
          <p:cNvPr id="10" name="椭圆 9"/>
          <p:cNvSpPr>
            <a:spLocks noGrp="1"/>
          </p:cNvSpPr>
          <p:nvPr/>
        </p:nvSpPr>
        <p:spPr>
          <a:xfrm>
            <a:off x="857250" y="1809750"/>
            <a:ext cx="4476750" cy="3429000"/>
          </a:xfrm>
          <a:prstGeom prst="ellipse">
            <a:avLst/>
          </a:prstGeom>
          <a:solidFill>
            <a:srgbClr val="E8F1F8"/>
          </a:solidFill>
          <a:ln w="19050">
            <a:solidFill>
              <a:srgbClr val="004282"/>
            </a:solidFill>
            <a:prstDash val="solid"/>
          </a:ln>
        </p:spPr>
      </p:sp>
      <p:sp>
        <p:nvSpPr>
          <p:cNvPr id="11" name="椭圆 10"/>
          <p:cNvSpPr>
            <a:spLocks noGrp="1"/>
          </p:cNvSpPr>
          <p:nvPr/>
        </p:nvSpPr>
        <p:spPr>
          <a:xfrm>
            <a:off x="2857500" y="3124200"/>
            <a:ext cx="666750" cy="666750"/>
          </a:xfrm>
          <a:prstGeom prst="ellipse">
            <a:avLst/>
          </a:prstGeom>
          <a:noFill/>
          <a:ln w="28575">
            <a:solidFill>
              <a:srgbClr val="009E73"/>
            </a:solidFill>
            <a:prstDash val="solid"/>
          </a:ln>
        </p:spPr>
      </p:sp>
      <p:sp>
        <p:nvSpPr>
          <p:cNvPr id="12" name="椭圆 11"/>
          <p:cNvSpPr>
            <a:spLocks noGrp="1"/>
          </p:cNvSpPr>
          <p:nvPr/>
        </p:nvSpPr>
        <p:spPr>
          <a:xfrm>
            <a:off x="3114675" y="3381375"/>
            <a:ext cx="152400" cy="152400"/>
          </a:xfrm>
          <a:prstGeom prst="ellipse">
            <a:avLst/>
          </a:prstGeom>
          <a:solidFill>
            <a:srgbClr val="009E73"/>
          </a:solidFill>
          <a:ln w="9525">
            <a:solidFill>
              <a:srgbClr val="009E73"/>
            </a:solidFill>
            <a:prstDash val="solid"/>
          </a:ln>
        </p:spPr>
      </p:sp>
      <p:sp>
        <p:nvSpPr>
          <p:cNvPr id="13" name="矩形 12"/>
          <p:cNvSpPr>
            <a:spLocks noGrp="1"/>
          </p:cNvSpPr>
          <p:nvPr/>
        </p:nvSpPr>
        <p:spPr>
          <a:xfrm>
            <a:off x="3524250" y="3314700"/>
            <a:ext cx="1619250" cy="304800"/>
          </a:xfrm>
          <a:prstGeom prst="rect">
            <a:avLst/>
          </a:prstGeom>
          <a:noFill/>
          <a:ln w="0">
            <a:noFill/>
            <a:prstDash val="solid"/>
          </a:ln>
        </p:spPr>
        <p:txBody>
          <a:bodyPr anchor="ctr"/>
          <a:lstStyle/>
          <a:p>
            <a:pPr algn="l">
              <a:defRPr sz="1275" b="1">
                <a:solidFill>
                  <a:srgbClr val="009E73"/>
                </a:solidFill>
              </a:defRPr>
            </a:pPr>
            <a:r>
              <a:rPr sz="1275" b="1">
                <a:solidFill>
                  <a:srgbClr val="009E73"/>
                </a:solidFill>
              </a:rPr>
              <a:t>true center C</a:t>
            </a:r>
            <a:endParaRPr sz="1275" b="1">
              <a:solidFill>
                <a:srgbClr val="009E73"/>
              </a:solidFill>
            </a:endParaRPr>
          </a:p>
        </p:txBody>
      </p:sp>
      <p:sp>
        <p:nvSpPr>
          <p:cNvPr id="14" name="椭圆 13"/>
          <p:cNvSpPr>
            <a:spLocks noGrp="1"/>
          </p:cNvSpPr>
          <p:nvPr/>
        </p:nvSpPr>
        <p:spPr>
          <a:xfrm>
            <a:off x="1590675" y="2381250"/>
            <a:ext cx="209550" cy="209550"/>
          </a:xfrm>
          <a:prstGeom prst="ellipse">
            <a:avLst/>
          </a:prstGeom>
          <a:solidFill>
            <a:srgbClr val="ED7F0D"/>
          </a:solidFill>
          <a:ln w="9525">
            <a:solidFill>
              <a:srgbClr val="ED7F0D"/>
            </a:solidFill>
            <a:prstDash val="solid"/>
          </a:ln>
        </p:spPr>
      </p:sp>
      <p:sp>
        <p:nvSpPr>
          <p:cNvPr id="15" name="矩形 14"/>
          <p:cNvSpPr>
            <a:spLocks noGrp="1"/>
          </p:cNvSpPr>
          <p:nvPr/>
        </p:nvSpPr>
        <p:spPr>
          <a:xfrm>
            <a:off x="952500" y="2019300"/>
            <a:ext cx="1428750" cy="285750"/>
          </a:xfrm>
          <a:prstGeom prst="rect">
            <a:avLst/>
          </a:prstGeom>
          <a:noFill/>
          <a:ln w="0">
            <a:noFill/>
            <a:prstDash val="solid"/>
          </a:ln>
        </p:spPr>
        <p:txBody>
          <a:bodyPr anchor="ctr"/>
          <a:lstStyle/>
          <a:p>
            <a:pPr algn="l">
              <a:defRPr sz="1275" b="1">
                <a:solidFill>
                  <a:srgbClr val="ED7F0D"/>
                </a:solidFill>
              </a:defRPr>
            </a:pPr>
            <a:r>
              <a:rPr sz="1275" b="1">
                <a:solidFill>
                  <a:srgbClr val="ED7F0D"/>
                </a:solidFill>
              </a:rPr>
              <a:t>driver at x₀</a:t>
            </a:r>
            <a:endParaRPr sz="1275" b="1">
              <a:solidFill>
                <a:srgbClr val="ED7F0D"/>
              </a:solidFill>
            </a:endParaRPr>
          </a:p>
        </p:txBody>
      </p:sp>
      <p:sp>
        <p:nvSpPr>
          <p:cNvPr id="16" name="右箭头 15"/>
          <p:cNvSpPr>
            <a:spLocks noGrp="1"/>
          </p:cNvSpPr>
          <p:nvPr/>
        </p:nvSpPr>
        <p:spPr>
          <a:xfrm>
            <a:off x="1743075" y="2714625"/>
            <a:ext cx="1428750" cy="361950"/>
          </a:xfrm>
          <a:prstGeom prst="rightArrow">
            <a:avLst/>
          </a:prstGeom>
          <a:solidFill>
            <a:srgbClr val="ED7F0D"/>
          </a:solidFill>
          <a:ln w="0">
            <a:noFill/>
            <a:prstDash val="solid"/>
          </a:ln>
        </p:spPr>
      </p:sp>
      <p:sp>
        <p:nvSpPr>
          <p:cNvPr id="17" name="矩形 16"/>
          <p:cNvSpPr>
            <a:spLocks noGrp="1"/>
          </p:cNvSpPr>
          <p:nvPr/>
        </p:nvSpPr>
        <p:spPr>
          <a:xfrm>
            <a:off x="2647950" y="3867150"/>
            <a:ext cx="1143000" cy="266700"/>
          </a:xfrm>
          <a:prstGeom prst="rect">
            <a:avLst/>
          </a:prstGeom>
          <a:noFill/>
          <a:ln w="0">
            <a:noFill/>
            <a:prstDash val="solid"/>
          </a:ln>
        </p:spPr>
        <p:txBody>
          <a:bodyPr anchor="ctr"/>
          <a:lstStyle/>
          <a:p>
            <a:pPr algn="ctr">
              <a:defRPr sz="1125" b="0">
                <a:solidFill>
                  <a:srgbClr val="009E73"/>
                </a:solidFill>
              </a:defRPr>
            </a:pPr>
            <a:r>
              <a:rPr sz="1125" b="0">
                <a:solidFill>
                  <a:srgbClr val="009E73"/>
                </a:solidFill>
              </a:rPr>
              <a:t>capture disk</a:t>
            </a:r>
            <a:endParaRPr sz="1125" b="0">
              <a:solidFill>
                <a:srgbClr val="009E73"/>
              </a:solidFill>
            </a:endParaRPr>
          </a:p>
        </p:txBody>
      </p:sp>
      <p:sp>
        <p:nvSpPr>
          <p:cNvPr id="18" name="矩形 17"/>
          <p:cNvSpPr>
            <a:spLocks noGrp="1"/>
          </p:cNvSpPr>
          <p:nvPr/>
        </p:nvSpPr>
        <p:spPr>
          <a:xfrm>
            <a:off x="1952625" y="4953000"/>
            <a:ext cx="2190750" cy="228600"/>
          </a:xfrm>
          <a:prstGeom prst="rect">
            <a:avLst/>
          </a:prstGeom>
          <a:noFill/>
          <a:ln w="0">
            <a:noFill/>
            <a:prstDash val="solid"/>
          </a:ln>
        </p:spPr>
        <p:txBody>
          <a:bodyPr anchor="ctr"/>
          <a:lstStyle/>
          <a:p>
            <a:pPr algn="ctr">
              <a:defRPr sz="1125" b="0">
                <a:solidFill>
                  <a:srgbClr val="004282"/>
                </a:solidFill>
              </a:defRPr>
            </a:pPr>
            <a:r>
              <a:rPr sz="1125" b="0">
                <a:solidFill>
                  <a:srgbClr val="004282"/>
                </a:solidFill>
              </a:rPr>
              <a:t>truncated CAD support</a:t>
            </a:r>
            <a:endParaRPr sz="1125" b="0">
              <a:solidFill>
                <a:srgbClr val="004282"/>
              </a:solidFill>
            </a:endParaRPr>
          </a:p>
        </p:txBody>
      </p:sp>
      <p:sp>
        <p:nvSpPr>
          <p:cNvPr id="19" name="矩形 18"/>
          <p:cNvSpPr>
            <a:spLocks noGrp="1"/>
          </p:cNvSpPr>
          <p:nvPr/>
        </p:nvSpPr>
        <p:spPr>
          <a:xfrm>
            <a:off x="6096000" y="1790700"/>
            <a:ext cx="4667250" cy="476250"/>
          </a:xfrm>
          <a:prstGeom prst="rect">
            <a:avLst/>
          </a:prstGeom>
          <a:noFill/>
          <a:ln w="0">
            <a:noFill/>
            <a:prstDash val="solid"/>
          </a:ln>
        </p:spPr>
        <p:txBody>
          <a:bodyPr anchor="ctr"/>
          <a:lstStyle/>
          <a:p>
            <a:pPr algn="ctr">
              <a:defRPr sz="2550" b="1">
                <a:solidFill>
                  <a:srgbClr val="004282"/>
                </a:solidFill>
              </a:defRPr>
            </a:pPr>
            <a:r>
              <a:rPr sz="2550" b="1">
                <a:solidFill>
                  <a:srgbClr val="004282"/>
                </a:solidFill>
              </a:rPr>
              <a:t>σᵥ = 2 mm</a:t>
            </a:r>
            <a:endParaRPr sz="2550" b="1">
              <a:solidFill>
                <a:srgbClr val="004282"/>
              </a:solidFill>
            </a:endParaRPr>
          </a:p>
        </p:txBody>
      </p:sp>
      <p:sp>
        <p:nvSpPr>
          <p:cNvPr id="20" name="矩形 19"/>
          <p:cNvSpPr>
            <a:spLocks noGrp="1"/>
          </p:cNvSpPr>
          <p:nvPr/>
        </p:nvSpPr>
        <p:spPr>
          <a:xfrm>
            <a:off x="6096000" y="2286000"/>
            <a:ext cx="466725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M8 visual/CAD prior</a:t>
            </a:r>
            <a:endParaRPr sz="1200" b="0">
              <a:solidFill>
                <a:srgbClr val="6B7580"/>
              </a:solidFill>
            </a:endParaRPr>
          </a:p>
        </p:txBody>
      </p:sp>
      <p:sp>
        <p:nvSpPr>
          <p:cNvPr id="21" name="矩形 20"/>
          <p:cNvSpPr>
            <a:spLocks noGrp="1"/>
          </p:cNvSpPr>
          <p:nvPr/>
        </p:nvSpPr>
        <p:spPr>
          <a:xfrm>
            <a:off x="6096000" y="2981325"/>
            <a:ext cx="4667250" cy="476250"/>
          </a:xfrm>
          <a:prstGeom prst="rect">
            <a:avLst/>
          </a:prstGeom>
          <a:noFill/>
          <a:ln w="0">
            <a:noFill/>
            <a:prstDash val="solid"/>
          </a:ln>
        </p:spPr>
        <p:txBody>
          <a:bodyPr anchor="ctr"/>
          <a:lstStyle/>
          <a:p>
            <a:pPr algn="ctr">
              <a:defRPr sz="2550" b="1">
                <a:solidFill>
                  <a:srgbClr val="ED7F0D"/>
                </a:solidFill>
              </a:defRPr>
            </a:pPr>
            <a:r>
              <a:rPr sz="2550" b="1">
                <a:solidFill>
                  <a:srgbClr val="ED7F0D"/>
                </a:solidFill>
              </a:rPr>
              <a:t>Rᵥ = 4.895 mm</a:t>
            </a:r>
            <a:endParaRPr sz="2550" b="1">
              <a:solidFill>
                <a:srgbClr val="ED7F0D"/>
              </a:solidFill>
            </a:endParaRPr>
          </a:p>
        </p:txBody>
      </p:sp>
      <p:sp>
        <p:nvSpPr>
          <p:cNvPr id="22" name="矩形 21"/>
          <p:cNvSpPr>
            <a:spLocks noGrp="1"/>
          </p:cNvSpPr>
          <p:nvPr/>
        </p:nvSpPr>
        <p:spPr>
          <a:xfrm>
            <a:off x="6096000" y="3476625"/>
            <a:ext cx="466725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truncated support</a:t>
            </a:r>
            <a:endParaRPr sz="1200" b="0">
              <a:solidFill>
                <a:srgbClr val="6B7580"/>
              </a:solidFill>
            </a:endParaRPr>
          </a:p>
        </p:txBody>
      </p:sp>
      <p:sp>
        <p:nvSpPr>
          <p:cNvPr id="23" name="矩形 22"/>
          <p:cNvSpPr>
            <a:spLocks noGrp="1"/>
          </p:cNvSpPr>
          <p:nvPr/>
        </p:nvSpPr>
        <p:spPr>
          <a:xfrm>
            <a:off x="6096000" y="4171950"/>
            <a:ext cx="4667250" cy="476250"/>
          </a:xfrm>
          <a:prstGeom prst="rect">
            <a:avLst/>
          </a:prstGeom>
          <a:noFill/>
          <a:ln w="0">
            <a:noFill/>
            <a:prstDash val="solid"/>
          </a:ln>
        </p:spPr>
        <p:txBody>
          <a:bodyPr anchor="ctr"/>
          <a:lstStyle/>
          <a:p>
            <a:pPr algn="ctr">
              <a:defRPr sz="2550" b="1">
                <a:solidFill>
                  <a:srgbClr val="009E73"/>
                </a:solidFill>
              </a:defRPr>
            </a:pPr>
            <a:r>
              <a:rPr sz="2550" b="1">
                <a:solidFill>
                  <a:srgbClr val="009E73"/>
                </a:solidFill>
              </a:rPr>
              <a:t>rₑff</a:t>
            </a:r>
            <a:endParaRPr sz="2550" b="1">
              <a:solidFill>
                <a:srgbClr val="009E73"/>
              </a:solidFill>
            </a:endParaRPr>
          </a:p>
        </p:txBody>
      </p:sp>
      <p:sp>
        <p:nvSpPr>
          <p:cNvPr id="24" name="矩形 23"/>
          <p:cNvSpPr>
            <a:spLocks noGrp="1"/>
          </p:cNvSpPr>
          <p:nvPr/>
        </p:nvSpPr>
        <p:spPr>
          <a:xfrm>
            <a:off x="6096000" y="4667250"/>
            <a:ext cx="466725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safe capture radius</a:t>
            </a:r>
            <a:endParaRPr sz="1200" b="0">
              <a:solidFill>
                <a:srgbClr val="6B7580"/>
              </a:solidFill>
            </a:endParaRPr>
          </a:p>
        </p:txBody>
      </p:sp>
      <p:sp>
        <p:nvSpPr>
          <p:cNvPr id="25" name="矩形 24"/>
          <p:cNvSpPr>
            <a:spLocks noGrp="1"/>
          </p:cNvSpPr>
          <p:nvPr/>
        </p:nvSpPr>
        <p:spPr>
          <a:xfrm>
            <a:off x="647700" y="5943600"/>
            <a:ext cx="10839450" cy="400050"/>
          </a:xfrm>
          <a:prstGeom prst="rect">
            <a:avLst/>
          </a:prstGeom>
          <a:solidFill>
            <a:srgbClr val="FFF0E2"/>
          </a:solidFill>
          <a:ln w="0">
            <a:noFill/>
            <a:prstDash val="solid"/>
          </a:ln>
        </p:spPr>
      </p:sp>
      <p:sp>
        <p:nvSpPr>
          <p:cNvPr id="26" name="矩形 25"/>
          <p:cNvSpPr>
            <a:spLocks noGrp="1"/>
          </p:cNvSpPr>
          <p:nvPr/>
        </p:nvSpPr>
        <p:spPr>
          <a:xfrm>
            <a:off x="647700" y="5943600"/>
            <a:ext cx="57150" cy="400050"/>
          </a:xfrm>
          <a:prstGeom prst="rect">
            <a:avLst/>
          </a:prstGeom>
          <a:solidFill>
            <a:srgbClr val="ED7F0D"/>
          </a:solidFill>
          <a:ln w="0">
            <a:noFill/>
            <a:prstDash val="solid"/>
          </a:ln>
        </p:spPr>
      </p:sp>
      <p:sp>
        <p:nvSpPr>
          <p:cNvPr id="27" name="矩形 26"/>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A safe global search is wasteful; a blind direct ray can miss.</a:t>
            </a:r>
            <a:endParaRPr sz="1275" b="1">
              <a:solidFill>
                <a:srgbClr val="15253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05</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PROBLEM</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 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Existing methods leave the motion-authority question unresolved</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Introduction · Refs. [2]–[33]</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5</a:t>
            </a:r>
            <a:endParaRPr sz="825" b="1">
              <a:solidFill>
                <a:srgbClr val="004282"/>
              </a:solidFill>
            </a:endParaRPr>
          </a:p>
        </p:txBody>
      </p:sp>
      <p:sp>
        <p:nvSpPr>
          <p:cNvPr id="10" name="梯形 9"/>
          <p:cNvSpPr>
            <a:spLocks noGrp="1"/>
          </p:cNvSpPr>
          <p:nvPr/>
        </p:nvSpPr>
        <p:spPr>
          <a:xfrm>
            <a:off x="1114425" y="1695450"/>
            <a:ext cx="9906000" cy="714375"/>
          </a:xfrm>
          <a:prstGeom prst="trapezoid">
            <a:avLst/>
          </a:prstGeom>
          <a:solidFill>
            <a:srgbClr val="E8F1F8"/>
          </a:solidFill>
          <a:ln w="9525">
            <a:solidFill>
              <a:srgbClr val="D9E0E6"/>
            </a:solidFill>
            <a:prstDash val="solid"/>
          </a:ln>
        </p:spPr>
      </p:sp>
      <p:sp>
        <p:nvSpPr>
          <p:cNvPr id="11" name="矩形 10"/>
          <p:cNvSpPr>
            <a:spLocks noGrp="1"/>
          </p:cNvSpPr>
          <p:nvPr/>
        </p:nvSpPr>
        <p:spPr>
          <a:xfrm>
            <a:off x="1447800" y="1781175"/>
            <a:ext cx="9239250" cy="533400"/>
          </a:xfrm>
          <a:prstGeom prst="rect">
            <a:avLst/>
          </a:prstGeom>
          <a:noFill/>
          <a:ln w="0">
            <a:noFill/>
            <a:prstDash val="solid"/>
          </a:ln>
        </p:spPr>
        <p:txBody>
          <a:bodyPr anchor="ctr"/>
          <a:lstStyle/>
          <a:p>
            <a:pPr algn="ctr">
              <a:defRPr sz="1425" b="0">
                <a:solidFill>
                  <a:srgbClr val="152538"/>
                </a:solidFill>
              </a:defRPr>
            </a:pPr>
            <a:r>
              <a:rPr sz="1425" b="0">
                <a:solidFill>
                  <a:srgbClr val="152538"/>
                </a:solidFill>
              </a:rPr>
              <a:t>Compliance handles small misalignment</a:t>
            </a:r>
            <a:endParaRPr sz="1425" b="0">
              <a:solidFill>
                <a:srgbClr val="152538"/>
              </a:solidFill>
            </a:endParaRPr>
          </a:p>
        </p:txBody>
      </p:sp>
      <p:sp>
        <p:nvSpPr>
          <p:cNvPr id="12" name="梯形 11"/>
          <p:cNvSpPr>
            <a:spLocks noGrp="1"/>
          </p:cNvSpPr>
          <p:nvPr/>
        </p:nvSpPr>
        <p:spPr>
          <a:xfrm>
            <a:off x="2019300" y="2609850"/>
            <a:ext cx="8096250" cy="714375"/>
          </a:xfrm>
          <a:prstGeom prst="trapezoid">
            <a:avLst/>
          </a:prstGeom>
          <a:solidFill>
            <a:srgbClr val="D7EAF6"/>
          </a:solidFill>
          <a:ln w="9525">
            <a:solidFill>
              <a:srgbClr val="D9E0E6"/>
            </a:solidFill>
            <a:prstDash val="solid"/>
          </a:ln>
        </p:spPr>
      </p:sp>
      <p:sp>
        <p:nvSpPr>
          <p:cNvPr id="13" name="矩形 12"/>
          <p:cNvSpPr>
            <a:spLocks noGrp="1"/>
          </p:cNvSpPr>
          <p:nvPr/>
        </p:nvSpPr>
        <p:spPr>
          <a:xfrm>
            <a:off x="2352675" y="2695575"/>
            <a:ext cx="7429500" cy="533400"/>
          </a:xfrm>
          <a:prstGeom prst="rect">
            <a:avLst/>
          </a:prstGeom>
          <a:noFill/>
          <a:ln w="0">
            <a:noFill/>
            <a:prstDash val="solid"/>
          </a:ln>
        </p:spPr>
        <p:txBody>
          <a:bodyPr anchor="ctr"/>
          <a:lstStyle/>
          <a:p>
            <a:pPr algn="ctr">
              <a:defRPr sz="1425" b="0">
                <a:solidFill>
                  <a:srgbClr val="152538"/>
                </a:solidFill>
              </a:defRPr>
            </a:pPr>
            <a:r>
              <a:rPr sz="1425" b="0">
                <a:solidFill>
                  <a:srgbClr val="152538"/>
                </a:solidFill>
              </a:rPr>
              <a:t>Global search covers uncertainty, but revisits ruled-out space</a:t>
            </a:r>
            <a:endParaRPr sz="1425" b="0">
              <a:solidFill>
                <a:srgbClr val="152538"/>
              </a:solidFill>
            </a:endParaRPr>
          </a:p>
        </p:txBody>
      </p:sp>
      <p:sp>
        <p:nvSpPr>
          <p:cNvPr id="14" name="梯形 13"/>
          <p:cNvSpPr>
            <a:spLocks noGrp="1"/>
          </p:cNvSpPr>
          <p:nvPr/>
        </p:nvSpPr>
        <p:spPr>
          <a:xfrm>
            <a:off x="2900363" y="3524250"/>
            <a:ext cx="6334125" cy="714375"/>
          </a:xfrm>
          <a:prstGeom prst="trapezoid">
            <a:avLst/>
          </a:prstGeom>
          <a:solidFill>
            <a:srgbClr val="FFF0E2"/>
          </a:solidFill>
          <a:ln w="9525">
            <a:solidFill>
              <a:srgbClr val="D9E0E6"/>
            </a:solidFill>
            <a:prstDash val="solid"/>
          </a:ln>
        </p:spPr>
      </p:sp>
      <p:sp>
        <p:nvSpPr>
          <p:cNvPr id="15" name="矩形 14"/>
          <p:cNvSpPr>
            <a:spLocks noGrp="1"/>
          </p:cNvSpPr>
          <p:nvPr/>
        </p:nvSpPr>
        <p:spPr>
          <a:xfrm>
            <a:off x="3233738" y="3609975"/>
            <a:ext cx="5667375" cy="533400"/>
          </a:xfrm>
          <a:prstGeom prst="rect">
            <a:avLst/>
          </a:prstGeom>
          <a:noFill/>
          <a:ln w="0">
            <a:noFill/>
            <a:prstDash val="solid"/>
          </a:ln>
        </p:spPr>
        <p:txBody>
          <a:bodyPr anchor="ctr"/>
          <a:lstStyle/>
          <a:p>
            <a:pPr algn="ctr">
              <a:defRPr sz="1425" b="0">
                <a:solidFill>
                  <a:srgbClr val="152538"/>
                </a:solidFill>
              </a:defRPr>
            </a:pPr>
            <a:r>
              <a:rPr sz="1425" b="0">
                <a:solidFill>
                  <a:srgbClr val="152538"/>
                </a:solidFill>
              </a:rPr>
              <a:t>Tactile inference reveals direction, not reliable distance</a:t>
            </a:r>
            <a:endParaRPr sz="1425" b="0">
              <a:solidFill>
                <a:srgbClr val="152538"/>
              </a:solidFill>
            </a:endParaRPr>
          </a:p>
        </p:txBody>
      </p:sp>
      <p:sp>
        <p:nvSpPr>
          <p:cNvPr id="16" name="梯形 15"/>
          <p:cNvSpPr>
            <a:spLocks noGrp="1"/>
          </p:cNvSpPr>
          <p:nvPr/>
        </p:nvSpPr>
        <p:spPr>
          <a:xfrm>
            <a:off x="3781425" y="4438650"/>
            <a:ext cx="4572000" cy="714375"/>
          </a:xfrm>
          <a:prstGeom prst="trapezoid">
            <a:avLst/>
          </a:prstGeom>
          <a:solidFill>
            <a:srgbClr val="FBE0C7"/>
          </a:solidFill>
          <a:ln w="19050">
            <a:solidFill>
              <a:srgbClr val="ED7F0D"/>
            </a:solidFill>
            <a:prstDash val="solid"/>
          </a:ln>
        </p:spPr>
      </p:sp>
      <p:sp>
        <p:nvSpPr>
          <p:cNvPr id="17" name="矩形 16"/>
          <p:cNvSpPr>
            <a:spLocks noGrp="1"/>
          </p:cNvSpPr>
          <p:nvPr/>
        </p:nvSpPr>
        <p:spPr>
          <a:xfrm>
            <a:off x="4114800" y="4524375"/>
            <a:ext cx="3905250" cy="533400"/>
          </a:xfrm>
          <a:prstGeom prst="rect">
            <a:avLst/>
          </a:prstGeom>
          <a:noFill/>
          <a:ln w="0">
            <a:noFill/>
            <a:prstDash val="solid"/>
          </a:ln>
        </p:spPr>
        <p:txBody>
          <a:bodyPr anchor="ctr"/>
          <a:lstStyle/>
          <a:p>
            <a:pPr algn="ctr">
              <a:defRPr sz="1575" b="1">
                <a:solidFill>
                  <a:srgbClr val="004282"/>
                </a:solidFill>
              </a:defRPr>
            </a:pPr>
            <a:r>
              <a:rPr sz="1575" b="1">
                <a:solidFill>
                  <a:srgbClr val="004282"/>
                </a:solidFill>
              </a:rPr>
              <a:t>Belief/contact planning can choose actions, but needs a safe authority boundary</a:t>
            </a:r>
            <a:endParaRPr sz="1575" b="1">
              <a:solidFill>
                <a:srgbClr val="004282"/>
              </a:solidFill>
            </a:endParaRPr>
          </a:p>
        </p:txBody>
      </p:sp>
      <p:sp>
        <p:nvSpPr>
          <p:cNvPr id="18" name="矩形 17"/>
          <p:cNvSpPr>
            <a:spLocks noGrp="1"/>
          </p:cNvSpPr>
          <p:nvPr/>
        </p:nvSpPr>
        <p:spPr>
          <a:xfrm>
            <a:off x="647700" y="5943600"/>
            <a:ext cx="10839450" cy="400050"/>
          </a:xfrm>
          <a:prstGeom prst="rect">
            <a:avLst/>
          </a:prstGeom>
          <a:solidFill>
            <a:srgbClr val="FFF0E2"/>
          </a:solidFill>
          <a:ln w="0">
            <a:noFill/>
            <a:prstDash val="solid"/>
          </a:ln>
        </p:spPr>
      </p:sp>
      <p:sp>
        <p:nvSpPr>
          <p:cNvPr id="19" name="矩形 18"/>
          <p:cNvSpPr>
            <a:spLocks noGrp="1"/>
          </p:cNvSpPr>
          <p:nvPr/>
        </p:nvSpPr>
        <p:spPr>
          <a:xfrm>
            <a:off x="647700" y="5943600"/>
            <a:ext cx="57150" cy="400050"/>
          </a:xfrm>
          <a:prstGeom prst="rect">
            <a:avLst/>
          </a:prstGeom>
          <a:solidFill>
            <a:srgbClr val="ED7F0D"/>
          </a:solidFill>
          <a:ln w="0">
            <a:noFill/>
            <a:prstDash val="solid"/>
          </a:ln>
        </p:spPr>
      </p:sp>
      <p:sp>
        <p:nvSpPr>
          <p:cNvPr id="20" name="矩形 19"/>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gap is not whether touch is informative—it is how much motion that information may command.</a:t>
            </a:r>
            <a:endParaRPr sz="1275" b="1">
              <a:solidFill>
                <a:srgbClr val="15253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06</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PROBLEM</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 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The missing decision is how far a directional cue should be trusted</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II-B · Eqs. (6)–(7)</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6</a:t>
            </a:r>
            <a:endParaRPr sz="825" b="1">
              <a:solidFill>
                <a:srgbClr val="004282"/>
              </a:solidFill>
            </a:endParaRPr>
          </a:p>
        </p:txBody>
      </p:sp>
      <p:sp>
        <p:nvSpPr>
          <p:cNvPr id="10" name="椭圆 9"/>
          <p:cNvSpPr>
            <a:spLocks noGrp="1"/>
          </p:cNvSpPr>
          <p:nvPr/>
        </p:nvSpPr>
        <p:spPr>
          <a:xfrm>
            <a:off x="876300" y="2124075"/>
            <a:ext cx="2857500" cy="2857500"/>
          </a:xfrm>
          <a:prstGeom prst="ellipse">
            <a:avLst/>
          </a:prstGeom>
          <a:solidFill>
            <a:srgbClr val="FFFFFF"/>
          </a:solidFill>
          <a:ln w="19050">
            <a:solidFill>
              <a:srgbClr val="004282"/>
            </a:solidFill>
            <a:prstDash val="solid"/>
          </a:ln>
        </p:spPr>
      </p:sp>
      <p:sp>
        <p:nvSpPr>
          <p:cNvPr id="11" name="椭圆 10"/>
          <p:cNvSpPr>
            <a:spLocks noGrp="1"/>
          </p:cNvSpPr>
          <p:nvPr/>
        </p:nvSpPr>
        <p:spPr>
          <a:xfrm>
            <a:off x="2209800" y="3457575"/>
            <a:ext cx="190500" cy="190500"/>
          </a:xfrm>
          <a:prstGeom prst="ellipse">
            <a:avLst/>
          </a:prstGeom>
          <a:solidFill>
            <a:srgbClr val="ED7F0D"/>
          </a:solidFill>
          <a:ln w="9525">
            <a:solidFill>
              <a:srgbClr val="ED7F0D"/>
            </a:solidFill>
            <a:prstDash val="solid"/>
          </a:ln>
        </p:spPr>
      </p:sp>
      <p:sp>
        <p:nvSpPr>
          <p:cNvPr id="12" name="右箭头 11"/>
          <p:cNvSpPr>
            <a:spLocks noGrp="1"/>
          </p:cNvSpPr>
          <p:nvPr/>
        </p:nvSpPr>
        <p:spPr>
          <a:xfrm>
            <a:off x="2305050" y="3314700"/>
            <a:ext cx="838200" cy="209550"/>
          </a:xfrm>
          <a:prstGeom prst="rightArrow">
            <a:avLst/>
          </a:prstGeom>
          <a:solidFill>
            <a:srgbClr val="009E73"/>
          </a:solidFill>
          <a:ln w="0">
            <a:noFill/>
            <a:prstDash val="solid"/>
          </a:ln>
        </p:spPr>
      </p:sp>
      <p:sp>
        <p:nvSpPr>
          <p:cNvPr id="13" name="右箭头 12"/>
          <p:cNvSpPr>
            <a:spLocks noGrp="1"/>
          </p:cNvSpPr>
          <p:nvPr/>
        </p:nvSpPr>
        <p:spPr>
          <a:xfrm>
            <a:off x="2305050" y="3295650"/>
            <a:ext cx="1428750" cy="209550"/>
          </a:xfrm>
          <a:prstGeom prst="rightArrow">
            <a:avLst/>
          </a:prstGeom>
          <a:solidFill>
            <a:srgbClr val="ED7F0D"/>
          </a:solidFill>
          <a:ln w="0">
            <a:noFill/>
            <a:prstDash val="solid"/>
          </a:ln>
        </p:spPr>
      </p:sp>
      <p:sp>
        <p:nvSpPr>
          <p:cNvPr id="14" name="右箭头 13"/>
          <p:cNvSpPr>
            <a:spLocks noGrp="1"/>
          </p:cNvSpPr>
          <p:nvPr/>
        </p:nvSpPr>
        <p:spPr>
          <a:xfrm>
            <a:off x="2305050" y="3276600"/>
            <a:ext cx="2000250" cy="209550"/>
          </a:xfrm>
          <a:prstGeom prst="rightArrow">
            <a:avLst/>
          </a:prstGeom>
          <a:solidFill>
            <a:srgbClr val="C74A4A"/>
          </a:solidFill>
          <a:ln w="0">
            <a:noFill/>
            <a:prstDash val="solid"/>
          </a:ln>
        </p:spPr>
      </p:sp>
      <p:sp>
        <p:nvSpPr>
          <p:cNvPr id="15" name="矩形 14"/>
          <p:cNvSpPr>
            <a:spLocks noGrp="1"/>
          </p:cNvSpPr>
          <p:nvPr/>
        </p:nvSpPr>
        <p:spPr>
          <a:xfrm>
            <a:off x="1238250" y="1809750"/>
            <a:ext cx="2095500" cy="285750"/>
          </a:xfrm>
          <a:prstGeom prst="rect">
            <a:avLst/>
          </a:prstGeom>
          <a:noFill/>
          <a:ln w="0">
            <a:noFill/>
            <a:prstDash val="solid"/>
          </a:ln>
        </p:spPr>
        <p:txBody>
          <a:bodyPr anchor="ctr"/>
          <a:lstStyle/>
          <a:p>
            <a:pPr algn="ctr">
              <a:defRPr sz="1350" b="1">
                <a:solidFill>
                  <a:srgbClr val="004282"/>
                </a:solidFill>
              </a:defRPr>
            </a:pPr>
            <a:r>
              <a:rPr sz="1350" b="1">
                <a:solidFill>
                  <a:srgbClr val="004282"/>
                </a:solidFill>
              </a:rPr>
              <a:t>same bearing cue</a:t>
            </a:r>
            <a:endParaRPr sz="1350" b="1">
              <a:solidFill>
                <a:srgbClr val="004282"/>
              </a:solidFill>
            </a:endParaRPr>
          </a:p>
        </p:txBody>
      </p:sp>
      <p:sp>
        <p:nvSpPr>
          <p:cNvPr id="16" name="矩形 15"/>
          <p:cNvSpPr>
            <a:spLocks noGrp="1"/>
          </p:cNvSpPr>
          <p:nvPr/>
        </p:nvSpPr>
        <p:spPr>
          <a:xfrm>
            <a:off x="1276350" y="5000625"/>
            <a:ext cx="2095500" cy="285750"/>
          </a:xfrm>
          <a:prstGeom prst="rect">
            <a:avLst/>
          </a:prstGeom>
          <a:noFill/>
          <a:ln w="0">
            <a:noFill/>
            <a:prstDash val="solid"/>
          </a:ln>
        </p:spPr>
        <p:txBody>
          <a:bodyPr anchor="ctr"/>
          <a:lstStyle/>
          <a:p>
            <a:pPr algn="ctr">
              <a:defRPr sz="1275" b="0">
                <a:solidFill>
                  <a:srgbClr val="6B7580"/>
                </a:solidFill>
              </a:defRPr>
            </a:pPr>
            <a:r>
              <a:rPr sz="1275" b="0">
                <a:solidFill>
                  <a:srgbClr val="6B7580"/>
                </a:solidFill>
              </a:rPr>
              <a:t>unknown radial offset</a:t>
            </a:r>
            <a:endParaRPr sz="1275" b="0">
              <a:solidFill>
                <a:srgbClr val="6B7580"/>
              </a:solidFill>
            </a:endParaRPr>
          </a:p>
        </p:txBody>
      </p:sp>
      <p:sp>
        <p:nvSpPr>
          <p:cNvPr id="17" name="圆角矩形 16"/>
          <p:cNvSpPr>
            <a:spLocks noGrp="1"/>
          </p:cNvSpPr>
          <p:nvPr/>
        </p:nvSpPr>
        <p:spPr>
          <a:xfrm>
            <a:off x="4476750" y="1809750"/>
            <a:ext cx="6286500" cy="876300"/>
          </a:xfrm>
          <a:prstGeom prst="roundRect">
            <a:avLst>
              <a:gd name="adj" fmla="val 8696"/>
            </a:avLst>
          </a:prstGeom>
          <a:solidFill>
            <a:srgbClr val="FFFFFF"/>
          </a:solidFill>
          <a:ln w="9525">
            <a:solidFill>
              <a:srgbClr val="D9E0E6"/>
            </a:solidFill>
            <a:prstDash val="solid"/>
          </a:ln>
        </p:spPr>
      </p:sp>
      <p:sp>
        <p:nvSpPr>
          <p:cNvPr id="18" name="矩形 17"/>
          <p:cNvSpPr>
            <a:spLocks noGrp="1"/>
          </p:cNvSpPr>
          <p:nvPr/>
        </p:nvSpPr>
        <p:spPr>
          <a:xfrm>
            <a:off x="4686300" y="1905000"/>
            <a:ext cx="2000250" cy="361950"/>
          </a:xfrm>
          <a:prstGeom prst="rect">
            <a:avLst/>
          </a:prstGeom>
          <a:noFill/>
          <a:ln w="0">
            <a:noFill/>
            <a:prstDash val="solid"/>
          </a:ln>
        </p:spPr>
        <p:txBody>
          <a:bodyPr anchor="ctr"/>
          <a:lstStyle/>
          <a:p>
            <a:pPr algn="l">
              <a:defRPr sz="1875" b="1">
                <a:solidFill>
                  <a:srgbClr val="6B7580"/>
                </a:solidFill>
              </a:defRPr>
            </a:pPr>
            <a:r>
              <a:rPr sz="1875" b="1">
                <a:solidFill>
                  <a:srgbClr val="6B7580"/>
                </a:solidFill>
              </a:rPr>
              <a:t>Ignore touch</a:t>
            </a:r>
            <a:endParaRPr sz="1875" b="1">
              <a:solidFill>
                <a:srgbClr val="6B7580"/>
              </a:solidFill>
            </a:endParaRPr>
          </a:p>
        </p:txBody>
      </p:sp>
      <p:sp>
        <p:nvSpPr>
          <p:cNvPr id="19" name="矩形 18"/>
          <p:cNvSpPr>
            <a:spLocks noGrp="1"/>
          </p:cNvSpPr>
          <p:nvPr/>
        </p:nvSpPr>
        <p:spPr>
          <a:xfrm>
            <a:off x="6858000" y="1924050"/>
            <a:ext cx="3619500" cy="381000"/>
          </a:xfrm>
          <a:prstGeom prst="rect">
            <a:avLst/>
          </a:prstGeom>
          <a:noFill/>
          <a:ln w="0">
            <a:noFill/>
            <a:prstDash val="solid"/>
          </a:ln>
        </p:spPr>
        <p:txBody>
          <a:bodyPr anchor="ctr"/>
          <a:lstStyle/>
          <a:p>
            <a:pPr algn="l">
              <a:defRPr sz="1500" b="0">
                <a:solidFill>
                  <a:srgbClr val="152538"/>
                </a:solidFill>
              </a:defRPr>
            </a:pPr>
            <a:r>
              <a:rPr sz="1500" b="0">
                <a:solidFill>
                  <a:srgbClr val="152538"/>
                </a:solidFill>
              </a:rPr>
              <a:t>pay for global coverage</a:t>
            </a:r>
            <a:endParaRPr sz="1500" b="0">
              <a:solidFill>
                <a:srgbClr val="152538"/>
              </a:solidFill>
            </a:endParaRPr>
          </a:p>
        </p:txBody>
      </p:sp>
      <p:sp>
        <p:nvSpPr>
          <p:cNvPr id="20" name="圆角矩形 19"/>
          <p:cNvSpPr>
            <a:spLocks noGrp="1"/>
          </p:cNvSpPr>
          <p:nvPr/>
        </p:nvSpPr>
        <p:spPr>
          <a:xfrm>
            <a:off x="4476750" y="2981325"/>
            <a:ext cx="6286500" cy="876300"/>
          </a:xfrm>
          <a:prstGeom prst="roundRect">
            <a:avLst>
              <a:gd name="adj" fmla="val 8696"/>
            </a:avLst>
          </a:prstGeom>
          <a:solidFill>
            <a:srgbClr val="FFFFFF"/>
          </a:solidFill>
          <a:ln w="9525">
            <a:solidFill>
              <a:srgbClr val="D9E0E6"/>
            </a:solidFill>
            <a:prstDash val="solid"/>
          </a:ln>
        </p:spPr>
      </p:sp>
      <p:sp>
        <p:nvSpPr>
          <p:cNvPr id="21" name="矩形 20"/>
          <p:cNvSpPr>
            <a:spLocks noGrp="1"/>
          </p:cNvSpPr>
          <p:nvPr/>
        </p:nvSpPr>
        <p:spPr>
          <a:xfrm>
            <a:off x="4686300" y="3076575"/>
            <a:ext cx="2000250" cy="361950"/>
          </a:xfrm>
          <a:prstGeom prst="rect">
            <a:avLst/>
          </a:prstGeom>
          <a:noFill/>
          <a:ln w="0">
            <a:noFill/>
            <a:prstDash val="solid"/>
          </a:ln>
        </p:spPr>
        <p:txBody>
          <a:bodyPr anchor="ctr"/>
          <a:lstStyle/>
          <a:p>
            <a:pPr algn="l">
              <a:defRPr sz="1875" b="1">
                <a:solidFill>
                  <a:srgbClr val="C74A4A"/>
                </a:solidFill>
              </a:defRPr>
            </a:pPr>
            <a:r>
              <a:rPr sz="1875" b="1">
                <a:solidFill>
                  <a:srgbClr val="C74A4A"/>
                </a:solidFill>
              </a:rPr>
              <a:t>Overcommit</a:t>
            </a:r>
            <a:endParaRPr sz="1875" b="1">
              <a:solidFill>
                <a:srgbClr val="C74A4A"/>
              </a:solidFill>
            </a:endParaRPr>
          </a:p>
        </p:txBody>
      </p:sp>
      <p:sp>
        <p:nvSpPr>
          <p:cNvPr id="22" name="矩形 21"/>
          <p:cNvSpPr>
            <a:spLocks noGrp="1"/>
          </p:cNvSpPr>
          <p:nvPr/>
        </p:nvSpPr>
        <p:spPr>
          <a:xfrm>
            <a:off x="6858000" y="3095625"/>
            <a:ext cx="3619500" cy="381000"/>
          </a:xfrm>
          <a:prstGeom prst="rect">
            <a:avLst/>
          </a:prstGeom>
          <a:noFill/>
          <a:ln w="0">
            <a:noFill/>
            <a:prstDash val="solid"/>
          </a:ln>
        </p:spPr>
        <p:txBody>
          <a:bodyPr anchor="ctr"/>
          <a:lstStyle/>
          <a:p>
            <a:pPr algn="l">
              <a:defRPr sz="1500" b="0">
                <a:solidFill>
                  <a:srgbClr val="152538"/>
                </a:solidFill>
              </a:defRPr>
            </a:pPr>
            <a:r>
              <a:rPr sz="1500" b="0">
                <a:solidFill>
                  <a:srgbClr val="152538"/>
                </a:solidFill>
              </a:rPr>
              <a:t>miss when radius is wrong</a:t>
            </a:r>
            <a:endParaRPr sz="1500" b="0">
              <a:solidFill>
                <a:srgbClr val="152538"/>
              </a:solidFill>
            </a:endParaRPr>
          </a:p>
        </p:txBody>
      </p:sp>
      <p:sp>
        <p:nvSpPr>
          <p:cNvPr id="23" name="圆角矩形 22"/>
          <p:cNvSpPr>
            <a:spLocks noGrp="1"/>
          </p:cNvSpPr>
          <p:nvPr/>
        </p:nvSpPr>
        <p:spPr>
          <a:xfrm>
            <a:off x="4476750" y="4152900"/>
            <a:ext cx="6286500" cy="876300"/>
          </a:xfrm>
          <a:prstGeom prst="roundRect">
            <a:avLst>
              <a:gd name="adj" fmla="val 8696"/>
            </a:avLst>
          </a:prstGeom>
          <a:solidFill>
            <a:srgbClr val="E8F1F8"/>
          </a:solidFill>
          <a:ln w="19050">
            <a:solidFill>
              <a:srgbClr val="004282"/>
            </a:solidFill>
            <a:prstDash val="solid"/>
          </a:ln>
        </p:spPr>
      </p:sp>
      <p:sp>
        <p:nvSpPr>
          <p:cNvPr id="24" name="矩形 23"/>
          <p:cNvSpPr>
            <a:spLocks noGrp="1"/>
          </p:cNvSpPr>
          <p:nvPr/>
        </p:nvSpPr>
        <p:spPr>
          <a:xfrm>
            <a:off x="4686300" y="4248150"/>
            <a:ext cx="2000250" cy="361950"/>
          </a:xfrm>
          <a:prstGeom prst="rect">
            <a:avLst/>
          </a:prstGeom>
          <a:noFill/>
          <a:ln w="0">
            <a:noFill/>
            <a:prstDash val="solid"/>
          </a:ln>
        </p:spPr>
        <p:txBody>
          <a:bodyPr anchor="ctr"/>
          <a:lstStyle/>
          <a:p>
            <a:pPr algn="l">
              <a:defRPr sz="1875" b="1">
                <a:solidFill>
                  <a:srgbClr val="004282"/>
                </a:solidFill>
              </a:defRPr>
            </a:pPr>
            <a:r>
              <a:rPr sz="1875" b="1">
                <a:solidFill>
                  <a:srgbClr val="004282"/>
                </a:solidFill>
              </a:rPr>
              <a:t>Bound authority</a:t>
            </a:r>
            <a:endParaRPr sz="1875" b="1">
              <a:solidFill>
                <a:srgbClr val="004282"/>
              </a:solidFill>
            </a:endParaRPr>
          </a:p>
        </p:txBody>
      </p:sp>
      <p:sp>
        <p:nvSpPr>
          <p:cNvPr id="25" name="矩形 24"/>
          <p:cNvSpPr>
            <a:spLocks noGrp="1"/>
          </p:cNvSpPr>
          <p:nvPr/>
        </p:nvSpPr>
        <p:spPr>
          <a:xfrm>
            <a:off x="6858000" y="4267200"/>
            <a:ext cx="3619500" cy="381000"/>
          </a:xfrm>
          <a:prstGeom prst="rect">
            <a:avLst/>
          </a:prstGeom>
          <a:noFill/>
          <a:ln w="0">
            <a:noFill/>
            <a:prstDash val="solid"/>
          </a:ln>
        </p:spPr>
        <p:txBody>
          <a:bodyPr anchor="ctr"/>
          <a:lstStyle/>
          <a:p>
            <a:pPr algn="l">
              <a:defRPr sz="1500" b="0">
                <a:solidFill>
                  <a:srgbClr val="152538"/>
                </a:solidFill>
              </a:defRPr>
            </a:pPr>
            <a:r>
              <a:rPr sz="1500" b="0">
                <a:solidFill>
                  <a:srgbClr val="152538"/>
                </a:solidFill>
              </a:rPr>
              <a:t>move only supported distance</a:t>
            </a:r>
            <a:endParaRPr sz="1500" b="0">
              <a:solidFill>
                <a:srgbClr val="152538"/>
              </a:solidFill>
            </a:endParaRPr>
          </a:p>
        </p:txBody>
      </p:sp>
      <p:sp>
        <p:nvSpPr>
          <p:cNvPr id="26" name="矩形 25"/>
          <p:cNvSpPr>
            <a:spLocks noGrp="1"/>
          </p:cNvSpPr>
          <p:nvPr/>
        </p:nvSpPr>
        <p:spPr>
          <a:xfrm>
            <a:off x="647700" y="5943600"/>
            <a:ext cx="10839450" cy="400050"/>
          </a:xfrm>
          <a:prstGeom prst="rect">
            <a:avLst/>
          </a:prstGeom>
          <a:solidFill>
            <a:srgbClr val="FFF0E2"/>
          </a:solidFill>
          <a:ln w="0">
            <a:noFill/>
            <a:prstDash val="solid"/>
          </a:ln>
        </p:spPr>
      </p:sp>
      <p:sp>
        <p:nvSpPr>
          <p:cNvPr id="27" name="矩形 26"/>
          <p:cNvSpPr>
            <a:spLocks noGrp="1"/>
          </p:cNvSpPr>
          <p:nvPr/>
        </p:nvSpPr>
        <p:spPr>
          <a:xfrm>
            <a:off x="647700" y="5943600"/>
            <a:ext cx="57150" cy="400050"/>
          </a:xfrm>
          <a:prstGeom prst="rect">
            <a:avLst/>
          </a:prstGeom>
          <a:solidFill>
            <a:srgbClr val="ED7F0D"/>
          </a:solidFill>
          <a:ln w="0">
            <a:noFill/>
            <a:prstDash val="solid"/>
          </a:ln>
        </p:spPr>
      </p:sp>
      <p:sp>
        <p:nvSpPr>
          <p:cNvPr id="28" name="矩形 27"/>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Bearing evidence and radial uncertainty must be separated.</a:t>
            </a:r>
            <a:endParaRPr sz="1275" b="1">
              <a:solidFill>
                <a:srgbClr val="15253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07</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PROBLEM</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 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325" b="1">
                <a:solidFill>
                  <a:srgbClr val="004282"/>
                </a:solidFill>
              </a:defRPr>
            </a:pPr>
            <a:r>
              <a:rPr sz="2325" b="1">
                <a:solidFill>
                  <a:srgbClr val="004282"/>
                </a:solidFill>
              </a:rPr>
              <a:t>Learning is useful only if it allocates search rather than certifies engagement</a:t>
            </a:r>
            <a:endParaRPr sz="232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Abstract · Sec. III · Discussion</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7</a:t>
            </a:r>
            <a:endParaRPr sz="825" b="1">
              <a:solidFill>
                <a:srgbClr val="004282"/>
              </a:solidFill>
            </a:endParaRPr>
          </a:p>
        </p:txBody>
      </p:sp>
      <p:sp>
        <p:nvSpPr>
          <p:cNvPr id="10" name="圆角矩形 9"/>
          <p:cNvSpPr>
            <a:spLocks noGrp="1"/>
          </p:cNvSpPr>
          <p:nvPr/>
        </p:nvSpPr>
        <p:spPr>
          <a:xfrm>
            <a:off x="781050" y="1676400"/>
            <a:ext cx="4857750" cy="3733800"/>
          </a:xfrm>
          <a:prstGeom prst="roundRect">
            <a:avLst>
              <a:gd name="adj" fmla="val 2041"/>
            </a:avLst>
          </a:prstGeom>
          <a:solidFill>
            <a:srgbClr val="E8F1F8"/>
          </a:solidFill>
          <a:ln w="19050">
            <a:solidFill>
              <a:srgbClr val="004282"/>
            </a:solidFill>
            <a:prstDash val="solid"/>
          </a:ln>
        </p:spPr>
      </p:sp>
      <p:sp>
        <p:nvSpPr>
          <p:cNvPr id="11" name="圆角矩形 10"/>
          <p:cNvSpPr>
            <a:spLocks noGrp="1"/>
          </p:cNvSpPr>
          <p:nvPr/>
        </p:nvSpPr>
        <p:spPr>
          <a:xfrm>
            <a:off x="6438900" y="1676400"/>
            <a:ext cx="4857750" cy="3733800"/>
          </a:xfrm>
          <a:prstGeom prst="roundRect">
            <a:avLst>
              <a:gd name="adj" fmla="val 2041"/>
            </a:avLst>
          </a:prstGeom>
          <a:solidFill>
            <a:srgbClr val="FCE9E8"/>
          </a:solidFill>
          <a:ln w="19050">
            <a:solidFill>
              <a:srgbClr val="C74A4A"/>
            </a:solidFill>
            <a:prstDash val="solid"/>
          </a:ln>
        </p:spPr>
      </p:sp>
      <p:sp>
        <p:nvSpPr>
          <p:cNvPr id="12" name="矩形 11"/>
          <p:cNvSpPr>
            <a:spLocks noGrp="1"/>
          </p:cNvSpPr>
          <p:nvPr/>
        </p:nvSpPr>
        <p:spPr>
          <a:xfrm>
            <a:off x="1047750" y="1885950"/>
            <a:ext cx="4324350" cy="400050"/>
          </a:xfrm>
          <a:prstGeom prst="rect">
            <a:avLst/>
          </a:prstGeom>
          <a:noFill/>
          <a:ln w="0">
            <a:noFill/>
            <a:prstDash val="solid"/>
          </a:ln>
        </p:spPr>
        <p:txBody>
          <a:bodyPr anchor="ctr"/>
          <a:lstStyle/>
          <a:p>
            <a:pPr algn="ctr">
              <a:defRPr sz="1875" b="1">
                <a:solidFill>
                  <a:srgbClr val="004282"/>
                </a:solidFill>
              </a:defRPr>
            </a:pPr>
            <a:r>
              <a:rPr sz="1875" b="1">
                <a:solidFill>
                  <a:srgbClr val="004282"/>
                </a:solidFill>
              </a:rPr>
              <a:t>LEARNING MAY PROPOSE</a:t>
            </a:r>
            <a:endParaRPr sz="1875" b="1">
              <a:solidFill>
                <a:srgbClr val="004282"/>
              </a:solidFill>
            </a:endParaRPr>
          </a:p>
        </p:txBody>
      </p:sp>
      <p:sp>
        <p:nvSpPr>
          <p:cNvPr id="13" name="矩形 12"/>
          <p:cNvSpPr>
            <a:spLocks noGrp="1"/>
          </p:cNvSpPr>
          <p:nvPr/>
        </p:nvSpPr>
        <p:spPr>
          <a:xfrm>
            <a:off x="6705600" y="1885950"/>
            <a:ext cx="4324350" cy="400050"/>
          </a:xfrm>
          <a:prstGeom prst="rect">
            <a:avLst/>
          </a:prstGeom>
          <a:noFill/>
          <a:ln w="0">
            <a:noFill/>
            <a:prstDash val="solid"/>
          </a:ln>
        </p:spPr>
        <p:txBody>
          <a:bodyPr anchor="ctr"/>
          <a:lstStyle/>
          <a:p>
            <a:pPr algn="ctr">
              <a:defRPr sz="1875" b="1">
                <a:solidFill>
                  <a:srgbClr val="C74A4A"/>
                </a:solidFill>
              </a:defRPr>
            </a:pPr>
            <a:r>
              <a:rPr sz="1875" b="1">
                <a:solidFill>
                  <a:srgbClr val="C74A4A"/>
                </a:solidFill>
              </a:rPr>
              <a:t>LEARNING MAY NOT CERTIFY</a:t>
            </a:r>
            <a:endParaRPr sz="1875" b="1">
              <a:solidFill>
                <a:srgbClr val="C74A4A"/>
              </a:solidFill>
            </a:endParaRPr>
          </a:p>
        </p:txBody>
      </p:sp>
      <p:sp>
        <p:nvSpPr>
          <p:cNvPr id="14" name="椭圆 13"/>
          <p:cNvSpPr>
            <a:spLocks noGrp="1"/>
          </p:cNvSpPr>
          <p:nvPr/>
        </p:nvSpPr>
        <p:spPr>
          <a:xfrm>
            <a:off x="1162050" y="2667000"/>
            <a:ext cx="76200" cy="76200"/>
          </a:xfrm>
          <a:prstGeom prst="ellipse">
            <a:avLst/>
          </a:prstGeom>
          <a:solidFill>
            <a:srgbClr val="004282"/>
          </a:solidFill>
          <a:ln w="9525">
            <a:solidFill>
              <a:srgbClr val="004282"/>
            </a:solidFill>
            <a:prstDash val="solid"/>
          </a:ln>
        </p:spPr>
      </p:sp>
      <p:sp>
        <p:nvSpPr>
          <p:cNvPr id="15" name="矩形 14"/>
          <p:cNvSpPr>
            <a:spLocks noGrp="1"/>
          </p:cNvSpPr>
          <p:nvPr/>
        </p:nvSpPr>
        <p:spPr>
          <a:xfrm>
            <a:off x="1371600" y="2571750"/>
            <a:ext cx="3790950" cy="641350"/>
          </a:xfrm>
          <a:prstGeom prst="rect">
            <a:avLst/>
          </a:prstGeom>
          <a:noFill/>
          <a:ln w="0">
            <a:noFill/>
            <a:prstDash val="solid"/>
          </a:ln>
        </p:spPr>
        <p:txBody>
          <a:bodyPr anchor="t"/>
          <a:lstStyle/>
          <a:p>
            <a:pPr algn="l">
              <a:defRPr sz="1650" b="0">
                <a:solidFill>
                  <a:srgbClr val="152538"/>
                </a:solidFill>
              </a:defRPr>
            </a:pPr>
            <a:r>
              <a:rPr sz="1650" b="0">
                <a:solidFill>
                  <a:srgbClr val="152538"/>
                </a:solidFill>
              </a:rPr>
              <a:t>May estimate direction</a:t>
            </a:r>
            <a:endParaRPr sz="1650" b="0">
              <a:solidFill>
                <a:srgbClr val="152538"/>
              </a:solidFill>
            </a:endParaRPr>
          </a:p>
        </p:txBody>
      </p:sp>
      <p:sp>
        <p:nvSpPr>
          <p:cNvPr id="16" name="椭圆 15"/>
          <p:cNvSpPr>
            <a:spLocks noGrp="1"/>
          </p:cNvSpPr>
          <p:nvPr/>
        </p:nvSpPr>
        <p:spPr>
          <a:xfrm>
            <a:off x="1162050" y="3441700"/>
            <a:ext cx="76200" cy="76200"/>
          </a:xfrm>
          <a:prstGeom prst="ellipse">
            <a:avLst/>
          </a:prstGeom>
          <a:solidFill>
            <a:srgbClr val="004282"/>
          </a:solidFill>
          <a:ln w="9525">
            <a:solidFill>
              <a:srgbClr val="004282"/>
            </a:solidFill>
            <a:prstDash val="solid"/>
          </a:ln>
        </p:spPr>
      </p:sp>
      <p:sp>
        <p:nvSpPr>
          <p:cNvPr id="17" name="矩形 16"/>
          <p:cNvSpPr>
            <a:spLocks noGrp="1"/>
          </p:cNvSpPr>
          <p:nvPr/>
        </p:nvSpPr>
        <p:spPr>
          <a:xfrm>
            <a:off x="1371600" y="3346450"/>
            <a:ext cx="3790950" cy="641350"/>
          </a:xfrm>
          <a:prstGeom prst="rect">
            <a:avLst/>
          </a:prstGeom>
          <a:noFill/>
          <a:ln w="0">
            <a:noFill/>
            <a:prstDash val="solid"/>
          </a:ln>
        </p:spPr>
        <p:txBody>
          <a:bodyPr anchor="t"/>
          <a:lstStyle/>
          <a:p>
            <a:pPr algn="l">
              <a:defRPr sz="1650" b="0">
                <a:solidFill>
                  <a:srgbClr val="152538"/>
                </a:solidFill>
              </a:defRPr>
            </a:pPr>
            <a:r>
              <a:rPr sz="1650" b="0">
                <a:solidFill>
                  <a:srgbClr val="152538"/>
                </a:solidFill>
              </a:rPr>
              <a:t>May estimate contact support</a:t>
            </a:r>
            <a:endParaRPr sz="1650" b="0">
              <a:solidFill>
                <a:srgbClr val="152538"/>
              </a:solidFill>
            </a:endParaRPr>
          </a:p>
        </p:txBody>
      </p:sp>
      <p:sp>
        <p:nvSpPr>
          <p:cNvPr id="18" name="椭圆 17"/>
          <p:cNvSpPr>
            <a:spLocks noGrp="1"/>
          </p:cNvSpPr>
          <p:nvPr/>
        </p:nvSpPr>
        <p:spPr>
          <a:xfrm>
            <a:off x="1162050" y="4216400"/>
            <a:ext cx="76200" cy="76200"/>
          </a:xfrm>
          <a:prstGeom prst="ellipse">
            <a:avLst/>
          </a:prstGeom>
          <a:solidFill>
            <a:srgbClr val="004282"/>
          </a:solidFill>
          <a:ln w="9525">
            <a:solidFill>
              <a:srgbClr val="004282"/>
            </a:solidFill>
            <a:prstDash val="solid"/>
          </a:ln>
        </p:spPr>
      </p:sp>
      <p:sp>
        <p:nvSpPr>
          <p:cNvPr id="19" name="矩形 18"/>
          <p:cNvSpPr>
            <a:spLocks noGrp="1"/>
          </p:cNvSpPr>
          <p:nvPr/>
        </p:nvSpPr>
        <p:spPr>
          <a:xfrm>
            <a:off x="1371600" y="4121150"/>
            <a:ext cx="3790950" cy="641350"/>
          </a:xfrm>
          <a:prstGeom prst="rect">
            <a:avLst/>
          </a:prstGeom>
          <a:noFill/>
          <a:ln w="0">
            <a:noFill/>
            <a:prstDash val="solid"/>
          </a:ln>
        </p:spPr>
        <p:txBody>
          <a:bodyPr anchor="t"/>
          <a:lstStyle/>
          <a:p>
            <a:pPr algn="l">
              <a:defRPr sz="1650" b="0">
                <a:solidFill>
                  <a:srgbClr val="152538"/>
                </a:solidFill>
              </a:defRPr>
            </a:pPr>
            <a:r>
              <a:rPr sz="1650" b="0">
                <a:solidFill>
                  <a:srgbClr val="152538"/>
                </a:solidFill>
              </a:rPr>
              <a:t>May propose a capped route</a:t>
            </a:r>
            <a:endParaRPr sz="1650" b="0">
              <a:solidFill>
                <a:srgbClr val="152538"/>
              </a:solidFill>
            </a:endParaRPr>
          </a:p>
        </p:txBody>
      </p:sp>
      <p:sp>
        <p:nvSpPr>
          <p:cNvPr id="20" name="椭圆 19"/>
          <p:cNvSpPr>
            <a:spLocks noGrp="1"/>
          </p:cNvSpPr>
          <p:nvPr/>
        </p:nvSpPr>
        <p:spPr>
          <a:xfrm>
            <a:off x="6819900" y="2667000"/>
            <a:ext cx="76200" cy="76200"/>
          </a:xfrm>
          <a:prstGeom prst="ellipse">
            <a:avLst/>
          </a:prstGeom>
          <a:solidFill>
            <a:srgbClr val="C74A4A"/>
          </a:solidFill>
          <a:ln w="9525">
            <a:solidFill>
              <a:srgbClr val="C74A4A"/>
            </a:solidFill>
            <a:prstDash val="solid"/>
          </a:ln>
        </p:spPr>
      </p:sp>
      <p:sp>
        <p:nvSpPr>
          <p:cNvPr id="21" name="矩形 20"/>
          <p:cNvSpPr>
            <a:spLocks noGrp="1"/>
          </p:cNvSpPr>
          <p:nvPr/>
        </p:nvSpPr>
        <p:spPr>
          <a:xfrm>
            <a:off x="7029450" y="2571750"/>
            <a:ext cx="3790950" cy="641350"/>
          </a:xfrm>
          <a:prstGeom prst="rect">
            <a:avLst/>
          </a:prstGeom>
          <a:noFill/>
          <a:ln w="0">
            <a:noFill/>
            <a:prstDash val="solid"/>
          </a:ln>
        </p:spPr>
        <p:txBody>
          <a:bodyPr anchor="t"/>
          <a:lstStyle/>
          <a:p>
            <a:pPr algn="l">
              <a:defRPr sz="1650" b="0">
                <a:solidFill>
                  <a:srgbClr val="152538"/>
                </a:solidFill>
              </a:defRPr>
            </a:pPr>
            <a:r>
              <a:rPr sz="1650" b="0">
                <a:solidFill>
                  <a:srgbClr val="152538"/>
                </a:solidFill>
              </a:rPr>
              <a:t>May not observe the true center</a:t>
            </a:r>
            <a:endParaRPr sz="1650" b="0">
              <a:solidFill>
                <a:srgbClr val="152538"/>
              </a:solidFill>
            </a:endParaRPr>
          </a:p>
        </p:txBody>
      </p:sp>
      <p:sp>
        <p:nvSpPr>
          <p:cNvPr id="22" name="椭圆 21"/>
          <p:cNvSpPr>
            <a:spLocks noGrp="1"/>
          </p:cNvSpPr>
          <p:nvPr/>
        </p:nvSpPr>
        <p:spPr>
          <a:xfrm>
            <a:off x="6819900" y="3441700"/>
            <a:ext cx="76200" cy="76200"/>
          </a:xfrm>
          <a:prstGeom prst="ellipse">
            <a:avLst/>
          </a:prstGeom>
          <a:solidFill>
            <a:srgbClr val="C74A4A"/>
          </a:solidFill>
          <a:ln w="9525">
            <a:solidFill>
              <a:srgbClr val="C74A4A"/>
            </a:solidFill>
            <a:prstDash val="solid"/>
          </a:ln>
        </p:spPr>
      </p:sp>
      <p:sp>
        <p:nvSpPr>
          <p:cNvPr id="23" name="矩形 22"/>
          <p:cNvSpPr>
            <a:spLocks noGrp="1"/>
          </p:cNvSpPr>
          <p:nvPr/>
        </p:nvSpPr>
        <p:spPr>
          <a:xfrm>
            <a:off x="7029450" y="3346450"/>
            <a:ext cx="3790950" cy="641350"/>
          </a:xfrm>
          <a:prstGeom prst="rect">
            <a:avLst/>
          </a:prstGeom>
          <a:noFill/>
          <a:ln w="0">
            <a:noFill/>
            <a:prstDash val="solid"/>
          </a:ln>
        </p:spPr>
        <p:txBody>
          <a:bodyPr anchor="t"/>
          <a:lstStyle/>
          <a:p>
            <a:pPr algn="l">
              <a:defRPr sz="1650" b="0">
                <a:solidFill>
                  <a:srgbClr val="152538"/>
                </a:solidFill>
              </a:defRPr>
            </a:pPr>
            <a:r>
              <a:rPr sz="1650" b="0">
                <a:solidFill>
                  <a:srgbClr val="152538"/>
                </a:solidFill>
              </a:rPr>
              <a:t>May not call capture</a:t>
            </a:r>
            <a:endParaRPr sz="1650" b="0">
              <a:solidFill>
                <a:srgbClr val="152538"/>
              </a:solidFill>
            </a:endParaRPr>
          </a:p>
        </p:txBody>
      </p:sp>
      <p:sp>
        <p:nvSpPr>
          <p:cNvPr id="24" name="椭圆 23"/>
          <p:cNvSpPr>
            <a:spLocks noGrp="1"/>
          </p:cNvSpPr>
          <p:nvPr/>
        </p:nvSpPr>
        <p:spPr>
          <a:xfrm>
            <a:off x="6819900" y="4216400"/>
            <a:ext cx="76200" cy="76200"/>
          </a:xfrm>
          <a:prstGeom prst="ellipse">
            <a:avLst/>
          </a:prstGeom>
          <a:solidFill>
            <a:srgbClr val="C74A4A"/>
          </a:solidFill>
          <a:ln w="9525">
            <a:solidFill>
              <a:srgbClr val="C74A4A"/>
            </a:solidFill>
            <a:prstDash val="solid"/>
          </a:ln>
        </p:spPr>
      </p:sp>
      <p:sp>
        <p:nvSpPr>
          <p:cNvPr id="25" name="矩形 24"/>
          <p:cNvSpPr>
            <a:spLocks noGrp="1"/>
          </p:cNvSpPr>
          <p:nvPr/>
        </p:nvSpPr>
        <p:spPr>
          <a:xfrm>
            <a:off x="7029450" y="4121150"/>
            <a:ext cx="3790950" cy="641350"/>
          </a:xfrm>
          <a:prstGeom prst="rect">
            <a:avLst/>
          </a:prstGeom>
          <a:noFill/>
          <a:ln w="0">
            <a:noFill/>
            <a:prstDash val="solid"/>
          </a:ln>
        </p:spPr>
        <p:txBody>
          <a:bodyPr anchor="t"/>
          <a:lstStyle/>
          <a:p>
            <a:pPr algn="l">
              <a:defRPr sz="1650" b="0">
                <a:solidFill>
                  <a:srgbClr val="152538"/>
                </a:solidFill>
              </a:defRPr>
            </a:pPr>
            <a:r>
              <a:rPr sz="1650" b="0">
                <a:solidFill>
                  <a:srgbClr val="152538"/>
                </a:solidFill>
              </a:rPr>
              <a:t>May not certify terminal engagement</a:t>
            </a:r>
            <a:endParaRPr sz="1650" b="0">
              <a:solidFill>
                <a:srgbClr val="152538"/>
              </a:solidFill>
            </a:endParaRPr>
          </a:p>
        </p:txBody>
      </p:sp>
      <p:sp>
        <p:nvSpPr>
          <p:cNvPr id="26" name="矩形 25"/>
          <p:cNvSpPr>
            <a:spLocks noGrp="1"/>
          </p:cNvSpPr>
          <p:nvPr/>
        </p:nvSpPr>
        <p:spPr>
          <a:xfrm>
            <a:off x="5981700" y="1581150"/>
            <a:ext cx="38100" cy="3943350"/>
          </a:xfrm>
          <a:prstGeom prst="rect">
            <a:avLst/>
          </a:prstGeom>
          <a:solidFill>
            <a:srgbClr val="ED7F0D"/>
          </a:solidFill>
          <a:ln w="0">
            <a:noFill/>
            <a:prstDash val="solid"/>
          </a:ln>
        </p:spPr>
      </p:sp>
      <p:sp>
        <p:nvSpPr>
          <p:cNvPr id="27" name="矩形 26"/>
          <p:cNvSpPr>
            <a:spLocks noGrp="1"/>
          </p:cNvSpPr>
          <p:nvPr/>
        </p:nvSpPr>
        <p:spPr>
          <a:xfrm>
            <a:off x="5743575" y="3028950"/>
            <a:ext cx="514350" cy="895350"/>
          </a:xfrm>
          <a:prstGeom prst="rect">
            <a:avLst/>
          </a:prstGeom>
          <a:noFill/>
          <a:ln w="0">
            <a:noFill/>
            <a:prstDash val="solid"/>
          </a:ln>
        </p:spPr>
        <p:txBody>
          <a:bodyPr anchor="ctr"/>
          <a:lstStyle/>
          <a:p>
            <a:pPr algn="ctr">
              <a:defRPr sz="900" b="1">
                <a:solidFill>
                  <a:srgbClr val="ED7F0D"/>
                </a:solidFill>
              </a:defRPr>
            </a:pPr>
            <a:r>
              <a:rPr sz="900" b="1">
                <a:solidFill>
                  <a:srgbClr val="ED7F0D"/>
                </a:solidFill>
              </a:rPr>
              <a:t>AUTHORITY</a:t>
            </a:r>
            <a:endParaRPr sz="900" b="1">
              <a:solidFill>
                <a:srgbClr val="ED7F0D"/>
              </a:solidFill>
            </a:endParaRPr>
          </a:p>
          <a:p>
            <a:pPr algn="ctr">
              <a:defRPr sz="900" b="1">
                <a:solidFill>
                  <a:srgbClr val="ED7F0D"/>
                </a:solidFill>
              </a:defRPr>
            </a:pPr>
            <a:r>
              <a:rPr sz="900" b="1">
                <a:solidFill>
                  <a:srgbClr val="ED7F0D"/>
                </a:solidFill>
              </a:rPr>
              <a:t>BOUNDARY</a:t>
            </a:r>
            <a:endParaRPr sz="900" b="1">
              <a:solidFill>
                <a:srgbClr val="ED7F0D"/>
              </a:solidFill>
            </a:endParaRPr>
          </a:p>
        </p:txBody>
      </p:sp>
      <p:sp>
        <p:nvSpPr>
          <p:cNvPr id="28" name="矩形 27"/>
          <p:cNvSpPr>
            <a:spLocks noGrp="1"/>
          </p:cNvSpPr>
          <p:nvPr/>
        </p:nvSpPr>
        <p:spPr>
          <a:xfrm>
            <a:off x="647700" y="5943600"/>
            <a:ext cx="10839450" cy="400050"/>
          </a:xfrm>
          <a:prstGeom prst="rect">
            <a:avLst/>
          </a:prstGeom>
          <a:solidFill>
            <a:srgbClr val="FFF0E2"/>
          </a:solidFill>
          <a:ln w="0">
            <a:noFill/>
            <a:prstDash val="solid"/>
          </a:ln>
        </p:spPr>
      </p:sp>
      <p:sp>
        <p:nvSpPr>
          <p:cNvPr id="29" name="矩形 28"/>
          <p:cNvSpPr>
            <a:spLocks noGrp="1"/>
          </p:cNvSpPr>
          <p:nvPr/>
        </p:nvSpPr>
        <p:spPr>
          <a:xfrm>
            <a:off x="647700" y="5943600"/>
            <a:ext cx="57150" cy="400050"/>
          </a:xfrm>
          <a:prstGeom prst="rect">
            <a:avLst/>
          </a:prstGeom>
          <a:solidFill>
            <a:srgbClr val="ED7F0D"/>
          </a:solidFill>
          <a:ln w="0">
            <a:noFill/>
            <a:prstDash val="solid"/>
          </a:ln>
        </p:spPr>
      </p:sp>
      <p:sp>
        <p:nvSpPr>
          <p:cNvPr id="30" name="矩形 29"/>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dashed authority line is the safety argument.</a:t>
            </a:r>
            <a:endParaRPr sz="1275" b="1">
              <a:solidFill>
                <a:srgbClr val="15253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08</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PROBLEM</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 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325" b="1">
                <a:solidFill>
                  <a:srgbClr val="004282"/>
                </a:solidFill>
              </a:defRPr>
            </a:pPr>
            <a:r>
              <a:rPr sz="2325" b="1">
                <a:solidFill>
                  <a:srgbClr val="004282"/>
                </a:solidFill>
              </a:rPr>
              <a:t>The work contributes a tactile cue, a bounded action rule, and a guarded loop</a:t>
            </a:r>
            <a:endParaRPr sz="232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Introduction · Contributions</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8</a:t>
            </a:r>
            <a:endParaRPr sz="825" b="1">
              <a:solidFill>
                <a:srgbClr val="004282"/>
              </a:solidFill>
            </a:endParaRPr>
          </a:p>
        </p:txBody>
      </p:sp>
      <p:sp>
        <p:nvSpPr>
          <p:cNvPr id="10" name="矩形 9"/>
          <p:cNvSpPr>
            <a:spLocks noGrp="1"/>
          </p:cNvSpPr>
          <p:nvPr/>
        </p:nvSpPr>
        <p:spPr>
          <a:xfrm>
            <a:off x="781050" y="1714500"/>
            <a:ext cx="133350" cy="933450"/>
          </a:xfrm>
          <a:prstGeom prst="rect">
            <a:avLst/>
          </a:prstGeom>
          <a:solidFill>
            <a:srgbClr val="004282"/>
          </a:solidFill>
          <a:ln w="0">
            <a:noFill/>
            <a:prstDash val="solid"/>
          </a:ln>
        </p:spPr>
      </p:sp>
      <p:sp>
        <p:nvSpPr>
          <p:cNvPr id="11" name="圆角矩形 10"/>
          <p:cNvSpPr>
            <a:spLocks noGrp="1"/>
          </p:cNvSpPr>
          <p:nvPr/>
        </p:nvSpPr>
        <p:spPr>
          <a:xfrm>
            <a:off x="914400" y="1714500"/>
            <a:ext cx="10363200" cy="933450"/>
          </a:xfrm>
          <a:prstGeom prst="roundRect">
            <a:avLst>
              <a:gd name="adj" fmla="val 8163"/>
            </a:avLst>
          </a:prstGeom>
          <a:solidFill>
            <a:srgbClr val="FFFFFF"/>
          </a:solidFill>
          <a:ln w="9525">
            <a:solidFill>
              <a:srgbClr val="D9E0E6"/>
            </a:solidFill>
            <a:prstDash val="solid"/>
          </a:ln>
        </p:spPr>
      </p:sp>
      <p:sp>
        <p:nvSpPr>
          <p:cNvPr id="12" name="矩形 11"/>
          <p:cNvSpPr>
            <a:spLocks noGrp="1"/>
          </p:cNvSpPr>
          <p:nvPr/>
        </p:nvSpPr>
        <p:spPr>
          <a:xfrm>
            <a:off x="1200150" y="1847850"/>
            <a:ext cx="9753600" cy="685800"/>
          </a:xfrm>
          <a:prstGeom prst="rect">
            <a:avLst/>
          </a:prstGeom>
          <a:noFill/>
          <a:ln w="0">
            <a:noFill/>
            <a:prstDash val="solid"/>
          </a:ln>
        </p:spPr>
        <p:txBody>
          <a:bodyPr anchor="ctr"/>
          <a:lstStyle/>
          <a:p>
            <a:pPr algn="l">
              <a:defRPr sz="1650" b="1">
                <a:solidFill>
                  <a:srgbClr val="152538"/>
                </a:solidFill>
              </a:defRPr>
            </a:pPr>
            <a:r>
              <a:rPr sz="1650" b="1">
                <a:solidFill>
                  <a:srgbClr val="152538"/>
                </a:solidFill>
              </a:rPr>
              <a:t>1  Phase-indexed tactile cue</a:t>
            </a:r>
            <a:endParaRPr sz="1650" b="1">
              <a:solidFill>
                <a:srgbClr val="152538"/>
              </a:solidFill>
            </a:endParaRPr>
          </a:p>
          <a:p>
            <a:pPr algn="l">
              <a:defRPr sz="1650" b="1">
                <a:solidFill>
                  <a:srgbClr val="152538"/>
                </a:solidFill>
              </a:defRPr>
            </a:pPr>
            <a:r>
              <a:rPr sz="1650" b="1">
                <a:solidFill>
                  <a:srgbClr val="152538"/>
                </a:solidFill>
              </a:rPr>
              <a:t>Direction + contact support from one low-force conical touch</a:t>
            </a:r>
            <a:endParaRPr sz="1650" b="1">
              <a:solidFill>
                <a:srgbClr val="152538"/>
              </a:solidFill>
            </a:endParaRPr>
          </a:p>
        </p:txBody>
      </p:sp>
      <p:sp>
        <p:nvSpPr>
          <p:cNvPr id="13" name="矩形 12"/>
          <p:cNvSpPr>
            <a:spLocks noGrp="1"/>
          </p:cNvSpPr>
          <p:nvPr/>
        </p:nvSpPr>
        <p:spPr>
          <a:xfrm>
            <a:off x="781050" y="2971800"/>
            <a:ext cx="133350" cy="933450"/>
          </a:xfrm>
          <a:prstGeom prst="rect">
            <a:avLst/>
          </a:prstGeom>
          <a:solidFill>
            <a:srgbClr val="009E73"/>
          </a:solidFill>
          <a:ln w="0">
            <a:noFill/>
            <a:prstDash val="solid"/>
          </a:ln>
        </p:spPr>
      </p:sp>
      <p:sp>
        <p:nvSpPr>
          <p:cNvPr id="14" name="圆角矩形 13"/>
          <p:cNvSpPr>
            <a:spLocks noGrp="1"/>
          </p:cNvSpPr>
          <p:nvPr/>
        </p:nvSpPr>
        <p:spPr>
          <a:xfrm>
            <a:off x="914400" y="2971800"/>
            <a:ext cx="10363200" cy="933450"/>
          </a:xfrm>
          <a:prstGeom prst="roundRect">
            <a:avLst>
              <a:gd name="adj" fmla="val 8163"/>
            </a:avLst>
          </a:prstGeom>
          <a:solidFill>
            <a:srgbClr val="FFFFFF"/>
          </a:solidFill>
          <a:ln w="9525">
            <a:solidFill>
              <a:srgbClr val="D9E0E6"/>
            </a:solidFill>
            <a:prstDash val="solid"/>
          </a:ln>
        </p:spPr>
      </p:sp>
      <p:sp>
        <p:nvSpPr>
          <p:cNvPr id="15" name="矩形 14"/>
          <p:cNvSpPr>
            <a:spLocks noGrp="1"/>
          </p:cNvSpPr>
          <p:nvPr/>
        </p:nvSpPr>
        <p:spPr>
          <a:xfrm>
            <a:off x="1200150" y="3105150"/>
            <a:ext cx="9753600" cy="685800"/>
          </a:xfrm>
          <a:prstGeom prst="rect">
            <a:avLst/>
          </a:prstGeom>
          <a:noFill/>
          <a:ln w="0">
            <a:noFill/>
            <a:prstDash val="solid"/>
          </a:ln>
        </p:spPr>
        <p:txBody>
          <a:bodyPr anchor="ctr"/>
          <a:lstStyle/>
          <a:p>
            <a:pPr algn="l">
              <a:defRPr sz="1650" b="0">
                <a:solidFill>
                  <a:srgbClr val="152538"/>
                </a:solidFill>
              </a:defRPr>
            </a:pPr>
            <a:r>
              <a:rPr sz="1650" b="0">
                <a:solidFill>
                  <a:srgbClr val="152538"/>
                </a:solidFill>
              </a:rPr>
              <a:t>2  Risk-bounded action rule</a:t>
            </a:r>
            <a:endParaRPr sz="1650" b="0">
              <a:solidFill>
                <a:srgbClr val="152538"/>
              </a:solidFill>
            </a:endParaRPr>
          </a:p>
          <a:p>
            <a:pPr algn="l">
              <a:defRPr sz="1650" b="0">
                <a:solidFill>
                  <a:srgbClr val="152538"/>
                </a:solidFill>
              </a:defRPr>
            </a:pPr>
            <a:r>
              <a:rPr sz="1650" b="0">
                <a:solidFill>
                  <a:srgbClr val="152538"/>
                </a:solidFill>
              </a:rPr>
              <a:t>Posterior-supported shortcut + finite residual search</a:t>
            </a:r>
            <a:endParaRPr sz="1650" b="0">
              <a:solidFill>
                <a:srgbClr val="152538"/>
              </a:solidFill>
            </a:endParaRPr>
          </a:p>
        </p:txBody>
      </p:sp>
      <p:sp>
        <p:nvSpPr>
          <p:cNvPr id="16" name="矩形 15"/>
          <p:cNvSpPr>
            <a:spLocks noGrp="1"/>
          </p:cNvSpPr>
          <p:nvPr/>
        </p:nvSpPr>
        <p:spPr>
          <a:xfrm>
            <a:off x="781050" y="4229100"/>
            <a:ext cx="133350" cy="933450"/>
          </a:xfrm>
          <a:prstGeom prst="rect">
            <a:avLst/>
          </a:prstGeom>
          <a:solidFill>
            <a:srgbClr val="C74A4A"/>
          </a:solidFill>
          <a:ln w="0">
            <a:noFill/>
            <a:prstDash val="solid"/>
          </a:ln>
        </p:spPr>
      </p:sp>
      <p:sp>
        <p:nvSpPr>
          <p:cNvPr id="17" name="圆角矩形 16"/>
          <p:cNvSpPr>
            <a:spLocks noGrp="1"/>
          </p:cNvSpPr>
          <p:nvPr/>
        </p:nvSpPr>
        <p:spPr>
          <a:xfrm>
            <a:off x="914400" y="4229100"/>
            <a:ext cx="10363200" cy="933450"/>
          </a:xfrm>
          <a:prstGeom prst="roundRect">
            <a:avLst>
              <a:gd name="adj" fmla="val 8163"/>
            </a:avLst>
          </a:prstGeom>
          <a:solidFill>
            <a:srgbClr val="FFFFFF"/>
          </a:solidFill>
          <a:ln w="9525">
            <a:solidFill>
              <a:srgbClr val="D9E0E6"/>
            </a:solidFill>
            <a:prstDash val="solid"/>
          </a:ln>
        </p:spPr>
      </p:sp>
      <p:sp>
        <p:nvSpPr>
          <p:cNvPr id="18" name="矩形 17"/>
          <p:cNvSpPr>
            <a:spLocks noGrp="1"/>
          </p:cNvSpPr>
          <p:nvPr/>
        </p:nvSpPr>
        <p:spPr>
          <a:xfrm>
            <a:off x="1200150" y="4362450"/>
            <a:ext cx="9753600" cy="685800"/>
          </a:xfrm>
          <a:prstGeom prst="rect">
            <a:avLst/>
          </a:prstGeom>
          <a:noFill/>
          <a:ln w="0">
            <a:noFill/>
            <a:prstDash val="solid"/>
          </a:ln>
        </p:spPr>
        <p:txBody>
          <a:bodyPr anchor="ctr"/>
          <a:lstStyle/>
          <a:p>
            <a:pPr algn="l">
              <a:defRPr sz="1650" b="0">
                <a:solidFill>
                  <a:srgbClr val="152538"/>
                </a:solidFill>
              </a:defRPr>
            </a:pPr>
            <a:r>
              <a:rPr sz="1650" b="0">
                <a:solidFill>
                  <a:srgbClr val="152538"/>
                </a:solidFill>
              </a:rPr>
              <a:t>3  Shared physical controller</a:t>
            </a:r>
            <a:endParaRPr sz="1650" b="0">
              <a:solidFill>
                <a:srgbClr val="152538"/>
              </a:solidFill>
            </a:endParaRPr>
          </a:p>
          <a:p>
            <a:pPr algn="l">
              <a:defRPr sz="1650" b="0">
                <a:solidFill>
                  <a:srgbClr val="152538"/>
                </a:solidFill>
              </a:defRPr>
            </a:pPr>
            <a:r>
              <a:rPr sz="1650" b="0">
                <a:solidFill>
                  <a:srgbClr val="152538"/>
                </a:solidFill>
              </a:rPr>
              <a:t>Capture, recovery, guards and final dwell are route-independent</a:t>
            </a:r>
            <a:endParaRPr sz="1650" b="0">
              <a:solidFill>
                <a:srgbClr val="152538"/>
              </a:solidFill>
            </a:endParaRPr>
          </a:p>
        </p:txBody>
      </p:sp>
      <p:sp>
        <p:nvSpPr>
          <p:cNvPr id="19" name="矩形 18"/>
          <p:cNvSpPr>
            <a:spLocks noGrp="1"/>
          </p:cNvSpPr>
          <p:nvPr/>
        </p:nvSpPr>
        <p:spPr>
          <a:xfrm>
            <a:off x="647700" y="5943600"/>
            <a:ext cx="10839450" cy="400050"/>
          </a:xfrm>
          <a:prstGeom prst="rect">
            <a:avLst/>
          </a:prstGeom>
          <a:solidFill>
            <a:srgbClr val="FFF0E2"/>
          </a:solidFill>
          <a:ln w="0">
            <a:noFill/>
            <a:prstDash val="solid"/>
          </a:ln>
        </p:spPr>
      </p:sp>
      <p:sp>
        <p:nvSpPr>
          <p:cNvPr id="20" name="矩形 19"/>
          <p:cNvSpPr>
            <a:spLocks noGrp="1"/>
          </p:cNvSpPr>
          <p:nvPr/>
        </p:nvSpPr>
        <p:spPr>
          <a:xfrm>
            <a:off x="647700" y="5943600"/>
            <a:ext cx="57150" cy="400050"/>
          </a:xfrm>
          <a:prstGeom prst="rect">
            <a:avLst/>
          </a:prstGeom>
          <a:solidFill>
            <a:srgbClr val="ED7F0D"/>
          </a:solidFill>
          <a:ln w="0">
            <a:noFill/>
            <a:prstDash val="solid"/>
          </a:ln>
        </p:spPr>
      </p:sp>
      <p:sp>
        <p:nvSpPr>
          <p:cNvPr id="21" name="矩形 20"/>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Observation, action allocation and physical verification remain distinct.</a:t>
            </a:r>
            <a:endParaRPr sz="1275" b="1">
              <a:solidFill>
                <a:srgbClr val="15253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09</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TASK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325" b="1">
                <a:solidFill>
                  <a:srgbClr val="004282"/>
                </a:solidFill>
              </a:defRPr>
            </a:pPr>
            <a:r>
              <a:rPr sz="2325" b="1">
                <a:solidFill>
                  <a:srgbClr val="004282"/>
                </a:solidFill>
              </a:rPr>
              <a:t>The task begins at stable top contact and ends at verified geometric engagement</a:t>
            </a:r>
            <a:endParaRPr sz="232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II-A · Fig. 1</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9</a:t>
            </a:r>
            <a:endParaRPr sz="825" b="1">
              <a:solidFill>
                <a:srgbClr val="004282"/>
              </a:solidFill>
            </a:endParaRPr>
          </a:p>
        </p:txBody>
      </p:sp>
      <p:sp>
        <p:nvSpPr>
          <p:cNvPr id="10" name="椭圆 9"/>
          <p:cNvSpPr>
            <a:spLocks noGrp="1"/>
          </p:cNvSpPr>
          <p:nvPr/>
        </p:nvSpPr>
        <p:spPr>
          <a:xfrm>
            <a:off x="781050" y="1866900"/>
            <a:ext cx="76200" cy="76200"/>
          </a:xfrm>
          <a:prstGeom prst="ellipse">
            <a:avLst/>
          </a:prstGeom>
          <a:solidFill>
            <a:srgbClr val="ED7F0D"/>
          </a:solidFill>
          <a:ln w="9525">
            <a:solidFill>
              <a:srgbClr val="ED7F0D"/>
            </a:solidFill>
            <a:prstDash val="solid"/>
          </a:ln>
        </p:spPr>
      </p:sp>
      <p:sp>
        <p:nvSpPr>
          <p:cNvPr id="11" name="矩形 10"/>
          <p:cNvSpPr>
            <a:spLocks noGrp="1"/>
          </p:cNvSpPr>
          <p:nvPr/>
        </p:nvSpPr>
        <p:spPr>
          <a:xfrm>
            <a:off x="990600" y="1771650"/>
            <a:ext cx="3505200" cy="876300"/>
          </a:xfrm>
          <a:prstGeom prst="rect">
            <a:avLst/>
          </a:prstGeom>
          <a:noFill/>
          <a:ln w="0">
            <a:noFill/>
            <a:prstDash val="solid"/>
          </a:ln>
        </p:spPr>
        <p:txBody>
          <a:bodyPr anchor="t"/>
          <a:lstStyle/>
          <a:p>
            <a:pPr algn="l">
              <a:defRPr sz="1500" b="0">
                <a:solidFill>
                  <a:srgbClr val="152538"/>
                </a:solidFill>
              </a:defRPr>
            </a:pPr>
            <a:r>
              <a:rPr sz="1500" b="0">
                <a:solidFill>
                  <a:srgbClr val="152538"/>
                </a:solidFill>
              </a:rPr>
              <a:t>Unknown socket center C and first stable contact x₀ are expressed in fixture frame {p}.</a:t>
            </a:r>
            <a:endParaRPr sz="1500" b="0">
              <a:solidFill>
                <a:srgbClr val="152538"/>
              </a:solidFill>
            </a:endParaRPr>
          </a:p>
        </p:txBody>
      </p:sp>
      <p:sp>
        <p:nvSpPr>
          <p:cNvPr id="12" name="椭圆 11"/>
          <p:cNvSpPr>
            <a:spLocks noGrp="1"/>
          </p:cNvSpPr>
          <p:nvPr/>
        </p:nvSpPr>
        <p:spPr>
          <a:xfrm>
            <a:off x="781050" y="2876550"/>
            <a:ext cx="76200" cy="76200"/>
          </a:xfrm>
          <a:prstGeom prst="ellipse">
            <a:avLst/>
          </a:prstGeom>
          <a:solidFill>
            <a:srgbClr val="ED7F0D"/>
          </a:solidFill>
          <a:ln w="9525">
            <a:solidFill>
              <a:srgbClr val="ED7F0D"/>
            </a:solidFill>
            <a:prstDash val="solid"/>
          </a:ln>
        </p:spPr>
      </p:sp>
      <p:sp>
        <p:nvSpPr>
          <p:cNvPr id="13" name="矩形 12"/>
          <p:cNvSpPr>
            <a:spLocks noGrp="1"/>
          </p:cNvSpPr>
          <p:nvPr/>
        </p:nvSpPr>
        <p:spPr>
          <a:xfrm>
            <a:off x="990600" y="2781300"/>
            <a:ext cx="3505200" cy="876300"/>
          </a:xfrm>
          <a:prstGeom prst="rect">
            <a:avLst/>
          </a:prstGeom>
          <a:noFill/>
          <a:ln w="0">
            <a:noFill/>
            <a:prstDash val="solid"/>
          </a:ln>
        </p:spPr>
        <p:txBody>
          <a:bodyPr anchor="t"/>
          <a:lstStyle/>
          <a:p>
            <a:pPr algn="l">
              <a:defRPr sz="1500" b="0">
                <a:solidFill>
                  <a:srgbClr val="152538"/>
                </a:solidFill>
              </a:defRPr>
            </a:pPr>
            <a:r>
              <a:rPr sz="1500" b="0">
                <a:solidFill>
                  <a:srgbClr val="152538"/>
                </a:solidFill>
              </a:rPr>
              <a:t>The conical scan runs after touchdown; engagement depth grows along −zₚ.</a:t>
            </a:r>
            <a:endParaRPr sz="1500" b="0">
              <a:solidFill>
                <a:srgbClr val="152538"/>
              </a:solidFill>
            </a:endParaRPr>
          </a:p>
        </p:txBody>
      </p:sp>
      <p:sp>
        <p:nvSpPr>
          <p:cNvPr id="14" name="椭圆 13"/>
          <p:cNvSpPr>
            <a:spLocks noGrp="1"/>
          </p:cNvSpPr>
          <p:nvPr/>
        </p:nvSpPr>
        <p:spPr>
          <a:xfrm>
            <a:off x="781050" y="3886200"/>
            <a:ext cx="76200" cy="76200"/>
          </a:xfrm>
          <a:prstGeom prst="ellipse">
            <a:avLst/>
          </a:prstGeom>
          <a:solidFill>
            <a:srgbClr val="ED7F0D"/>
          </a:solidFill>
          <a:ln w="9525">
            <a:solidFill>
              <a:srgbClr val="ED7F0D"/>
            </a:solidFill>
            <a:prstDash val="solid"/>
          </a:ln>
        </p:spPr>
      </p:sp>
      <p:sp>
        <p:nvSpPr>
          <p:cNvPr id="15" name="矩形 14"/>
          <p:cNvSpPr>
            <a:spLocks noGrp="1"/>
          </p:cNvSpPr>
          <p:nvPr/>
        </p:nvSpPr>
        <p:spPr>
          <a:xfrm>
            <a:off x="990600" y="3790950"/>
            <a:ext cx="3505200" cy="876300"/>
          </a:xfrm>
          <a:prstGeom prst="rect">
            <a:avLst/>
          </a:prstGeom>
          <a:noFill/>
          <a:ln w="0">
            <a:noFill/>
            <a:prstDash val="solid"/>
          </a:ln>
        </p:spPr>
        <p:txBody>
          <a:bodyPr anchor="t"/>
          <a:lstStyle/>
          <a:p>
            <a:pPr algn="l">
              <a:defRPr sz="1500" b="0">
                <a:solidFill>
                  <a:srgbClr val="152538"/>
                </a:solidFill>
              </a:defRPr>
            </a:pPr>
            <a:r>
              <a:rPr sz="1500" b="0">
                <a:solidFill>
                  <a:srgbClr val="152538"/>
                </a:solidFill>
              </a:rPr>
              <a:t>The endpoint is a sensor-side geometric event—not screw turning.</a:t>
            </a:r>
            <a:endParaRPr sz="1500" b="0">
              <a:solidFill>
                <a:srgbClr val="152538"/>
              </a:solidFill>
            </a:endParaRPr>
          </a:p>
        </p:txBody>
      </p:sp>
      <p:sp>
        <p:nvSpPr>
          <p:cNvPr id="16" name="圆角矩形 15"/>
          <p:cNvSpPr>
            <a:spLocks noGrp="1"/>
          </p:cNvSpPr>
          <p:nvPr/>
        </p:nvSpPr>
        <p:spPr>
          <a:xfrm>
            <a:off x="4686300" y="1485900"/>
            <a:ext cx="6705600" cy="4248150"/>
          </a:xfrm>
          <a:prstGeom prst="roundRect">
            <a:avLst>
              <a:gd name="adj" fmla="val 1794"/>
            </a:avLst>
          </a:prstGeom>
          <a:solidFill>
            <a:srgbClr val="FFFFFF"/>
          </a:solidFill>
          <a:ln w="9525">
            <a:solidFill>
              <a:srgbClr val="D9E0E6"/>
            </a:solidFill>
            <a:prstDash val="solid"/>
          </a:ln>
        </p:spPr>
      </p:sp>
      <p:pic>
        <p:nvPicPr>
          <p:cNvPr id="35" name="图片 34"/>
          <p:cNvPicPr>
            <a:picLocks noChangeAspect="1"/>
          </p:cNvPicPr>
          <p:nvPr/>
        </p:nvPicPr>
        <p:blipFill>
          <a:blip r:embed="rId1"/>
          <a:stretch>
            <a:fillRect/>
          </a:stretch>
        </p:blipFill>
        <p:spPr>
          <a:xfrm>
            <a:off x="4967288" y="1562100"/>
            <a:ext cx="6143625" cy="4095750"/>
          </a:xfrm>
          <a:prstGeom prst="roundRect">
            <a:avLst>
              <a:gd name="adj" fmla="val 1860"/>
            </a:avLst>
          </a:prstGeom>
        </p:spPr>
      </p:pic>
      <p:sp>
        <p:nvSpPr>
          <p:cNvPr id="17" name="矩形 16"/>
          <p:cNvSpPr>
            <a:spLocks noGrp="1"/>
          </p:cNvSpPr>
          <p:nvPr/>
        </p:nvSpPr>
        <p:spPr>
          <a:xfrm>
            <a:off x="647700" y="5943600"/>
            <a:ext cx="10839450" cy="400050"/>
          </a:xfrm>
          <a:prstGeom prst="rect">
            <a:avLst/>
          </a:prstGeom>
          <a:solidFill>
            <a:srgbClr val="FFF0E2"/>
          </a:solidFill>
          <a:ln w="0">
            <a:noFill/>
            <a:prstDash val="solid"/>
          </a:ln>
        </p:spPr>
      </p:sp>
      <p:sp>
        <p:nvSpPr>
          <p:cNvPr id="18" name="矩形 17"/>
          <p:cNvSpPr>
            <a:spLocks noGrp="1"/>
          </p:cNvSpPr>
          <p:nvPr/>
        </p:nvSpPr>
        <p:spPr>
          <a:xfrm>
            <a:off x="647700" y="5943600"/>
            <a:ext cx="57150" cy="400050"/>
          </a:xfrm>
          <a:prstGeom prst="rect">
            <a:avLst/>
          </a:prstGeom>
          <a:solidFill>
            <a:srgbClr val="ED7F0D"/>
          </a:solidFill>
          <a:ln w="0">
            <a:noFill/>
            <a:prstDash val="solid"/>
          </a:ln>
        </p:spPr>
      </p:sp>
      <p:sp>
        <p:nvSpPr>
          <p:cNvPr id="19" name="矩形 18"/>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Start and endpoint are fixed before evaluating any policy.</a:t>
            </a:r>
            <a:endParaRPr sz="1275" b="1">
              <a:solidFill>
                <a:srgbClr val="15253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10</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TASK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Online control never observes the true center</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II-A</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10</a:t>
            </a:r>
            <a:endParaRPr sz="825" b="1">
              <a:solidFill>
                <a:srgbClr val="004282"/>
              </a:solidFill>
            </a:endParaRPr>
          </a:p>
        </p:txBody>
      </p:sp>
      <p:sp>
        <p:nvSpPr>
          <p:cNvPr id="10" name="圆角矩形 9"/>
          <p:cNvSpPr>
            <a:spLocks noGrp="1"/>
          </p:cNvSpPr>
          <p:nvPr/>
        </p:nvSpPr>
        <p:spPr>
          <a:xfrm>
            <a:off x="781050" y="1676400"/>
            <a:ext cx="4857750" cy="3714750"/>
          </a:xfrm>
          <a:prstGeom prst="roundRect">
            <a:avLst>
              <a:gd name="adj" fmla="val 2051"/>
            </a:avLst>
          </a:prstGeom>
          <a:solidFill>
            <a:srgbClr val="E8F1F8"/>
          </a:solidFill>
          <a:ln w="19050">
            <a:solidFill>
              <a:srgbClr val="004282"/>
            </a:solidFill>
            <a:prstDash val="solid"/>
          </a:ln>
        </p:spPr>
      </p:sp>
      <p:sp>
        <p:nvSpPr>
          <p:cNvPr id="11" name="圆角矩形 10"/>
          <p:cNvSpPr>
            <a:spLocks noGrp="1"/>
          </p:cNvSpPr>
          <p:nvPr/>
        </p:nvSpPr>
        <p:spPr>
          <a:xfrm>
            <a:off x="6438900" y="1676400"/>
            <a:ext cx="4857750" cy="3714750"/>
          </a:xfrm>
          <a:prstGeom prst="roundRect">
            <a:avLst>
              <a:gd name="adj" fmla="val 2051"/>
            </a:avLst>
          </a:prstGeom>
          <a:solidFill>
            <a:srgbClr val="FFFFFF"/>
          </a:solidFill>
          <a:ln w="9525">
            <a:solidFill>
              <a:srgbClr val="6B7580"/>
            </a:solidFill>
            <a:prstDash val="solid"/>
          </a:ln>
        </p:spPr>
      </p:sp>
      <p:sp>
        <p:nvSpPr>
          <p:cNvPr id="12" name="矩形 11"/>
          <p:cNvSpPr>
            <a:spLocks noGrp="1"/>
          </p:cNvSpPr>
          <p:nvPr/>
        </p:nvSpPr>
        <p:spPr>
          <a:xfrm>
            <a:off x="1066800" y="1924050"/>
            <a:ext cx="4286250" cy="381000"/>
          </a:xfrm>
          <a:prstGeom prst="rect">
            <a:avLst/>
          </a:prstGeom>
          <a:noFill/>
          <a:ln w="0">
            <a:noFill/>
            <a:prstDash val="solid"/>
          </a:ln>
        </p:spPr>
        <p:txBody>
          <a:bodyPr anchor="ctr"/>
          <a:lstStyle/>
          <a:p>
            <a:pPr algn="ctr">
              <a:defRPr sz="1875" b="1">
                <a:solidFill>
                  <a:srgbClr val="004282"/>
                </a:solidFill>
              </a:defRPr>
            </a:pPr>
            <a:r>
              <a:rPr sz="1875" b="1">
                <a:solidFill>
                  <a:srgbClr val="004282"/>
                </a:solidFill>
              </a:rPr>
              <a:t>ONLINE INPUTS</a:t>
            </a:r>
            <a:endParaRPr sz="1875" b="1">
              <a:solidFill>
                <a:srgbClr val="004282"/>
              </a:solidFill>
            </a:endParaRPr>
          </a:p>
        </p:txBody>
      </p:sp>
      <p:sp>
        <p:nvSpPr>
          <p:cNvPr id="13" name="矩形 12"/>
          <p:cNvSpPr>
            <a:spLocks noGrp="1"/>
          </p:cNvSpPr>
          <p:nvPr/>
        </p:nvSpPr>
        <p:spPr>
          <a:xfrm>
            <a:off x="6724650" y="1924050"/>
            <a:ext cx="4286250" cy="381000"/>
          </a:xfrm>
          <a:prstGeom prst="rect">
            <a:avLst/>
          </a:prstGeom>
          <a:noFill/>
          <a:ln w="0">
            <a:noFill/>
            <a:prstDash val="solid"/>
          </a:ln>
        </p:spPr>
        <p:txBody>
          <a:bodyPr anchor="ctr"/>
          <a:lstStyle/>
          <a:p>
            <a:pPr algn="ctr">
              <a:defRPr sz="1875" b="1">
                <a:solidFill>
                  <a:srgbClr val="6B7580"/>
                </a:solidFill>
              </a:defRPr>
            </a:pPr>
            <a:r>
              <a:rPr sz="1875" b="1">
                <a:solidFill>
                  <a:srgbClr val="6B7580"/>
                </a:solidFill>
              </a:rPr>
              <a:t>OFFLINE GRADING ONLY</a:t>
            </a:r>
            <a:endParaRPr sz="1875" b="1">
              <a:solidFill>
                <a:srgbClr val="6B7580"/>
              </a:solidFill>
            </a:endParaRPr>
          </a:p>
        </p:txBody>
      </p:sp>
      <p:sp>
        <p:nvSpPr>
          <p:cNvPr id="14" name="椭圆 13"/>
          <p:cNvSpPr>
            <a:spLocks noGrp="1"/>
          </p:cNvSpPr>
          <p:nvPr/>
        </p:nvSpPr>
        <p:spPr>
          <a:xfrm>
            <a:off x="1219200" y="2667000"/>
            <a:ext cx="76200" cy="76200"/>
          </a:xfrm>
          <a:prstGeom prst="ellipse">
            <a:avLst/>
          </a:prstGeom>
          <a:solidFill>
            <a:srgbClr val="004282"/>
          </a:solidFill>
          <a:ln w="9525">
            <a:solidFill>
              <a:srgbClr val="004282"/>
            </a:solidFill>
            <a:prstDash val="solid"/>
          </a:ln>
        </p:spPr>
      </p:sp>
      <p:sp>
        <p:nvSpPr>
          <p:cNvPr id="15" name="矩形 14"/>
          <p:cNvSpPr>
            <a:spLocks noGrp="1"/>
          </p:cNvSpPr>
          <p:nvPr/>
        </p:nvSpPr>
        <p:spPr>
          <a:xfrm>
            <a:off x="1428750" y="2571750"/>
            <a:ext cx="3695700" cy="430530"/>
          </a:xfrm>
          <a:prstGeom prst="rect">
            <a:avLst/>
          </a:prstGeom>
          <a:noFill/>
          <a:ln w="0">
            <a:noFill/>
            <a:prstDash val="solid"/>
          </a:ln>
        </p:spPr>
        <p:txBody>
          <a:bodyPr anchor="t"/>
          <a:lstStyle/>
          <a:p>
            <a:pPr algn="l">
              <a:defRPr sz="1575" b="0">
                <a:solidFill>
                  <a:srgbClr val="152538"/>
                </a:solidFill>
              </a:defRPr>
            </a:pPr>
            <a:r>
              <a:rPr sz="1575" b="0">
                <a:solidFill>
                  <a:srgbClr val="152538"/>
                </a:solidFill>
              </a:rPr>
              <a:t>Robot pose</a:t>
            </a:r>
            <a:endParaRPr sz="1575" b="0">
              <a:solidFill>
                <a:srgbClr val="152538"/>
              </a:solidFill>
            </a:endParaRPr>
          </a:p>
        </p:txBody>
      </p:sp>
      <p:sp>
        <p:nvSpPr>
          <p:cNvPr id="16" name="椭圆 15"/>
          <p:cNvSpPr>
            <a:spLocks noGrp="1"/>
          </p:cNvSpPr>
          <p:nvPr/>
        </p:nvSpPr>
        <p:spPr>
          <a:xfrm>
            <a:off x="1219200" y="3154680"/>
            <a:ext cx="76200" cy="76200"/>
          </a:xfrm>
          <a:prstGeom prst="ellipse">
            <a:avLst/>
          </a:prstGeom>
          <a:solidFill>
            <a:srgbClr val="004282"/>
          </a:solidFill>
          <a:ln w="9525">
            <a:solidFill>
              <a:srgbClr val="004282"/>
            </a:solidFill>
            <a:prstDash val="solid"/>
          </a:ln>
        </p:spPr>
      </p:sp>
      <p:sp>
        <p:nvSpPr>
          <p:cNvPr id="17" name="矩形 16"/>
          <p:cNvSpPr>
            <a:spLocks noGrp="1"/>
          </p:cNvSpPr>
          <p:nvPr/>
        </p:nvSpPr>
        <p:spPr>
          <a:xfrm>
            <a:off x="1428750" y="3059430"/>
            <a:ext cx="3695700" cy="430530"/>
          </a:xfrm>
          <a:prstGeom prst="rect">
            <a:avLst/>
          </a:prstGeom>
          <a:noFill/>
          <a:ln w="0">
            <a:noFill/>
            <a:prstDash val="solid"/>
          </a:ln>
        </p:spPr>
        <p:txBody>
          <a:bodyPr anchor="t"/>
          <a:lstStyle/>
          <a:p>
            <a:pPr algn="l">
              <a:defRPr sz="1575" b="0">
                <a:solidFill>
                  <a:srgbClr val="152538"/>
                </a:solidFill>
              </a:defRPr>
            </a:pPr>
            <a:r>
              <a:rPr sz="1575" b="0">
                <a:solidFill>
                  <a:srgbClr val="152538"/>
                </a:solidFill>
              </a:rPr>
              <a:t>Measured wrench w</a:t>
            </a:r>
            <a:endParaRPr sz="1575" b="0">
              <a:solidFill>
                <a:srgbClr val="152538"/>
              </a:solidFill>
            </a:endParaRPr>
          </a:p>
        </p:txBody>
      </p:sp>
      <p:sp>
        <p:nvSpPr>
          <p:cNvPr id="18" name="椭圆 17"/>
          <p:cNvSpPr>
            <a:spLocks noGrp="1"/>
          </p:cNvSpPr>
          <p:nvPr/>
        </p:nvSpPr>
        <p:spPr>
          <a:xfrm>
            <a:off x="1219200" y="3642360"/>
            <a:ext cx="76200" cy="76200"/>
          </a:xfrm>
          <a:prstGeom prst="ellipse">
            <a:avLst/>
          </a:prstGeom>
          <a:solidFill>
            <a:srgbClr val="004282"/>
          </a:solidFill>
          <a:ln w="9525">
            <a:solidFill>
              <a:srgbClr val="004282"/>
            </a:solidFill>
            <a:prstDash val="solid"/>
          </a:ln>
        </p:spPr>
      </p:sp>
      <p:sp>
        <p:nvSpPr>
          <p:cNvPr id="19" name="矩形 18"/>
          <p:cNvSpPr>
            <a:spLocks noGrp="1"/>
          </p:cNvSpPr>
          <p:nvPr/>
        </p:nvSpPr>
        <p:spPr>
          <a:xfrm>
            <a:off x="1428750" y="3547110"/>
            <a:ext cx="3695700" cy="430530"/>
          </a:xfrm>
          <a:prstGeom prst="rect">
            <a:avLst/>
          </a:prstGeom>
          <a:noFill/>
          <a:ln w="0">
            <a:noFill/>
            <a:prstDash val="solid"/>
          </a:ln>
        </p:spPr>
        <p:txBody>
          <a:bodyPr anchor="t"/>
          <a:lstStyle/>
          <a:p>
            <a:pPr algn="l">
              <a:defRPr sz="1575" b="0">
                <a:solidFill>
                  <a:srgbClr val="152538"/>
                </a:solidFill>
              </a:defRPr>
            </a:pPr>
            <a:r>
              <a:rPr sz="1575" b="0">
                <a:solidFill>
                  <a:srgbClr val="152538"/>
                </a:solidFill>
              </a:rPr>
              <a:t>Probe phase ϕ</a:t>
            </a:r>
            <a:endParaRPr sz="1575" b="0">
              <a:solidFill>
                <a:srgbClr val="152538"/>
              </a:solidFill>
            </a:endParaRPr>
          </a:p>
        </p:txBody>
      </p:sp>
      <p:sp>
        <p:nvSpPr>
          <p:cNvPr id="20" name="椭圆 19"/>
          <p:cNvSpPr>
            <a:spLocks noGrp="1"/>
          </p:cNvSpPr>
          <p:nvPr/>
        </p:nvSpPr>
        <p:spPr>
          <a:xfrm>
            <a:off x="1219200" y="4130040"/>
            <a:ext cx="76200" cy="76200"/>
          </a:xfrm>
          <a:prstGeom prst="ellipse">
            <a:avLst/>
          </a:prstGeom>
          <a:solidFill>
            <a:srgbClr val="004282"/>
          </a:solidFill>
          <a:ln w="9525">
            <a:solidFill>
              <a:srgbClr val="004282"/>
            </a:solidFill>
            <a:prstDash val="solid"/>
          </a:ln>
        </p:spPr>
      </p:sp>
      <p:sp>
        <p:nvSpPr>
          <p:cNvPr id="21" name="矩形 20"/>
          <p:cNvSpPr>
            <a:spLocks noGrp="1"/>
          </p:cNvSpPr>
          <p:nvPr/>
        </p:nvSpPr>
        <p:spPr>
          <a:xfrm>
            <a:off x="1428750" y="4034790"/>
            <a:ext cx="3695700" cy="430530"/>
          </a:xfrm>
          <a:prstGeom prst="rect">
            <a:avLst/>
          </a:prstGeom>
          <a:noFill/>
          <a:ln w="0">
            <a:noFill/>
            <a:prstDash val="solid"/>
          </a:ln>
        </p:spPr>
        <p:txBody>
          <a:bodyPr anchor="t"/>
          <a:lstStyle/>
          <a:p>
            <a:pPr algn="l">
              <a:defRPr sz="1575" b="0">
                <a:solidFill>
                  <a:srgbClr val="152538"/>
                </a:solidFill>
              </a:defRPr>
            </a:pPr>
            <a:r>
              <a:rPr sz="1575" b="0">
                <a:solidFill>
                  <a:srgbClr val="152538"/>
                </a:solidFill>
              </a:rPr>
              <a:t>CAD prior p₀(C)</a:t>
            </a:r>
            <a:endParaRPr sz="1575" b="0">
              <a:solidFill>
                <a:srgbClr val="152538"/>
              </a:solidFill>
            </a:endParaRPr>
          </a:p>
        </p:txBody>
      </p:sp>
      <p:sp>
        <p:nvSpPr>
          <p:cNvPr id="22" name="椭圆 21"/>
          <p:cNvSpPr>
            <a:spLocks noGrp="1"/>
          </p:cNvSpPr>
          <p:nvPr/>
        </p:nvSpPr>
        <p:spPr>
          <a:xfrm>
            <a:off x="1219200" y="4617720"/>
            <a:ext cx="76200" cy="76200"/>
          </a:xfrm>
          <a:prstGeom prst="ellipse">
            <a:avLst/>
          </a:prstGeom>
          <a:solidFill>
            <a:srgbClr val="004282"/>
          </a:solidFill>
          <a:ln w="9525">
            <a:solidFill>
              <a:srgbClr val="004282"/>
            </a:solidFill>
            <a:prstDash val="solid"/>
          </a:ln>
        </p:spPr>
      </p:sp>
      <p:sp>
        <p:nvSpPr>
          <p:cNvPr id="23" name="矩形 22"/>
          <p:cNvSpPr>
            <a:spLocks noGrp="1"/>
          </p:cNvSpPr>
          <p:nvPr/>
        </p:nvSpPr>
        <p:spPr>
          <a:xfrm>
            <a:off x="1428750" y="4522470"/>
            <a:ext cx="3695700" cy="430530"/>
          </a:xfrm>
          <a:prstGeom prst="rect">
            <a:avLst/>
          </a:prstGeom>
          <a:noFill/>
          <a:ln w="0">
            <a:noFill/>
            <a:prstDash val="solid"/>
          </a:ln>
        </p:spPr>
        <p:txBody>
          <a:bodyPr anchor="t"/>
          <a:lstStyle/>
          <a:p>
            <a:pPr algn="l">
              <a:defRPr sz="1575" b="0">
                <a:solidFill>
                  <a:srgbClr val="152538"/>
                </a:solidFill>
              </a:defRPr>
            </a:pPr>
            <a:r>
              <a:rPr sz="1575" b="0">
                <a:solidFill>
                  <a:srgbClr val="152538"/>
                </a:solidFill>
              </a:rPr>
              <a:t>Controller state</a:t>
            </a:r>
            <a:endParaRPr sz="1575" b="0">
              <a:solidFill>
                <a:srgbClr val="152538"/>
              </a:solidFill>
            </a:endParaRPr>
          </a:p>
        </p:txBody>
      </p:sp>
      <p:sp>
        <p:nvSpPr>
          <p:cNvPr id="24" name="椭圆 23"/>
          <p:cNvSpPr>
            <a:spLocks noGrp="1"/>
          </p:cNvSpPr>
          <p:nvPr/>
        </p:nvSpPr>
        <p:spPr>
          <a:xfrm>
            <a:off x="6877050" y="2667000"/>
            <a:ext cx="76200" cy="76200"/>
          </a:xfrm>
          <a:prstGeom prst="ellipse">
            <a:avLst/>
          </a:prstGeom>
          <a:solidFill>
            <a:srgbClr val="6B7580"/>
          </a:solidFill>
          <a:ln w="9525">
            <a:solidFill>
              <a:srgbClr val="6B7580"/>
            </a:solidFill>
            <a:prstDash val="solid"/>
          </a:ln>
        </p:spPr>
      </p:sp>
      <p:sp>
        <p:nvSpPr>
          <p:cNvPr id="25" name="矩形 24"/>
          <p:cNvSpPr>
            <a:spLocks noGrp="1"/>
          </p:cNvSpPr>
          <p:nvPr/>
        </p:nvSpPr>
        <p:spPr>
          <a:xfrm>
            <a:off x="7086600" y="2571750"/>
            <a:ext cx="3695700" cy="531019"/>
          </a:xfrm>
          <a:prstGeom prst="rect">
            <a:avLst/>
          </a:prstGeom>
          <a:noFill/>
          <a:ln w="0">
            <a:noFill/>
            <a:prstDash val="solid"/>
          </a:ln>
        </p:spPr>
        <p:txBody>
          <a:bodyPr anchor="t"/>
          <a:lstStyle/>
          <a:p>
            <a:pPr algn="l">
              <a:defRPr sz="1575" b="0">
                <a:solidFill>
                  <a:srgbClr val="152538"/>
                </a:solidFill>
              </a:defRPr>
            </a:pPr>
            <a:r>
              <a:rPr sz="1575" b="0">
                <a:solidFill>
                  <a:srgbClr val="152538"/>
                </a:solidFill>
              </a:rPr>
              <a:t>True center C</a:t>
            </a:r>
            <a:endParaRPr sz="1575" b="0">
              <a:solidFill>
                <a:srgbClr val="152538"/>
              </a:solidFill>
            </a:endParaRPr>
          </a:p>
        </p:txBody>
      </p:sp>
      <p:sp>
        <p:nvSpPr>
          <p:cNvPr id="26" name="椭圆 25"/>
          <p:cNvSpPr>
            <a:spLocks noGrp="1"/>
          </p:cNvSpPr>
          <p:nvPr/>
        </p:nvSpPr>
        <p:spPr>
          <a:xfrm>
            <a:off x="6877050" y="3283744"/>
            <a:ext cx="76200" cy="76200"/>
          </a:xfrm>
          <a:prstGeom prst="ellipse">
            <a:avLst/>
          </a:prstGeom>
          <a:solidFill>
            <a:srgbClr val="6B7580"/>
          </a:solidFill>
          <a:ln w="9525">
            <a:solidFill>
              <a:srgbClr val="6B7580"/>
            </a:solidFill>
            <a:prstDash val="solid"/>
          </a:ln>
        </p:spPr>
      </p:sp>
      <p:sp>
        <p:nvSpPr>
          <p:cNvPr id="27" name="矩形 26"/>
          <p:cNvSpPr>
            <a:spLocks noGrp="1"/>
          </p:cNvSpPr>
          <p:nvPr/>
        </p:nvSpPr>
        <p:spPr>
          <a:xfrm>
            <a:off x="7086600" y="3188494"/>
            <a:ext cx="3695700" cy="531019"/>
          </a:xfrm>
          <a:prstGeom prst="rect">
            <a:avLst/>
          </a:prstGeom>
          <a:noFill/>
          <a:ln w="0">
            <a:noFill/>
            <a:prstDash val="solid"/>
          </a:ln>
        </p:spPr>
        <p:txBody>
          <a:bodyPr anchor="t"/>
          <a:lstStyle/>
          <a:p>
            <a:pPr algn="l">
              <a:defRPr sz="1575" b="0">
                <a:solidFill>
                  <a:srgbClr val="152538"/>
                </a:solidFill>
              </a:defRPr>
            </a:pPr>
            <a:r>
              <a:rPr sz="1575" b="0">
                <a:solidFill>
                  <a:srgbClr val="152538"/>
                </a:solidFill>
              </a:rPr>
              <a:t>Simulation contact labels</a:t>
            </a:r>
            <a:endParaRPr sz="1575" b="0">
              <a:solidFill>
                <a:srgbClr val="152538"/>
              </a:solidFill>
            </a:endParaRPr>
          </a:p>
        </p:txBody>
      </p:sp>
      <p:sp>
        <p:nvSpPr>
          <p:cNvPr id="28" name="椭圆 27"/>
          <p:cNvSpPr>
            <a:spLocks noGrp="1"/>
          </p:cNvSpPr>
          <p:nvPr/>
        </p:nvSpPr>
        <p:spPr>
          <a:xfrm>
            <a:off x="6877050" y="3900488"/>
            <a:ext cx="76200" cy="76200"/>
          </a:xfrm>
          <a:prstGeom prst="ellipse">
            <a:avLst/>
          </a:prstGeom>
          <a:solidFill>
            <a:srgbClr val="6B7580"/>
          </a:solidFill>
          <a:ln w="9525">
            <a:solidFill>
              <a:srgbClr val="6B7580"/>
            </a:solidFill>
            <a:prstDash val="solid"/>
          </a:ln>
        </p:spPr>
      </p:sp>
      <p:sp>
        <p:nvSpPr>
          <p:cNvPr id="29" name="矩形 28"/>
          <p:cNvSpPr>
            <a:spLocks noGrp="1"/>
          </p:cNvSpPr>
          <p:nvPr/>
        </p:nvSpPr>
        <p:spPr>
          <a:xfrm>
            <a:off x="7086600" y="3805238"/>
            <a:ext cx="3695700" cy="531019"/>
          </a:xfrm>
          <a:prstGeom prst="rect">
            <a:avLst/>
          </a:prstGeom>
          <a:noFill/>
          <a:ln w="0">
            <a:noFill/>
            <a:prstDash val="solid"/>
          </a:ln>
        </p:spPr>
        <p:txBody>
          <a:bodyPr anchor="t"/>
          <a:lstStyle/>
          <a:p>
            <a:pPr algn="l">
              <a:defRPr sz="1575" b="0">
                <a:solidFill>
                  <a:srgbClr val="152538"/>
                </a:solidFill>
              </a:defRPr>
            </a:pPr>
            <a:r>
              <a:rPr sz="1575" b="0">
                <a:solidFill>
                  <a:srgbClr val="152538"/>
                </a:solidFill>
              </a:rPr>
              <a:t>Direction error θ̂−θ*</a:t>
            </a:r>
            <a:endParaRPr sz="1575" b="0">
              <a:solidFill>
                <a:srgbClr val="152538"/>
              </a:solidFill>
            </a:endParaRPr>
          </a:p>
        </p:txBody>
      </p:sp>
      <p:sp>
        <p:nvSpPr>
          <p:cNvPr id="30" name="椭圆 29"/>
          <p:cNvSpPr>
            <a:spLocks noGrp="1"/>
          </p:cNvSpPr>
          <p:nvPr/>
        </p:nvSpPr>
        <p:spPr>
          <a:xfrm>
            <a:off x="6877050" y="4517231"/>
            <a:ext cx="76200" cy="76200"/>
          </a:xfrm>
          <a:prstGeom prst="ellipse">
            <a:avLst/>
          </a:prstGeom>
          <a:solidFill>
            <a:srgbClr val="6B7580"/>
          </a:solidFill>
          <a:ln w="9525">
            <a:solidFill>
              <a:srgbClr val="6B7580"/>
            </a:solidFill>
            <a:prstDash val="solid"/>
          </a:ln>
        </p:spPr>
      </p:sp>
      <p:sp>
        <p:nvSpPr>
          <p:cNvPr id="31" name="矩形 30"/>
          <p:cNvSpPr>
            <a:spLocks noGrp="1"/>
          </p:cNvSpPr>
          <p:nvPr/>
        </p:nvSpPr>
        <p:spPr>
          <a:xfrm>
            <a:off x="7086600" y="4421981"/>
            <a:ext cx="3695700" cy="531019"/>
          </a:xfrm>
          <a:prstGeom prst="rect">
            <a:avLst/>
          </a:prstGeom>
          <a:noFill/>
          <a:ln w="0">
            <a:noFill/>
            <a:prstDash val="solid"/>
          </a:ln>
        </p:spPr>
        <p:txBody>
          <a:bodyPr anchor="t"/>
          <a:lstStyle/>
          <a:p>
            <a:pPr algn="l">
              <a:defRPr sz="1575" b="0">
                <a:solidFill>
                  <a:srgbClr val="152538"/>
                </a:solidFill>
              </a:defRPr>
            </a:pPr>
            <a:r>
              <a:rPr sz="1575" b="0">
                <a:solidFill>
                  <a:srgbClr val="152538"/>
                </a:solidFill>
              </a:rPr>
              <a:t>Privileged center baseline</a:t>
            </a:r>
            <a:endParaRPr sz="1575" b="0">
              <a:solidFill>
                <a:srgbClr val="152538"/>
              </a:solidFill>
            </a:endParaRPr>
          </a:p>
        </p:txBody>
      </p:sp>
      <p:sp>
        <p:nvSpPr>
          <p:cNvPr id="32" name="矩形 31"/>
          <p:cNvSpPr>
            <a:spLocks noGrp="1"/>
          </p:cNvSpPr>
          <p:nvPr/>
        </p:nvSpPr>
        <p:spPr>
          <a:xfrm>
            <a:off x="647700" y="5943600"/>
            <a:ext cx="10839450" cy="400050"/>
          </a:xfrm>
          <a:prstGeom prst="rect">
            <a:avLst/>
          </a:prstGeom>
          <a:solidFill>
            <a:srgbClr val="FFF0E2"/>
          </a:solidFill>
          <a:ln w="0">
            <a:noFill/>
            <a:prstDash val="solid"/>
          </a:ln>
        </p:spPr>
      </p:sp>
      <p:sp>
        <p:nvSpPr>
          <p:cNvPr id="33" name="矩形 32"/>
          <p:cNvSpPr>
            <a:spLocks noGrp="1"/>
          </p:cNvSpPr>
          <p:nvPr/>
        </p:nvSpPr>
        <p:spPr>
          <a:xfrm>
            <a:off x="647700" y="5943600"/>
            <a:ext cx="57150" cy="400050"/>
          </a:xfrm>
          <a:prstGeom prst="rect">
            <a:avLst/>
          </a:prstGeom>
          <a:solidFill>
            <a:srgbClr val="ED7F0D"/>
          </a:solidFill>
          <a:ln w="0">
            <a:noFill/>
            <a:prstDash val="solid"/>
          </a:ln>
        </p:spPr>
      </p:sp>
      <p:sp>
        <p:nvSpPr>
          <p:cNvPr id="34" name="矩形 33"/>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Privileged geometry is used only for offline grading and analysis.</a:t>
            </a:r>
            <a:endParaRPr sz="1275" b="1">
              <a:solidFill>
                <a:srgbClr val="15253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11</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TASK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Success requires capture, safe depth progress, and a terminal dwell</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II-A · Eqs. (4)–(5)</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11</a:t>
            </a:r>
            <a:endParaRPr sz="825" b="1">
              <a:solidFill>
                <a:srgbClr val="004282"/>
              </a:solidFill>
            </a:endParaRPr>
          </a:p>
        </p:txBody>
      </p:sp>
      <p:sp>
        <p:nvSpPr>
          <p:cNvPr id="10" name="矩形 9"/>
          <p:cNvSpPr>
            <a:spLocks noGrp="1"/>
          </p:cNvSpPr>
          <p:nvPr/>
        </p:nvSpPr>
        <p:spPr>
          <a:xfrm>
            <a:off x="1104900" y="3248025"/>
            <a:ext cx="9525000" cy="47625"/>
          </a:xfrm>
          <a:prstGeom prst="rect">
            <a:avLst/>
          </a:prstGeom>
          <a:solidFill>
            <a:srgbClr val="D9E0E6"/>
          </a:solidFill>
          <a:ln w="0">
            <a:noFill/>
            <a:prstDash val="solid"/>
          </a:ln>
        </p:spPr>
      </p:sp>
      <p:sp>
        <p:nvSpPr>
          <p:cNvPr id="11" name="椭圆 10"/>
          <p:cNvSpPr>
            <a:spLocks noGrp="1"/>
          </p:cNvSpPr>
          <p:nvPr/>
        </p:nvSpPr>
        <p:spPr>
          <a:xfrm>
            <a:off x="1238250" y="3048000"/>
            <a:ext cx="419100" cy="419100"/>
          </a:xfrm>
          <a:prstGeom prst="ellipse">
            <a:avLst/>
          </a:prstGeom>
          <a:solidFill>
            <a:srgbClr val="004282"/>
          </a:solidFill>
          <a:ln w="9525">
            <a:solidFill>
              <a:srgbClr val="004282"/>
            </a:solidFill>
            <a:prstDash val="solid"/>
          </a:ln>
        </p:spPr>
      </p:sp>
      <p:sp>
        <p:nvSpPr>
          <p:cNvPr id="12" name="矩形 11"/>
          <p:cNvSpPr>
            <a:spLocks noGrp="1"/>
          </p:cNvSpPr>
          <p:nvPr/>
        </p:nvSpPr>
        <p:spPr>
          <a:xfrm>
            <a:off x="1238250" y="3105150"/>
            <a:ext cx="419100" cy="228600"/>
          </a:xfrm>
          <a:prstGeom prst="rect">
            <a:avLst/>
          </a:prstGeom>
          <a:noFill/>
          <a:ln w="0">
            <a:noFill/>
            <a:prstDash val="solid"/>
          </a:ln>
        </p:spPr>
        <p:txBody>
          <a:bodyPr anchor="ctr"/>
          <a:lstStyle/>
          <a:p>
            <a:pPr algn="ctr">
              <a:defRPr sz="1125" b="1">
                <a:solidFill>
                  <a:srgbClr val="FFFFFF"/>
                </a:solidFill>
              </a:defRPr>
            </a:pPr>
            <a:r>
              <a:rPr sz="1125" b="1">
                <a:solidFill>
                  <a:srgbClr val="FFFFFF"/>
                </a:solidFill>
              </a:rPr>
              <a:t>1</a:t>
            </a:r>
            <a:endParaRPr sz="1125" b="1">
              <a:solidFill>
                <a:srgbClr val="FFFFFF"/>
              </a:solidFill>
            </a:endParaRPr>
          </a:p>
        </p:txBody>
      </p:sp>
      <p:sp>
        <p:nvSpPr>
          <p:cNvPr id="13" name="矩形 12"/>
          <p:cNvSpPr>
            <a:spLocks noGrp="1"/>
          </p:cNvSpPr>
          <p:nvPr/>
        </p:nvSpPr>
        <p:spPr>
          <a:xfrm>
            <a:off x="495300" y="3638550"/>
            <a:ext cx="1905000" cy="571500"/>
          </a:xfrm>
          <a:prstGeom prst="rect">
            <a:avLst/>
          </a:prstGeom>
          <a:noFill/>
          <a:ln w="0">
            <a:noFill/>
            <a:prstDash val="solid"/>
          </a:ln>
        </p:spPr>
        <p:txBody>
          <a:bodyPr anchor="ctr"/>
          <a:lstStyle/>
          <a:p>
            <a:pPr algn="ctr">
              <a:defRPr sz="1500" b="1">
                <a:solidFill>
                  <a:srgbClr val="004282"/>
                </a:solidFill>
              </a:defRPr>
            </a:pPr>
            <a:r>
              <a:rPr sz="1500" b="1">
                <a:solidFill>
                  <a:srgbClr val="004282"/>
                </a:solidFill>
              </a:rPr>
              <a:t>Stable touchdown t₀</a:t>
            </a:r>
            <a:endParaRPr sz="1500" b="1">
              <a:solidFill>
                <a:srgbClr val="004282"/>
              </a:solidFill>
            </a:endParaRPr>
          </a:p>
        </p:txBody>
      </p:sp>
      <p:sp>
        <p:nvSpPr>
          <p:cNvPr id="14" name="椭圆 13"/>
          <p:cNvSpPr>
            <a:spLocks noGrp="1"/>
          </p:cNvSpPr>
          <p:nvPr/>
        </p:nvSpPr>
        <p:spPr>
          <a:xfrm>
            <a:off x="4191000" y="3048000"/>
            <a:ext cx="419100" cy="419100"/>
          </a:xfrm>
          <a:prstGeom prst="ellipse">
            <a:avLst/>
          </a:prstGeom>
          <a:solidFill>
            <a:srgbClr val="004282"/>
          </a:solidFill>
          <a:ln w="9525">
            <a:solidFill>
              <a:srgbClr val="004282"/>
            </a:solidFill>
            <a:prstDash val="solid"/>
          </a:ln>
        </p:spPr>
      </p:sp>
      <p:sp>
        <p:nvSpPr>
          <p:cNvPr id="15" name="矩形 14"/>
          <p:cNvSpPr>
            <a:spLocks noGrp="1"/>
          </p:cNvSpPr>
          <p:nvPr/>
        </p:nvSpPr>
        <p:spPr>
          <a:xfrm>
            <a:off x="4191000" y="3105150"/>
            <a:ext cx="419100" cy="228600"/>
          </a:xfrm>
          <a:prstGeom prst="rect">
            <a:avLst/>
          </a:prstGeom>
          <a:noFill/>
          <a:ln w="0">
            <a:noFill/>
            <a:prstDash val="solid"/>
          </a:ln>
        </p:spPr>
        <p:txBody>
          <a:bodyPr anchor="ctr"/>
          <a:lstStyle/>
          <a:p>
            <a:pPr algn="ctr">
              <a:defRPr sz="1125" b="1">
                <a:solidFill>
                  <a:srgbClr val="FFFFFF"/>
                </a:solidFill>
              </a:defRPr>
            </a:pPr>
            <a:r>
              <a:rPr sz="1125" b="1">
                <a:solidFill>
                  <a:srgbClr val="FFFFFF"/>
                </a:solidFill>
              </a:rPr>
              <a:t>2</a:t>
            </a:r>
            <a:endParaRPr sz="1125" b="1">
              <a:solidFill>
                <a:srgbClr val="FFFFFF"/>
              </a:solidFill>
            </a:endParaRPr>
          </a:p>
        </p:txBody>
      </p:sp>
      <p:sp>
        <p:nvSpPr>
          <p:cNvPr id="16" name="矩形 15"/>
          <p:cNvSpPr>
            <a:spLocks noGrp="1"/>
          </p:cNvSpPr>
          <p:nvPr/>
        </p:nvSpPr>
        <p:spPr>
          <a:xfrm>
            <a:off x="3448050" y="3638550"/>
            <a:ext cx="1905000" cy="571500"/>
          </a:xfrm>
          <a:prstGeom prst="rect">
            <a:avLst/>
          </a:prstGeom>
          <a:noFill/>
          <a:ln w="0">
            <a:noFill/>
            <a:prstDash val="solid"/>
          </a:ln>
        </p:spPr>
        <p:txBody>
          <a:bodyPr anchor="ctr"/>
          <a:lstStyle/>
          <a:p>
            <a:pPr algn="ctr">
              <a:defRPr sz="1500" b="1">
                <a:solidFill>
                  <a:srgbClr val="004282"/>
                </a:solidFill>
              </a:defRPr>
            </a:pPr>
            <a:r>
              <a:rPr sz="1500" b="1">
                <a:solidFill>
                  <a:srgbClr val="004282"/>
                </a:solidFill>
              </a:rPr>
              <a:t>Sensor-side capture γcap</a:t>
            </a:r>
            <a:endParaRPr sz="1500" b="1">
              <a:solidFill>
                <a:srgbClr val="004282"/>
              </a:solidFill>
            </a:endParaRPr>
          </a:p>
        </p:txBody>
      </p:sp>
      <p:sp>
        <p:nvSpPr>
          <p:cNvPr id="17" name="椭圆 16"/>
          <p:cNvSpPr>
            <a:spLocks noGrp="1"/>
          </p:cNvSpPr>
          <p:nvPr/>
        </p:nvSpPr>
        <p:spPr>
          <a:xfrm>
            <a:off x="7143750" y="3048000"/>
            <a:ext cx="419100" cy="419100"/>
          </a:xfrm>
          <a:prstGeom prst="ellipse">
            <a:avLst/>
          </a:prstGeom>
          <a:solidFill>
            <a:srgbClr val="004282"/>
          </a:solidFill>
          <a:ln w="9525">
            <a:solidFill>
              <a:srgbClr val="004282"/>
            </a:solidFill>
            <a:prstDash val="solid"/>
          </a:ln>
        </p:spPr>
      </p:sp>
      <p:sp>
        <p:nvSpPr>
          <p:cNvPr id="18" name="矩形 17"/>
          <p:cNvSpPr>
            <a:spLocks noGrp="1"/>
          </p:cNvSpPr>
          <p:nvPr/>
        </p:nvSpPr>
        <p:spPr>
          <a:xfrm>
            <a:off x="7143750" y="3105150"/>
            <a:ext cx="419100" cy="228600"/>
          </a:xfrm>
          <a:prstGeom prst="rect">
            <a:avLst/>
          </a:prstGeom>
          <a:noFill/>
          <a:ln w="0">
            <a:noFill/>
            <a:prstDash val="solid"/>
          </a:ln>
        </p:spPr>
        <p:txBody>
          <a:bodyPr anchor="ctr"/>
          <a:lstStyle/>
          <a:p>
            <a:pPr algn="ctr">
              <a:defRPr sz="1125" b="1">
                <a:solidFill>
                  <a:srgbClr val="FFFFFF"/>
                </a:solidFill>
              </a:defRPr>
            </a:pPr>
            <a:r>
              <a:rPr sz="1125" b="1">
                <a:solidFill>
                  <a:srgbClr val="FFFFFF"/>
                </a:solidFill>
              </a:rPr>
              <a:t>3</a:t>
            </a:r>
            <a:endParaRPr sz="1125" b="1">
              <a:solidFill>
                <a:srgbClr val="FFFFFF"/>
              </a:solidFill>
            </a:endParaRPr>
          </a:p>
        </p:txBody>
      </p:sp>
      <p:sp>
        <p:nvSpPr>
          <p:cNvPr id="19" name="矩形 18"/>
          <p:cNvSpPr>
            <a:spLocks noGrp="1"/>
          </p:cNvSpPr>
          <p:nvPr/>
        </p:nvSpPr>
        <p:spPr>
          <a:xfrm>
            <a:off x="6400800" y="3638550"/>
            <a:ext cx="1905000" cy="571500"/>
          </a:xfrm>
          <a:prstGeom prst="rect">
            <a:avLst/>
          </a:prstGeom>
          <a:noFill/>
          <a:ln w="0">
            <a:noFill/>
            <a:prstDash val="solid"/>
          </a:ln>
        </p:spPr>
        <p:txBody>
          <a:bodyPr anchor="ctr"/>
          <a:lstStyle/>
          <a:p>
            <a:pPr algn="ctr">
              <a:defRPr sz="1500" b="1">
                <a:solidFill>
                  <a:srgbClr val="004282"/>
                </a:solidFill>
              </a:defRPr>
            </a:pPr>
            <a:r>
              <a:rPr sz="1500" b="1">
                <a:solidFill>
                  <a:srgbClr val="004282"/>
                </a:solidFill>
              </a:rPr>
              <a:t>Bottom-mode dwell γdwell</a:t>
            </a:r>
            <a:endParaRPr sz="1500" b="1">
              <a:solidFill>
                <a:srgbClr val="004282"/>
              </a:solidFill>
            </a:endParaRPr>
          </a:p>
        </p:txBody>
      </p:sp>
      <p:sp>
        <p:nvSpPr>
          <p:cNvPr id="20" name="椭圆 19"/>
          <p:cNvSpPr>
            <a:spLocks noGrp="1"/>
          </p:cNvSpPr>
          <p:nvPr/>
        </p:nvSpPr>
        <p:spPr>
          <a:xfrm>
            <a:off x="10096500" y="3048000"/>
            <a:ext cx="419100" cy="419100"/>
          </a:xfrm>
          <a:prstGeom prst="ellipse">
            <a:avLst/>
          </a:prstGeom>
          <a:solidFill>
            <a:srgbClr val="ED7F0D"/>
          </a:solidFill>
          <a:ln w="9525">
            <a:solidFill>
              <a:srgbClr val="ED7F0D"/>
            </a:solidFill>
            <a:prstDash val="solid"/>
          </a:ln>
        </p:spPr>
      </p:sp>
      <p:sp>
        <p:nvSpPr>
          <p:cNvPr id="21" name="矩形 20"/>
          <p:cNvSpPr>
            <a:spLocks noGrp="1"/>
          </p:cNvSpPr>
          <p:nvPr/>
        </p:nvSpPr>
        <p:spPr>
          <a:xfrm>
            <a:off x="10096500" y="3105150"/>
            <a:ext cx="419100" cy="228600"/>
          </a:xfrm>
          <a:prstGeom prst="rect">
            <a:avLst/>
          </a:prstGeom>
          <a:noFill/>
          <a:ln w="0">
            <a:noFill/>
            <a:prstDash val="solid"/>
          </a:ln>
        </p:spPr>
        <p:txBody>
          <a:bodyPr anchor="ctr"/>
          <a:lstStyle/>
          <a:p>
            <a:pPr algn="ctr">
              <a:defRPr sz="1125" b="1">
                <a:solidFill>
                  <a:srgbClr val="FFFFFF"/>
                </a:solidFill>
              </a:defRPr>
            </a:pPr>
            <a:r>
              <a:rPr sz="1125" b="1">
                <a:solidFill>
                  <a:srgbClr val="FFFFFF"/>
                </a:solidFill>
              </a:rPr>
              <a:t>4</a:t>
            </a:r>
            <a:endParaRPr sz="1125" b="1">
              <a:solidFill>
                <a:srgbClr val="FFFFFF"/>
              </a:solidFill>
            </a:endParaRPr>
          </a:p>
        </p:txBody>
      </p:sp>
      <p:sp>
        <p:nvSpPr>
          <p:cNvPr id="22" name="矩形 21"/>
          <p:cNvSpPr>
            <a:spLocks noGrp="1"/>
          </p:cNvSpPr>
          <p:nvPr/>
        </p:nvSpPr>
        <p:spPr>
          <a:xfrm>
            <a:off x="9353550" y="3638550"/>
            <a:ext cx="1905000" cy="571500"/>
          </a:xfrm>
          <a:prstGeom prst="rect">
            <a:avLst/>
          </a:prstGeom>
          <a:noFill/>
          <a:ln w="0">
            <a:noFill/>
            <a:prstDash val="solid"/>
          </a:ln>
        </p:spPr>
        <p:txBody>
          <a:bodyPr anchor="ctr"/>
          <a:lstStyle/>
          <a:p>
            <a:pPr algn="ctr">
              <a:defRPr sz="1500" b="1">
                <a:solidFill>
                  <a:srgbClr val="ED7F0D"/>
                </a:solidFill>
              </a:defRPr>
            </a:pPr>
            <a:r>
              <a:rPr sz="1500" b="1">
                <a:solidFill>
                  <a:srgbClr val="ED7F0D"/>
                </a:solidFill>
              </a:rPr>
              <a:t>Verified event V</a:t>
            </a:r>
            <a:endParaRPr sz="1500" b="1">
              <a:solidFill>
                <a:srgbClr val="ED7F0D"/>
              </a:solidFill>
            </a:endParaRPr>
          </a:p>
        </p:txBody>
      </p:sp>
      <p:sp>
        <p:nvSpPr>
          <p:cNvPr id="23" name="圆角矩形 22"/>
          <p:cNvSpPr>
            <a:spLocks noGrp="1"/>
          </p:cNvSpPr>
          <p:nvPr/>
        </p:nvSpPr>
        <p:spPr>
          <a:xfrm>
            <a:off x="3143250" y="1809750"/>
            <a:ext cx="5905500" cy="723900"/>
          </a:xfrm>
          <a:prstGeom prst="roundRect">
            <a:avLst>
              <a:gd name="adj" fmla="val 10526"/>
            </a:avLst>
          </a:prstGeom>
          <a:solidFill>
            <a:srgbClr val="FFFFFF"/>
          </a:solidFill>
          <a:ln w="9525">
            <a:solidFill>
              <a:srgbClr val="D9E0E6"/>
            </a:solidFill>
            <a:prstDash val="solid"/>
          </a:ln>
        </p:spPr>
      </p:sp>
      <p:sp>
        <p:nvSpPr>
          <p:cNvPr id="24" name="矩形 23"/>
          <p:cNvSpPr>
            <a:spLocks noGrp="1"/>
          </p:cNvSpPr>
          <p:nvPr/>
        </p:nvSpPr>
        <p:spPr>
          <a:xfrm>
            <a:off x="3333750" y="1943100"/>
            <a:ext cx="5524500" cy="400050"/>
          </a:xfrm>
          <a:prstGeom prst="rect">
            <a:avLst/>
          </a:prstGeom>
          <a:noFill/>
          <a:ln w="0">
            <a:noFill/>
            <a:prstDash val="solid"/>
          </a:ln>
        </p:spPr>
        <p:txBody>
          <a:bodyPr anchor="ctr"/>
          <a:lstStyle/>
          <a:p>
            <a:pPr algn="ctr">
              <a:defRPr sz="2100" b="1">
                <a:solidFill>
                  <a:srgbClr val="152538"/>
                </a:solidFill>
              </a:defRPr>
            </a:pPr>
            <a:r>
              <a:rPr sz="2100" b="1">
                <a:solidFill>
                  <a:srgbClr val="152538"/>
                </a:solidFill>
              </a:rPr>
              <a:t>γcap(tc) · γdwell(tb) · γsafe[0,tb] = 1</a:t>
            </a:r>
            <a:endParaRPr sz="2100" b="1">
              <a:solidFill>
                <a:srgbClr val="152538"/>
              </a:solidFill>
            </a:endParaRPr>
          </a:p>
        </p:txBody>
      </p:sp>
      <p:sp>
        <p:nvSpPr>
          <p:cNvPr id="25" name="矩形 24"/>
          <p:cNvSpPr>
            <a:spLocks noGrp="1"/>
          </p:cNvSpPr>
          <p:nvPr/>
        </p:nvSpPr>
        <p:spPr>
          <a:xfrm>
            <a:off x="4895850" y="4714875"/>
            <a:ext cx="2381250" cy="428625"/>
          </a:xfrm>
          <a:prstGeom prst="rect">
            <a:avLst/>
          </a:prstGeom>
          <a:noFill/>
          <a:ln w="0">
            <a:noFill/>
            <a:prstDash val="solid"/>
          </a:ln>
        </p:spPr>
        <p:txBody>
          <a:bodyPr anchor="ctr"/>
          <a:lstStyle/>
          <a:p>
            <a:pPr algn="ctr">
              <a:defRPr sz="2025" b="1">
                <a:solidFill>
                  <a:srgbClr val="C74A4A"/>
                </a:solidFill>
              </a:defRPr>
            </a:pPr>
            <a:r>
              <a:rPr sz="2025" b="1">
                <a:solidFill>
                  <a:srgbClr val="C74A4A"/>
                </a:solidFill>
              </a:rPr>
              <a:t>Tₘₐₓ = 130 s</a:t>
            </a:r>
            <a:endParaRPr sz="2025" b="1">
              <a:solidFill>
                <a:srgbClr val="C74A4A"/>
              </a:solidFill>
            </a:endParaRPr>
          </a:p>
        </p:txBody>
      </p:sp>
      <p:sp>
        <p:nvSpPr>
          <p:cNvPr id="26" name="矩形 25"/>
          <p:cNvSpPr>
            <a:spLocks noGrp="1"/>
          </p:cNvSpPr>
          <p:nvPr/>
        </p:nvSpPr>
        <p:spPr>
          <a:xfrm>
            <a:off x="647700" y="5943600"/>
            <a:ext cx="10839450" cy="400050"/>
          </a:xfrm>
          <a:prstGeom prst="rect">
            <a:avLst/>
          </a:prstGeom>
          <a:solidFill>
            <a:srgbClr val="FFF0E2"/>
          </a:solidFill>
          <a:ln w="0">
            <a:noFill/>
            <a:prstDash val="solid"/>
          </a:ln>
        </p:spPr>
      </p:sp>
      <p:sp>
        <p:nvSpPr>
          <p:cNvPr id="27" name="矩形 26"/>
          <p:cNvSpPr>
            <a:spLocks noGrp="1"/>
          </p:cNvSpPr>
          <p:nvPr/>
        </p:nvSpPr>
        <p:spPr>
          <a:xfrm>
            <a:off x="647700" y="5943600"/>
            <a:ext cx="57150" cy="400050"/>
          </a:xfrm>
          <a:prstGeom prst="rect">
            <a:avLst/>
          </a:prstGeom>
          <a:solidFill>
            <a:srgbClr val="ED7F0D"/>
          </a:solidFill>
          <a:ln w="0">
            <a:noFill/>
            <a:prstDash val="solid"/>
          </a:ln>
        </p:spPr>
      </p:sp>
      <p:sp>
        <p:nvSpPr>
          <p:cNvPr id="28" name="矩形 27"/>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V must occur before Tₘₐₓ = 130 s and without a force-limit stop.</a:t>
            </a:r>
            <a:endParaRPr sz="1275" b="1">
              <a:solidFill>
                <a:srgbClr val="15253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12</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TASK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The same angular error can be safe nearby and fatal farther away</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II-B · Eqs. (6)–(7)</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12</a:t>
            </a:r>
            <a:endParaRPr sz="825" b="1">
              <a:solidFill>
                <a:srgbClr val="004282"/>
              </a:solidFill>
            </a:endParaRPr>
          </a:p>
        </p:txBody>
      </p:sp>
      <p:sp>
        <p:nvSpPr>
          <p:cNvPr id="10" name="椭圆 9"/>
          <p:cNvSpPr>
            <a:spLocks noGrp="1"/>
          </p:cNvSpPr>
          <p:nvPr/>
        </p:nvSpPr>
        <p:spPr>
          <a:xfrm>
            <a:off x="857250" y="1962150"/>
            <a:ext cx="3048000" cy="3048000"/>
          </a:xfrm>
          <a:prstGeom prst="ellipse">
            <a:avLst/>
          </a:prstGeom>
          <a:solidFill>
            <a:srgbClr val="FFFFFF"/>
          </a:solidFill>
          <a:ln w="19050">
            <a:solidFill>
              <a:srgbClr val="004282"/>
            </a:solidFill>
            <a:prstDash val="solid"/>
          </a:ln>
        </p:spPr>
      </p:sp>
      <p:sp>
        <p:nvSpPr>
          <p:cNvPr id="11" name="椭圆 10"/>
          <p:cNvSpPr>
            <a:spLocks noGrp="1"/>
          </p:cNvSpPr>
          <p:nvPr/>
        </p:nvSpPr>
        <p:spPr>
          <a:xfrm>
            <a:off x="2257425" y="3362325"/>
            <a:ext cx="171450" cy="171450"/>
          </a:xfrm>
          <a:prstGeom prst="ellipse">
            <a:avLst/>
          </a:prstGeom>
          <a:solidFill>
            <a:srgbClr val="ED7F0D"/>
          </a:solidFill>
          <a:ln w="9525">
            <a:solidFill>
              <a:srgbClr val="ED7F0D"/>
            </a:solidFill>
            <a:prstDash val="solid"/>
          </a:ln>
        </p:spPr>
      </p:sp>
      <p:sp>
        <p:nvSpPr>
          <p:cNvPr id="12" name="右箭头 11"/>
          <p:cNvSpPr>
            <a:spLocks noGrp="1"/>
          </p:cNvSpPr>
          <p:nvPr/>
        </p:nvSpPr>
        <p:spPr>
          <a:xfrm>
            <a:off x="2362200" y="3276600"/>
            <a:ext cx="1190625" cy="190500"/>
          </a:xfrm>
          <a:prstGeom prst="rightArrow">
            <a:avLst/>
          </a:prstGeom>
          <a:solidFill>
            <a:srgbClr val="009E73"/>
          </a:solidFill>
          <a:ln w="0">
            <a:noFill/>
            <a:prstDash val="solid"/>
          </a:ln>
        </p:spPr>
      </p:sp>
      <p:sp>
        <p:nvSpPr>
          <p:cNvPr id="13" name="右箭头 12"/>
          <p:cNvSpPr>
            <a:spLocks noGrp="1"/>
          </p:cNvSpPr>
          <p:nvPr/>
        </p:nvSpPr>
        <p:spPr>
          <a:xfrm>
            <a:off x="2362200" y="3276600"/>
            <a:ext cx="2095500" cy="190500"/>
          </a:xfrm>
          <a:prstGeom prst="rightArrow">
            <a:avLst/>
          </a:prstGeom>
          <a:solidFill>
            <a:srgbClr val="C74A4A"/>
          </a:solidFill>
          <a:ln w="0">
            <a:noFill/>
            <a:prstDash val="solid"/>
          </a:ln>
        </p:spPr>
      </p:sp>
      <p:sp>
        <p:nvSpPr>
          <p:cNvPr id="14" name="矩形 13"/>
          <p:cNvSpPr>
            <a:spLocks noGrp="1"/>
          </p:cNvSpPr>
          <p:nvPr/>
        </p:nvSpPr>
        <p:spPr>
          <a:xfrm>
            <a:off x="895350" y="1781175"/>
            <a:ext cx="2857500" cy="266700"/>
          </a:xfrm>
          <a:prstGeom prst="rect">
            <a:avLst/>
          </a:prstGeom>
          <a:noFill/>
          <a:ln w="0">
            <a:noFill/>
            <a:prstDash val="solid"/>
          </a:ln>
        </p:spPr>
        <p:txBody>
          <a:bodyPr anchor="ctr"/>
          <a:lstStyle/>
          <a:p>
            <a:pPr algn="ctr">
              <a:defRPr sz="1200" b="1">
                <a:solidFill>
                  <a:srgbClr val="009E73"/>
                </a:solidFill>
              </a:defRPr>
            </a:pPr>
            <a:r>
              <a:rPr sz="1200" b="1">
                <a:solidFill>
                  <a:srgbClr val="009E73"/>
                </a:solidFill>
              </a:rPr>
              <a:t>near: same ε remains inside capture</a:t>
            </a:r>
            <a:endParaRPr sz="1200" b="1">
              <a:solidFill>
                <a:srgbClr val="009E73"/>
              </a:solidFill>
            </a:endParaRPr>
          </a:p>
        </p:txBody>
      </p:sp>
      <p:sp>
        <p:nvSpPr>
          <p:cNvPr id="15" name="矩形 14"/>
          <p:cNvSpPr>
            <a:spLocks noGrp="1"/>
          </p:cNvSpPr>
          <p:nvPr/>
        </p:nvSpPr>
        <p:spPr>
          <a:xfrm>
            <a:off x="942975" y="5010150"/>
            <a:ext cx="2857500" cy="266700"/>
          </a:xfrm>
          <a:prstGeom prst="rect">
            <a:avLst/>
          </a:prstGeom>
          <a:noFill/>
          <a:ln w="0">
            <a:noFill/>
            <a:prstDash val="solid"/>
          </a:ln>
        </p:spPr>
        <p:txBody>
          <a:bodyPr anchor="ctr"/>
          <a:lstStyle/>
          <a:p>
            <a:pPr algn="ctr">
              <a:defRPr sz="1200" b="1">
                <a:solidFill>
                  <a:srgbClr val="C74A4A"/>
                </a:solidFill>
              </a:defRPr>
            </a:pPr>
            <a:r>
              <a:rPr sz="1200" b="1">
                <a:solidFill>
                  <a:srgbClr val="C74A4A"/>
                </a:solidFill>
              </a:rPr>
              <a:t>far: same ε creates a larger d⊥</a:t>
            </a:r>
            <a:endParaRPr sz="1200" b="1">
              <a:solidFill>
                <a:srgbClr val="C74A4A"/>
              </a:solidFill>
            </a:endParaRPr>
          </a:p>
        </p:txBody>
      </p:sp>
      <p:sp>
        <p:nvSpPr>
          <p:cNvPr id="16" name="圆角矩形 15"/>
          <p:cNvSpPr>
            <a:spLocks noGrp="1"/>
          </p:cNvSpPr>
          <p:nvPr/>
        </p:nvSpPr>
        <p:spPr>
          <a:xfrm>
            <a:off x="4762500" y="2095500"/>
            <a:ext cx="6000750" cy="1428750"/>
          </a:xfrm>
          <a:prstGeom prst="roundRect">
            <a:avLst>
              <a:gd name="adj" fmla="val 5333"/>
            </a:avLst>
          </a:prstGeom>
          <a:solidFill>
            <a:srgbClr val="FFFFFF"/>
          </a:solidFill>
          <a:ln w="9525">
            <a:solidFill>
              <a:srgbClr val="D9E0E6"/>
            </a:solidFill>
            <a:prstDash val="solid"/>
          </a:ln>
        </p:spPr>
      </p:sp>
      <p:sp>
        <p:nvSpPr>
          <p:cNvPr id="17" name="矩形 16"/>
          <p:cNvSpPr>
            <a:spLocks noGrp="1"/>
          </p:cNvSpPr>
          <p:nvPr/>
        </p:nvSpPr>
        <p:spPr>
          <a:xfrm>
            <a:off x="5143500" y="2476500"/>
            <a:ext cx="5238750" cy="609600"/>
          </a:xfrm>
          <a:prstGeom prst="rect">
            <a:avLst/>
          </a:prstGeom>
          <a:noFill/>
          <a:ln w="0">
            <a:noFill/>
            <a:prstDash val="solid"/>
          </a:ln>
        </p:spPr>
        <p:txBody>
          <a:bodyPr anchor="ctr"/>
          <a:lstStyle/>
          <a:p>
            <a:pPr algn="ctr">
              <a:defRPr sz="2550" b="1">
                <a:solidFill>
                  <a:srgbClr val="004282"/>
                </a:solidFill>
              </a:defRPr>
            </a:pPr>
            <a:r>
              <a:rPr sz="2550" b="1">
                <a:solidFill>
                  <a:srgbClr val="004282"/>
                </a:solidFill>
              </a:rPr>
              <a:t>d⊥ = r |sin ε|     d∥ = r cos ε</a:t>
            </a:r>
            <a:endParaRPr sz="2550" b="1">
              <a:solidFill>
                <a:srgbClr val="004282"/>
              </a:solidFill>
            </a:endParaRPr>
          </a:p>
        </p:txBody>
      </p:sp>
      <p:sp>
        <p:nvSpPr>
          <p:cNvPr id="18" name="矩形 17"/>
          <p:cNvSpPr>
            <a:spLocks noGrp="1"/>
          </p:cNvSpPr>
          <p:nvPr/>
        </p:nvSpPr>
        <p:spPr>
          <a:xfrm>
            <a:off x="5143500" y="3800475"/>
            <a:ext cx="5238750" cy="704850"/>
          </a:xfrm>
          <a:prstGeom prst="rect">
            <a:avLst/>
          </a:prstGeom>
          <a:noFill/>
          <a:ln w="0">
            <a:noFill/>
            <a:prstDash val="solid"/>
          </a:ln>
        </p:spPr>
        <p:txBody>
          <a:bodyPr anchor="ctr"/>
          <a:lstStyle/>
          <a:p>
            <a:pPr algn="ctr">
              <a:defRPr sz="1725" b="0">
                <a:solidFill>
                  <a:srgbClr val="152538"/>
                </a:solidFill>
              </a:defRPr>
            </a:pPr>
            <a:r>
              <a:rPr sz="1725" b="0">
                <a:solidFill>
                  <a:srgbClr val="152538"/>
                </a:solidFill>
              </a:rPr>
              <a:t>The ray reaches the capture disk only if d⊥ ≤ rₑff and d∥ &gt; 0.</a:t>
            </a:r>
            <a:endParaRPr sz="1725" b="0">
              <a:solidFill>
                <a:srgbClr val="152538"/>
              </a:solidFill>
            </a:endParaRPr>
          </a:p>
        </p:txBody>
      </p:sp>
      <p:sp>
        <p:nvSpPr>
          <p:cNvPr id="19" name="矩形 18"/>
          <p:cNvSpPr>
            <a:spLocks noGrp="1"/>
          </p:cNvSpPr>
          <p:nvPr/>
        </p:nvSpPr>
        <p:spPr>
          <a:xfrm>
            <a:off x="647700" y="5943600"/>
            <a:ext cx="10839450" cy="400050"/>
          </a:xfrm>
          <a:prstGeom prst="rect">
            <a:avLst/>
          </a:prstGeom>
          <a:solidFill>
            <a:srgbClr val="FFF0E2"/>
          </a:solidFill>
          <a:ln w="0">
            <a:noFill/>
            <a:prstDash val="solid"/>
          </a:ln>
        </p:spPr>
      </p:sp>
      <p:sp>
        <p:nvSpPr>
          <p:cNvPr id="20" name="矩形 19"/>
          <p:cNvSpPr>
            <a:spLocks noGrp="1"/>
          </p:cNvSpPr>
          <p:nvPr/>
        </p:nvSpPr>
        <p:spPr>
          <a:xfrm>
            <a:off x="647700" y="5943600"/>
            <a:ext cx="57150" cy="400050"/>
          </a:xfrm>
          <a:prstGeom prst="rect">
            <a:avLst/>
          </a:prstGeom>
          <a:solidFill>
            <a:srgbClr val="ED7F0D"/>
          </a:solidFill>
          <a:ln w="0">
            <a:noFill/>
            <a:prstDash val="solid"/>
          </a:ln>
        </p:spPr>
      </p:sp>
      <p:sp>
        <p:nvSpPr>
          <p:cNvPr id="21" name="矩形 20"/>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Direction-only prediction cannot select a safe endpoint because the probe never observes r.</a:t>
            </a:r>
            <a:endParaRPr sz="1275" b="1">
              <a:solidFill>
                <a:srgbClr val="15253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13</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TASK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Uncertainty determines how much authority the learned cue receives</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III-A–C · Fig. 4</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13</a:t>
            </a:r>
            <a:endParaRPr sz="825" b="1">
              <a:solidFill>
                <a:srgbClr val="004282"/>
              </a:solidFill>
            </a:endParaRPr>
          </a:p>
        </p:txBody>
      </p:sp>
      <p:sp>
        <p:nvSpPr>
          <p:cNvPr id="10" name="圆角矩形 9"/>
          <p:cNvSpPr>
            <a:spLocks noGrp="1"/>
          </p:cNvSpPr>
          <p:nvPr/>
        </p:nvSpPr>
        <p:spPr>
          <a:xfrm>
            <a:off x="781050" y="1752600"/>
            <a:ext cx="3219450" cy="3390900"/>
          </a:xfrm>
          <a:prstGeom prst="roundRect">
            <a:avLst>
              <a:gd name="adj" fmla="val 2367"/>
            </a:avLst>
          </a:prstGeom>
          <a:solidFill>
            <a:srgbClr val="FFFFFF"/>
          </a:solidFill>
          <a:ln w="19050">
            <a:solidFill>
              <a:srgbClr val="009E73"/>
            </a:solidFill>
            <a:prstDash val="solid"/>
          </a:ln>
        </p:spPr>
      </p:sp>
      <p:sp>
        <p:nvSpPr>
          <p:cNvPr id="11" name="矩形 10"/>
          <p:cNvSpPr>
            <a:spLocks noGrp="1"/>
          </p:cNvSpPr>
          <p:nvPr/>
        </p:nvSpPr>
        <p:spPr>
          <a:xfrm>
            <a:off x="1009650" y="1952625"/>
            <a:ext cx="2762250" cy="361950"/>
          </a:xfrm>
          <a:prstGeom prst="rect">
            <a:avLst/>
          </a:prstGeom>
          <a:noFill/>
          <a:ln w="0">
            <a:noFill/>
            <a:prstDash val="solid"/>
          </a:ln>
        </p:spPr>
        <p:txBody>
          <a:bodyPr anchor="ctr"/>
          <a:lstStyle/>
          <a:p>
            <a:pPr algn="ctr">
              <a:defRPr sz="1800" b="1">
                <a:solidFill>
                  <a:srgbClr val="009E73"/>
                </a:solidFill>
              </a:defRPr>
            </a:pPr>
            <a:r>
              <a:rPr sz="1800" b="1">
                <a:solidFill>
                  <a:srgbClr val="009E73"/>
                </a:solidFill>
              </a:rPr>
              <a:t>CLEAR</a:t>
            </a:r>
            <a:endParaRPr sz="1800" b="1">
              <a:solidFill>
                <a:srgbClr val="009E73"/>
              </a:solidFill>
            </a:endParaRPr>
          </a:p>
        </p:txBody>
      </p:sp>
      <p:sp>
        <p:nvSpPr>
          <p:cNvPr id="12" name="椭圆 11"/>
          <p:cNvSpPr>
            <a:spLocks noGrp="1"/>
          </p:cNvSpPr>
          <p:nvPr/>
        </p:nvSpPr>
        <p:spPr>
          <a:xfrm>
            <a:off x="1771650" y="2457450"/>
            <a:ext cx="1238250" cy="1238250"/>
          </a:xfrm>
          <a:prstGeom prst="ellipse">
            <a:avLst/>
          </a:prstGeom>
          <a:noFill/>
          <a:ln w="19050">
            <a:solidFill>
              <a:srgbClr val="D9E0E6"/>
            </a:solidFill>
            <a:prstDash val="solid"/>
          </a:ln>
        </p:spPr>
      </p:sp>
      <p:sp>
        <p:nvSpPr>
          <p:cNvPr id="13" name="椭圆 12"/>
          <p:cNvSpPr>
            <a:spLocks noGrp="1"/>
          </p:cNvSpPr>
          <p:nvPr/>
        </p:nvSpPr>
        <p:spPr>
          <a:xfrm>
            <a:off x="2314575" y="3009900"/>
            <a:ext cx="133350" cy="133350"/>
          </a:xfrm>
          <a:prstGeom prst="ellipse">
            <a:avLst/>
          </a:prstGeom>
          <a:solidFill>
            <a:srgbClr val="ED7F0D"/>
          </a:solidFill>
          <a:ln w="9525">
            <a:solidFill>
              <a:srgbClr val="ED7F0D"/>
            </a:solidFill>
            <a:prstDash val="solid"/>
          </a:ln>
        </p:spPr>
      </p:sp>
      <p:sp>
        <p:nvSpPr>
          <p:cNvPr id="14" name="右箭头 13"/>
          <p:cNvSpPr>
            <a:spLocks noGrp="1"/>
          </p:cNvSpPr>
          <p:nvPr/>
        </p:nvSpPr>
        <p:spPr>
          <a:xfrm>
            <a:off x="2428875" y="2962275"/>
            <a:ext cx="895350" cy="171450"/>
          </a:xfrm>
          <a:prstGeom prst="rightArrow">
            <a:avLst/>
          </a:prstGeom>
          <a:solidFill>
            <a:srgbClr val="009E73"/>
          </a:solidFill>
          <a:ln w="0">
            <a:noFill/>
            <a:prstDash val="solid"/>
          </a:ln>
        </p:spPr>
      </p:sp>
      <p:sp>
        <p:nvSpPr>
          <p:cNvPr id="15" name="矩形 14"/>
          <p:cNvSpPr>
            <a:spLocks noGrp="1"/>
          </p:cNvSpPr>
          <p:nvPr/>
        </p:nvSpPr>
        <p:spPr>
          <a:xfrm>
            <a:off x="1066800" y="4000500"/>
            <a:ext cx="2647950" cy="819150"/>
          </a:xfrm>
          <a:prstGeom prst="rect">
            <a:avLst/>
          </a:prstGeom>
          <a:noFill/>
          <a:ln w="0">
            <a:noFill/>
            <a:prstDash val="solid"/>
          </a:ln>
        </p:spPr>
        <p:txBody>
          <a:bodyPr anchor="ctr"/>
          <a:lstStyle/>
          <a:p>
            <a:pPr algn="ctr">
              <a:defRPr sz="1350" b="1">
                <a:solidFill>
                  <a:srgbClr val="152538"/>
                </a:solidFill>
              </a:defRPr>
            </a:pPr>
            <a:r>
              <a:rPr sz="1350" b="1">
                <a:solidFill>
                  <a:srgbClr val="152538"/>
                </a:solidFill>
              </a:rPr>
              <a:t>concentrated + agreeing → longer supported move</a:t>
            </a:r>
            <a:endParaRPr sz="1350" b="1">
              <a:solidFill>
                <a:srgbClr val="152538"/>
              </a:solidFill>
            </a:endParaRPr>
          </a:p>
        </p:txBody>
      </p:sp>
      <p:sp>
        <p:nvSpPr>
          <p:cNvPr id="16" name="圆角矩形 15"/>
          <p:cNvSpPr>
            <a:spLocks noGrp="1"/>
          </p:cNvSpPr>
          <p:nvPr/>
        </p:nvSpPr>
        <p:spPr>
          <a:xfrm>
            <a:off x="4362450" y="1752600"/>
            <a:ext cx="3219450" cy="3390900"/>
          </a:xfrm>
          <a:prstGeom prst="roundRect">
            <a:avLst>
              <a:gd name="adj" fmla="val 2367"/>
            </a:avLst>
          </a:prstGeom>
          <a:solidFill>
            <a:srgbClr val="FFFFFF"/>
          </a:solidFill>
          <a:ln w="19050">
            <a:solidFill>
              <a:srgbClr val="ED7F0D"/>
            </a:solidFill>
            <a:prstDash val="solid"/>
          </a:ln>
        </p:spPr>
      </p:sp>
      <p:sp>
        <p:nvSpPr>
          <p:cNvPr id="17" name="矩形 16"/>
          <p:cNvSpPr>
            <a:spLocks noGrp="1"/>
          </p:cNvSpPr>
          <p:nvPr/>
        </p:nvSpPr>
        <p:spPr>
          <a:xfrm>
            <a:off x="4591050" y="1952625"/>
            <a:ext cx="2762250" cy="361950"/>
          </a:xfrm>
          <a:prstGeom prst="rect">
            <a:avLst/>
          </a:prstGeom>
          <a:noFill/>
          <a:ln w="0">
            <a:noFill/>
            <a:prstDash val="solid"/>
          </a:ln>
        </p:spPr>
        <p:txBody>
          <a:bodyPr anchor="ctr"/>
          <a:lstStyle/>
          <a:p>
            <a:pPr algn="ctr">
              <a:defRPr sz="1800" b="1">
                <a:solidFill>
                  <a:srgbClr val="ED7F0D"/>
                </a:solidFill>
              </a:defRPr>
            </a:pPr>
            <a:r>
              <a:rPr sz="1800" b="1">
                <a:solidFill>
                  <a:srgbClr val="ED7F0D"/>
                </a:solidFill>
              </a:rPr>
              <a:t>AMBIGUOUS</a:t>
            </a:r>
            <a:endParaRPr sz="1800" b="1">
              <a:solidFill>
                <a:srgbClr val="ED7F0D"/>
              </a:solidFill>
            </a:endParaRPr>
          </a:p>
        </p:txBody>
      </p:sp>
      <p:sp>
        <p:nvSpPr>
          <p:cNvPr id="18" name="椭圆 17"/>
          <p:cNvSpPr>
            <a:spLocks noGrp="1"/>
          </p:cNvSpPr>
          <p:nvPr/>
        </p:nvSpPr>
        <p:spPr>
          <a:xfrm>
            <a:off x="5353050" y="2457450"/>
            <a:ext cx="1238250" cy="1238250"/>
          </a:xfrm>
          <a:prstGeom prst="ellipse">
            <a:avLst/>
          </a:prstGeom>
          <a:noFill/>
          <a:ln w="19050">
            <a:solidFill>
              <a:srgbClr val="D9E0E6"/>
            </a:solidFill>
            <a:prstDash val="solid"/>
          </a:ln>
        </p:spPr>
      </p:sp>
      <p:sp>
        <p:nvSpPr>
          <p:cNvPr id="19" name="椭圆 18"/>
          <p:cNvSpPr>
            <a:spLocks noGrp="1"/>
          </p:cNvSpPr>
          <p:nvPr/>
        </p:nvSpPr>
        <p:spPr>
          <a:xfrm>
            <a:off x="5895975" y="3009900"/>
            <a:ext cx="133350" cy="133350"/>
          </a:xfrm>
          <a:prstGeom prst="ellipse">
            <a:avLst/>
          </a:prstGeom>
          <a:solidFill>
            <a:srgbClr val="ED7F0D"/>
          </a:solidFill>
          <a:ln w="9525">
            <a:solidFill>
              <a:srgbClr val="ED7F0D"/>
            </a:solidFill>
            <a:prstDash val="solid"/>
          </a:ln>
        </p:spPr>
      </p:sp>
      <p:sp>
        <p:nvSpPr>
          <p:cNvPr id="20" name="右箭头 19"/>
          <p:cNvSpPr>
            <a:spLocks noGrp="1"/>
          </p:cNvSpPr>
          <p:nvPr/>
        </p:nvSpPr>
        <p:spPr>
          <a:xfrm>
            <a:off x="6010275" y="2962275"/>
            <a:ext cx="552450" cy="171450"/>
          </a:xfrm>
          <a:prstGeom prst="rightArrow">
            <a:avLst/>
          </a:prstGeom>
          <a:solidFill>
            <a:srgbClr val="ED7F0D"/>
          </a:solidFill>
          <a:ln w="0">
            <a:noFill/>
            <a:prstDash val="solid"/>
          </a:ln>
        </p:spPr>
      </p:sp>
      <p:sp>
        <p:nvSpPr>
          <p:cNvPr id="21" name="矩形 20"/>
          <p:cNvSpPr>
            <a:spLocks noGrp="1"/>
          </p:cNvSpPr>
          <p:nvPr/>
        </p:nvSpPr>
        <p:spPr>
          <a:xfrm>
            <a:off x="4648200" y="4000500"/>
            <a:ext cx="2647950" cy="819150"/>
          </a:xfrm>
          <a:prstGeom prst="rect">
            <a:avLst/>
          </a:prstGeom>
          <a:noFill/>
          <a:ln w="0">
            <a:noFill/>
            <a:prstDash val="solid"/>
          </a:ln>
        </p:spPr>
        <p:txBody>
          <a:bodyPr anchor="ctr"/>
          <a:lstStyle/>
          <a:p>
            <a:pPr algn="ctr">
              <a:defRPr sz="1350" b="1">
                <a:solidFill>
                  <a:srgbClr val="152538"/>
                </a:solidFill>
              </a:defRPr>
            </a:pPr>
            <a:r>
              <a:rPr sz="1350" b="1">
                <a:solidFill>
                  <a:srgbClr val="152538"/>
                </a:solidFill>
              </a:rPr>
              <a:t>spread or disagreement → smaller move</a:t>
            </a:r>
            <a:endParaRPr sz="1350" b="1">
              <a:solidFill>
                <a:srgbClr val="152538"/>
              </a:solidFill>
            </a:endParaRPr>
          </a:p>
        </p:txBody>
      </p:sp>
      <p:sp>
        <p:nvSpPr>
          <p:cNvPr id="22" name="圆角矩形 21"/>
          <p:cNvSpPr>
            <a:spLocks noGrp="1"/>
          </p:cNvSpPr>
          <p:nvPr/>
        </p:nvSpPr>
        <p:spPr>
          <a:xfrm>
            <a:off x="7943850" y="1752600"/>
            <a:ext cx="3219450" cy="3390900"/>
          </a:xfrm>
          <a:prstGeom prst="roundRect">
            <a:avLst>
              <a:gd name="adj" fmla="val 2367"/>
            </a:avLst>
          </a:prstGeom>
          <a:solidFill>
            <a:srgbClr val="FFFFFF"/>
          </a:solidFill>
          <a:ln w="19050">
            <a:solidFill>
              <a:srgbClr val="C74A4A"/>
            </a:solidFill>
            <a:prstDash val="solid"/>
          </a:ln>
        </p:spPr>
      </p:sp>
      <p:sp>
        <p:nvSpPr>
          <p:cNvPr id="23" name="矩形 22"/>
          <p:cNvSpPr>
            <a:spLocks noGrp="1"/>
          </p:cNvSpPr>
          <p:nvPr/>
        </p:nvSpPr>
        <p:spPr>
          <a:xfrm>
            <a:off x="8172450" y="1952625"/>
            <a:ext cx="2762250" cy="361950"/>
          </a:xfrm>
          <a:prstGeom prst="rect">
            <a:avLst/>
          </a:prstGeom>
          <a:noFill/>
          <a:ln w="0">
            <a:noFill/>
            <a:prstDash val="solid"/>
          </a:ln>
        </p:spPr>
        <p:txBody>
          <a:bodyPr anchor="ctr"/>
          <a:lstStyle/>
          <a:p>
            <a:pPr algn="ctr">
              <a:defRPr sz="1800" b="1">
                <a:solidFill>
                  <a:srgbClr val="C74A4A"/>
                </a:solidFill>
              </a:defRPr>
            </a:pPr>
            <a:r>
              <a:rPr sz="1800" b="1">
                <a:solidFill>
                  <a:srgbClr val="C74A4A"/>
                </a:solidFill>
              </a:rPr>
              <a:t>REVERSED</a:t>
            </a:r>
            <a:endParaRPr sz="1800" b="1">
              <a:solidFill>
                <a:srgbClr val="C74A4A"/>
              </a:solidFill>
            </a:endParaRPr>
          </a:p>
        </p:txBody>
      </p:sp>
      <p:sp>
        <p:nvSpPr>
          <p:cNvPr id="24" name="椭圆 23"/>
          <p:cNvSpPr>
            <a:spLocks noGrp="1"/>
          </p:cNvSpPr>
          <p:nvPr/>
        </p:nvSpPr>
        <p:spPr>
          <a:xfrm>
            <a:off x="8934450" y="2457450"/>
            <a:ext cx="1238250" cy="1238250"/>
          </a:xfrm>
          <a:prstGeom prst="ellipse">
            <a:avLst/>
          </a:prstGeom>
          <a:noFill/>
          <a:ln w="19050">
            <a:solidFill>
              <a:srgbClr val="D9E0E6"/>
            </a:solidFill>
            <a:prstDash val="solid"/>
          </a:ln>
        </p:spPr>
      </p:sp>
      <p:sp>
        <p:nvSpPr>
          <p:cNvPr id="25" name="椭圆 24"/>
          <p:cNvSpPr>
            <a:spLocks noGrp="1"/>
          </p:cNvSpPr>
          <p:nvPr/>
        </p:nvSpPr>
        <p:spPr>
          <a:xfrm>
            <a:off x="9477375" y="3009900"/>
            <a:ext cx="133350" cy="133350"/>
          </a:xfrm>
          <a:prstGeom prst="ellipse">
            <a:avLst/>
          </a:prstGeom>
          <a:solidFill>
            <a:srgbClr val="ED7F0D"/>
          </a:solidFill>
          <a:ln w="9525">
            <a:solidFill>
              <a:srgbClr val="ED7F0D"/>
            </a:solidFill>
            <a:prstDash val="solid"/>
          </a:ln>
        </p:spPr>
      </p:sp>
      <p:sp>
        <p:nvSpPr>
          <p:cNvPr id="26" name="矩形 25"/>
          <p:cNvSpPr>
            <a:spLocks noGrp="1"/>
          </p:cNvSpPr>
          <p:nvPr/>
        </p:nvSpPr>
        <p:spPr>
          <a:xfrm>
            <a:off x="9410700" y="2838450"/>
            <a:ext cx="266700" cy="38100"/>
          </a:xfrm>
          <a:prstGeom prst="rect">
            <a:avLst/>
          </a:prstGeom>
          <a:solidFill>
            <a:srgbClr val="C74A4A"/>
          </a:solidFill>
          <a:ln w="0">
            <a:noFill/>
            <a:prstDash val="solid"/>
          </a:ln>
        </p:spPr>
      </p:sp>
      <p:sp>
        <p:nvSpPr>
          <p:cNvPr id="27" name="矩形 26"/>
          <p:cNvSpPr>
            <a:spLocks noGrp="1"/>
          </p:cNvSpPr>
          <p:nvPr/>
        </p:nvSpPr>
        <p:spPr>
          <a:xfrm>
            <a:off x="8229600" y="4000500"/>
            <a:ext cx="2647950" cy="819150"/>
          </a:xfrm>
          <a:prstGeom prst="rect">
            <a:avLst/>
          </a:prstGeom>
          <a:noFill/>
          <a:ln w="0">
            <a:noFill/>
            <a:prstDash val="solid"/>
          </a:ln>
        </p:spPr>
        <p:txBody>
          <a:bodyPr anchor="ctr"/>
          <a:lstStyle/>
          <a:p>
            <a:pPr algn="ctr">
              <a:defRPr sz="1350" b="1">
                <a:solidFill>
                  <a:srgbClr val="152538"/>
                </a:solidFill>
              </a:defRPr>
            </a:pPr>
            <a:r>
              <a:rPr sz="1350" b="1">
                <a:solidFill>
                  <a:srgbClr val="152538"/>
                </a:solidFill>
              </a:rPr>
              <a:t>posterior mass behind contact ≥ 0.20 → L* = 0</a:t>
            </a:r>
            <a:endParaRPr sz="1350" b="1">
              <a:solidFill>
                <a:srgbClr val="152538"/>
              </a:solidFill>
            </a:endParaRPr>
          </a:p>
        </p:txBody>
      </p:sp>
      <p:sp>
        <p:nvSpPr>
          <p:cNvPr id="28" name="矩形 27"/>
          <p:cNvSpPr>
            <a:spLocks noGrp="1"/>
          </p:cNvSpPr>
          <p:nvPr/>
        </p:nvSpPr>
        <p:spPr>
          <a:xfrm>
            <a:off x="647700" y="5943600"/>
            <a:ext cx="10839450" cy="400050"/>
          </a:xfrm>
          <a:prstGeom prst="rect">
            <a:avLst/>
          </a:prstGeom>
          <a:solidFill>
            <a:srgbClr val="FFF0E2"/>
          </a:solidFill>
          <a:ln w="0">
            <a:noFill/>
            <a:prstDash val="solid"/>
          </a:ln>
        </p:spPr>
      </p:sp>
      <p:sp>
        <p:nvSpPr>
          <p:cNvPr id="29" name="矩形 28"/>
          <p:cNvSpPr>
            <a:spLocks noGrp="1"/>
          </p:cNvSpPr>
          <p:nvPr/>
        </p:nvSpPr>
        <p:spPr>
          <a:xfrm>
            <a:off x="647700" y="5943600"/>
            <a:ext cx="57150" cy="400050"/>
          </a:xfrm>
          <a:prstGeom prst="rect">
            <a:avLst/>
          </a:prstGeom>
          <a:solidFill>
            <a:srgbClr val="ED7F0D"/>
          </a:solidFill>
          <a:ln w="0">
            <a:noFill/>
            <a:prstDash val="solid"/>
          </a:ln>
        </p:spPr>
      </p:sp>
      <p:sp>
        <p:nvSpPr>
          <p:cNvPr id="30" name="矩形 29"/>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Confidence changes travel, not the engagement decision.</a:t>
            </a:r>
            <a:endParaRPr sz="1275" b="1">
              <a:solidFill>
                <a:srgbClr val="152538"/>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14</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FRAMEWORK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325" b="1">
                <a:solidFill>
                  <a:srgbClr val="004282"/>
                </a:solidFill>
              </a:defRPr>
            </a:pPr>
            <a:r>
              <a:rPr sz="2325" b="1">
                <a:solidFill>
                  <a:srgbClr val="004282"/>
                </a:solidFill>
              </a:rPr>
              <a:t>The framework separates inference, belief-space routing, and physical control</a:t>
            </a:r>
            <a:endParaRPr sz="232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 · Fig. 2</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14</a:t>
            </a:r>
            <a:endParaRPr sz="825" b="1">
              <a:solidFill>
                <a:srgbClr val="004282"/>
              </a:solidFill>
            </a:endParaRPr>
          </a:p>
        </p:txBody>
      </p:sp>
      <p:sp>
        <p:nvSpPr>
          <p:cNvPr id="10" name="圆角矩形 9"/>
          <p:cNvSpPr>
            <a:spLocks noGrp="1"/>
          </p:cNvSpPr>
          <p:nvPr/>
        </p:nvSpPr>
        <p:spPr>
          <a:xfrm>
            <a:off x="704850" y="1428750"/>
            <a:ext cx="10725150" cy="4400550"/>
          </a:xfrm>
          <a:prstGeom prst="roundRect">
            <a:avLst>
              <a:gd name="adj" fmla="val 1732"/>
            </a:avLst>
          </a:prstGeom>
          <a:solidFill>
            <a:srgbClr val="FFFFFF"/>
          </a:solidFill>
          <a:ln w="9525">
            <a:solidFill>
              <a:srgbClr val="D9E0E6"/>
            </a:solidFill>
            <a:prstDash val="solid"/>
          </a:ln>
        </p:spPr>
      </p:sp>
      <p:pic>
        <p:nvPicPr>
          <p:cNvPr id="23" name="图片 22"/>
          <p:cNvPicPr>
            <a:picLocks noChangeAspect="1"/>
          </p:cNvPicPr>
          <p:nvPr/>
        </p:nvPicPr>
        <p:blipFill>
          <a:blip r:embed="rId1"/>
          <a:stretch>
            <a:fillRect/>
          </a:stretch>
        </p:blipFill>
        <p:spPr>
          <a:xfrm>
            <a:off x="1575432" y="1504950"/>
            <a:ext cx="8983985" cy="4248150"/>
          </a:xfrm>
          <a:prstGeom prst="roundRect">
            <a:avLst>
              <a:gd name="adj" fmla="val 1794"/>
            </a:avLst>
          </a:prstGeom>
        </p:spPr>
      </p:pic>
      <p:sp>
        <p:nvSpPr>
          <p:cNvPr id="11" name="矩形 10"/>
          <p:cNvSpPr>
            <a:spLocks noGrp="1"/>
          </p:cNvSpPr>
          <p:nvPr/>
        </p:nvSpPr>
        <p:spPr>
          <a:xfrm>
            <a:off x="647700" y="5943600"/>
            <a:ext cx="10839450" cy="400050"/>
          </a:xfrm>
          <a:prstGeom prst="rect">
            <a:avLst/>
          </a:prstGeom>
          <a:solidFill>
            <a:srgbClr val="FFF0E2"/>
          </a:solidFill>
          <a:ln w="0">
            <a:noFill/>
            <a:prstDash val="solid"/>
          </a:ln>
        </p:spPr>
      </p:sp>
      <p:sp>
        <p:nvSpPr>
          <p:cNvPr id="12" name="矩形 11"/>
          <p:cNvSpPr>
            <a:spLocks noGrp="1"/>
          </p:cNvSpPr>
          <p:nvPr/>
        </p:nvSpPr>
        <p:spPr>
          <a:xfrm>
            <a:off x="647700" y="5943600"/>
            <a:ext cx="57150" cy="400050"/>
          </a:xfrm>
          <a:prstGeom prst="rect">
            <a:avLst/>
          </a:prstGeom>
          <a:solidFill>
            <a:srgbClr val="ED7F0D"/>
          </a:solidFill>
          <a:ln w="0">
            <a:noFill/>
            <a:prstDash val="solid"/>
          </a:ln>
        </p:spPr>
      </p:sp>
      <p:sp>
        <p:nvSpPr>
          <p:cNvPr id="13" name="矩形 1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Blue learns; green allocates; black executes; red guards.</a:t>
            </a:r>
            <a:endParaRPr sz="1275" b="1">
              <a:solidFill>
                <a:srgbClr val="152538"/>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15</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FRAMEWORK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A low-force conical motion turns contact into a phase-indexed signal</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II-A, III · Fig. 3</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15</a:t>
            </a:r>
            <a:endParaRPr sz="825" b="1">
              <a:solidFill>
                <a:srgbClr val="004282"/>
              </a:solidFill>
            </a:endParaRPr>
          </a:p>
        </p:txBody>
      </p:sp>
      <p:sp>
        <p:nvSpPr>
          <p:cNvPr id="10" name="椭圆 9"/>
          <p:cNvSpPr>
            <a:spLocks noGrp="1"/>
          </p:cNvSpPr>
          <p:nvPr/>
        </p:nvSpPr>
        <p:spPr>
          <a:xfrm>
            <a:off x="781050" y="1866900"/>
            <a:ext cx="76200" cy="76200"/>
          </a:xfrm>
          <a:prstGeom prst="ellipse">
            <a:avLst/>
          </a:prstGeom>
          <a:solidFill>
            <a:srgbClr val="ED7F0D"/>
          </a:solidFill>
          <a:ln w="9525">
            <a:solidFill>
              <a:srgbClr val="ED7F0D"/>
            </a:solidFill>
            <a:prstDash val="solid"/>
          </a:ln>
        </p:spPr>
      </p:sp>
      <p:sp>
        <p:nvSpPr>
          <p:cNvPr id="11" name="矩形 10"/>
          <p:cNvSpPr>
            <a:spLocks noGrp="1"/>
          </p:cNvSpPr>
          <p:nvPr/>
        </p:nvSpPr>
        <p:spPr>
          <a:xfrm>
            <a:off x="990600" y="1771650"/>
            <a:ext cx="3505200" cy="876300"/>
          </a:xfrm>
          <a:prstGeom prst="rect">
            <a:avLst/>
          </a:prstGeom>
          <a:noFill/>
          <a:ln w="0">
            <a:noFill/>
            <a:prstDash val="solid"/>
          </a:ln>
        </p:spPr>
        <p:txBody>
          <a:bodyPr anchor="t"/>
          <a:lstStyle/>
          <a:p>
            <a:pPr algn="l">
              <a:defRPr sz="1500" b="0">
                <a:solidFill>
                  <a:srgbClr val="152538"/>
                </a:solidFill>
              </a:defRPr>
            </a:pPr>
            <a:r>
              <a:rPr sz="1500" b="0">
                <a:solidFill>
                  <a:srgbClr val="152538"/>
                </a:solidFill>
              </a:rPr>
              <a:t>Begin from stable top contact.</a:t>
            </a:r>
            <a:endParaRPr sz="1500" b="0">
              <a:solidFill>
                <a:srgbClr val="152538"/>
              </a:solidFill>
            </a:endParaRPr>
          </a:p>
        </p:txBody>
      </p:sp>
      <p:sp>
        <p:nvSpPr>
          <p:cNvPr id="12" name="椭圆 11"/>
          <p:cNvSpPr>
            <a:spLocks noGrp="1"/>
          </p:cNvSpPr>
          <p:nvPr/>
        </p:nvSpPr>
        <p:spPr>
          <a:xfrm>
            <a:off x="781050" y="2876550"/>
            <a:ext cx="76200" cy="76200"/>
          </a:xfrm>
          <a:prstGeom prst="ellipse">
            <a:avLst/>
          </a:prstGeom>
          <a:solidFill>
            <a:srgbClr val="ED7F0D"/>
          </a:solidFill>
          <a:ln w="9525">
            <a:solidFill>
              <a:srgbClr val="ED7F0D"/>
            </a:solidFill>
            <a:prstDash val="solid"/>
          </a:ln>
        </p:spPr>
      </p:sp>
      <p:sp>
        <p:nvSpPr>
          <p:cNvPr id="13" name="矩形 12"/>
          <p:cNvSpPr>
            <a:spLocks noGrp="1"/>
          </p:cNvSpPr>
          <p:nvPr/>
        </p:nvSpPr>
        <p:spPr>
          <a:xfrm>
            <a:off x="990600" y="2781300"/>
            <a:ext cx="3505200" cy="876300"/>
          </a:xfrm>
          <a:prstGeom prst="rect">
            <a:avLst/>
          </a:prstGeom>
          <a:noFill/>
          <a:ln w="0">
            <a:noFill/>
            <a:prstDash val="solid"/>
          </a:ln>
        </p:spPr>
        <p:txBody>
          <a:bodyPr anchor="t"/>
          <a:lstStyle/>
          <a:p>
            <a:pPr algn="l">
              <a:defRPr sz="1500" b="0">
                <a:solidFill>
                  <a:srgbClr val="152538"/>
                </a:solidFill>
              </a:defRPr>
            </a:pPr>
            <a:r>
              <a:rPr sz="1500" b="0">
                <a:solidFill>
                  <a:srgbClr val="152538"/>
                </a:solidFill>
              </a:rPr>
              <a:t>Execute a 15° conical scan under low force.</a:t>
            </a:r>
            <a:endParaRPr sz="1500" b="0">
              <a:solidFill>
                <a:srgbClr val="152538"/>
              </a:solidFill>
            </a:endParaRPr>
          </a:p>
        </p:txBody>
      </p:sp>
      <p:sp>
        <p:nvSpPr>
          <p:cNvPr id="14" name="椭圆 13"/>
          <p:cNvSpPr>
            <a:spLocks noGrp="1"/>
          </p:cNvSpPr>
          <p:nvPr/>
        </p:nvSpPr>
        <p:spPr>
          <a:xfrm>
            <a:off x="781050" y="3886200"/>
            <a:ext cx="76200" cy="76200"/>
          </a:xfrm>
          <a:prstGeom prst="ellipse">
            <a:avLst/>
          </a:prstGeom>
          <a:solidFill>
            <a:srgbClr val="ED7F0D"/>
          </a:solidFill>
          <a:ln w="9525">
            <a:solidFill>
              <a:srgbClr val="ED7F0D"/>
            </a:solidFill>
            <a:prstDash val="solid"/>
          </a:ln>
        </p:spPr>
      </p:sp>
      <p:sp>
        <p:nvSpPr>
          <p:cNvPr id="15" name="矩形 14"/>
          <p:cNvSpPr>
            <a:spLocks noGrp="1"/>
          </p:cNvSpPr>
          <p:nvPr/>
        </p:nvSpPr>
        <p:spPr>
          <a:xfrm>
            <a:off x="990600" y="3790950"/>
            <a:ext cx="3505200" cy="876300"/>
          </a:xfrm>
          <a:prstGeom prst="rect">
            <a:avLst/>
          </a:prstGeom>
          <a:noFill/>
          <a:ln w="0">
            <a:noFill/>
            <a:prstDash val="solid"/>
          </a:ln>
        </p:spPr>
        <p:txBody>
          <a:bodyPr anchor="t"/>
          <a:lstStyle/>
          <a:p>
            <a:pPr algn="l">
              <a:defRPr sz="1500" b="0">
                <a:solidFill>
                  <a:srgbClr val="152538"/>
                </a:solidFill>
              </a:defRPr>
            </a:pPr>
            <a:r>
              <a:rPr sz="1500" b="0">
                <a:solidFill>
                  <a:srgbClr val="152538"/>
                </a:solidFill>
              </a:rPr>
              <a:t>Index the recorded interaction by probe phase ϕ—not by center bearing θ.</a:t>
            </a:r>
            <a:endParaRPr sz="1500" b="0">
              <a:solidFill>
                <a:srgbClr val="152538"/>
              </a:solidFill>
            </a:endParaRPr>
          </a:p>
        </p:txBody>
      </p:sp>
      <p:sp>
        <p:nvSpPr>
          <p:cNvPr id="16" name="圆角矩形 15"/>
          <p:cNvSpPr>
            <a:spLocks noGrp="1"/>
          </p:cNvSpPr>
          <p:nvPr/>
        </p:nvSpPr>
        <p:spPr>
          <a:xfrm>
            <a:off x="4686300" y="1485900"/>
            <a:ext cx="6705600" cy="4248150"/>
          </a:xfrm>
          <a:prstGeom prst="roundRect">
            <a:avLst>
              <a:gd name="adj" fmla="val 1794"/>
            </a:avLst>
          </a:prstGeom>
          <a:solidFill>
            <a:srgbClr val="FFFFFF"/>
          </a:solidFill>
          <a:ln w="9525">
            <a:solidFill>
              <a:srgbClr val="D9E0E6"/>
            </a:solidFill>
            <a:prstDash val="solid"/>
          </a:ln>
        </p:spPr>
      </p:sp>
      <p:pic>
        <p:nvPicPr>
          <p:cNvPr id="35" name="图片 34"/>
          <p:cNvPicPr>
            <a:picLocks noChangeAspect="1"/>
          </p:cNvPicPr>
          <p:nvPr/>
        </p:nvPicPr>
        <p:blipFill>
          <a:blip r:embed="rId1"/>
          <a:stretch>
            <a:fillRect/>
          </a:stretch>
        </p:blipFill>
        <p:spPr>
          <a:xfrm>
            <a:off x="4762500" y="1895101"/>
            <a:ext cx="6553200" cy="3429747"/>
          </a:xfrm>
          <a:prstGeom prst="roundRect">
            <a:avLst>
              <a:gd name="adj" fmla="val 1860"/>
            </a:avLst>
          </a:prstGeom>
        </p:spPr>
      </p:pic>
      <p:sp>
        <p:nvSpPr>
          <p:cNvPr id="17" name="矩形 16"/>
          <p:cNvSpPr>
            <a:spLocks noGrp="1"/>
          </p:cNvSpPr>
          <p:nvPr/>
        </p:nvSpPr>
        <p:spPr>
          <a:xfrm>
            <a:off x="647700" y="5943600"/>
            <a:ext cx="10839450" cy="400050"/>
          </a:xfrm>
          <a:prstGeom prst="rect">
            <a:avLst/>
          </a:prstGeom>
          <a:solidFill>
            <a:srgbClr val="FFF0E2"/>
          </a:solidFill>
          <a:ln w="0">
            <a:noFill/>
            <a:prstDash val="solid"/>
          </a:ln>
        </p:spPr>
      </p:sp>
      <p:sp>
        <p:nvSpPr>
          <p:cNvPr id="18" name="矩形 17"/>
          <p:cNvSpPr>
            <a:spLocks noGrp="1"/>
          </p:cNvSpPr>
          <p:nvPr/>
        </p:nvSpPr>
        <p:spPr>
          <a:xfrm>
            <a:off x="647700" y="5943600"/>
            <a:ext cx="57150" cy="400050"/>
          </a:xfrm>
          <a:prstGeom prst="rect">
            <a:avLst/>
          </a:prstGeom>
          <a:solidFill>
            <a:srgbClr val="ED7F0D"/>
          </a:solidFill>
          <a:ln w="0">
            <a:noFill/>
            <a:prstDash val="solid"/>
          </a:ln>
        </p:spPr>
      </p:sp>
      <p:sp>
        <p:nvSpPr>
          <p:cNvPr id="19" name="矩形 18"/>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Active touch creates a repeatable observation coordinate.</a:t>
            </a:r>
            <a:endParaRPr sz="1275" b="1">
              <a:solidFill>
                <a:srgbClr val="152538"/>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16</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FRAMEWORK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The model receives four channels resampled on the contact phase</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II-A · Eqs. (2)–(3) · Fig. 8</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16</a:t>
            </a:r>
            <a:endParaRPr sz="825" b="1">
              <a:solidFill>
                <a:srgbClr val="004282"/>
              </a:solidFill>
            </a:endParaRPr>
          </a:p>
        </p:txBody>
      </p:sp>
      <p:sp>
        <p:nvSpPr>
          <p:cNvPr id="10" name="圆角矩形 9"/>
          <p:cNvSpPr>
            <a:spLocks noGrp="1"/>
          </p:cNvSpPr>
          <p:nvPr/>
        </p:nvSpPr>
        <p:spPr>
          <a:xfrm>
            <a:off x="704850" y="1428750"/>
            <a:ext cx="10725150" cy="4400550"/>
          </a:xfrm>
          <a:prstGeom prst="roundRect">
            <a:avLst>
              <a:gd name="adj" fmla="val 1732"/>
            </a:avLst>
          </a:prstGeom>
          <a:solidFill>
            <a:srgbClr val="FFFFFF"/>
          </a:solidFill>
          <a:ln w="9525">
            <a:solidFill>
              <a:srgbClr val="D9E0E6"/>
            </a:solidFill>
            <a:prstDash val="solid"/>
          </a:ln>
        </p:spPr>
      </p:sp>
      <p:pic>
        <p:nvPicPr>
          <p:cNvPr id="23" name="图片 22"/>
          <p:cNvPicPr>
            <a:picLocks noChangeAspect="1"/>
          </p:cNvPicPr>
          <p:nvPr/>
        </p:nvPicPr>
        <p:blipFill>
          <a:blip r:embed="rId1"/>
          <a:stretch>
            <a:fillRect/>
          </a:stretch>
        </p:blipFill>
        <p:spPr>
          <a:xfrm>
            <a:off x="1959663" y="1504950"/>
            <a:ext cx="8215523" cy="4248150"/>
          </a:xfrm>
          <a:prstGeom prst="roundRect">
            <a:avLst>
              <a:gd name="adj" fmla="val 1794"/>
            </a:avLst>
          </a:prstGeom>
        </p:spPr>
      </p:pic>
      <p:sp>
        <p:nvSpPr>
          <p:cNvPr id="11" name="矩形 10"/>
          <p:cNvSpPr>
            <a:spLocks noGrp="1"/>
          </p:cNvSpPr>
          <p:nvPr/>
        </p:nvSpPr>
        <p:spPr>
          <a:xfrm>
            <a:off x="647700" y="5943600"/>
            <a:ext cx="10839450" cy="400050"/>
          </a:xfrm>
          <a:prstGeom prst="rect">
            <a:avLst/>
          </a:prstGeom>
          <a:solidFill>
            <a:srgbClr val="FFF0E2"/>
          </a:solidFill>
          <a:ln w="0">
            <a:noFill/>
            <a:prstDash val="solid"/>
          </a:ln>
        </p:spPr>
      </p:sp>
      <p:sp>
        <p:nvSpPr>
          <p:cNvPr id="12" name="矩形 11"/>
          <p:cNvSpPr>
            <a:spLocks noGrp="1"/>
          </p:cNvSpPr>
          <p:nvPr/>
        </p:nvSpPr>
        <p:spPr>
          <a:xfrm>
            <a:off x="647700" y="5943600"/>
            <a:ext cx="57150" cy="400050"/>
          </a:xfrm>
          <a:prstGeom prst="rect">
            <a:avLst/>
          </a:prstGeom>
          <a:solidFill>
            <a:srgbClr val="ED7F0D"/>
          </a:solidFill>
          <a:ln w="0">
            <a:noFill/>
            <a:prstDash val="solid"/>
          </a:ln>
        </p:spPr>
      </p:sp>
      <p:sp>
        <p:nvSpPr>
          <p:cNvPr id="13" name="矩形 1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Hardware records 240 raw samples; periodic interpolation produces 4×360 model input and does not smooth the raw signal.</a:t>
            </a:r>
            <a:endParaRPr sz="1275" b="1">
              <a:solidFill>
                <a:srgbClr val="15253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17</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FRAMEWORK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Three calibrated models produce a circular posterior, not a center estimate</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III-A · Eqs. (8)–(12)</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17</a:t>
            </a:r>
            <a:endParaRPr sz="825" b="1">
              <a:solidFill>
                <a:srgbClr val="004282"/>
              </a:solidFill>
            </a:endParaRPr>
          </a:p>
        </p:txBody>
      </p:sp>
      <p:sp>
        <p:nvSpPr>
          <p:cNvPr id="10" name="圆角矩形 9"/>
          <p:cNvSpPr>
            <a:spLocks noGrp="1"/>
          </p:cNvSpPr>
          <p:nvPr/>
        </p:nvSpPr>
        <p:spPr>
          <a:xfrm>
            <a:off x="704850" y="1447800"/>
            <a:ext cx="10725150" cy="3619500"/>
          </a:xfrm>
          <a:prstGeom prst="roundRect">
            <a:avLst>
              <a:gd name="adj" fmla="val 2105"/>
            </a:avLst>
          </a:prstGeom>
          <a:solidFill>
            <a:srgbClr val="FFFFFF"/>
          </a:solidFill>
          <a:ln w="9525">
            <a:solidFill>
              <a:srgbClr val="D9E0E6"/>
            </a:solidFill>
            <a:prstDash val="solid"/>
          </a:ln>
        </p:spPr>
      </p:sp>
      <p:pic>
        <p:nvPicPr>
          <p:cNvPr id="30" name="图片 29"/>
          <p:cNvPicPr>
            <a:picLocks noChangeAspect="1"/>
          </p:cNvPicPr>
          <p:nvPr/>
        </p:nvPicPr>
        <p:blipFill>
          <a:blip r:embed="rId1"/>
          <a:stretch>
            <a:fillRect/>
          </a:stretch>
        </p:blipFill>
        <p:spPr>
          <a:xfrm>
            <a:off x="2232207" y="1524000"/>
            <a:ext cx="7670437" cy="3467100"/>
          </a:xfrm>
          <a:prstGeom prst="roundRect">
            <a:avLst>
              <a:gd name="adj" fmla="val 2198"/>
            </a:avLst>
          </a:prstGeom>
        </p:spPr>
      </p:pic>
      <p:sp>
        <p:nvSpPr>
          <p:cNvPr id="11" name="矩形 10"/>
          <p:cNvSpPr>
            <a:spLocks noGrp="1"/>
          </p:cNvSpPr>
          <p:nvPr/>
        </p:nvSpPr>
        <p:spPr>
          <a:xfrm>
            <a:off x="876300" y="5162550"/>
            <a:ext cx="2190750" cy="419100"/>
          </a:xfrm>
          <a:prstGeom prst="rect">
            <a:avLst/>
          </a:prstGeom>
          <a:solidFill>
            <a:srgbClr val="E8F1F8"/>
          </a:solidFill>
          <a:ln w="0">
            <a:noFill/>
            <a:prstDash val="solid"/>
          </a:ln>
        </p:spPr>
        <p:txBody>
          <a:bodyPr anchor="ctr"/>
          <a:lstStyle/>
          <a:p>
            <a:pPr algn="ctr">
              <a:defRPr sz="1275" b="1">
                <a:solidFill>
                  <a:srgbClr val="004282"/>
                </a:solidFill>
              </a:defRPr>
            </a:pPr>
            <a:r>
              <a:rPr sz="1275" b="1">
                <a:solidFill>
                  <a:srgbClr val="004282"/>
                </a:solidFill>
              </a:rPr>
              <a:t>4 × 360 signal</a:t>
            </a:r>
            <a:endParaRPr sz="1275" b="1">
              <a:solidFill>
                <a:srgbClr val="004282"/>
              </a:solidFill>
            </a:endParaRPr>
          </a:p>
        </p:txBody>
      </p:sp>
      <p:sp>
        <p:nvSpPr>
          <p:cNvPr id="12" name="右箭头 11"/>
          <p:cNvSpPr>
            <a:spLocks noGrp="1"/>
          </p:cNvSpPr>
          <p:nvPr/>
        </p:nvSpPr>
        <p:spPr>
          <a:xfrm>
            <a:off x="3114675" y="5238750"/>
            <a:ext cx="323850" cy="266700"/>
          </a:xfrm>
          <a:prstGeom prst="rightArrow">
            <a:avLst/>
          </a:prstGeom>
          <a:solidFill>
            <a:srgbClr val="ED7F0D"/>
          </a:solidFill>
          <a:ln w="0">
            <a:noFill/>
            <a:prstDash val="solid"/>
          </a:ln>
        </p:spPr>
      </p:sp>
      <p:sp>
        <p:nvSpPr>
          <p:cNvPr id="13" name="矩形 12"/>
          <p:cNvSpPr>
            <a:spLocks noGrp="1"/>
          </p:cNvSpPr>
          <p:nvPr/>
        </p:nvSpPr>
        <p:spPr>
          <a:xfrm>
            <a:off x="3524250" y="5162550"/>
            <a:ext cx="2190750" cy="419100"/>
          </a:xfrm>
          <a:prstGeom prst="rect">
            <a:avLst/>
          </a:prstGeom>
          <a:solidFill>
            <a:srgbClr val="E8F1F8"/>
          </a:solidFill>
          <a:ln w="0">
            <a:noFill/>
            <a:prstDash val="solid"/>
          </a:ln>
        </p:spPr>
        <p:txBody>
          <a:bodyPr anchor="ctr"/>
          <a:lstStyle/>
          <a:p>
            <a:pPr algn="ctr">
              <a:defRPr sz="1275" b="1">
                <a:solidFill>
                  <a:srgbClr val="004282"/>
                </a:solidFill>
              </a:defRPr>
            </a:pPr>
            <a:r>
              <a:rPr sz="1275" b="1">
                <a:solidFill>
                  <a:srgbClr val="004282"/>
                </a:solidFill>
              </a:rPr>
              <a:t>3 calibrated members</a:t>
            </a:r>
            <a:endParaRPr sz="1275" b="1">
              <a:solidFill>
                <a:srgbClr val="004282"/>
              </a:solidFill>
            </a:endParaRPr>
          </a:p>
        </p:txBody>
      </p:sp>
      <p:sp>
        <p:nvSpPr>
          <p:cNvPr id="14" name="右箭头 13"/>
          <p:cNvSpPr>
            <a:spLocks noGrp="1"/>
          </p:cNvSpPr>
          <p:nvPr/>
        </p:nvSpPr>
        <p:spPr>
          <a:xfrm>
            <a:off x="5762625" y="5238750"/>
            <a:ext cx="323850" cy="266700"/>
          </a:xfrm>
          <a:prstGeom prst="rightArrow">
            <a:avLst/>
          </a:prstGeom>
          <a:solidFill>
            <a:srgbClr val="ED7F0D"/>
          </a:solidFill>
          <a:ln w="0">
            <a:noFill/>
            <a:prstDash val="solid"/>
          </a:ln>
        </p:spPr>
      </p:sp>
      <p:sp>
        <p:nvSpPr>
          <p:cNvPr id="15" name="矩形 14"/>
          <p:cNvSpPr>
            <a:spLocks noGrp="1"/>
          </p:cNvSpPr>
          <p:nvPr/>
        </p:nvSpPr>
        <p:spPr>
          <a:xfrm>
            <a:off x="6172200" y="5162550"/>
            <a:ext cx="2190750" cy="419100"/>
          </a:xfrm>
          <a:prstGeom prst="rect">
            <a:avLst/>
          </a:prstGeom>
          <a:solidFill>
            <a:srgbClr val="E6F5EF"/>
          </a:solidFill>
          <a:ln w="0">
            <a:noFill/>
            <a:prstDash val="solid"/>
          </a:ln>
        </p:spPr>
        <p:txBody>
          <a:bodyPr anchor="ctr"/>
          <a:lstStyle/>
          <a:p>
            <a:pPr algn="ctr">
              <a:defRPr sz="1275" b="1">
                <a:solidFill>
                  <a:srgbClr val="009E73"/>
                </a:solidFill>
              </a:defRPr>
            </a:pPr>
            <a:r>
              <a:rPr sz="1275" b="1">
                <a:solidFill>
                  <a:srgbClr val="009E73"/>
                </a:solidFill>
              </a:rPr>
              <a:t>48 direction bins</a:t>
            </a:r>
            <a:endParaRPr sz="1275" b="1">
              <a:solidFill>
                <a:srgbClr val="009E73"/>
              </a:solidFill>
            </a:endParaRPr>
          </a:p>
        </p:txBody>
      </p:sp>
      <p:sp>
        <p:nvSpPr>
          <p:cNvPr id="16" name="右箭头 15"/>
          <p:cNvSpPr>
            <a:spLocks noGrp="1"/>
          </p:cNvSpPr>
          <p:nvPr/>
        </p:nvSpPr>
        <p:spPr>
          <a:xfrm>
            <a:off x="8410575" y="5238750"/>
            <a:ext cx="323850" cy="266700"/>
          </a:xfrm>
          <a:prstGeom prst="rightArrow">
            <a:avLst/>
          </a:prstGeom>
          <a:solidFill>
            <a:srgbClr val="ED7F0D"/>
          </a:solidFill>
          <a:ln w="0">
            <a:noFill/>
            <a:prstDash val="solid"/>
          </a:ln>
        </p:spPr>
      </p:sp>
      <p:sp>
        <p:nvSpPr>
          <p:cNvPr id="17" name="矩形 16"/>
          <p:cNvSpPr>
            <a:spLocks noGrp="1"/>
          </p:cNvSpPr>
          <p:nvPr/>
        </p:nvSpPr>
        <p:spPr>
          <a:xfrm>
            <a:off x="8820150" y="5162550"/>
            <a:ext cx="2190750" cy="419100"/>
          </a:xfrm>
          <a:prstGeom prst="rect">
            <a:avLst/>
          </a:prstGeom>
          <a:solidFill>
            <a:srgbClr val="E6F5EF"/>
          </a:solidFill>
          <a:ln w="0">
            <a:noFill/>
            <a:prstDash val="solid"/>
          </a:ln>
        </p:spPr>
        <p:txBody>
          <a:bodyPr anchor="ctr"/>
          <a:lstStyle/>
          <a:p>
            <a:pPr algn="ctr">
              <a:defRPr sz="1275" b="1">
                <a:solidFill>
                  <a:srgbClr val="009E73"/>
                </a:solidFill>
              </a:defRPr>
            </a:pPr>
            <a:r>
              <a:rPr sz="1275" b="1">
                <a:solidFill>
                  <a:srgbClr val="009E73"/>
                </a:solidFill>
              </a:rPr>
              <a:t>circular posterior + contact support</a:t>
            </a:r>
            <a:endParaRPr sz="1275" b="1">
              <a:solidFill>
                <a:srgbClr val="009E73"/>
              </a:solidFill>
            </a:endParaRPr>
          </a:p>
        </p:txBody>
      </p:sp>
      <p:sp>
        <p:nvSpPr>
          <p:cNvPr id="18" name="矩形 17"/>
          <p:cNvSpPr>
            <a:spLocks noGrp="1"/>
          </p:cNvSpPr>
          <p:nvPr/>
        </p:nvSpPr>
        <p:spPr>
          <a:xfrm>
            <a:off x="647700" y="5943600"/>
            <a:ext cx="10839450" cy="400050"/>
          </a:xfrm>
          <a:prstGeom prst="rect">
            <a:avLst/>
          </a:prstGeom>
          <a:solidFill>
            <a:srgbClr val="FFF0E2"/>
          </a:solidFill>
          <a:ln w="0">
            <a:noFill/>
            <a:prstDash val="solid"/>
          </a:ln>
        </p:spPr>
      </p:sp>
      <p:sp>
        <p:nvSpPr>
          <p:cNvPr id="19" name="矩形 18"/>
          <p:cNvSpPr>
            <a:spLocks noGrp="1"/>
          </p:cNvSpPr>
          <p:nvPr/>
        </p:nvSpPr>
        <p:spPr>
          <a:xfrm>
            <a:off x="647700" y="5943600"/>
            <a:ext cx="57150" cy="400050"/>
          </a:xfrm>
          <a:prstGeom prst="rect">
            <a:avLst/>
          </a:prstGeom>
          <a:solidFill>
            <a:srgbClr val="ED7F0D"/>
          </a:solidFill>
          <a:ln w="0">
            <a:noFill/>
            <a:prstDash val="solid"/>
          </a:ln>
        </p:spPr>
      </p:sp>
      <p:sp>
        <p:nvSpPr>
          <p:cNvPr id="20" name="矩形 19"/>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learned interface describes the observation; it never outputs socket center or capture.</a:t>
            </a:r>
            <a:endParaRPr sz="1275" b="1">
              <a:solidFill>
                <a:srgbClr val="152538"/>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18</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FRAMEWORK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Different uncertainty diagnostics expose different failure modes</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III-A · Eqs. (9)–(12)</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18</a:t>
            </a:r>
            <a:endParaRPr sz="825" b="1">
              <a:solidFill>
                <a:srgbClr val="004282"/>
              </a:solidFill>
            </a:endParaRPr>
          </a:p>
        </p:txBody>
      </p:sp>
      <p:sp>
        <p:nvSpPr>
          <p:cNvPr id="10" name="椭圆 9"/>
          <p:cNvSpPr>
            <a:spLocks noGrp="1"/>
          </p:cNvSpPr>
          <p:nvPr/>
        </p:nvSpPr>
        <p:spPr>
          <a:xfrm>
            <a:off x="1123950" y="2114550"/>
            <a:ext cx="1352550" cy="1352550"/>
          </a:xfrm>
          <a:prstGeom prst="ellipse">
            <a:avLst/>
          </a:prstGeom>
          <a:solidFill>
            <a:srgbClr val="FFFFFF"/>
          </a:solidFill>
          <a:ln w="38100">
            <a:solidFill>
              <a:srgbClr val="004282"/>
            </a:solidFill>
            <a:prstDash val="solid"/>
          </a:ln>
        </p:spPr>
      </p:sp>
      <p:sp>
        <p:nvSpPr>
          <p:cNvPr id="11" name="矩形 10"/>
          <p:cNvSpPr>
            <a:spLocks noGrp="1"/>
          </p:cNvSpPr>
          <p:nvPr/>
        </p:nvSpPr>
        <p:spPr>
          <a:xfrm>
            <a:off x="1314450" y="2457450"/>
            <a:ext cx="971550" cy="476250"/>
          </a:xfrm>
          <a:prstGeom prst="rect">
            <a:avLst/>
          </a:prstGeom>
          <a:noFill/>
          <a:ln w="0">
            <a:noFill/>
            <a:prstDash val="solid"/>
          </a:ln>
        </p:spPr>
        <p:txBody>
          <a:bodyPr anchor="ctr"/>
          <a:lstStyle/>
          <a:p>
            <a:pPr algn="ctr">
              <a:defRPr sz="2325" b="1">
                <a:solidFill>
                  <a:srgbClr val="004282"/>
                </a:solidFill>
              </a:defRPr>
            </a:pPr>
            <a:r>
              <a:rPr sz="2325" b="1">
                <a:solidFill>
                  <a:srgbClr val="004282"/>
                </a:solidFill>
              </a:rPr>
              <a:t>κ</a:t>
            </a:r>
            <a:endParaRPr sz="2325" b="1">
              <a:solidFill>
                <a:srgbClr val="004282"/>
              </a:solidFill>
            </a:endParaRPr>
          </a:p>
        </p:txBody>
      </p:sp>
      <p:sp>
        <p:nvSpPr>
          <p:cNvPr id="12" name="矩形 11"/>
          <p:cNvSpPr>
            <a:spLocks noGrp="1"/>
          </p:cNvSpPr>
          <p:nvPr/>
        </p:nvSpPr>
        <p:spPr>
          <a:xfrm>
            <a:off x="800100" y="3733800"/>
            <a:ext cx="2000250" cy="628650"/>
          </a:xfrm>
          <a:prstGeom prst="rect">
            <a:avLst/>
          </a:prstGeom>
          <a:noFill/>
          <a:ln w="0">
            <a:noFill/>
            <a:prstDash val="solid"/>
          </a:ln>
        </p:spPr>
        <p:txBody>
          <a:bodyPr anchor="ctr"/>
          <a:lstStyle/>
          <a:p>
            <a:pPr algn="ctr">
              <a:defRPr sz="1500" b="1">
                <a:solidFill>
                  <a:srgbClr val="152538"/>
                </a:solidFill>
              </a:defRPr>
            </a:pPr>
            <a:r>
              <a:rPr sz="1500" b="1">
                <a:solidFill>
                  <a:srgbClr val="152538"/>
                </a:solidFill>
              </a:rPr>
              <a:t>concentration</a:t>
            </a:r>
            <a:endParaRPr sz="1500" b="1">
              <a:solidFill>
                <a:srgbClr val="152538"/>
              </a:solidFill>
            </a:endParaRPr>
          </a:p>
        </p:txBody>
      </p:sp>
      <p:sp>
        <p:nvSpPr>
          <p:cNvPr id="13" name="椭圆 12"/>
          <p:cNvSpPr>
            <a:spLocks noGrp="1"/>
          </p:cNvSpPr>
          <p:nvPr/>
        </p:nvSpPr>
        <p:spPr>
          <a:xfrm>
            <a:off x="3238500" y="2114550"/>
            <a:ext cx="1352550" cy="1352550"/>
          </a:xfrm>
          <a:prstGeom prst="ellipse">
            <a:avLst/>
          </a:prstGeom>
          <a:solidFill>
            <a:srgbClr val="FFFFFF"/>
          </a:solidFill>
          <a:ln w="38100">
            <a:solidFill>
              <a:srgbClr val="009E73"/>
            </a:solidFill>
            <a:prstDash val="solid"/>
          </a:ln>
        </p:spPr>
      </p:sp>
      <p:sp>
        <p:nvSpPr>
          <p:cNvPr id="14" name="矩形 13"/>
          <p:cNvSpPr>
            <a:spLocks noGrp="1"/>
          </p:cNvSpPr>
          <p:nvPr/>
        </p:nvSpPr>
        <p:spPr>
          <a:xfrm>
            <a:off x="3429000" y="2457450"/>
            <a:ext cx="971550" cy="476250"/>
          </a:xfrm>
          <a:prstGeom prst="rect">
            <a:avLst/>
          </a:prstGeom>
          <a:noFill/>
          <a:ln w="0">
            <a:noFill/>
            <a:prstDash val="solid"/>
          </a:ln>
        </p:spPr>
        <p:txBody>
          <a:bodyPr anchor="ctr"/>
          <a:lstStyle/>
          <a:p>
            <a:pPr algn="ctr">
              <a:defRPr sz="2325" b="1">
                <a:solidFill>
                  <a:srgbClr val="009E73"/>
                </a:solidFill>
              </a:defRPr>
            </a:pPr>
            <a:r>
              <a:rPr sz="2325" b="1">
                <a:solidFill>
                  <a:srgbClr val="009E73"/>
                </a:solidFill>
              </a:rPr>
              <a:t>Aε</a:t>
            </a:r>
            <a:endParaRPr sz="2325" b="1">
              <a:solidFill>
                <a:srgbClr val="009E73"/>
              </a:solidFill>
            </a:endParaRPr>
          </a:p>
        </p:txBody>
      </p:sp>
      <p:sp>
        <p:nvSpPr>
          <p:cNvPr id="15" name="矩形 14"/>
          <p:cNvSpPr>
            <a:spLocks noGrp="1"/>
          </p:cNvSpPr>
          <p:nvPr/>
        </p:nvSpPr>
        <p:spPr>
          <a:xfrm>
            <a:off x="2914650" y="3733800"/>
            <a:ext cx="2000250" cy="628650"/>
          </a:xfrm>
          <a:prstGeom prst="rect">
            <a:avLst/>
          </a:prstGeom>
          <a:noFill/>
          <a:ln w="0">
            <a:noFill/>
            <a:prstDash val="solid"/>
          </a:ln>
        </p:spPr>
        <p:txBody>
          <a:bodyPr anchor="ctr"/>
          <a:lstStyle/>
          <a:p>
            <a:pPr algn="ctr">
              <a:defRPr sz="1500" b="1">
                <a:solidFill>
                  <a:srgbClr val="152538"/>
                </a:solidFill>
              </a:defRPr>
            </a:pPr>
            <a:r>
              <a:rPr sz="1500" b="1">
                <a:solidFill>
                  <a:srgbClr val="152538"/>
                </a:solidFill>
              </a:rPr>
              <a:t>adaptive prediction set</a:t>
            </a:r>
            <a:endParaRPr sz="1500" b="1">
              <a:solidFill>
                <a:srgbClr val="152538"/>
              </a:solidFill>
            </a:endParaRPr>
          </a:p>
        </p:txBody>
      </p:sp>
      <p:sp>
        <p:nvSpPr>
          <p:cNvPr id="16" name="椭圆 15"/>
          <p:cNvSpPr>
            <a:spLocks noGrp="1"/>
          </p:cNvSpPr>
          <p:nvPr/>
        </p:nvSpPr>
        <p:spPr>
          <a:xfrm>
            <a:off x="5353050" y="2114550"/>
            <a:ext cx="1352550" cy="1352550"/>
          </a:xfrm>
          <a:prstGeom prst="ellipse">
            <a:avLst/>
          </a:prstGeom>
          <a:solidFill>
            <a:srgbClr val="FFFFFF"/>
          </a:solidFill>
          <a:ln w="38100">
            <a:solidFill>
              <a:srgbClr val="ED7F0D"/>
            </a:solidFill>
            <a:prstDash val="solid"/>
          </a:ln>
        </p:spPr>
      </p:sp>
      <p:sp>
        <p:nvSpPr>
          <p:cNvPr id="17" name="矩形 16"/>
          <p:cNvSpPr>
            <a:spLocks noGrp="1"/>
          </p:cNvSpPr>
          <p:nvPr/>
        </p:nvSpPr>
        <p:spPr>
          <a:xfrm>
            <a:off x="5543550" y="2457450"/>
            <a:ext cx="971550" cy="476250"/>
          </a:xfrm>
          <a:prstGeom prst="rect">
            <a:avLst/>
          </a:prstGeom>
          <a:noFill/>
          <a:ln w="0">
            <a:noFill/>
            <a:prstDash val="solid"/>
          </a:ln>
        </p:spPr>
        <p:txBody>
          <a:bodyPr anchor="ctr"/>
          <a:lstStyle/>
          <a:p>
            <a:pPr algn="ctr">
              <a:defRPr sz="2325" b="1">
                <a:solidFill>
                  <a:srgbClr val="ED7F0D"/>
                </a:solidFill>
              </a:defRPr>
            </a:pPr>
            <a:r>
              <a:rPr sz="2325" b="1">
                <a:solidFill>
                  <a:srgbClr val="ED7F0D"/>
                </a:solidFill>
              </a:rPr>
              <a:t>H(p)</a:t>
            </a:r>
            <a:endParaRPr sz="2325" b="1">
              <a:solidFill>
                <a:srgbClr val="ED7F0D"/>
              </a:solidFill>
            </a:endParaRPr>
          </a:p>
        </p:txBody>
      </p:sp>
      <p:sp>
        <p:nvSpPr>
          <p:cNvPr id="18" name="矩形 17"/>
          <p:cNvSpPr>
            <a:spLocks noGrp="1"/>
          </p:cNvSpPr>
          <p:nvPr/>
        </p:nvSpPr>
        <p:spPr>
          <a:xfrm>
            <a:off x="5029200" y="3733800"/>
            <a:ext cx="2000250" cy="628650"/>
          </a:xfrm>
          <a:prstGeom prst="rect">
            <a:avLst/>
          </a:prstGeom>
          <a:noFill/>
          <a:ln w="0">
            <a:noFill/>
            <a:prstDash val="solid"/>
          </a:ln>
        </p:spPr>
        <p:txBody>
          <a:bodyPr anchor="ctr"/>
          <a:lstStyle/>
          <a:p>
            <a:pPr algn="ctr">
              <a:defRPr sz="1500" b="1">
                <a:solidFill>
                  <a:srgbClr val="152538"/>
                </a:solidFill>
              </a:defRPr>
            </a:pPr>
            <a:r>
              <a:rPr sz="1500" b="1">
                <a:solidFill>
                  <a:srgbClr val="152538"/>
                </a:solidFill>
              </a:rPr>
              <a:t>spread / entropy</a:t>
            </a:r>
            <a:endParaRPr sz="1500" b="1">
              <a:solidFill>
                <a:srgbClr val="152538"/>
              </a:solidFill>
            </a:endParaRPr>
          </a:p>
        </p:txBody>
      </p:sp>
      <p:sp>
        <p:nvSpPr>
          <p:cNvPr id="19" name="椭圆 18"/>
          <p:cNvSpPr>
            <a:spLocks noGrp="1"/>
          </p:cNvSpPr>
          <p:nvPr/>
        </p:nvSpPr>
        <p:spPr>
          <a:xfrm>
            <a:off x="7467600" y="2114550"/>
            <a:ext cx="1352550" cy="1352550"/>
          </a:xfrm>
          <a:prstGeom prst="ellipse">
            <a:avLst/>
          </a:prstGeom>
          <a:solidFill>
            <a:srgbClr val="FFFFFF"/>
          </a:solidFill>
          <a:ln w="38100">
            <a:solidFill>
              <a:srgbClr val="7F3C8D"/>
            </a:solidFill>
            <a:prstDash val="solid"/>
          </a:ln>
        </p:spPr>
      </p:sp>
      <p:sp>
        <p:nvSpPr>
          <p:cNvPr id="20" name="矩形 19"/>
          <p:cNvSpPr>
            <a:spLocks noGrp="1"/>
          </p:cNvSpPr>
          <p:nvPr/>
        </p:nvSpPr>
        <p:spPr>
          <a:xfrm>
            <a:off x="7658100" y="2457450"/>
            <a:ext cx="971550" cy="476250"/>
          </a:xfrm>
          <a:prstGeom prst="rect">
            <a:avLst/>
          </a:prstGeom>
          <a:noFill/>
          <a:ln w="0">
            <a:noFill/>
            <a:prstDash val="solid"/>
          </a:ln>
        </p:spPr>
        <p:txBody>
          <a:bodyPr anchor="ctr"/>
          <a:lstStyle/>
          <a:p>
            <a:pPr algn="ctr">
              <a:defRPr sz="2325" b="1">
                <a:solidFill>
                  <a:srgbClr val="7F3C8D"/>
                </a:solidFill>
              </a:defRPr>
            </a:pPr>
            <a:r>
              <a:rPr sz="2325" b="1">
                <a:solidFill>
                  <a:srgbClr val="7F3C8D"/>
                </a:solidFill>
              </a:rPr>
              <a:t>Δens</a:t>
            </a:r>
            <a:endParaRPr sz="2325" b="1">
              <a:solidFill>
                <a:srgbClr val="7F3C8D"/>
              </a:solidFill>
            </a:endParaRPr>
          </a:p>
        </p:txBody>
      </p:sp>
      <p:sp>
        <p:nvSpPr>
          <p:cNvPr id="21" name="矩形 20"/>
          <p:cNvSpPr>
            <a:spLocks noGrp="1"/>
          </p:cNvSpPr>
          <p:nvPr/>
        </p:nvSpPr>
        <p:spPr>
          <a:xfrm>
            <a:off x="7143750" y="3733800"/>
            <a:ext cx="2000250" cy="628650"/>
          </a:xfrm>
          <a:prstGeom prst="rect">
            <a:avLst/>
          </a:prstGeom>
          <a:noFill/>
          <a:ln w="0">
            <a:noFill/>
            <a:prstDash val="solid"/>
          </a:ln>
        </p:spPr>
        <p:txBody>
          <a:bodyPr anchor="ctr"/>
          <a:lstStyle/>
          <a:p>
            <a:pPr algn="ctr">
              <a:defRPr sz="1500" b="1">
                <a:solidFill>
                  <a:srgbClr val="152538"/>
                </a:solidFill>
              </a:defRPr>
            </a:pPr>
            <a:r>
              <a:rPr sz="1500" b="1">
                <a:solidFill>
                  <a:srgbClr val="152538"/>
                </a:solidFill>
              </a:rPr>
              <a:t>member disagreement</a:t>
            </a:r>
            <a:endParaRPr sz="1500" b="1">
              <a:solidFill>
                <a:srgbClr val="152538"/>
              </a:solidFill>
            </a:endParaRPr>
          </a:p>
        </p:txBody>
      </p:sp>
      <p:sp>
        <p:nvSpPr>
          <p:cNvPr id="22" name="椭圆 21"/>
          <p:cNvSpPr>
            <a:spLocks noGrp="1"/>
          </p:cNvSpPr>
          <p:nvPr/>
        </p:nvSpPr>
        <p:spPr>
          <a:xfrm>
            <a:off x="9582150" y="2114550"/>
            <a:ext cx="1352550" cy="1352550"/>
          </a:xfrm>
          <a:prstGeom prst="ellipse">
            <a:avLst/>
          </a:prstGeom>
          <a:solidFill>
            <a:srgbClr val="FFFFFF"/>
          </a:solidFill>
          <a:ln w="38100">
            <a:solidFill>
              <a:srgbClr val="C74A4A"/>
            </a:solidFill>
            <a:prstDash val="solid"/>
          </a:ln>
        </p:spPr>
      </p:sp>
      <p:sp>
        <p:nvSpPr>
          <p:cNvPr id="23" name="矩形 22"/>
          <p:cNvSpPr>
            <a:spLocks noGrp="1"/>
          </p:cNvSpPr>
          <p:nvPr/>
        </p:nvSpPr>
        <p:spPr>
          <a:xfrm>
            <a:off x="9772650" y="2457450"/>
            <a:ext cx="971550" cy="476250"/>
          </a:xfrm>
          <a:prstGeom prst="rect">
            <a:avLst/>
          </a:prstGeom>
          <a:noFill/>
          <a:ln w="0">
            <a:noFill/>
            <a:prstDash val="solid"/>
          </a:ln>
        </p:spPr>
        <p:txBody>
          <a:bodyPr anchor="ctr"/>
          <a:lstStyle/>
          <a:p>
            <a:pPr algn="ctr">
              <a:defRPr sz="2325" b="1">
                <a:solidFill>
                  <a:srgbClr val="C74A4A"/>
                </a:solidFill>
              </a:defRPr>
            </a:pPr>
            <a:r>
              <a:rPr sz="2325" b="1">
                <a:solidFill>
                  <a:srgbClr val="C74A4A"/>
                </a:solidFill>
              </a:rPr>
              <a:t>p₋</a:t>
            </a:r>
            <a:endParaRPr sz="2325" b="1">
              <a:solidFill>
                <a:srgbClr val="C74A4A"/>
              </a:solidFill>
            </a:endParaRPr>
          </a:p>
        </p:txBody>
      </p:sp>
      <p:sp>
        <p:nvSpPr>
          <p:cNvPr id="24" name="矩形 23"/>
          <p:cNvSpPr>
            <a:spLocks noGrp="1"/>
          </p:cNvSpPr>
          <p:nvPr/>
        </p:nvSpPr>
        <p:spPr>
          <a:xfrm>
            <a:off x="9258300" y="3733800"/>
            <a:ext cx="2000250" cy="628650"/>
          </a:xfrm>
          <a:prstGeom prst="rect">
            <a:avLst/>
          </a:prstGeom>
          <a:noFill/>
          <a:ln w="0">
            <a:noFill/>
            <a:prstDash val="solid"/>
          </a:ln>
        </p:spPr>
        <p:txBody>
          <a:bodyPr anchor="ctr"/>
          <a:lstStyle/>
          <a:p>
            <a:pPr algn="ctr">
              <a:defRPr sz="1500" b="1">
                <a:solidFill>
                  <a:srgbClr val="152538"/>
                </a:solidFill>
              </a:defRPr>
            </a:pPr>
            <a:r>
              <a:rPr sz="1500" b="1">
                <a:solidFill>
                  <a:srgbClr val="152538"/>
                </a:solidFill>
              </a:rPr>
              <a:t>reverse mass</a:t>
            </a:r>
            <a:endParaRPr sz="1500" b="1">
              <a:solidFill>
                <a:srgbClr val="152538"/>
              </a:solidFill>
            </a:endParaRPr>
          </a:p>
        </p:txBody>
      </p:sp>
      <p:sp>
        <p:nvSpPr>
          <p:cNvPr id="25" name="矩形 24"/>
          <p:cNvSpPr>
            <a:spLocks noGrp="1"/>
          </p:cNvSpPr>
          <p:nvPr/>
        </p:nvSpPr>
        <p:spPr>
          <a:xfrm>
            <a:off x="1714500" y="4762500"/>
            <a:ext cx="8763000" cy="457200"/>
          </a:xfrm>
          <a:prstGeom prst="rect">
            <a:avLst/>
          </a:prstGeom>
          <a:noFill/>
          <a:ln w="0">
            <a:noFill/>
            <a:prstDash val="solid"/>
          </a:ln>
        </p:spPr>
        <p:txBody>
          <a:bodyPr anchor="ctr"/>
          <a:lstStyle/>
          <a:p>
            <a:pPr algn="ctr">
              <a:defRPr sz="1650" b="0">
                <a:solidFill>
                  <a:srgbClr val="6B7580"/>
                </a:solidFill>
              </a:defRPr>
            </a:pPr>
            <a:r>
              <a:rPr sz="1650" b="0">
                <a:solidFill>
                  <a:srgbClr val="6B7580"/>
                </a:solidFill>
              </a:rPr>
              <a:t>These quantities are descriptive gates on route authority—not interchangeable confidence scores.</a:t>
            </a:r>
            <a:endParaRPr sz="1650" b="0">
              <a:solidFill>
                <a:srgbClr val="6B7580"/>
              </a:solidFill>
            </a:endParaRPr>
          </a:p>
        </p:txBody>
      </p:sp>
      <p:sp>
        <p:nvSpPr>
          <p:cNvPr id="26" name="矩形 25"/>
          <p:cNvSpPr>
            <a:spLocks noGrp="1"/>
          </p:cNvSpPr>
          <p:nvPr/>
        </p:nvSpPr>
        <p:spPr>
          <a:xfrm>
            <a:off x="647700" y="5943600"/>
            <a:ext cx="10839450" cy="400050"/>
          </a:xfrm>
          <a:prstGeom prst="rect">
            <a:avLst/>
          </a:prstGeom>
          <a:solidFill>
            <a:srgbClr val="FFF0E2"/>
          </a:solidFill>
          <a:ln w="0">
            <a:noFill/>
            <a:prstDash val="solid"/>
          </a:ln>
        </p:spPr>
      </p:sp>
      <p:sp>
        <p:nvSpPr>
          <p:cNvPr id="27" name="矩形 26"/>
          <p:cNvSpPr>
            <a:spLocks noGrp="1"/>
          </p:cNvSpPr>
          <p:nvPr/>
        </p:nvSpPr>
        <p:spPr>
          <a:xfrm>
            <a:off x="647700" y="5943600"/>
            <a:ext cx="57150" cy="400050"/>
          </a:xfrm>
          <a:prstGeom prst="rect">
            <a:avLst/>
          </a:prstGeom>
          <a:solidFill>
            <a:srgbClr val="ED7F0D"/>
          </a:solidFill>
          <a:ln w="0">
            <a:noFill/>
            <a:prstDash val="solid"/>
          </a:ln>
        </p:spPr>
      </p:sp>
      <p:sp>
        <p:nvSpPr>
          <p:cNvPr id="28" name="矩形 27"/>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A tight average posterior can still hide member disagreement; no single scalar is enough.</a:t>
            </a:r>
            <a:endParaRPr sz="1275" b="1">
              <a:solidFill>
                <a:srgbClr val="152538"/>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19</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FRAMEWORK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The tactile posterior reweights the CAD prior without inventing distance</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III-B · Eqs. (13)–(15)</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19</a:t>
            </a:r>
            <a:endParaRPr sz="825" b="1">
              <a:solidFill>
                <a:srgbClr val="004282"/>
              </a:solidFill>
            </a:endParaRPr>
          </a:p>
        </p:txBody>
      </p:sp>
      <p:sp>
        <p:nvSpPr>
          <p:cNvPr id="10" name="椭圆 9"/>
          <p:cNvSpPr>
            <a:spLocks noGrp="1"/>
          </p:cNvSpPr>
          <p:nvPr/>
        </p:nvSpPr>
        <p:spPr>
          <a:xfrm>
            <a:off x="1076325" y="1809750"/>
            <a:ext cx="3143250" cy="3143250"/>
          </a:xfrm>
          <a:prstGeom prst="ellipse">
            <a:avLst/>
          </a:prstGeom>
          <a:solidFill>
            <a:srgbClr val="FFFFFF"/>
          </a:solidFill>
          <a:ln w="9525">
            <a:solidFill>
              <a:srgbClr val="D9E0E6"/>
            </a:solidFill>
            <a:prstDash val="solid"/>
          </a:ln>
        </p:spPr>
      </p:sp>
      <p:sp>
        <p:nvSpPr>
          <p:cNvPr id="11" name="椭圆 10"/>
          <p:cNvSpPr>
            <a:spLocks noGrp="1"/>
          </p:cNvSpPr>
          <p:nvPr/>
        </p:nvSpPr>
        <p:spPr>
          <a:xfrm>
            <a:off x="2819400" y="3343275"/>
            <a:ext cx="76200" cy="76200"/>
          </a:xfrm>
          <a:prstGeom prst="ellipse">
            <a:avLst/>
          </a:prstGeom>
          <a:solidFill>
            <a:srgbClr val="6B7580"/>
          </a:solidFill>
          <a:ln w="9525">
            <a:solidFill>
              <a:srgbClr val="6B7580"/>
            </a:solidFill>
            <a:prstDash val="solid"/>
          </a:ln>
        </p:spPr>
      </p:sp>
      <p:sp>
        <p:nvSpPr>
          <p:cNvPr id="12" name="椭圆 11"/>
          <p:cNvSpPr>
            <a:spLocks noGrp="1"/>
          </p:cNvSpPr>
          <p:nvPr/>
        </p:nvSpPr>
        <p:spPr>
          <a:xfrm>
            <a:off x="2125293" y="3787290"/>
            <a:ext cx="76200" cy="76200"/>
          </a:xfrm>
          <a:prstGeom prst="ellipse">
            <a:avLst/>
          </a:prstGeom>
          <a:solidFill>
            <a:srgbClr val="6B7580"/>
          </a:solidFill>
          <a:ln w="9525">
            <a:solidFill>
              <a:srgbClr val="6B7580"/>
            </a:solidFill>
            <a:prstDash val="solid"/>
          </a:ln>
        </p:spPr>
      </p:sp>
      <p:sp>
        <p:nvSpPr>
          <p:cNvPr id="13" name="椭圆 12"/>
          <p:cNvSpPr>
            <a:spLocks noGrp="1"/>
          </p:cNvSpPr>
          <p:nvPr/>
        </p:nvSpPr>
        <p:spPr>
          <a:xfrm>
            <a:off x="2706148" y="2242579"/>
            <a:ext cx="76200" cy="76200"/>
          </a:xfrm>
          <a:prstGeom prst="ellipse">
            <a:avLst/>
          </a:prstGeom>
          <a:solidFill>
            <a:srgbClr val="6B7580"/>
          </a:solidFill>
          <a:ln w="9525">
            <a:solidFill>
              <a:srgbClr val="6B7580"/>
            </a:solidFill>
            <a:prstDash val="solid"/>
          </a:ln>
        </p:spPr>
      </p:sp>
      <p:sp>
        <p:nvSpPr>
          <p:cNvPr id="14" name="椭圆 13"/>
          <p:cNvSpPr>
            <a:spLocks noGrp="1"/>
          </p:cNvSpPr>
          <p:nvPr/>
        </p:nvSpPr>
        <p:spPr>
          <a:xfrm>
            <a:off x="2830191" y="3630429"/>
            <a:ext cx="76200" cy="76200"/>
          </a:xfrm>
          <a:prstGeom prst="ellipse">
            <a:avLst/>
          </a:prstGeom>
          <a:solidFill>
            <a:srgbClr val="6B7580"/>
          </a:solidFill>
          <a:ln w="9525">
            <a:solidFill>
              <a:srgbClr val="6B7580"/>
            </a:solidFill>
            <a:prstDash val="solid"/>
          </a:ln>
        </p:spPr>
      </p:sp>
      <p:sp>
        <p:nvSpPr>
          <p:cNvPr id="15" name="椭圆 14"/>
          <p:cNvSpPr>
            <a:spLocks noGrp="1"/>
          </p:cNvSpPr>
          <p:nvPr/>
        </p:nvSpPr>
        <p:spPr>
          <a:xfrm>
            <a:off x="1812525" y="3202685"/>
            <a:ext cx="76200" cy="76200"/>
          </a:xfrm>
          <a:prstGeom prst="ellipse">
            <a:avLst/>
          </a:prstGeom>
          <a:solidFill>
            <a:srgbClr val="6B7580"/>
          </a:solidFill>
          <a:ln w="9525">
            <a:solidFill>
              <a:srgbClr val="6B7580"/>
            </a:solidFill>
            <a:prstDash val="solid"/>
          </a:ln>
        </p:spPr>
      </p:sp>
      <p:sp>
        <p:nvSpPr>
          <p:cNvPr id="16" name="椭圆 15"/>
          <p:cNvSpPr>
            <a:spLocks noGrp="1"/>
          </p:cNvSpPr>
          <p:nvPr/>
        </p:nvSpPr>
        <p:spPr>
          <a:xfrm>
            <a:off x="3670246" y="2667728"/>
            <a:ext cx="76200" cy="76200"/>
          </a:xfrm>
          <a:prstGeom prst="ellipse">
            <a:avLst/>
          </a:prstGeom>
          <a:solidFill>
            <a:srgbClr val="6B7580"/>
          </a:solidFill>
          <a:ln w="9525">
            <a:solidFill>
              <a:srgbClr val="6B7580"/>
            </a:solidFill>
            <a:prstDash val="solid"/>
          </a:ln>
        </p:spPr>
      </p:sp>
      <p:sp>
        <p:nvSpPr>
          <p:cNvPr id="17" name="椭圆 16"/>
          <p:cNvSpPr>
            <a:spLocks noGrp="1"/>
          </p:cNvSpPr>
          <p:nvPr/>
        </p:nvSpPr>
        <p:spPr>
          <a:xfrm>
            <a:off x="2476726" y="3840099"/>
            <a:ext cx="76200" cy="76200"/>
          </a:xfrm>
          <a:prstGeom prst="ellipse">
            <a:avLst/>
          </a:prstGeom>
          <a:solidFill>
            <a:srgbClr val="6B7580"/>
          </a:solidFill>
          <a:ln w="9525">
            <a:solidFill>
              <a:srgbClr val="6B7580"/>
            </a:solidFill>
            <a:prstDash val="solid"/>
          </a:ln>
        </p:spPr>
      </p:sp>
      <p:sp>
        <p:nvSpPr>
          <p:cNvPr id="18" name="椭圆 17"/>
          <p:cNvSpPr>
            <a:spLocks noGrp="1"/>
          </p:cNvSpPr>
          <p:nvPr/>
        </p:nvSpPr>
        <p:spPr>
          <a:xfrm>
            <a:off x="2165636" y="2489948"/>
            <a:ext cx="76200" cy="76200"/>
          </a:xfrm>
          <a:prstGeom prst="ellipse">
            <a:avLst/>
          </a:prstGeom>
          <a:solidFill>
            <a:srgbClr val="6B7580"/>
          </a:solidFill>
          <a:ln w="9525">
            <a:solidFill>
              <a:srgbClr val="6B7580"/>
            </a:solidFill>
            <a:prstDash val="solid"/>
          </a:ln>
        </p:spPr>
      </p:sp>
      <p:sp>
        <p:nvSpPr>
          <p:cNvPr id="19" name="椭圆 18"/>
          <p:cNvSpPr>
            <a:spLocks noGrp="1"/>
          </p:cNvSpPr>
          <p:nvPr/>
        </p:nvSpPr>
        <p:spPr>
          <a:xfrm>
            <a:off x="2815713" y="3418203"/>
            <a:ext cx="76200" cy="76200"/>
          </a:xfrm>
          <a:prstGeom prst="ellipse">
            <a:avLst/>
          </a:prstGeom>
          <a:solidFill>
            <a:srgbClr val="6B7580"/>
          </a:solidFill>
          <a:ln w="9525">
            <a:solidFill>
              <a:srgbClr val="6B7580"/>
            </a:solidFill>
            <a:prstDash val="solid"/>
          </a:ln>
        </p:spPr>
      </p:sp>
      <p:sp>
        <p:nvSpPr>
          <p:cNvPr id="20" name="椭圆 19"/>
          <p:cNvSpPr>
            <a:spLocks noGrp="1"/>
          </p:cNvSpPr>
          <p:nvPr/>
        </p:nvSpPr>
        <p:spPr>
          <a:xfrm>
            <a:off x="1993853" y="3598429"/>
            <a:ext cx="76200" cy="76200"/>
          </a:xfrm>
          <a:prstGeom prst="ellipse">
            <a:avLst/>
          </a:prstGeom>
          <a:solidFill>
            <a:srgbClr val="6B7580"/>
          </a:solidFill>
          <a:ln w="9525">
            <a:solidFill>
              <a:srgbClr val="6B7580"/>
            </a:solidFill>
            <a:prstDash val="solid"/>
          </a:ln>
        </p:spPr>
      </p:sp>
      <p:sp>
        <p:nvSpPr>
          <p:cNvPr id="21" name="椭圆 20"/>
          <p:cNvSpPr>
            <a:spLocks noGrp="1"/>
          </p:cNvSpPr>
          <p:nvPr/>
        </p:nvSpPr>
        <p:spPr>
          <a:xfrm>
            <a:off x="3080826" y="2333263"/>
            <a:ext cx="76200" cy="76200"/>
          </a:xfrm>
          <a:prstGeom prst="ellipse">
            <a:avLst/>
          </a:prstGeom>
          <a:solidFill>
            <a:srgbClr val="6B7580"/>
          </a:solidFill>
          <a:ln w="9525">
            <a:solidFill>
              <a:srgbClr val="6B7580"/>
            </a:solidFill>
            <a:prstDash val="solid"/>
          </a:ln>
        </p:spPr>
      </p:sp>
      <p:sp>
        <p:nvSpPr>
          <p:cNvPr id="22" name="椭圆 21"/>
          <p:cNvSpPr>
            <a:spLocks noGrp="1"/>
          </p:cNvSpPr>
          <p:nvPr/>
        </p:nvSpPr>
        <p:spPr>
          <a:xfrm>
            <a:off x="2721555" y="3697557"/>
            <a:ext cx="76200" cy="76200"/>
          </a:xfrm>
          <a:prstGeom prst="ellipse">
            <a:avLst/>
          </a:prstGeom>
          <a:solidFill>
            <a:srgbClr val="6B7580"/>
          </a:solidFill>
          <a:ln w="9525">
            <a:solidFill>
              <a:srgbClr val="6B7580"/>
            </a:solidFill>
            <a:prstDash val="solid"/>
          </a:ln>
        </p:spPr>
      </p:sp>
      <p:sp>
        <p:nvSpPr>
          <p:cNvPr id="23" name="椭圆 22"/>
          <p:cNvSpPr>
            <a:spLocks noGrp="1"/>
          </p:cNvSpPr>
          <p:nvPr/>
        </p:nvSpPr>
        <p:spPr>
          <a:xfrm>
            <a:off x="1900445" y="2933700"/>
            <a:ext cx="76200" cy="76200"/>
          </a:xfrm>
          <a:prstGeom prst="ellipse">
            <a:avLst/>
          </a:prstGeom>
          <a:solidFill>
            <a:srgbClr val="6B7580"/>
          </a:solidFill>
          <a:ln w="9525">
            <a:solidFill>
              <a:srgbClr val="6B7580"/>
            </a:solidFill>
            <a:prstDash val="solid"/>
          </a:ln>
        </p:spPr>
      </p:sp>
      <p:sp>
        <p:nvSpPr>
          <p:cNvPr id="24" name="椭圆 23"/>
          <p:cNvSpPr>
            <a:spLocks noGrp="1"/>
          </p:cNvSpPr>
          <p:nvPr/>
        </p:nvSpPr>
        <p:spPr>
          <a:xfrm>
            <a:off x="3846646" y="3069084"/>
            <a:ext cx="76200" cy="76200"/>
          </a:xfrm>
          <a:prstGeom prst="ellipse">
            <a:avLst/>
          </a:prstGeom>
          <a:solidFill>
            <a:srgbClr val="6B7580"/>
          </a:solidFill>
          <a:ln w="9525">
            <a:solidFill>
              <a:srgbClr val="6B7580"/>
            </a:solidFill>
            <a:prstDash val="solid"/>
          </a:ln>
        </p:spPr>
      </p:sp>
      <p:sp>
        <p:nvSpPr>
          <p:cNvPr id="25" name="椭圆 24"/>
          <p:cNvSpPr>
            <a:spLocks noGrp="1"/>
          </p:cNvSpPr>
          <p:nvPr/>
        </p:nvSpPr>
        <p:spPr>
          <a:xfrm>
            <a:off x="2309368" y="3772408"/>
            <a:ext cx="76200" cy="76200"/>
          </a:xfrm>
          <a:prstGeom prst="ellipse">
            <a:avLst/>
          </a:prstGeom>
          <a:solidFill>
            <a:srgbClr val="6B7580"/>
          </a:solidFill>
          <a:ln w="9525">
            <a:solidFill>
              <a:srgbClr val="6B7580"/>
            </a:solidFill>
            <a:prstDash val="solid"/>
          </a:ln>
        </p:spPr>
      </p:sp>
      <p:sp>
        <p:nvSpPr>
          <p:cNvPr id="26" name="椭圆 25"/>
          <p:cNvSpPr>
            <a:spLocks noGrp="1"/>
          </p:cNvSpPr>
          <p:nvPr/>
        </p:nvSpPr>
        <p:spPr>
          <a:xfrm>
            <a:off x="2483037" y="2380037"/>
            <a:ext cx="76200" cy="76200"/>
          </a:xfrm>
          <a:prstGeom prst="ellipse">
            <a:avLst/>
          </a:prstGeom>
          <a:solidFill>
            <a:srgbClr val="6B7580"/>
          </a:solidFill>
          <a:ln w="9525">
            <a:solidFill>
              <a:srgbClr val="6B7580"/>
            </a:solidFill>
            <a:prstDash val="solid"/>
          </a:ln>
        </p:spPr>
      </p:sp>
      <p:sp>
        <p:nvSpPr>
          <p:cNvPr id="27" name="椭圆 26"/>
          <p:cNvSpPr>
            <a:spLocks noGrp="1"/>
          </p:cNvSpPr>
          <p:nvPr/>
        </p:nvSpPr>
        <p:spPr>
          <a:xfrm>
            <a:off x="2784968" y="3490216"/>
            <a:ext cx="76200" cy="76200"/>
          </a:xfrm>
          <a:prstGeom prst="ellipse">
            <a:avLst/>
          </a:prstGeom>
          <a:solidFill>
            <a:srgbClr val="6B7580"/>
          </a:solidFill>
          <a:ln w="9525">
            <a:solidFill>
              <a:srgbClr val="6B7580"/>
            </a:solidFill>
            <a:prstDash val="solid"/>
          </a:ln>
        </p:spPr>
      </p:sp>
      <p:sp>
        <p:nvSpPr>
          <p:cNvPr id="28" name="椭圆 27"/>
          <p:cNvSpPr>
            <a:spLocks noGrp="1"/>
          </p:cNvSpPr>
          <p:nvPr/>
        </p:nvSpPr>
        <p:spPr>
          <a:xfrm>
            <a:off x="1934219" y="3372774"/>
            <a:ext cx="76200" cy="76200"/>
          </a:xfrm>
          <a:prstGeom prst="ellipse">
            <a:avLst/>
          </a:prstGeom>
          <a:solidFill>
            <a:srgbClr val="6B7580"/>
          </a:solidFill>
          <a:ln w="9525">
            <a:solidFill>
              <a:srgbClr val="6B7580"/>
            </a:solidFill>
            <a:prstDash val="solid"/>
          </a:ln>
        </p:spPr>
      </p:sp>
      <p:sp>
        <p:nvSpPr>
          <p:cNvPr id="29" name="椭圆 28"/>
          <p:cNvSpPr>
            <a:spLocks noGrp="1"/>
          </p:cNvSpPr>
          <p:nvPr/>
        </p:nvSpPr>
        <p:spPr>
          <a:xfrm>
            <a:off x="3404603" y="2548522"/>
            <a:ext cx="76200" cy="76200"/>
          </a:xfrm>
          <a:prstGeom prst="ellipse">
            <a:avLst/>
          </a:prstGeom>
          <a:solidFill>
            <a:srgbClr val="6B7580"/>
          </a:solidFill>
          <a:ln w="9525">
            <a:solidFill>
              <a:srgbClr val="6B7580"/>
            </a:solidFill>
            <a:prstDash val="solid"/>
          </a:ln>
        </p:spPr>
      </p:sp>
      <p:sp>
        <p:nvSpPr>
          <p:cNvPr id="30" name="椭圆 29"/>
          <p:cNvSpPr>
            <a:spLocks noGrp="1"/>
          </p:cNvSpPr>
          <p:nvPr/>
        </p:nvSpPr>
        <p:spPr>
          <a:xfrm>
            <a:off x="2593231" y="3723912"/>
            <a:ext cx="76200" cy="76200"/>
          </a:xfrm>
          <a:prstGeom prst="ellipse">
            <a:avLst/>
          </a:prstGeom>
          <a:solidFill>
            <a:srgbClr val="6B7580"/>
          </a:solidFill>
          <a:ln w="9525">
            <a:solidFill>
              <a:srgbClr val="6B7580"/>
            </a:solidFill>
            <a:prstDash val="solid"/>
          </a:ln>
        </p:spPr>
      </p:sp>
      <p:sp>
        <p:nvSpPr>
          <p:cNvPr id="31" name="椭圆 30"/>
          <p:cNvSpPr>
            <a:spLocks noGrp="1"/>
          </p:cNvSpPr>
          <p:nvPr/>
        </p:nvSpPr>
        <p:spPr>
          <a:xfrm>
            <a:off x="2077188" y="2708473"/>
            <a:ext cx="76200" cy="76200"/>
          </a:xfrm>
          <a:prstGeom prst="ellipse">
            <a:avLst/>
          </a:prstGeom>
          <a:solidFill>
            <a:srgbClr val="6B7580"/>
          </a:solidFill>
          <a:ln w="9525">
            <a:solidFill>
              <a:srgbClr val="6B7580"/>
            </a:solidFill>
            <a:prstDash val="solid"/>
          </a:ln>
        </p:spPr>
      </p:sp>
      <p:sp>
        <p:nvSpPr>
          <p:cNvPr id="32" name="椭圆 31"/>
          <p:cNvSpPr>
            <a:spLocks noGrp="1"/>
          </p:cNvSpPr>
          <p:nvPr/>
        </p:nvSpPr>
        <p:spPr>
          <a:xfrm>
            <a:off x="3875281" y="3509872"/>
            <a:ext cx="76200" cy="76200"/>
          </a:xfrm>
          <a:prstGeom prst="ellipse">
            <a:avLst/>
          </a:prstGeom>
          <a:solidFill>
            <a:srgbClr val="6B7580"/>
          </a:solidFill>
          <a:ln w="9525">
            <a:solidFill>
              <a:srgbClr val="6B7580"/>
            </a:solidFill>
            <a:prstDash val="solid"/>
          </a:ln>
        </p:spPr>
      </p:sp>
      <p:sp>
        <p:nvSpPr>
          <p:cNvPr id="33" name="椭圆 32"/>
          <p:cNvSpPr>
            <a:spLocks noGrp="1"/>
          </p:cNvSpPr>
          <p:nvPr/>
        </p:nvSpPr>
        <p:spPr>
          <a:xfrm>
            <a:off x="2172914" y="3649221"/>
            <a:ext cx="76200" cy="76200"/>
          </a:xfrm>
          <a:prstGeom prst="ellipse">
            <a:avLst/>
          </a:prstGeom>
          <a:solidFill>
            <a:srgbClr val="6B7580"/>
          </a:solidFill>
          <a:ln w="9525">
            <a:solidFill>
              <a:srgbClr val="6B7580"/>
            </a:solidFill>
            <a:prstDash val="solid"/>
          </a:ln>
        </p:spPr>
      </p:sp>
      <p:sp>
        <p:nvSpPr>
          <p:cNvPr id="34" name="椭圆 33"/>
          <p:cNvSpPr>
            <a:spLocks noGrp="1"/>
          </p:cNvSpPr>
          <p:nvPr/>
        </p:nvSpPr>
        <p:spPr>
          <a:xfrm>
            <a:off x="2822193" y="2385455"/>
            <a:ext cx="76200" cy="76200"/>
          </a:xfrm>
          <a:prstGeom prst="ellipse">
            <a:avLst/>
          </a:prstGeom>
          <a:solidFill>
            <a:srgbClr val="6B7580"/>
          </a:solidFill>
          <a:ln w="9525">
            <a:solidFill>
              <a:srgbClr val="6B7580"/>
            </a:solidFill>
            <a:prstDash val="solid"/>
          </a:ln>
        </p:spPr>
      </p:sp>
      <p:sp>
        <p:nvSpPr>
          <p:cNvPr id="35" name="椭圆 34"/>
          <p:cNvSpPr>
            <a:spLocks noGrp="1"/>
          </p:cNvSpPr>
          <p:nvPr/>
        </p:nvSpPr>
        <p:spPr>
          <a:xfrm>
            <a:off x="2728912" y="3549497"/>
            <a:ext cx="76200" cy="76200"/>
          </a:xfrm>
          <a:prstGeom prst="ellipse">
            <a:avLst/>
          </a:prstGeom>
          <a:solidFill>
            <a:srgbClr val="6B7580"/>
          </a:solidFill>
          <a:ln w="9525">
            <a:solidFill>
              <a:srgbClr val="6B7580"/>
            </a:solidFill>
            <a:prstDash val="solid"/>
          </a:ln>
        </p:spPr>
      </p:sp>
      <p:sp>
        <p:nvSpPr>
          <p:cNvPr id="36" name="椭圆 35"/>
          <p:cNvSpPr>
            <a:spLocks noGrp="1"/>
          </p:cNvSpPr>
          <p:nvPr/>
        </p:nvSpPr>
        <p:spPr>
          <a:xfrm>
            <a:off x="1955791" y="3137051"/>
            <a:ext cx="76200" cy="76200"/>
          </a:xfrm>
          <a:prstGeom prst="ellipse">
            <a:avLst/>
          </a:prstGeom>
          <a:solidFill>
            <a:srgbClr val="6B7580"/>
          </a:solidFill>
          <a:ln w="9525">
            <a:solidFill>
              <a:srgbClr val="6B7580"/>
            </a:solidFill>
            <a:prstDash val="solid"/>
          </a:ln>
        </p:spPr>
      </p:sp>
      <p:sp>
        <p:nvSpPr>
          <p:cNvPr id="37" name="椭圆 36"/>
          <p:cNvSpPr>
            <a:spLocks noGrp="1"/>
          </p:cNvSpPr>
          <p:nvPr/>
        </p:nvSpPr>
        <p:spPr>
          <a:xfrm>
            <a:off x="3637127" y="2864248"/>
            <a:ext cx="76200" cy="76200"/>
          </a:xfrm>
          <a:prstGeom prst="ellipse">
            <a:avLst/>
          </a:prstGeom>
          <a:solidFill>
            <a:srgbClr val="6B7580"/>
          </a:solidFill>
          <a:ln w="9525">
            <a:solidFill>
              <a:srgbClr val="6B7580"/>
            </a:solidFill>
            <a:prstDash val="solid"/>
          </a:ln>
        </p:spPr>
      </p:sp>
      <p:sp>
        <p:nvSpPr>
          <p:cNvPr id="38" name="椭圆 37"/>
          <p:cNvSpPr>
            <a:spLocks noGrp="1"/>
          </p:cNvSpPr>
          <p:nvPr/>
        </p:nvSpPr>
        <p:spPr>
          <a:xfrm>
            <a:off x="2460403" y="3704073"/>
            <a:ext cx="76200" cy="76200"/>
          </a:xfrm>
          <a:prstGeom prst="ellipse">
            <a:avLst/>
          </a:prstGeom>
          <a:solidFill>
            <a:srgbClr val="6B7580"/>
          </a:solidFill>
          <a:ln w="9525">
            <a:solidFill>
              <a:srgbClr val="6B7580"/>
            </a:solidFill>
            <a:prstDash val="solid"/>
          </a:ln>
        </p:spPr>
      </p:sp>
      <p:sp>
        <p:nvSpPr>
          <p:cNvPr id="39" name="椭圆 38"/>
          <p:cNvSpPr>
            <a:spLocks noGrp="1"/>
          </p:cNvSpPr>
          <p:nvPr/>
        </p:nvSpPr>
        <p:spPr>
          <a:xfrm>
            <a:off x="2323169" y="2555625"/>
            <a:ext cx="76200" cy="76200"/>
          </a:xfrm>
          <a:prstGeom prst="ellipse">
            <a:avLst/>
          </a:prstGeom>
          <a:solidFill>
            <a:srgbClr val="6B7580"/>
          </a:solidFill>
          <a:ln w="9525">
            <a:solidFill>
              <a:srgbClr val="6B7580"/>
            </a:solidFill>
            <a:prstDash val="solid"/>
          </a:ln>
        </p:spPr>
      </p:sp>
      <p:sp>
        <p:nvSpPr>
          <p:cNvPr id="40" name="椭圆 39"/>
          <p:cNvSpPr>
            <a:spLocks noGrp="1"/>
          </p:cNvSpPr>
          <p:nvPr/>
        </p:nvSpPr>
        <p:spPr>
          <a:xfrm>
            <a:off x="3750435" y="3937026"/>
            <a:ext cx="76200" cy="76200"/>
          </a:xfrm>
          <a:prstGeom prst="ellipse">
            <a:avLst/>
          </a:prstGeom>
          <a:solidFill>
            <a:srgbClr val="6B7580"/>
          </a:solidFill>
          <a:ln w="9525">
            <a:solidFill>
              <a:srgbClr val="6B7580"/>
            </a:solidFill>
            <a:prstDash val="solid"/>
          </a:ln>
        </p:spPr>
      </p:sp>
      <p:sp>
        <p:nvSpPr>
          <p:cNvPr id="41" name="椭圆 40"/>
          <p:cNvSpPr>
            <a:spLocks noGrp="1"/>
          </p:cNvSpPr>
          <p:nvPr/>
        </p:nvSpPr>
        <p:spPr>
          <a:xfrm>
            <a:off x="2085425" y="3483794"/>
            <a:ext cx="76200" cy="76200"/>
          </a:xfrm>
          <a:prstGeom prst="ellipse">
            <a:avLst/>
          </a:prstGeom>
          <a:solidFill>
            <a:srgbClr val="6B7580"/>
          </a:solidFill>
          <a:ln w="9525">
            <a:solidFill>
              <a:srgbClr val="6B7580"/>
            </a:solidFill>
            <a:prstDash val="solid"/>
          </a:ln>
        </p:spPr>
      </p:sp>
      <p:sp>
        <p:nvSpPr>
          <p:cNvPr id="42" name="椭圆 41"/>
          <p:cNvSpPr>
            <a:spLocks noGrp="1"/>
          </p:cNvSpPr>
          <p:nvPr/>
        </p:nvSpPr>
        <p:spPr>
          <a:xfrm>
            <a:off x="3142099" y="2507811"/>
            <a:ext cx="76200" cy="76200"/>
          </a:xfrm>
          <a:prstGeom prst="ellipse">
            <a:avLst/>
          </a:prstGeom>
          <a:solidFill>
            <a:srgbClr val="6B7580"/>
          </a:solidFill>
          <a:ln w="9525">
            <a:solidFill>
              <a:srgbClr val="6B7580"/>
            </a:solidFill>
            <a:prstDash val="solid"/>
          </a:ln>
        </p:spPr>
      </p:sp>
      <p:sp>
        <p:nvSpPr>
          <p:cNvPr id="43" name="椭圆 42"/>
          <p:cNvSpPr>
            <a:spLocks noGrp="1"/>
          </p:cNvSpPr>
          <p:nvPr/>
        </p:nvSpPr>
        <p:spPr>
          <a:xfrm>
            <a:off x="2652854" y="3587163"/>
            <a:ext cx="76200" cy="76200"/>
          </a:xfrm>
          <a:prstGeom prst="ellipse">
            <a:avLst/>
          </a:prstGeom>
          <a:solidFill>
            <a:srgbClr val="6B7580"/>
          </a:solidFill>
          <a:ln w="9525">
            <a:solidFill>
              <a:srgbClr val="6B7580"/>
            </a:solidFill>
            <a:prstDash val="solid"/>
          </a:ln>
        </p:spPr>
      </p:sp>
      <p:sp>
        <p:nvSpPr>
          <p:cNvPr id="44" name="椭圆 43"/>
          <p:cNvSpPr>
            <a:spLocks noGrp="1"/>
          </p:cNvSpPr>
          <p:nvPr/>
        </p:nvSpPr>
        <p:spPr>
          <a:xfrm>
            <a:off x="2058212" y="2919988"/>
            <a:ext cx="76200" cy="76200"/>
          </a:xfrm>
          <a:prstGeom prst="ellipse">
            <a:avLst/>
          </a:prstGeom>
          <a:solidFill>
            <a:srgbClr val="6B7580"/>
          </a:solidFill>
          <a:ln w="9525">
            <a:solidFill>
              <a:srgbClr val="6B7580"/>
            </a:solidFill>
            <a:prstDash val="solid"/>
          </a:ln>
        </p:spPr>
      </p:sp>
      <p:sp>
        <p:nvSpPr>
          <p:cNvPr id="45" name="椭圆 44"/>
          <p:cNvSpPr>
            <a:spLocks noGrp="1"/>
          </p:cNvSpPr>
          <p:nvPr/>
        </p:nvSpPr>
        <p:spPr>
          <a:xfrm>
            <a:off x="3748501" y="3243656"/>
            <a:ext cx="76200" cy="76200"/>
          </a:xfrm>
          <a:prstGeom prst="ellipse">
            <a:avLst/>
          </a:prstGeom>
          <a:solidFill>
            <a:srgbClr val="6B7580"/>
          </a:solidFill>
          <a:ln w="9525">
            <a:solidFill>
              <a:srgbClr val="6B7580"/>
            </a:solidFill>
            <a:prstDash val="solid"/>
          </a:ln>
        </p:spPr>
      </p:sp>
      <p:sp>
        <p:nvSpPr>
          <p:cNvPr id="46" name="椭圆 45"/>
          <p:cNvSpPr>
            <a:spLocks noGrp="1"/>
          </p:cNvSpPr>
          <p:nvPr/>
        </p:nvSpPr>
        <p:spPr>
          <a:xfrm>
            <a:off x="2339580" y="3638223"/>
            <a:ext cx="76200" cy="76200"/>
          </a:xfrm>
          <a:prstGeom prst="ellipse">
            <a:avLst/>
          </a:prstGeom>
          <a:solidFill>
            <a:srgbClr val="6B7580"/>
          </a:solidFill>
          <a:ln w="9525">
            <a:solidFill>
              <a:srgbClr val="6B7580"/>
            </a:solidFill>
            <a:prstDash val="solid"/>
          </a:ln>
        </p:spPr>
      </p:sp>
      <p:sp>
        <p:nvSpPr>
          <p:cNvPr id="47" name="椭圆 46"/>
          <p:cNvSpPr>
            <a:spLocks noGrp="1"/>
          </p:cNvSpPr>
          <p:nvPr/>
        </p:nvSpPr>
        <p:spPr>
          <a:xfrm>
            <a:off x="2609850" y="2495550"/>
            <a:ext cx="76200" cy="76200"/>
          </a:xfrm>
          <a:prstGeom prst="ellipse">
            <a:avLst/>
          </a:prstGeom>
          <a:solidFill>
            <a:srgbClr val="6B7580"/>
          </a:solidFill>
          <a:ln w="9525">
            <a:solidFill>
              <a:srgbClr val="6B7580"/>
            </a:solidFill>
            <a:prstDash val="solid"/>
          </a:ln>
        </p:spPr>
      </p:sp>
      <p:sp>
        <p:nvSpPr>
          <p:cNvPr id="48" name="椭圆 47"/>
          <p:cNvSpPr>
            <a:spLocks noGrp="1"/>
          </p:cNvSpPr>
          <p:nvPr/>
        </p:nvSpPr>
        <p:spPr>
          <a:xfrm>
            <a:off x="3485010" y="4298344"/>
            <a:ext cx="76200" cy="76200"/>
          </a:xfrm>
          <a:prstGeom prst="ellipse">
            <a:avLst/>
          </a:prstGeom>
          <a:solidFill>
            <a:srgbClr val="6B7580"/>
          </a:solidFill>
          <a:ln w="9525">
            <a:solidFill>
              <a:srgbClr val="6B7580"/>
            </a:solidFill>
            <a:prstDash val="solid"/>
          </a:ln>
        </p:spPr>
      </p:sp>
      <p:sp>
        <p:nvSpPr>
          <p:cNvPr id="49" name="椭圆 48"/>
          <p:cNvSpPr>
            <a:spLocks noGrp="1"/>
          </p:cNvSpPr>
          <p:nvPr/>
        </p:nvSpPr>
        <p:spPr>
          <a:xfrm>
            <a:off x="2059502" y="3295126"/>
            <a:ext cx="76200" cy="76200"/>
          </a:xfrm>
          <a:prstGeom prst="ellipse">
            <a:avLst/>
          </a:prstGeom>
          <a:solidFill>
            <a:srgbClr val="6B7580"/>
          </a:solidFill>
          <a:ln w="9525">
            <a:solidFill>
              <a:srgbClr val="6B7580"/>
            </a:solidFill>
            <a:prstDash val="solid"/>
          </a:ln>
        </p:spPr>
      </p:sp>
      <p:sp>
        <p:nvSpPr>
          <p:cNvPr id="50" name="椭圆 49"/>
          <p:cNvSpPr>
            <a:spLocks noGrp="1"/>
          </p:cNvSpPr>
          <p:nvPr/>
        </p:nvSpPr>
        <p:spPr>
          <a:xfrm>
            <a:off x="3403303" y="2734437"/>
            <a:ext cx="76200" cy="76200"/>
          </a:xfrm>
          <a:prstGeom prst="ellipse">
            <a:avLst/>
          </a:prstGeom>
          <a:solidFill>
            <a:srgbClr val="6B7580"/>
          </a:solidFill>
          <a:ln w="9525">
            <a:solidFill>
              <a:srgbClr val="6B7580"/>
            </a:solidFill>
            <a:prstDash val="solid"/>
          </a:ln>
        </p:spPr>
      </p:sp>
      <p:sp>
        <p:nvSpPr>
          <p:cNvPr id="51" name="椭圆 50"/>
          <p:cNvSpPr>
            <a:spLocks noGrp="1"/>
          </p:cNvSpPr>
          <p:nvPr/>
        </p:nvSpPr>
        <p:spPr>
          <a:xfrm>
            <a:off x="2565192" y="3596543"/>
            <a:ext cx="76200" cy="76200"/>
          </a:xfrm>
          <a:prstGeom prst="ellipse">
            <a:avLst/>
          </a:prstGeom>
          <a:solidFill>
            <a:srgbClr val="6B7580"/>
          </a:solidFill>
          <a:ln w="9525">
            <a:solidFill>
              <a:srgbClr val="6B7580"/>
            </a:solidFill>
            <a:prstDash val="solid"/>
          </a:ln>
        </p:spPr>
      </p:sp>
      <p:sp>
        <p:nvSpPr>
          <p:cNvPr id="52" name="椭圆 51"/>
          <p:cNvSpPr>
            <a:spLocks noGrp="1"/>
          </p:cNvSpPr>
          <p:nvPr/>
        </p:nvSpPr>
        <p:spPr>
          <a:xfrm>
            <a:off x="2231134" y="2748811"/>
            <a:ext cx="76200" cy="76200"/>
          </a:xfrm>
          <a:prstGeom prst="ellipse">
            <a:avLst/>
          </a:prstGeom>
          <a:solidFill>
            <a:srgbClr val="6B7580"/>
          </a:solidFill>
          <a:ln w="9525">
            <a:solidFill>
              <a:srgbClr val="6B7580"/>
            </a:solidFill>
            <a:prstDash val="solid"/>
          </a:ln>
        </p:spPr>
      </p:sp>
      <p:sp>
        <p:nvSpPr>
          <p:cNvPr id="53" name="椭圆 52"/>
          <p:cNvSpPr>
            <a:spLocks noGrp="1"/>
          </p:cNvSpPr>
          <p:nvPr/>
        </p:nvSpPr>
        <p:spPr>
          <a:xfrm>
            <a:off x="3723104" y="3641570"/>
            <a:ext cx="76200" cy="76200"/>
          </a:xfrm>
          <a:prstGeom prst="ellipse">
            <a:avLst/>
          </a:prstGeom>
          <a:solidFill>
            <a:srgbClr val="6B7580"/>
          </a:solidFill>
          <a:ln w="9525">
            <a:solidFill>
              <a:srgbClr val="6B7580"/>
            </a:solidFill>
            <a:prstDash val="solid"/>
          </a:ln>
        </p:spPr>
      </p:sp>
      <p:sp>
        <p:nvSpPr>
          <p:cNvPr id="54" name="椭圆 53"/>
          <p:cNvSpPr>
            <a:spLocks noGrp="1"/>
          </p:cNvSpPr>
          <p:nvPr/>
        </p:nvSpPr>
        <p:spPr>
          <a:xfrm>
            <a:off x="2246553" y="3532396"/>
            <a:ext cx="76200" cy="76200"/>
          </a:xfrm>
          <a:prstGeom prst="ellipse">
            <a:avLst/>
          </a:prstGeom>
          <a:solidFill>
            <a:srgbClr val="6B7580"/>
          </a:solidFill>
          <a:ln w="9525">
            <a:solidFill>
              <a:srgbClr val="6B7580"/>
            </a:solidFill>
            <a:prstDash val="solid"/>
          </a:ln>
        </p:spPr>
      </p:sp>
      <p:sp>
        <p:nvSpPr>
          <p:cNvPr id="55" name="椭圆 54"/>
          <p:cNvSpPr>
            <a:spLocks noGrp="1"/>
          </p:cNvSpPr>
          <p:nvPr/>
        </p:nvSpPr>
        <p:spPr>
          <a:xfrm>
            <a:off x="2903047" y="2537724"/>
            <a:ext cx="76200" cy="76200"/>
          </a:xfrm>
          <a:prstGeom prst="ellipse">
            <a:avLst/>
          </a:prstGeom>
          <a:solidFill>
            <a:srgbClr val="6B7580"/>
          </a:solidFill>
          <a:ln w="9525">
            <a:solidFill>
              <a:srgbClr val="6B7580"/>
            </a:solidFill>
            <a:prstDash val="solid"/>
          </a:ln>
        </p:spPr>
      </p:sp>
      <p:sp>
        <p:nvSpPr>
          <p:cNvPr id="56" name="椭圆 55"/>
          <p:cNvSpPr>
            <a:spLocks noGrp="1"/>
          </p:cNvSpPr>
          <p:nvPr/>
        </p:nvSpPr>
        <p:spPr>
          <a:xfrm>
            <a:off x="3109223" y="4548868"/>
            <a:ext cx="76200" cy="76200"/>
          </a:xfrm>
          <a:prstGeom prst="ellipse">
            <a:avLst/>
          </a:prstGeom>
          <a:solidFill>
            <a:srgbClr val="6B7580"/>
          </a:solidFill>
          <a:ln w="9525">
            <a:solidFill>
              <a:srgbClr val="6B7580"/>
            </a:solidFill>
            <a:prstDash val="solid"/>
          </a:ln>
        </p:spPr>
      </p:sp>
      <p:sp>
        <p:nvSpPr>
          <p:cNvPr id="57" name="椭圆 56"/>
          <p:cNvSpPr>
            <a:spLocks noGrp="1"/>
          </p:cNvSpPr>
          <p:nvPr/>
        </p:nvSpPr>
        <p:spPr>
          <a:xfrm>
            <a:off x="2100528" y="3105774"/>
            <a:ext cx="76200" cy="76200"/>
          </a:xfrm>
          <a:prstGeom prst="ellipse">
            <a:avLst/>
          </a:prstGeom>
          <a:solidFill>
            <a:srgbClr val="6B7580"/>
          </a:solidFill>
          <a:ln w="9525">
            <a:solidFill>
              <a:srgbClr val="6B7580"/>
            </a:solidFill>
            <a:prstDash val="solid"/>
          </a:ln>
        </p:spPr>
      </p:sp>
      <p:sp>
        <p:nvSpPr>
          <p:cNvPr id="58" name="椭圆 57"/>
          <p:cNvSpPr>
            <a:spLocks noGrp="1"/>
          </p:cNvSpPr>
          <p:nvPr/>
        </p:nvSpPr>
        <p:spPr>
          <a:xfrm>
            <a:off x="3572770" y="3039667"/>
            <a:ext cx="76200" cy="76200"/>
          </a:xfrm>
          <a:prstGeom prst="ellipse">
            <a:avLst/>
          </a:prstGeom>
          <a:solidFill>
            <a:srgbClr val="6B7580"/>
          </a:solidFill>
          <a:ln w="9525">
            <a:solidFill>
              <a:srgbClr val="6B7580"/>
            </a:solidFill>
            <a:prstDash val="solid"/>
          </a:ln>
        </p:spPr>
      </p:sp>
      <p:sp>
        <p:nvSpPr>
          <p:cNvPr id="59" name="椭圆 58"/>
          <p:cNvSpPr>
            <a:spLocks noGrp="1"/>
          </p:cNvSpPr>
          <p:nvPr/>
        </p:nvSpPr>
        <p:spPr>
          <a:xfrm>
            <a:off x="2476500" y="3574244"/>
            <a:ext cx="76200" cy="76200"/>
          </a:xfrm>
          <a:prstGeom prst="ellipse">
            <a:avLst/>
          </a:prstGeom>
          <a:solidFill>
            <a:srgbClr val="6B7580"/>
          </a:solidFill>
          <a:ln w="9525">
            <a:solidFill>
              <a:srgbClr val="6B7580"/>
            </a:solidFill>
            <a:prstDash val="solid"/>
          </a:ln>
        </p:spPr>
      </p:sp>
      <p:sp>
        <p:nvSpPr>
          <p:cNvPr id="60" name="椭圆 59"/>
          <p:cNvSpPr>
            <a:spLocks noGrp="1"/>
          </p:cNvSpPr>
          <p:nvPr/>
        </p:nvSpPr>
        <p:spPr>
          <a:xfrm>
            <a:off x="2455231" y="2645834"/>
            <a:ext cx="76200" cy="76200"/>
          </a:xfrm>
          <a:prstGeom prst="ellipse">
            <a:avLst/>
          </a:prstGeom>
          <a:solidFill>
            <a:srgbClr val="6B7580"/>
          </a:solidFill>
          <a:ln w="9525">
            <a:solidFill>
              <a:srgbClr val="6B7580"/>
            </a:solidFill>
            <a:prstDash val="solid"/>
          </a:ln>
        </p:spPr>
      </p:sp>
      <p:sp>
        <p:nvSpPr>
          <p:cNvPr id="61" name="椭圆 60"/>
          <p:cNvSpPr>
            <a:spLocks noGrp="1"/>
          </p:cNvSpPr>
          <p:nvPr/>
        </p:nvSpPr>
        <p:spPr>
          <a:xfrm>
            <a:off x="3561746" y="4009799"/>
            <a:ext cx="76200" cy="76200"/>
          </a:xfrm>
          <a:prstGeom prst="ellipse">
            <a:avLst/>
          </a:prstGeom>
          <a:solidFill>
            <a:srgbClr val="6B7580"/>
          </a:solidFill>
          <a:ln w="9525">
            <a:solidFill>
              <a:srgbClr val="6B7580"/>
            </a:solidFill>
            <a:prstDash val="solid"/>
          </a:ln>
        </p:spPr>
      </p:sp>
      <p:sp>
        <p:nvSpPr>
          <p:cNvPr id="62" name="椭圆 61"/>
          <p:cNvSpPr>
            <a:spLocks noGrp="1"/>
          </p:cNvSpPr>
          <p:nvPr/>
        </p:nvSpPr>
        <p:spPr>
          <a:xfrm>
            <a:off x="2194335" y="3397979"/>
            <a:ext cx="76200" cy="76200"/>
          </a:xfrm>
          <a:prstGeom prst="ellipse">
            <a:avLst/>
          </a:prstGeom>
          <a:solidFill>
            <a:srgbClr val="6B7580"/>
          </a:solidFill>
          <a:ln w="9525">
            <a:solidFill>
              <a:srgbClr val="6B7580"/>
            </a:solidFill>
            <a:prstDash val="solid"/>
          </a:ln>
        </p:spPr>
      </p:sp>
      <p:sp>
        <p:nvSpPr>
          <p:cNvPr id="63" name="椭圆 62"/>
          <p:cNvSpPr>
            <a:spLocks noGrp="1"/>
          </p:cNvSpPr>
          <p:nvPr/>
        </p:nvSpPr>
        <p:spPr>
          <a:xfrm>
            <a:off x="2581275" y="3314700"/>
            <a:ext cx="133350" cy="133350"/>
          </a:xfrm>
          <a:prstGeom prst="ellipse">
            <a:avLst/>
          </a:prstGeom>
          <a:solidFill>
            <a:srgbClr val="ED7F0D"/>
          </a:solidFill>
          <a:ln w="9525">
            <a:solidFill>
              <a:srgbClr val="ED7F0D"/>
            </a:solidFill>
            <a:prstDash val="solid"/>
          </a:ln>
        </p:spPr>
      </p:sp>
      <p:sp>
        <p:nvSpPr>
          <p:cNvPr id="64" name="椭圆 63"/>
          <p:cNvSpPr>
            <a:spLocks noGrp="1"/>
          </p:cNvSpPr>
          <p:nvPr/>
        </p:nvSpPr>
        <p:spPr>
          <a:xfrm>
            <a:off x="6467475" y="1809750"/>
            <a:ext cx="3143250" cy="3143250"/>
          </a:xfrm>
          <a:prstGeom prst="ellipse">
            <a:avLst/>
          </a:prstGeom>
          <a:solidFill>
            <a:srgbClr val="FFFFFF"/>
          </a:solidFill>
          <a:ln w="9525">
            <a:solidFill>
              <a:srgbClr val="D9E0E6"/>
            </a:solidFill>
            <a:prstDash val="solid"/>
          </a:ln>
        </p:spPr>
      </p:sp>
      <p:sp>
        <p:nvSpPr>
          <p:cNvPr id="65" name="椭圆 64"/>
          <p:cNvSpPr>
            <a:spLocks noGrp="1"/>
          </p:cNvSpPr>
          <p:nvPr/>
        </p:nvSpPr>
        <p:spPr>
          <a:xfrm>
            <a:off x="8210550" y="3343275"/>
            <a:ext cx="76200" cy="76200"/>
          </a:xfrm>
          <a:prstGeom prst="ellipse">
            <a:avLst/>
          </a:prstGeom>
          <a:solidFill>
            <a:srgbClr val="009E73"/>
          </a:solidFill>
          <a:ln w="9525">
            <a:solidFill>
              <a:srgbClr val="009E73"/>
            </a:solidFill>
            <a:prstDash val="solid"/>
          </a:ln>
        </p:spPr>
      </p:sp>
      <p:sp>
        <p:nvSpPr>
          <p:cNvPr id="66" name="椭圆 65"/>
          <p:cNvSpPr>
            <a:spLocks noGrp="1"/>
          </p:cNvSpPr>
          <p:nvPr/>
        </p:nvSpPr>
        <p:spPr>
          <a:xfrm>
            <a:off x="7516443" y="3787290"/>
            <a:ext cx="47625" cy="47625"/>
          </a:xfrm>
          <a:prstGeom prst="ellipse">
            <a:avLst/>
          </a:prstGeom>
          <a:solidFill>
            <a:srgbClr val="D9E0E6"/>
          </a:solidFill>
          <a:ln w="9525">
            <a:solidFill>
              <a:srgbClr val="D9E0E6"/>
            </a:solidFill>
            <a:prstDash val="solid"/>
          </a:ln>
        </p:spPr>
      </p:sp>
      <p:sp>
        <p:nvSpPr>
          <p:cNvPr id="67" name="椭圆 66"/>
          <p:cNvSpPr>
            <a:spLocks noGrp="1"/>
          </p:cNvSpPr>
          <p:nvPr/>
        </p:nvSpPr>
        <p:spPr>
          <a:xfrm>
            <a:off x="8097298" y="2242579"/>
            <a:ext cx="76200" cy="76200"/>
          </a:xfrm>
          <a:prstGeom prst="ellipse">
            <a:avLst/>
          </a:prstGeom>
          <a:solidFill>
            <a:srgbClr val="009E73"/>
          </a:solidFill>
          <a:ln w="9525">
            <a:solidFill>
              <a:srgbClr val="009E73"/>
            </a:solidFill>
            <a:prstDash val="solid"/>
          </a:ln>
        </p:spPr>
      </p:sp>
      <p:sp>
        <p:nvSpPr>
          <p:cNvPr id="68" name="椭圆 67"/>
          <p:cNvSpPr>
            <a:spLocks noGrp="1"/>
          </p:cNvSpPr>
          <p:nvPr/>
        </p:nvSpPr>
        <p:spPr>
          <a:xfrm>
            <a:off x="8221341" y="3630429"/>
            <a:ext cx="76200" cy="76200"/>
          </a:xfrm>
          <a:prstGeom prst="ellipse">
            <a:avLst/>
          </a:prstGeom>
          <a:solidFill>
            <a:srgbClr val="009E73"/>
          </a:solidFill>
          <a:ln w="9525">
            <a:solidFill>
              <a:srgbClr val="009E73"/>
            </a:solidFill>
            <a:prstDash val="solid"/>
          </a:ln>
        </p:spPr>
      </p:sp>
      <p:sp>
        <p:nvSpPr>
          <p:cNvPr id="69" name="椭圆 68"/>
          <p:cNvSpPr>
            <a:spLocks noGrp="1"/>
          </p:cNvSpPr>
          <p:nvPr/>
        </p:nvSpPr>
        <p:spPr>
          <a:xfrm>
            <a:off x="7203675" y="3202685"/>
            <a:ext cx="47625" cy="47625"/>
          </a:xfrm>
          <a:prstGeom prst="ellipse">
            <a:avLst/>
          </a:prstGeom>
          <a:solidFill>
            <a:srgbClr val="D9E0E6"/>
          </a:solidFill>
          <a:ln w="9525">
            <a:solidFill>
              <a:srgbClr val="D9E0E6"/>
            </a:solidFill>
            <a:prstDash val="solid"/>
          </a:ln>
        </p:spPr>
      </p:sp>
      <p:sp>
        <p:nvSpPr>
          <p:cNvPr id="70" name="椭圆 69"/>
          <p:cNvSpPr>
            <a:spLocks noGrp="1"/>
          </p:cNvSpPr>
          <p:nvPr/>
        </p:nvSpPr>
        <p:spPr>
          <a:xfrm>
            <a:off x="9061396" y="2667728"/>
            <a:ext cx="76200" cy="76200"/>
          </a:xfrm>
          <a:prstGeom prst="ellipse">
            <a:avLst/>
          </a:prstGeom>
          <a:solidFill>
            <a:srgbClr val="009E73"/>
          </a:solidFill>
          <a:ln w="9525">
            <a:solidFill>
              <a:srgbClr val="009E73"/>
            </a:solidFill>
            <a:prstDash val="solid"/>
          </a:ln>
        </p:spPr>
      </p:sp>
      <p:sp>
        <p:nvSpPr>
          <p:cNvPr id="71" name="椭圆 70"/>
          <p:cNvSpPr>
            <a:spLocks noGrp="1"/>
          </p:cNvSpPr>
          <p:nvPr/>
        </p:nvSpPr>
        <p:spPr>
          <a:xfrm>
            <a:off x="7867876" y="3840099"/>
            <a:ext cx="47625" cy="47625"/>
          </a:xfrm>
          <a:prstGeom prst="ellipse">
            <a:avLst/>
          </a:prstGeom>
          <a:solidFill>
            <a:srgbClr val="D9E0E6"/>
          </a:solidFill>
          <a:ln w="9525">
            <a:solidFill>
              <a:srgbClr val="D9E0E6"/>
            </a:solidFill>
            <a:prstDash val="solid"/>
          </a:ln>
        </p:spPr>
      </p:sp>
      <p:sp>
        <p:nvSpPr>
          <p:cNvPr id="72" name="椭圆 71"/>
          <p:cNvSpPr>
            <a:spLocks noGrp="1"/>
          </p:cNvSpPr>
          <p:nvPr/>
        </p:nvSpPr>
        <p:spPr>
          <a:xfrm>
            <a:off x="7556786" y="2489948"/>
            <a:ext cx="47625" cy="47625"/>
          </a:xfrm>
          <a:prstGeom prst="ellipse">
            <a:avLst/>
          </a:prstGeom>
          <a:solidFill>
            <a:srgbClr val="D9E0E6"/>
          </a:solidFill>
          <a:ln w="9525">
            <a:solidFill>
              <a:srgbClr val="D9E0E6"/>
            </a:solidFill>
            <a:prstDash val="solid"/>
          </a:ln>
        </p:spPr>
      </p:sp>
      <p:sp>
        <p:nvSpPr>
          <p:cNvPr id="73" name="椭圆 72"/>
          <p:cNvSpPr>
            <a:spLocks noGrp="1"/>
          </p:cNvSpPr>
          <p:nvPr/>
        </p:nvSpPr>
        <p:spPr>
          <a:xfrm>
            <a:off x="8206863" y="3418203"/>
            <a:ext cx="76200" cy="76200"/>
          </a:xfrm>
          <a:prstGeom prst="ellipse">
            <a:avLst/>
          </a:prstGeom>
          <a:solidFill>
            <a:srgbClr val="009E73"/>
          </a:solidFill>
          <a:ln w="9525">
            <a:solidFill>
              <a:srgbClr val="009E73"/>
            </a:solidFill>
            <a:prstDash val="solid"/>
          </a:ln>
        </p:spPr>
      </p:sp>
      <p:sp>
        <p:nvSpPr>
          <p:cNvPr id="74" name="椭圆 73"/>
          <p:cNvSpPr>
            <a:spLocks noGrp="1"/>
          </p:cNvSpPr>
          <p:nvPr/>
        </p:nvSpPr>
        <p:spPr>
          <a:xfrm>
            <a:off x="7385003" y="3598429"/>
            <a:ext cx="47625" cy="47625"/>
          </a:xfrm>
          <a:prstGeom prst="ellipse">
            <a:avLst/>
          </a:prstGeom>
          <a:solidFill>
            <a:srgbClr val="D9E0E6"/>
          </a:solidFill>
          <a:ln w="9525">
            <a:solidFill>
              <a:srgbClr val="D9E0E6"/>
            </a:solidFill>
            <a:prstDash val="solid"/>
          </a:ln>
        </p:spPr>
      </p:sp>
      <p:sp>
        <p:nvSpPr>
          <p:cNvPr id="75" name="椭圆 74"/>
          <p:cNvSpPr>
            <a:spLocks noGrp="1"/>
          </p:cNvSpPr>
          <p:nvPr/>
        </p:nvSpPr>
        <p:spPr>
          <a:xfrm>
            <a:off x="8471976" y="2333263"/>
            <a:ext cx="76200" cy="76200"/>
          </a:xfrm>
          <a:prstGeom prst="ellipse">
            <a:avLst/>
          </a:prstGeom>
          <a:solidFill>
            <a:srgbClr val="009E73"/>
          </a:solidFill>
          <a:ln w="9525">
            <a:solidFill>
              <a:srgbClr val="009E73"/>
            </a:solidFill>
            <a:prstDash val="solid"/>
          </a:ln>
        </p:spPr>
      </p:sp>
      <p:sp>
        <p:nvSpPr>
          <p:cNvPr id="76" name="椭圆 75"/>
          <p:cNvSpPr>
            <a:spLocks noGrp="1"/>
          </p:cNvSpPr>
          <p:nvPr/>
        </p:nvSpPr>
        <p:spPr>
          <a:xfrm>
            <a:off x="8112705" y="3697557"/>
            <a:ext cx="76200" cy="76200"/>
          </a:xfrm>
          <a:prstGeom prst="ellipse">
            <a:avLst/>
          </a:prstGeom>
          <a:solidFill>
            <a:srgbClr val="009E73"/>
          </a:solidFill>
          <a:ln w="9525">
            <a:solidFill>
              <a:srgbClr val="009E73"/>
            </a:solidFill>
            <a:prstDash val="solid"/>
          </a:ln>
        </p:spPr>
      </p:sp>
      <p:sp>
        <p:nvSpPr>
          <p:cNvPr id="77" name="椭圆 76"/>
          <p:cNvSpPr>
            <a:spLocks noGrp="1"/>
          </p:cNvSpPr>
          <p:nvPr/>
        </p:nvSpPr>
        <p:spPr>
          <a:xfrm>
            <a:off x="7291595" y="2933700"/>
            <a:ext cx="47625" cy="47625"/>
          </a:xfrm>
          <a:prstGeom prst="ellipse">
            <a:avLst/>
          </a:prstGeom>
          <a:solidFill>
            <a:srgbClr val="D9E0E6"/>
          </a:solidFill>
          <a:ln w="9525">
            <a:solidFill>
              <a:srgbClr val="D9E0E6"/>
            </a:solidFill>
            <a:prstDash val="solid"/>
          </a:ln>
        </p:spPr>
      </p:sp>
      <p:sp>
        <p:nvSpPr>
          <p:cNvPr id="78" name="椭圆 77"/>
          <p:cNvSpPr>
            <a:spLocks noGrp="1"/>
          </p:cNvSpPr>
          <p:nvPr/>
        </p:nvSpPr>
        <p:spPr>
          <a:xfrm>
            <a:off x="9237796" y="3069084"/>
            <a:ext cx="76200" cy="76200"/>
          </a:xfrm>
          <a:prstGeom prst="ellipse">
            <a:avLst/>
          </a:prstGeom>
          <a:solidFill>
            <a:srgbClr val="009E73"/>
          </a:solidFill>
          <a:ln w="9525">
            <a:solidFill>
              <a:srgbClr val="009E73"/>
            </a:solidFill>
            <a:prstDash val="solid"/>
          </a:ln>
        </p:spPr>
      </p:sp>
      <p:sp>
        <p:nvSpPr>
          <p:cNvPr id="79" name="椭圆 78"/>
          <p:cNvSpPr>
            <a:spLocks noGrp="1"/>
          </p:cNvSpPr>
          <p:nvPr/>
        </p:nvSpPr>
        <p:spPr>
          <a:xfrm>
            <a:off x="7700518" y="3772408"/>
            <a:ext cx="47625" cy="47625"/>
          </a:xfrm>
          <a:prstGeom prst="ellipse">
            <a:avLst/>
          </a:prstGeom>
          <a:solidFill>
            <a:srgbClr val="D9E0E6"/>
          </a:solidFill>
          <a:ln w="9525">
            <a:solidFill>
              <a:srgbClr val="D9E0E6"/>
            </a:solidFill>
            <a:prstDash val="solid"/>
          </a:ln>
        </p:spPr>
      </p:sp>
      <p:sp>
        <p:nvSpPr>
          <p:cNvPr id="80" name="椭圆 79"/>
          <p:cNvSpPr>
            <a:spLocks noGrp="1"/>
          </p:cNvSpPr>
          <p:nvPr/>
        </p:nvSpPr>
        <p:spPr>
          <a:xfrm>
            <a:off x="7874187" y="2380037"/>
            <a:ext cx="76200" cy="76200"/>
          </a:xfrm>
          <a:prstGeom prst="ellipse">
            <a:avLst/>
          </a:prstGeom>
          <a:solidFill>
            <a:srgbClr val="009E73"/>
          </a:solidFill>
          <a:ln w="9525">
            <a:solidFill>
              <a:srgbClr val="009E73"/>
            </a:solidFill>
            <a:prstDash val="solid"/>
          </a:ln>
        </p:spPr>
      </p:sp>
      <p:sp>
        <p:nvSpPr>
          <p:cNvPr id="81" name="椭圆 80"/>
          <p:cNvSpPr>
            <a:spLocks noGrp="1"/>
          </p:cNvSpPr>
          <p:nvPr/>
        </p:nvSpPr>
        <p:spPr>
          <a:xfrm>
            <a:off x="8176118" y="3490216"/>
            <a:ext cx="76200" cy="76200"/>
          </a:xfrm>
          <a:prstGeom prst="ellipse">
            <a:avLst/>
          </a:prstGeom>
          <a:solidFill>
            <a:srgbClr val="009E73"/>
          </a:solidFill>
          <a:ln w="9525">
            <a:solidFill>
              <a:srgbClr val="009E73"/>
            </a:solidFill>
            <a:prstDash val="solid"/>
          </a:ln>
        </p:spPr>
      </p:sp>
      <p:sp>
        <p:nvSpPr>
          <p:cNvPr id="82" name="椭圆 81"/>
          <p:cNvSpPr>
            <a:spLocks noGrp="1"/>
          </p:cNvSpPr>
          <p:nvPr/>
        </p:nvSpPr>
        <p:spPr>
          <a:xfrm>
            <a:off x="7325369" y="3372774"/>
            <a:ext cx="47625" cy="47625"/>
          </a:xfrm>
          <a:prstGeom prst="ellipse">
            <a:avLst/>
          </a:prstGeom>
          <a:solidFill>
            <a:srgbClr val="D9E0E6"/>
          </a:solidFill>
          <a:ln w="9525">
            <a:solidFill>
              <a:srgbClr val="D9E0E6"/>
            </a:solidFill>
            <a:prstDash val="solid"/>
          </a:ln>
        </p:spPr>
      </p:sp>
      <p:sp>
        <p:nvSpPr>
          <p:cNvPr id="83" name="椭圆 82"/>
          <p:cNvSpPr>
            <a:spLocks noGrp="1"/>
          </p:cNvSpPr>
          <p:nvPr/>
        </p:nvSpPr>
        <p:spPr>
          <a:xfrm>
            <a:off x="8795753" y="2548522"/>
            <a:ext cx="76200" cy="76200"/>
          </a:xfrm>
          <a:prstGeom prst="ellipse">
            <a:avLst/>
          </a:prstGeom>
          <a:solidFill>
            <a:srgbClr val="009E73"/>
          </a:solidFill>
          <a:ln w="9525">
            <a:solidFill>
              <a:srgbClr val="009E73"/>
            </a:solidFill>
            <a:prstDash val="solid"/>
          </a:ln>
        </p:spPr>
      </p:sp>
      <p:sp>
        <p:nvSpPr>
          <p:cNvPr id="84" name="椭圆 83"/>
          <p:cNvSpPr>
            <a:spLocks noGrp="1"/>
          </p:cNvSpPr>
          <p:nvPr/>
        </p:nvSpPr>
        <p:spPr>
          <a:xfrm>
            <a:off x="7984381" y="3723912"/>
            <a:ext cx="76200" cy="76200"/>
          </a:xfrm>
          <a:prstGeom prst="ellipse">
            <a:avLst/>
          </a:prstGeom>
          <a:solidFill>
            <a:srgbClr val="009E73"/>
          </a:solidFill>
          <a:ln w="9525">
            <a:solidFill>
              <a:srgbClr val="009E73"/>
            </a:solidFill>
            <a:prstDash val="solid"/>
          </a:ln>
        </p:spPr>
      </p:sp>
      <p:sp>
        <p:nvSpPr>
          <p:cNvPr id="85" name="椭圆 84"/>
          <p:cNvSpPr>
            <a:spLocks noGrp="1"/>
          </p:cNvSpPr>
          <p:nvPr/>
        </p:nvSpPr>
        <p:spPr>
          <a:xfrm>
            <a:off x="7468338" y="2708473"/>
            <a:ext cx="47625" cy="47625"/>
          </a:xfrm>
          <a:prstGeom prst="ellipse">
            <a:avLst/>
          </a:prstGeom>
          <a:solidFill>
            <a:srgbClr val="D9E0E6"/>
          </a:solidFill>
          <a:ln w="9525">
            <a:solidFill>
              <a:srgbClr val="D9E0E6"/>
            </a:solidFill>
            <a:prstDash val="solid"/>
          </a:ln>
        </p:spPr>
      </p:sp>
      <p:sp>
        <p:nvSpPr>
          <p:cNvPr id="86" name="椭圆 85"/>
          <p:cNvSpPr>
            <a:spLocks noGrp="1"/>
          </p:cNvSpPr>
          <p:nvPr/>
        </p:nvSpPr>
        <p:spPr>
          <a:xfrm>
            <a:off x="9266431" y="3509872"/>
            <a:ext cx="76200" cy="76200"/>
          </a:xfrm>
          <a:prstGeom prst="ellipse">
            <a:avLst/>
          </a:prstGeom>
          <a:solidFill>
            <a:srgbClr val="009E73"/>
          </a:solidFill>
          <a:ln w="9525">
            <a:solidFill>
              <a:srgbClr val="009E73"/>
            </a:solidFill>
            <a:prstDash val="solid"/>
          </a:ln>
        </p:spPr>
      </p:sp>
      <p:sp>
        <p:nvSpPr>
          <p:cNvPr id="87" name="椭圆 86"/>
          <p:cNvSpPr>
            <a:spLocks noGrp="1"/>
          </p:cNvSpPr>
          <p:nvPr/>
        </p:nvSpPr>
        <p:spPr>
          <a:xfrm>
            <a:off x="7564064" y="3649221"/>
            <a:ext cx="47625" cy="47625"/>
          </a:xfrm>
          <a:prstGeom prst="ellipse">
            <a:avLst/>
          </a:prstGeom>
          <a:solidFill>
            <a:srgbClr val="D9E0E6"/>
          </a:solidFill>
          <a:ln w="9525">
            <a:solidFill>
              <a:srgbClr val="D9E0E6"/>
            </a:solidFill>
            <a:prstDash val="solid"/>
          </a:ln>
        </p:spPr>
      </p:sp>
      <p:sp>
        <p:nvSpPr>
          <p:cNvPr id="88" name="椭圆 87"/>
          <p:cNvSpPr>
            <a:spLocks noGrp="1"/>
          </p:cNvSpPr>
          <p:nvPr/>
        </p:nvSpPr>
        <p:spPr>
          <a:xfrm>
            <a:off x="8213343" y="2385455"/>
            <a:ext cx="76200" cy="76200"/>
          </a:xfrm>
          <a:prstGeom prst="ellipse">
            <a:avLst/>
          </a:prstGeom>
          <a:solidFill>
            <a:srgbClr val="009E73"/>
          </a:solidFill>
          <a:ln w="9525">
            <a:solidFill>
              <a:srgbClr val="009E73"/>
            </a:solidFill>
            <a:prstDash val="solid"/>
          </a:ln>
        </p:spPr>
      </p:sp>
      <p:sp>
        <p:nvSpPr>
          <p:cNvPr id="89" name="椭圆 88"/>
          <p:cNvSpPr>
            <a:spLocks noGrp="1"/>
          </p:cNvSpPr>
          <p:nvPr/>
        </p:nvSpPr>
        <p:spPr>
          <a:xfrm>
            <a:off x="8120062" y="3549497"/>
            <a:ext cx="76200" cy="76200"/>
          </a:xfrm>
          <a:prstGeom prst="ellipse">
            <a:avLst/>
          </a:prstGeom>
          <a:solidFill>
            <a:srgbClr val="009E73"/>
          </a:solidFill>
          <a:ln w="9525">
            <a:solidFill>
              <a:srgbClr val="009E73"/>
            </a:solidFill>
            <a:prstDash val="solid"/>
          </a:ln>
        </p:spPr>
      </p:sp>
      <p:sp>
        <p:nvSpPr>
          <p:cNvPr id="90" name="椭圆 89"/>
          <p:cNvSpPr>
            <a:spLocks noGrp="1"/>
          </p:cNvSpPr>
          <p:nvPr/>
        </p:nvSpPr>
        <p:spPr>
          <a:xfrm>
            <a:off x="7346941" y="3137051"/>
            <a:ext cx="47625" cy="47625"/>
          </a:xfrm>
          <a:prstGeom prst="ellipse">
            <a:avLst/>
          </a:prstGeom>
          <a:solidFill>
            <a:srgbClr val="D9E0E6"/>
          </a:solidFill>
          <a:ln w="9525">
            <a:solidFill>
              <a:srgbClr val="D9E0E6"/>
            </a:solidFill>
            <a:prstDash val="solid"/>
          </a:ln>
        </p:spPr>
      </p:sp>
      <p:sp>
        <p:nvSpPr>
          <p:cNvPr id="91" name="椭圆 90"/>
          <p:cNvSpPr>
            <a:spLocks noGrp="1"/>
          </p:cNvSpPr>
          <p:nvPr/>
        </p:nvSpPr>
        <p:spPr>
          <a:xfrm>
            <a:off x="9028277" y="2864248"/>
            <a:ext cx="76200" cy="76200"/>
          </a:xfrm>
          <a:prstGeom prst="ellipse">
            <a:avLst/>
          </a:prstGeom>
          <a:solidFill>
            <a:srgbClr val="009E73"/>
          </a:solidFill>
          <a:ln w="9525">
            <a:solidFill>
              <a:srgbClr val="009E73"/>
            </a:solidFill>
            <a:prstDash val="solid"/>
          </a:ln>
        </p:spPr>
      </p:sp>
      <p:sp>
        <p:nvSpPr>
          <p:cNvPr id="92" name="椭圆 91"/>
          <p:cNvSpPr>
            <a:spLocks noGrp="1"/>
          </p:cNvSpPr>
          <p:nvPr/>
        </p:nvSpPr>
        <p:spPr>
          <a:xfrm>
            <a:off x="7851553" y="3704073"/>
            <a:ext cx="47625" cy="47625"/>
          </a:xfrm>
          <a:prstGeom prst="ellipse">
            <a:avLst/>
          </a:prstGeom>
          <a:solidFill>
            <a:srgbClr val="D9E0E6"/>
          </a:solidFill>
          <a:ln w="9525">
            <a:solidFill>
              <a:srgbClr val="D9E0E6"/>
            </a:solidFill>
            <a:prstDash val="solid"/>
          </a:ln>
        </p:spPr>
      </p:sp>
      <p:sp>
        <p:nvSpPr>
          <p:cNvPr id="93" name="椭圆 92"/>
          <p:cNvSpPr>
            <a:spLocks noGrp="1"/>
          </p:cNvSpPr>
          <p:nvPr/>
        </p:nvSpPr>
        <p:spPr>
          <a:xfrm>
            <a:off x="7714319" y="2555625"/>
            <a:ext cx="47625" cy="47625"/>
          </a:xfrm>
          <a:prstGeom prst="ellipse">
            <a:avLst/>
          </a:prstGeom>
          <a:solidFill>
            <a:srgbClr val="D9E0E6"/>
          </a:solidFill>
          <a:ln w="9525">
            <a:solidFill>
              <a:srgbClr val="D9E0E6"/>
            </a:solidFill>
            <a:prstDash val="solid"/>
          </a:ln>
        </p:spPr>
      </p:sp>
      <p:sp>
        <p:nvSpPr>
          <p:cNvPr id="94" name="椭圆 93"/>
          <p:cNvSpPr>
            <a:spLocks noGrp="1"/>
          </p:cNvSpPr>
          <p:nvPr/>
        </p:nvSpPr>
        <p:spPr>
          <a:xfrm>
            <a:off x="9141585" y="3937026"/>
            <a:ext cx="76200" cy="76200"/>
          </a:xfrm>
          <a:prstGeom prst="ellipse">
            <a:avLst/>
          </a:prstGeom>
          <a:solidFill>
            <a:srgbClr val="009E73"/>
          </a:solidFill>
          <a:ln w="9525">
            <a:solidFill>
              <a:srgbClr val="009E73"/>
            </a:solidFill>
            <a:prstDash val="solid"/>
          </a:ln>
        </p:spPr>
      </p:sp>
      <p:sp>
        <p:nvSpPr>
          <p:cNvPr id="95" name="椭圆 94"/>
          <p:cNvSpPr>
            <a:spLocks noGrp="1"/>
          </p:cNvSpPr>
          <p:nvPr/>
        </p:nvSpPr>
        <p:spPr>
          <a:xfrm>
            <a:off x="7476575" y="3483794"/>
            <a:ext cx="47625" cy="47625"/>
          </a:xfrm>
          <a:prstGeom prst="ellipse">
            <a:avLst/>
          </a:prstGeom>
          <a:solidFill>
            <a:srgbClr val="D9E0E6"/>
          </a:solidFill>
          <a:ln w="9525">
            <a:solidFill>
              <a:srgbClr val="D9E0E6"/>
            </a:solidFill>
            <a:prstDash val="solid"/>
          </a:ln>
        </p:spPr>
      </p:sp>
      <p:sp>
        <p:nvSpPr>
          <p:cNvPr id="96" name="椭圆 95"/>
          <p:cNvSpPr>
            <a:spLocks noGrp="1"/>
          </p:cNvSpPr>
          <p:nvPr/>
        </p:nvSpPr>
        <p:spPr>
          <a:xfrm>
            <a:off x="8533249" y="2507811"/>
            <a:ext cx="76200" cy="76200"/>
          </a:xfrm>
          <a:prstGeom prst="ellipse">
            <a:avLst/>
          </a:prstGeom>
          <a:solidFill>
            <a:srgbClr val="009E73"/>
          </a:solidFill>
          <a:ln w="9525">
            <a:solidFill>
              <a:srgbClr val="009E73"/>
            </a:solidFill>
            <a:prstDash val="solid"/>
          </a:ln>
        </p:spPr>
      </p:sp>
      <p:sp>
        <p:nvSpPr>
          <p:cNvPr id="97" name="椭圆 96"/>
          <p:cNvSpPr>
            <a:spLocks noGrp="1"/>
          </p:cNvSpPr>
          <p:nvPr/>
        </p:nvSpPr>
        <p:spPr>
          <a:xfrm>
            <a:off x="8044004" y="3587163"/>
            <a:ext cx="76200" cy="76200"/>
          </a:xfrm>
          <a:prstGeom prst="ellipse">
            <a:avLst/>
          </a:prstGeom>
          <a:solidFill>
            <a:srgbClr val="009E73"/>
          </a:solidFill>
          <a:ln w="9525">
            <a:solidFill>
              <a:srgbClr val="009E73"/>
            </a:solidFill>
            <a:prstDash val="solid"/>
          </a:ln>
        </p:spPr>
      </p:sp>
      <p:sp>
        <p:nvSpPr>
          <p:cNvPr id="98" name="椭圆 97"/>
          <p:cNvSpPr>
            <a:spLocks noGrp="1"/>
          </p:cNvSpPr>
          <p:nvPr/>
        </p:nvSpPr>
        <p:spPr>
          <a:xfrm>
            <a:off x="7449362" y="2919988"/>
            <a:ext cx="47625" cy="47625"/>
          </a:xfrm>
          <a:prstGeom prst="ellipse">
            <a:avLst/>
          </a:prstGeom>
          <a:solidFill>
            <a:srgbClr val="D9E0E6"/>
          </a:solidFill>
          <a:ln w="9525">
            <a:solidFill>
              <a:srgbClr val="D9E0E6"/>
            </a:solidFill>
            <a:prstDash val="solid"/>
          </a:ln>
        </p:spPr>
      </p:sp>
      <p:sp>
        <p:nvSpPr>
          <p:cNvPr id="99" name="椭圆 98"/>
          <p:cNvSpPr>
            <a:spLocks noGrp="1"/>
          </p:cNvSpPr>
          <p:nvPr/>
        </p:nvSpPr>
        <p:spPr>
          <a:xfrm>
            <a:off x="9139651" y="3243656"/>
            <a:ext cx="76200" cy="76200"/>
          </a:xfrm>
          <a:prstGeom prst="ellipse">
            <a:avLst/>
          </a:prstGeom>
          <a:solidFill>
            <a:srgbClr val="009E73"/>
          </a:solidFill>
          <a:ln w="9525">
            <a:solidFill>
              <a:srgbClr val="009E73"/>
            </a:solidFill>
            <a:prstDash val="solid"/>
          </a:ln>
        </p:spPr>
      </p:sp>
      <p:sp>
        <p:nvSpPr>
          <p:cNvPr id="100" name="椭圆 99"/>
          <p:cNvSpPr>
            <a:spLocks noGrp="1"/>
          </p:cNvSpPr>
          <p:nvPr/>
        </p:nvSpPr>
        <p:spPr>
          <a:xfrm>
            <a:off x="7730730" y="3638223"/>
            <a:ext cx="47625" cy="47625"/>
          </a:xfrm>
          <a:prstGeom prst="ellipse">
            <a:avLst/>
          </a:prstGeom>
          <a:solidFill>
            <a:srgbClr val="D9E0E6"/>
          </a:solidFill>
          <a:ln w="9525">
            <a:solidFill>
              <a:srgbClr val="D9E0E6"/>
            </a:solidFill>
            <a:prstDash val="solid"/>
          </a:ln>
        </p:spPr>
      </p:sp>
      <p:sp>
        <p:nvSpPr>
          <p:cNvPr id="101" name="椭圆 100"/>
          <p:cNvSpPr>
            <a:spLocks noGrp="1"/>
          </p:cNvSpPr>
          <p:nvPr/>
        </p:nvSpPr>
        <p:spPr>
          <a:xfrm>
            <a:off x="8001000" y="2495550"/>
            <a:ext cx="76200" cy="76200"/>
          </a:xfrm>
          <a:prstGeom prst="ellipse">
            <a:avLst/>
          </a:prstGeom>
          <a:solidFill>
            <a:srgbClr val="009E73"/>
          </a:solidFill>
          <a:ln w="9525">
            <a:solidFill>
              <a:srgbClr val="009E73"/>
            </a:solidFill>
            <a:prstDash val="solid"/>
          </a:ln>
        </p:spPr>
      </p:sp>
      <p:sp>
        <p:nvSpPr>
          <p:cNvPr id="102" name="椭圆 101"/>
          <p:cNvSpPr>
            <a:spLocks noGrp="1"/>
          </p:cNvSpPr>
          <p:nvPr/>
        </p:nvSpPr>
        <p:spPr>
          <a:xfrm>
            <a:off x="8876160" y="4298344"/>
            <a:ext cx="76200" cy="76200"/>
          </a:xfrm>
          <a:prstGeom prst="ellipse">
            <a:avLst/>
          </a:prstGeom>
          <a:solidFill>
            <a:srgbClr val="009E73"/>
          </a:solidFill>
          <a:ln w="9525">
            <a:solidFill>
              <a:srgbClr val="009E73"/>
            </a:solidFill>
            <a:prstDash val="solid"/>
          </a:ln>
        </p:spPr>
      </p:sp>
      <p:sp>
        <p:nvSpPr>
          <p:cNvPr id="103" name="椭圆 102"/>
          <p:cNvSpPr>
            <a:spLocks noGrp="1"/>
          </p:cNvSpPr>
          <p:nvPr/>
        </p:nvSpPr>
        <p:spPr>
          <a:xfrm>
            <a:off x="7450652" y="3295126"/>
            <a:ext cx="47625" cy="47625"/>
          </a:xfrm>
          <a:prstGeom prst="ellipse">
            <a:avLst/>
          </a:prstGeom>
          <a:solidFill>
            <a:srgbClr val="D9E0E6"/>
          </a:solidFill>
          <a:ln w="9525">
            <a:solidFill>
              <a:srgbClr val="D9E0E6"/>
            </a:solidFill>
            <a:prstDash val="solid"/>
          </a:ln>
        </p:spPr>
      </p:sp>
      <p:sp>
        <p:nvSpPr>
          <p:cNvPr id="104" name="椭圆 103"/>
          <p:cNvSpPr>
            <a:spLocks noGrp="1"/>
          </p:cNvSpPr>
          <p:nvPr/>
        </p:nvSpPr>
        <p:spPr>
          <a:xfrm>
            <a:off x="8794453" y="2734437"/>
            <a:ext cx="76200" cy="76200"/>
          </a:xfrm>
          <a:prstGeom prst="ellipse">
            <a:avLst/>
          </a:prstGeom>
          <a:solidFill>
            <a:srgbClr val="009E73"/>
          </a:solidFill>
          <a:ln w="9525">
            <a:solidFill>
              <a:srgbClr val="009E73"/>
            </a:solidFill>
            <a:prstDash val="solid"/>
          </a:ln>
        </p:spPr>
      </p:sp>
      <p:sp>
        <p:nvSpPr>
          <p:cNvPr id="105" name="椭圆 104"/>
          <p:cNvSpPr>
            <a:spLocks noGrp="1"/>
          </p:cNvSpPr>
          <p:nvPr/>
        </p:nvSpPr>
        <p:spPr>
          <a:xfrm>
            <a:off x="7956342" y="3596543"/>
            <a:ext cx="47625" cy="47625"/>
          </a:xfrm>
          <a:prstGeom prst="ellipse">
            <a:avLst/>
          </a:prstGeom>
          <a:solidFill>
            <a:srgbClr val="D9E0E6"/>
          </a:solidFill>
          <a:ln w="9525">
            <a:solidFill>
              <a:srgbClr val="D9E0E6"/>
            </a:solidFill>
            <a:prstDash val="solid"/>
          </a:ln>
        </p:spPr>
      </p:sp>
      <p:sp>
        <p:nvSpPr>
          <p:cNvPr id="106" name="椭圆 105"/>
          <p:cNvSpPr>
            <a:spLocks noGrp="1"/>
          </p:cNvSpPr>
          <p:nvPr/>
        </p:nvSpPr>
        <p:spPr>
          <a:xfrm>
            <a:off x="7622284" y="2748811"/>
            <a:ext cx="47625" cy="47625"/>
          </a:xfrm>
          <a:prstGeom prst="ellipse">
            <a:avLst/>
          </a:prstGeom>
          <a:solidFill>
            <a:srgbClr val="D9E0E6"/>
          </a:solidFill>
          <a:ln w="9525">
            <a:solidFill>
              <a:srgbClr val="D9E0E6"/>
            </a:solidFill>
            <a:prstDash val="solid"/>
          </a:ln>
        </p:spPr>
      </p:sp>
      <p:sp>
        <p:nvSpPr>
          <p:cNvPr id="107" name="椭圆 106"/>
          <p:cNvSpPr>
            <a:spLocks noGrp="1"/>
          </p:cNvSpPr>
          <p:nvPr/>
        </p:nvSpPr>
        <p:spPr>
          <a:xfrm>
            <a:off x="9114254" y="3641570"/>
            <a:ext cx="76200" cy="76200"/>
          </a:xfrm>
          <a:prstGeom prst="ellipse">
            <a:avLst/>
          </a:prstGeom>
          <a:solidFill>
            <a:srgbClr val="009E73"/>
          </a:solidFill>
          <a:ln w="9525">
            <a:solidFill>
              <a:srgbClr val="009E73"/>
            </a:solidFill>
            <a:prstDash val="solid"/>
          </a:ln>
        </p:spPr>
      </p:sp>
      <p:sp>
        <p:nvSpPr>
          <p:cNvPr id="108" name="椭圆 107"/>
          <p:cNvSpPr>
            <a:spLocks noGrp="1"/>
          </p:cNvSpPr>
          <p:nvPr/>
        </p:nvSpPr>
        <p:spPr>
          <a:xfrm>
            <a:off x="7637703" y="3532396"/>
            <a:ext cx="47625" cy="47625"/>
          </a:xfrm>
          <a:prstGeom prst="ellipse">
            <a:avLst/>
          </a:prstGeom>
          <a:solidFill>
            <a:srgbClr val="D9E0E6"/>
          </a:solidFill>
          <a:ln w="9525">
            <a:solidFill>
              <a:srgbClr val="D9E0E6"/>
            </a:solidFill>
            <a:prstDash val="solid"/>
          </a:ln>
        </p:spPr>
      </p:sp>
      <p:sp>
        <p:nvSpPr>
          <p:cNvPr id="109" name="椭圆 108"/>
          <p:cNvSpPr>
            <a:spLocks noGrp="1"/>
          </p:cNvSpPr>
          <p:nvPr/>
        </p:nvSpPr>
        <p:spPr>
          <a:xfrm>
            <a:off x="8294197" y="2537724"/>
            <a:ext cx="76200" cy="76200"/>
          </a:xfrm>
          <a:prstGeom prst="ellipse">
            <a:avLst/>
          </a:prstGeom>
          <a:solidFill>
            <a:srgbClr val="009E73"/>
          </a:solidFill>
          <a:ln w="9525">
            <a:solidFill>
              <a:srgbClr val="009E73"/>
            </a:solidFill>
            <a:prstDash val="solid"/>
          </a:ln>
        </p:spPr>
      </p:sp>
      <p:sp>
        <p:nvSpPr>
          <p:cNvPr id="110" name="椭圆 109"/>
          <p:cNvSpPr>
            <a:spLocks noGrp="1"/>
          </p:cNvSpPr>
          <p:nvPr/>
        </p:nvSpPr>
        <p:spPr>
          <a:xfrm>
            <a:off x="8500373" y="4548868"/>
            <a:ext cx="76200" cy="76200"/>
          </a:xfrm>
          <a:prstGeom prst="ellipse">
            <a:avLst/>
          </a:prstGeom>
          <a:solidFill>
            <a:srgbClr val="009E73"/>
          </a:solidFill>
          <a:ln w="9525">
            <a:solidFill>
              <a:srgbClr val="009E73"/>
            </a:solidFill>
            <a:prstDash val="solid"/>
          </a:ln>
        </p:spPr>
      </p:sp>
      <p:sp>
        <p:nvSpPr>
          <p:cNvPr id="111" name="椭圆 110"/>
          <p:cNvSpPr>
            <a:spLocks noGrp="1"/>
          </p:cNvSpPr>
          <p:nvPr/>
        </p:nvSpPr>
        <p:spPr>
          <a:xfrm>
            <a:off x="7491678" y="3105774"/>
            <a:ext cx="47625" cy="47625"/>
          </a:xfrm>
          <a:prstGeom prst="ellipse">
            <a:avLst/>
          </a:prstGeom>
          <a:solidFill>
            <a:srgbClr val="D9E0E6"/>
          </a:solidFill>
          <a:ln w="9525">
            <a:solidFill>
              <a:srgbClr val="D9E0E6"/>
            </a:solidFill>
            <a:prstDash val="solid"/>
          </a:ln>
        </p:spPr>
      </p:sp>
      <p:sp>
        <p:nvSpPr>
          <p:cNvPr id="112" name="椭圆 111"/>
          <p:cNvSpPr>
            <a:spLocks noGrp="1"/>
          </p:cNvSpPr>
          <p:nvPr/>
        </p:nvSpPr>
        <p:spPr>
          <a:xfrm>
            <a:off x="8963920" y="3039667"/>
            <a:ext cx="76200" cy="76200"/>
          </a:xfrm>
          <a:prstGeom prst="ellipse">
            <a:avLst/>
          </a:prstGeom>
          <a:solidFill>
            <a:srgbClr val="009E73"/>
          </a:solidFill>
          <a:ln w="9525">
            <a:solidFill>
              <a:srgbClr val="009E73"/>
            </a:solidFill>
            <a:prstDash val="solid"/>
          </a:ln>
        </p:spPr>
      </p:sp>
      <p:sp>
        <p:nvSpPr>
          <p:cNvPr id="113" name="椭圆 112"/>
          <p:cNvSpPr>
            <a:spLocks noGrp="1"/>
          </p:cNvSpPr>
          <p:nvPr/>
        </p:nvSpPr>
        <p:spPr>
          <a:xfrm>
            <a:off x="7867650" y="3574244"/>
            <a:ext cx="47625" cy="47625"/>
          </a:xfrm>
          <a:prstGeom prst="ellipse">
            <a:avLst/>
          </a:prstGeom>
          <a:solidFill>
            <a:srgbClr val="D9E0E6"/>
          </a:solidFill>
          <a:ln w="9525">
            <a:solidFill>
              <a:srgbClr val="D9E0E6"/>
            </a:solidFill>
            <a:prstDash val="solid"/>
          </a:ln>
        </p:spPr>
      </p:sp>
      <p:sp>
        <p:nvSpPr>
          <p:cNvPr id="114" name="椭圆 113"/>
          <p:cNvSpPr>
            <a:spLocks noGrp="1"/>
          </p:cNvSpPr>
          <p:nvPr/>
        </p:nvSpPr>
        <p:spPr>
          <a:xfrm>
            <a:off x="7846381" y="2645834"/>
            <a:ext cx="47625" cy="47625"/>
          </a:xfrm>
          <a:prstGeom prst="ellipse">
            <a:avLst/>
          </a:prstGeom>
          <a:solidFill>
            <a:srgbClr val="D9E0E6"/>
          </a:solidFill>
          <a:ln w="9525">
            <a:solidFill>
              <a:srgbClr val="D9E0E6"/>
            </a:solidFill>
            <a:prstDash val="solid"/>
          </a:ln>
        </p:spPr>
      </p:sp>
      <p:sp>
        <p:nvSpPr>
          <p:cNvPr id="115" name="椭圆 114"/>
          <p:cNvSpPr>
            <a:spLocks noGrp="1"/>
          </p:cNvSpPr>
          <p:nvPr/>
        </p:nvSpPr>
        <p:spPr>
          <a:xfrm>
            <a:off x="8952896" y="4009799"/>
            <a:ext cx="76200" cy="76200"/>
          </a:xfrm>
          <a:prstGeom prst="ellipse">
            <a:avLst/>
          </a:prstGeom>
          <a:solidFill>
            <a:srgbClr val="009E73"/>
          </a:solidFill>
          <a:ln w="9525">
            <a:solidFill>
              <a:srgbClr val="009E73"/>
            </a:solidFill>
            <a:prstDash val="solid"/>
          </a:ln>
        </p:spPr>
      </p:sp>
      <p:sp>
        <p:nvSpPr>
          <p:cNvPr id="116" name="椭圆 115"/>
          <p:cNvSpPr>
            <a:spLocks noGrp="1"/>
          </p:cNvSpPr>
          <p:nvPr/>
        </p:nvSpPr>
        <p:spPr>
          <a:xfrm>
            <a:off x="7585485" y="3397979"/>
            <a:ext cx="47625" cy="47625"/>
          </a:xfrm>
          <a:prstGeom prst="ellipse">
            <a:avLst/>
          </a:prstGeom>
          <a:solidFill>
            <a:srgbClr val="D9E0E6"/>
          </a:solidFill>
          <a:ln w="9525">
            <a:solidFill>
              <a:srgbClr val="D9E0E6"/>
            </a:solidFill>
            <a:prstDash val="solid"/>
          </a:ln>
        </p:spPr>
      </p:sp>
      <p:sp>
        <p:nvSpPr>
          <p:cNvPr id="117" name="椭圆 116"/>
          <p:cNvSpPr>
            <a:spLocks noGrp="1"/>
          </p:cNvSpPr>
          <p:nvPr/>
        </p:nvSpPr>
        <p:spPr>
          <a:xfrm>
            <a:off x="7972425" y="3314700"/>
            <a:ext cx="133350" cy="133350"/>
          </a:xfrm>
          <a:prstGeom prst="ellipse">
            <a:avLst/>
          </a:prstGeom>
          <a:solidFill>
            <a:srgbClr val="ED7F0D"/>
          </a:solidFill>
          <a:ln w="9525">
            <a:solidFill>
              <a:srgbClr val="ED7F0D"/>
            </a:solidFill>
            <a:prstDash val="solid"/>
          </a:ln>
        </p:spPr>
      </p:sp>
      <p:sp>
        <p:nvSpPr>
          <p:cNvPr id="118" name="矩形 117"/>
          <p:cNvSpPr>
            <a:spLocks noGrp="1"/>
          </p:cNvSpPr>
          <p:nvPr/>
        </p:nvSpPr>
        <p:spPr>
          <a:xfrm>
            <a:off x="1219200" y="1666875"/>
            <a:ext cx="2857500" cy="304800"/>
          </a:xfrm>
          <a:prstGeom prst="rect">
            <a:avLst/>
          </a:prstGeom>
          <a:noFill/>
          <a:ln w="0">
            <a:noFill/>
            <a:prstDash val="solid"/>
          </a:ln>
        </p:spPr>
        <p:txBody>
          <a:bodyPr anchor="ctr"/>
          <a:lstStyle/>
          <a:p>
            <a:pPr algn="ctr">
              <a:defRPr sz="1575" b="1">
                <a:solidFill>
                  <a:srgbClr val="004282"/>
                </a:solidFill>
              </a:defRPr>
            </a:pPr>
            <a:r>
              <a:rPr sz="1575" b="1">
                <a:solidFill>
                  <a:srgbClr val="004282"/>
                </a:solidFill>
              </a:rPr>
              <a:t>TRUNCATED CAD PRIOR</a:t>
            </a:r>
            <a:endParaRPr sz="1575" b="1">
              <a:solidFill>
                <a:srgbClr val="004282"/>
              </a:solidFill>
            </a:endParaRPr>
          </a:p>
        </p:txBody>
      </p:sp>
      <p:sp>
        <p:nvSpPr>
          <p:cNvPr id="119" name="矩形 118"/>
          <p:cNvSpPr>
            <a:spLocks noGrp="1"/>
          </p:cNvSpPr>
          <p:nvPr/>
        </p:nvSpPr>
        <p:spPr>
          <a:xfrm>
            <a:off x="6419850" y="1666875"/>
            <a:ext cx="3238500" cy="304800"/>
          </a:xfrm>
          <a:prstGeom prst="rect">
            <a:avLst/>
          </a:prstGeom>
          <a:noFill/>
          <a:ln w="0">
            <a:noFill/>
            <a:prstDash val="solid"/>
          </a:ln>
        </p:spPr>
        <p:txBody>
          <a:bodyPr anchor="ctr"/>
          <a:lstStyle/>
          <a:p>
            <a:pPr algn="ctr">
              <a:defRPr sz="1575" b="1">
                <a:solidFill>
                  <a:srgbClr val="009E73"/>
                </a:solidFill>
              </a:defRPr>
            </a:pPr>
            <a:r>
              <a:rPr sz="1575" b="1">
                <a:solidFill>
                  <a:srgbClr val="009E73"/>
                </a:solidFill>
              </a:rPr>
              <a:t>TACTILE-REWEIGHTED BELIEF</a:t>
            </a:r>
            <a:endParaRPr sz="1575" b="1">
              <a:solidFill>
                <a:srgbClr val="009E73"/>
              </a:solidFill>
            </a:endParaRPr>
          </a:p>
        </p:txBody>
      </p:sp>
      <p:sp>
        <p:nvSpPr>
          <p:cNvPr id="120" name="右箭头 119"/>
          <p:cNvSpPr>
            <a:spLocks noGrp="1"/>
          </p:cNvSpPr>
          <p:nvPr/>
        </p:nvSpPr>
        <p:spPr>
          <a:xfrm>
            <a:off x="4876800" y="3257550"/>
            <a:ext cx="1143000" cy="266700"/>
          </a:xfrm>
          <a:prstGeom prst="rightArrow">
            <a:avLst/>
          </a:prstGeom>
          <a:solidFill>
            <a:srgbClr val="ED7F0D"/>
          </a:solidFill>
          <a:ln w="0">
            <a:noFill/>
            <a:prstDash val="solid"/>
          </a:ln>
        </p:spPr>
      </p:sp>
      <p:sp>
        <p:nvSpPr>
          <p:cNvPr id="121" name="矩形 120"/>
          <p:cNvSpPr>
            <a:spLocks noGrp="1"/>
          </p:cNvSpPr>
          <p:nvPr/>
        </p:nvSpPr>
        <p:spPr>
          <a:xfrm>
            <a:off x="4457700" y="2724150"/>
            <a:ext cx="2000250" cy="419100"/>
          </a:xfrm>
          <a:prstGeom prst="rect">
            <a:avLst/>
          </a:prstGeom>
          <a:noFill/>
          <a:ln w="0">
            <a:noFill/>
            <a:prstDash val="solid"/>
          </a:ln>
        </p:spPr>
        <p:txBody>
          <a:bodyPr anchor="ctr"/>
          <a:lstStyle/>
          <a:p>
            <a:pPr algn="ctr">
              <a:defRPr sz="1125" b="1">
                <a:solidFill>
                  <a:srgbClr val="ED7F0D"/>
                </a:solidFill>
              </a:defRPr>
            </a:pPr>
            <a:r>
              <a:rPr sz="1125" b="1">
                <a:solidFill>
                  <a:srgbClr val="ED7F0D"/>
                </a:solidFill>
              </a:rPr>
              <a:t>angular + contact-support weighting</a:t>
            </a:r>
            <a:endParaRPr sz="1125" b="1">
              <a:solidFill>
                <a:srgbClr val="ED7F0D"/>
              </a:solidFill>
            </a:endParaRPr>
          </a:p>
        </p:txBody>
      </p:sp>
      <p:sp>
        <p:nvSpPr>
          <p:cNvPr id="122" name="矩形 121"/>
          <p:cNvSpPr>
            <a:spLocks noGrp="1"/>
          </p:cNvSpPr>
          <p:nvPr/>
        </p:nvSpPr>
        <p:spPr>
          <a:xfrm>
            <a:off x="9810750" y="1952625"/>
            <a:ext cx="1428750" cy="476250"/>
          </a:xfrm>
          <a:prstGeom prst="rect">
            <a:avLst/>
          </a:prstGeom>
          <a:noFill/>
          <a:ln w="0">
            <a:noFill/>
            <a:prstDash val="solid"/>
          </a:ln>
        </p:spPr>
        <p:txBody>
          <a:bodyPr anchor="ctr"/>
          <a:lstStyle/>
          <a:p>
            <a:pPr algn="ctr">
              <a:defRPr sz="2550" b="1">
                <a:solidFill>
                  <a:srgbClr val="004282"/>
                </a:solidFill>
              </a:defRPr>
            </a:pPr>
            <a:r>
              <a:rPr sz="2550" b="1">
                <a:solidFill>
                  <a:srgbClr val="004282"/>
                </a:solidFill>
              </a:rPr>
              <a:t>N = 4096</a:t>
            </a:r>
            <a:endParaRPr sz="2550" b="1">
              <a:solidFill>
                <a:srgbClr val="004282"/>
              </a:solidFill>
            </a:endParaRPr>
          </a:p>
        </p:txBody>
      </p:sp>
      <p:sp>
        <p:nvSpPr>
          <p:cNvPr id="123" name="矩形 122"/>
          <p:cNvSpPr>
            <a:spLocks noGrp="1"/>
          </p:cNvSpPr>
          <p:nvPr/>
        </p:nvSpPr>
        <p:spPr>
          <a:xfrm>
            <a:off x="9810750" y="2447925"/>
            <a:ext cx="142875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prior particles</a:t>
            </a:r>
            <a:endParaRPr sz="1200" b="0">
              <a:solidFill>
                <a:srgbClr val="6B7580"/>
              </a:solidFill>
            </a:endParaRPr>
          </a:p>
        </p:txBody>
      </p:sp>
      <p:sp>
        <p:nvSpPr>
          <p:cNvPr id="124" name="矩形 123"/>
          <p:cNvSpPr>
            <a:spLocks noGrp="1"/>
          </p:cNvSpPr>
          <p:nvPr/>
        </p:nvSpPr>
        <p:spPr>
          <a:xfrm>
            <a:off x="9810750" y="3019425"/>
            <a:ext cx="1428750" cy="476250"/>
          </a:xfrm>
          <a:prstGeom prst="rect">
            <a:avLst/>
          </a:prstGeom>
          <a:noFill/>
          <a:ln w="0">
            <a:noFill/>
            <a:prstDash val="solid"/>
          </a:ln>
        </p:spPr>
        <p:txBody>
          <a:bodyPr anchor="ctr"/>
          <a:lstStyle/>
          <a:p>
            <a:pPr algn="ctr">
              <a:defRPr sz="2550" b="1">
                <a:solidFill>
                  <a:srgbClr val="009E73"/>
                </a:solidFill>
              </a:defRPr>
            </a:pPr>
            <a:r>
              <a:rPr sz="2550" b="1">
                <a:solidFill>
                  <a:srgbClr val="009E73"/>
                </a:solidFill>
              </a:rPr>
              <a:t>angular weight</a:t>
            </a:r>
            <a:endParaRPr sz="2550" b="1">
              <a:solidFill>
                <a:srgbClr val="009E73"/>
              </a:solidFill>
            </a:endParaRPr>
          </a:p>
        </p:txBody>
      </p:sp>
      <p:sp>
        <p:nvSpPr>
          <p:cNvPr id="125" name="矩形 124"/>
          <p:cNvSpPr>
            <a:spLocks noGrp="1"/>
          </p:cNvSpPr>
          <p:nvPr/>
        </p:nvSpPr>
        <p:spPr>
          <a:xfrm>
            <a:off x="9810750" y="3514725"/>
            <a:ext cx="142875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from tactile posterior</a:t>
            </a:r>
            <a:endParaRPr sz="1200" b="0">
              <a:solidFill>
                <a:srgbClr val="6B7580"/>
              </a:solidFill>
            </a:endParaRPr>
          </a:p>
        </p:txBody>
      </p:sp>
      <p:sp>
        <p:nvSpPr>
          <p:cNvPr id="126" name="矩形 125"/>
          <p:cNvSpPr>
            <a:spLocks noGrp="1"/>
          </p:cNvSpPr>
          <p:nvPr/>
        </p:nvSpPr>
        <p:spPr>
          <a:xfrm>
            <a:off x="9810750" y="4086225"/>
            <a:ext cx="1428750" cy="476250"/>
          </a:xfrm>
          <a:prstGeom prst="rect">
            <a:avLst/>
          </a:prstGeom>
          <a:noFill/>
          <a:ln w="0">
            <a:noFill/>
            <a:prstDash val="solid"/>
          </a:ln>
        </p:spPr>
        <p:txBody>
          <a:bodyPr anchor="ctr"/>
          <a:lstStyle/>
          <a:p>
            <a:pPr algn="ctr">
              <a:defRPr sz="2550" b="1">
                <a:solidFill>
                  <a:srgbClr val="ED7F0D"/>
                </a:solidFill>
              </a:defRPr>
            </a:pPr>
            <a:r>
              <a:rPr sz="2550" b="1">
                <a:solidFill>
                  <a:srgbClr val="ED7F0D"/>
                </a:solidFill>
              </a:rPr>
              <a:t>radial support</a:t>
            </a:r>
            <a:endParaRPr sz="2550" b="1">
              <a:solidFill>
                <a:srgbClr val="ED7F0D"/>
              </a:solidFill>
            </a:endParaRPr>
          </a:p>
        </p:txBody>
      </p:sp>
      <p:sp>
        <p:nvSpPr>
          <p:cNvPr id="127" name="矩形 126"/>
          <p:cNvSpPr>
            <a:spLocks noGrp="1"/>
          </p:cNvSpPr>
          <p:nvPr/>
        </p:nvSpPr>
        <p:spPr>
          <a:xfrm>
            <a:off x="9810750" y="4581525"/>
            <a:ext cx="142875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kept explicit</a:t>
            </a:r>
            <a:endParaRPr sz="1200" b="0">
              <a:solidFill>
                <a:srgbClr val="6B7580"/>
              </a:solidFill>
            </a:endParaRPr>
          </a:p>
        </p:txBody>
      </p:sp>
      <p:sp>
        <p:nvSpPr>
          <p:cNvPr id="128" name="矩形 127"/>
          <p:cNvSpPr>
            <a:spLocks noGrp="1"/>
          </p:cNvSpPr>
          <p:nvPr/>
        </p:nvSpPr>
        <p:spPr>
          <a:xfrm>
            <a:off x="647700" y="5943600"/>
            <a:ext cx="10839450" cy="400050"/>
          </a:xfrm>
          <a:prstGeom prst="rect">
            <a:avLst/>
          </a:prstGeom>
          <a:solidFill>
            <a:srgbClr val="FFF0E2"/>
          </a:solidFill>
          <a:ln w="0">
            <a:noFill/>
            <a:prstDash val="solid"/>
          </a:ln>
        </p:spPr>
      </p:sp>
      <p:sp>
        <p:nvSpPr>
          <p:cNvPr id="129" name="矩形 128"/>
          <p:cNvSpPr>
            <a:spLocks noGrp="1"/>
          </p:cNvSpPr>
          <p:nvPr/>
        </p:nvSpPr>
        <p:spPr>
          <a:xfrm>
            <a:off x="647700" y="5943600"/>
            <a:ext cx="57150" cy="400050"/>
          </a:xfrm>
          <a:prstGeom prst="rect">
            <a:avLst/>
          </a:prstGeom>
          <a:solidFill>
            <a:srgbClr val="ED7F0D"/>
          </a:solidFill>
          <a:ln w="0">
            <a:noFill/>
            <a:prstDash val="solid"/>
          </a:ln>
        </p:spPr>
      </p:sp>
      <p:sp>
        <p:nvSpPr>
          <p:cNvPr id="130" name="矩形 129"/>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result is a planar center belief, not a point prediction.</a:t>
            </a:r>
            <a:endParaRPr sz="1275" b="1">
              <a:solidFill>
                <a:srgbClr val="152538"/>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20</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FRAMEWORK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Only well-supported posterior mass becomes direct travel</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III-C · Eqs. (16)–(19) · Fig. 4</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20</a:t>
            </a:r>
            <a:endParaRPr sz="825" b="1">
              <a:solidFill>
                <a:srgbClr val="004282"/>
              </a:solidFill>
            </a:endParaRPr>
          </a:p>
        </p:txBody>
      </p:sp>
      <p:sp>
        <p:nvSpPr>
          <p:cNvPr id="10" name="圆角矩形 9"/>
          <p:cNvSpPr>
            <a:spLocks noGrp="1"/>
          </p:cNvSpPr>
          <p:nvPr/>
        </p:nvSpPr>
        <p:spPr>
          <a:xfrm>
            <a:off x="704850" y="1428750"/>
            <a:ext cx="10725150" cy="4400550"/>
          </a:xfrm>
          <a:prstGeom prst="roundRect">
            <a:avLst>
              <a:gd name="adj" fmla="val 1732"/>
            </a:avLst>
          </a:prstGeom>
          <a:solidFill>
            <a:srgbClr val="FFFFFF"/>
          </a:solidFill>
          <a:ln w="9525">
            <a:solidFill>
              <a:srgbClr val="D9E0E6"/>
            </a:solidFill>
            <a:prstDash val="solid"/>
          </a:ln>
        </p:spPr>
      </p:sp>
      <p:pic>
        <p:nvPicPr>
          <p:cNvPr id="23" name="图片 22"/>
          <p:cNvPicPr>
            <a:picLocks noChangeAspect="1"/>
          </p:cNvPicPr>
          <p:nvPr/>
        </p:nvPicPr>
        <p:blipFill>
          <a:blip r:embed="rId1"/>
          <a:stretch>
            <a:fillRect/>
          </a:stretch>
        </p:blipFill>
        <p:spPr>
          <a:xfrm>
            <a:off x="781050" y="1536963"/>
            <a:ext cx="10572750" cy="4184123"/>
          </a:xfrm>
          <a:prstGeom prst="roundRect">
            <a:avLst>
              <a:gd name="adj" fmla="val 1794"/>
            </a:avLst>
          </a:prstGeom>
        </p:spPr>
      </p:pic>
      <p:sp>
        <p:nvSpPr>
          <p:cNvPr id="11" name="矩形 10"/>
          <p:cNvSpPr>
            <a:spLocks noGrp="1"/>
          </p:cNvSpPr>
          <p:nvPr/>
        </p:nvSpPr>
        <p:spPr>
          <a:xfrm>
            <a:off x="647700" y="5943600"/>
            <a:ext cx="10839450" cy="400050"/>
          </a:xfrm>
          <a:prstGeom prst="rect">
            <a:avLst/>
          </a:prstGeom>
          <a:solidFill>
            <a:srgbClr val="FFF0E2"/>
          </a:solidFill>
          <a:ln w="0">
            <a:noFill/>
            <a:prstDash val="solid"/>
          </a:ln>
        </p:spPr>
      </p:sp>
      <p:sp>
        <p:nvSpPr>
          <p:cNvPr id="12" name="矩形 11"/>
          <p:cNvSpPr>
            <a:spLocks noGrp="1"/>
          </p:cNvSpPr>
          <p:nvPr/>
        </p:nvSpPr>
        <p:spPr>
          <a:xfrm>
            <a:off x="647700" y="5943600"/>
            <a:ext cx="57150" cy="400050"/>
          </a:xfrm>
          <a:prstGeom prst="rect">
            <a:avLst/>
          </a:prstGeom>
          <a:solidFill>
            <a:srgbClr val="ED7F0D"/>
          </a:solidFill>
          <a:ln w="0">
            <a:noFill/>
            <a:prstDash val="solid"/>
          </a:ln>
        </p:spPr>
      </p:sp>
      <p:sp>
        <p:nvSpPr>
          <p:cNvPr id="13" name="矩形 1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L* is capped by projected support, radial support and the command limit; p₋ ≥ 0.20 turns the shortcut off.</a:t>
            </a:r>
            <a:endParaRPr sz="1275" b="1">
              <a:solidFill>
                <a:srgbClr val="152538"/>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21</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FRAMEWORK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Clear, ambiguous, and reversed cues receive different motion budgets</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III-C · Fig. 4</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21</a:t>
            </a:r>
            <a:endParaRPr sz="825" b="1">
              <a:solidFill>
                <a:srgbClr val="004282"/>
              </a:solidFill>
            </a:endParaRPr>
          </a:p>
        </p:txBody>
      </p:sp>
      <p:sp>
        <p:nvSpPr>
          <p:cNvPr id="10" name="圆角矩形 9"/>
          <p:cNvSpPr>
            <a:spLocks noGrp="1"/>
          </p:cNvSpPr>
          <p:nvPr/>
        </p:nvSpPr>
        <p:spPr>
          <a:xfrm>
            <a:off x="666750" y="1504950"/>
            <a:ext cx="7391400" cy="4057650"/>
          </a:xfrm>
          <a:prstGeom prst="roundRect">
            <a:avLst>
              <a:gd name="adj" fmla="val 1878"/>
            </a:avLst>
          </a:prstGeom>
          <a:solidFill>
            <a:srgbClr val="FFFFFF"/>
          </a:solidFill>
          <a:ln w="9525">
            <a:solidFill>
              <a:srgbClr val="D9E0E6"/>
            </a:solidFill>
            <a:prstDash val="solid"/>
          </a:ln>
        </p:spPr>
      </p:sp>
      <p:pic>
        <p:nvPicPr>
          <p:cNvPr id="33" name="图片 32"/>
          <p:cNvPicPr>
            <a:picLocks noChangeAspect="1"/>
          </p:cNvPicPr>
          <p:nvPr/>
        </p:nvPicPr>
        <p:blipFill>
          <a:blip r:embed="rId1"/>
          <a:stretch>
            <a:fillRect/>
          </a:stretch>
        </p:blipFill>
        <p:spPr>
          <a:xfrm>
            <a:off x="742950" y="2101373"/>
            <a:ext cx="7239000" cy="2864805"/>
          </a:xfrm>
          <a:prstGeom prst="roundRect">
            <a:avLst>
              <a:gd name="adj" fmla="val 1951"/>
            </a:avLst>
          </a:prstGeom>
        </p:spPr>
      </p:pic>
      <p:sp>
        <p:nvSpPr>
          <p:cNvPr id="11" name="矩形 10"/>
          <p:cNvSpPr>
            <a:spLocks noGrp="1"/>
          </p:cNvSpPr>
          <p:nvPr/>
        </p:nvSpPr>
        <p:spPr>
          <a:xfrm>
            <a:off x="8305800" y="1657350"/>
            <a:ext cx="2667000" cy="476250"/>
          </a:xfrm>
          <a:prstGeom prst="rect">
            <a:avLst/>
          </a:prstGeom>
          <a:noFill/>
          <a:ln w="0">
            <a:noFill/>
            <a:prstDash val="solid"/>
          </a:ln>
        </p:spPr>
        <p:txBody>
          <a:bodyPr anchor="ctr"/>
          <a:lstStyle/>
          <a:p>
            <a:pPr algn="ctr">
              <a:defRPr sz="2550" b="1">
                <a:solidFill>
                  <a:srgbClr val="0072B2"/>
                </a:solidFill>
              </a:defRPr>
            </a:pPr>
            <a:r>
              <a:rPr sz="2550" b="1">
                <a:solidFill>
                  <a:srgbClr val="0072B2"/>
                </a:solidFill>
              </a:rPr>
              <a:t>2.873 mm</a:t>
            </a:r>
            <a:endParaRPr sz="2550" b="1">
              <a:solidFill>
                <a:srgbClr val="0072B2"/>
              </a:solidFill>
            </a:endParaRPr>
          </a:p>
        </p:txBody>
      </p:sp>
      <p:sp>
        <p:nvSpPr>
          <p:cNvPr id="12" name="矩形 11"/>
          <p:cNvSpPr>
            <a:spLocks noGrp="1"/>
          </p:cNvSpPr>
          <p:nvPr/>
        </p:nvSpPr>
        <p:spPr>
          <a:xfrm>
            <a:off x="8305800" y="2152650"/>
            <a:ext cx="266700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clear shortcut</a:t>
            </a:r>
            <a:endParaRPr sz="1200" b="0">
              <a:solidFill>
                <a:srgbClr val="6B7580"/>
              </a:solidFill>
            </a:endParaRPr>
          </a:p>
        </p:txBody>
      </p:sp>
      <p:sp>
        <p:nvSpPr>
          <p:cNvPr id="13" name="矩形 12"/>
          <p:cNvSpPr>
            <a:spLocks noGrp="1"/>
          </p:cNvSpPr>
          <p:nvPr/>
        </p:nvSpPr>
        <p:spPr>
          <a:xfrm>
            <a:off x="8305800" y="2400300"/>
            <a:ext cx="2667000" cy="476250"/>
          </a:xfrm>
          <a:prstGeom prst="rect">
            <a:avLst/>
          </a:prstGeom>
          <a:noFill/>
          <a:ln w="0">
            <a:noFill/>
            <a:prstDash val="solid"/>
          </a:ln>
        </p:spPr>
        <p:txBody>
          <a:bodyPr anchor="ctr"/>
          <a:lstStyle/>
          <a:p>
            <a:pPr algn="ctr">
              <a:defRPr sz="2550" b="1">
                <a:solidFill>
                  <a:srgbClr val="0072B2"/>
                </a:solidFill>
              </a:defRPr>
            </a:pPr>
            <a:r>
              <a:rPr sz="2550" b="1">
                <a:solidFill>
                  <a:srgbClr val="0072B2"/>
                </a:solidFill>
              </a:rPr>
              <a:t>1.732 mm</a:t>
            </a:r>
            <a:endParaRPr sz="2550" b="1">
              <a:solidFill>
                <a:srgbClr val="0072B2"/>
              </a:solidFill>
            </a:endParaRPr>
          </a:p>
        </p:txBody>
      </p:sp>
      <p:sp>
        <p:nvSpPr>
          <p:cNvPr id="14" name="矩形 13"/>
          <p:cNvSpPr>
            <a:spLocks noGrp="1"/>
          </p:cNvSpPr>
          <p:nvPr/>
        </p:nvSpPr>
        <p:spPr>
          <a:xfrm>
            <a:off x="8305800" y="2895600"/>
            <a:ext cx="266700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clear residual</a:t>
            </a:r>
            <a:endParaRPr sz="1200" b="0">
              <a:solidFill>
                <a:srgbClr val="6B7580"/>
              </a:solidFill>
            </a:endParaRPr>
          </a:p>
        </p:txBody>
      </p:sp>
      <p:sp>
        <p:nvSpPr>
          <p:cNvPr id="15" name="矩形 14"/>
          <p:cNvSpPr>
            <a:spLocks noGrp="1"/>
          </p:cNvSpPr>
          <p:nvPr/>
        </p:nvSpPr>
        <p:spPr>
          <a:xfrm>
            <a:off x="8305800" y="3143250"/>
            <a:ext cx="2667000" cy="476250"/>
          </a:xfrm>
          <a:prstGeom prst="rect">
            <a:avLst/>
          </a:prstGeom>
          <a:noFill/>
          <a:ln w="0">
            <a:noFill/>
            <a:prstDash val="solid"/>
          </a:ln>
        </p:spPr>
        <p:txBody>
          <a:bodyPr anchor="ctr"/>
          <a:lstStyle/>
          <a:p>
            <a:pPr algn="ctr">
              <a:defRPr sz="2550" b="1">
                <a:solidFill>
                  <a:srgbClr val="ED7F0D"/>
                </a:solidFill>
              </a:defRPr>
            </a:pPr>
            <a:r>
              <a:rPr sz="2550" b="1">
                <a:solidFill>
                  <a:srgbClr val="ED7F0D"/>
                </a:solidFill>
              </a:rPr>
              <a:t>0.903 mm</a:t>
            </a:r>
            <a:endParaRPr sz="2550" b="1">
              <a:solidFill>
                <a:srgbClr val="ED7F0D"/>
              </a:solidFill>
            </a:endParaRPr>
          </a:p>
        </p:txBody>
      </p:sp>
      <p:sp>
        <p:nvSpPr>
          <p:cNvPr id="16" name="矩形 15"/>
          <p:cNvSpPr>
            <a:spLocks noGrp="1"/>
          </p:cNvSpPr>
          <p:nvPr/>
        </p:nvSpPr>
        <p:spPr>
          <a:xfrm>
            <a:off x="8305800" y="3638550"/>
            <a:ext cx="266700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ambiguous shortcut</a:t>
            </a:r>
            <a:endParaRPr sz="1200" b="0">
              <a:solidFill>
                <a:srgbClr val="6B7580"/>
              </a:solidFill>
            </a:endParaRPr>
          </a:p>
        </p:txBody>
      </p:sp>
      <p:sp>
        <p:nvSpPr>
          <p:cNvPr id="17" name="矩形 16"/>
          <p:cNvSpPr>
            <a:spLocks noGrp="1"/>
          </p:cNvSpPr>
          <p:nvPr/>
        </p:nvSpPr>
        <p:spPr>
          <a:xfrm>
            <a:off x="8305800" y="3886200"/>
            <a:ext cx="2667000" cy="476250"/>
          </a:xfrm>
          <a:prstGeom prst="rect">
            <a:avLst/>
          </a:prstGeom>
          <a:noFill/>
          <a:ln w="0">
            <a:noFill/>
            <a:prstDash val="solid"/>
          </a:ln>
        </p:spPr>
        <p:txBody>
          <a:bodyPr anchor="ctr"/>
          <a:lstStyle/>
          <a:p>
            <a:pPr algn="ctr">
              <a:defRPr sz="2550" b="1">
                <a:solidFill>
                  <a:srgbClr val="ED7F0D"/>
                </a:solidFill>
              </a:defRPr>
            </a:pPr>
            <a:r>
              <a:rPr sz="2550" b="1">
                <a:solidFill>
                  <a:srgbClr val="ED7F0D"/>
                </a:solidFill>
              </a:rPr>
              <a:t>3.402 mm</a:t>
            </a:r>
            <a:endParaRPr sz="2550" b="1">
              <a:solidFill>
                <a:srgbClr val="ED7F0D"/>
              </a:solidFill>
            </a:endParaRPr>
          </a:p>
        </p:txBody>
      </p:sp>
      <p:sp>
        <p:nvSpPr>
          <p:cNvPr id="18" name="矩形 17"/>
          <p:cNvSpPr>
            <a:spLocks noGrp="1"/>
          </p:cNvSpPr>
          <p:nvPr/>
        </p:nvSpPr>
        <p:spPr>
          <a:xfrm>
            <a:off x="8305800" y="4381500"/>
            <a:ext cx="266700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ambiguous residual</a:t>
            </a:r>
            <a:endParaRPr sz="1200" b="0">
              <a:solidFill>
                <a:srgbClr val="6B7580"/>
              </a:solidFill>
            </a:endParaRPr>
          </a:p>
        </p:txBody>
      </p:sp>
      <p:sp>
        <p:nvSpPr>
          <p:cNvPr id="19" name="矩形 18"/>
          <p:cNvSpPr>
            <a:spLocks noGrp="1"/>
          </p:cNvSpPr>
          <p:nvPr/>
        </p:nvSpPr>
        <p:spPr>
          <a:xfrm>
            <a:off x="8305800" y="4629150"/>
            <a:ext cx="2667000" cy="476250"/>
          </a:xfrm>
          <a:prstGeom prst="rect">
            <a:avLst/>
          </a:prstGeom>
          <a:noFill/>
          <a:ln w="0">
            <a:noFill/>
            <a:prstDash val="solid"/>
          </a:ln>
        </p:spPr>
        <p:txBody>
          <a:bodyPr anchor="ctr"/>
          <a:lstStyle/>
          <a:p>
            <a:pPr algn="ctr">
              <a:defRPr sz="2550" b="1">
                <a:solidFill>
                  <a:srgbClr val="C74A4A"/>
                </a:solidFill>
              </a:defRPr>
            </a:pPr>
            <a:r>
              <a:rPr sz="2550" b="1">
                <a:solidFill>
                  <a:srgbClr val="C74A4A"/>
                </a:solidFill>
              </a:rPr>
              <a:t>0 mm</a:t>
            </a:r>
            <a:endParaRPr sz="2550" b="1">
              <a:solidFill>
                <a:srgbClr val="C74A4A"/>
              </a:solidFill>
            </a:endParaRPr>
          </a:p>
        </p:txBody>
      </p:sp>
      <p:sp>
        <p:nvSpPr>
          <p:cNvPr id="20" name="矩形 19"/>
          <p:cNvSpPr>
            <a:spLocks noGrp="1"/>
          </p:cNvSpPr>
          <p:nvPr/>
        </p:nvSpPr>
        <p:spPr>
          <a:xfrm>
            <a:off x="8305800" y="5124450"/>
            <a:ext cx="266700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reversed shortcut</a:t>
            </a:r>
            <a:endParaRPr sz="1200" b="0">
              <a:solidFill>
                <a:srgbClr val="6B7580"/>
              </a:solidFill>
            </a:endParaRPr>
          </a:p>
        </p:txBody>
      </p:sp>
      <p:sp>
        <p:nvSpPr>
          <p:cNvPr id="21" name="矩形 20"/>
          <p:cNvSpPr>
            <a:spLocks noGrp="1"/>
          </p:cNvSpPr>
          <p:nvPr/>
        </p:nvSpPr>
        <p:spPr>
          <a:xfrm>
            <a:off x="647700" y="5943600"/>
            <a:ext cx="10839450" cy="400050"/>
          </a:xfrm>
          <a:prstGeom prst="rect">
            <a:avLst/>
          </a:prstGeom>
          <a:solidFill>
            <a:srgbClr val="FFF0E2"/>
          </a:solidFill>
          <a:ln w="0">
            <a:noFill/>
            <a:prstDash val="solid"/>
          </a:ln>
        </p:spPr>
      </p:sp>
      <p:sp>
        <p:nvSpPr>
          <p:cNvPr id="22" name="矩形 21"/>
          <p:cNvSpPr>
            <a:spLocks noGrp="1"/>
          </p:cNvSpPr>
          <p:nvPr/>
        </p:nvSpPr>
        <p:spPr>
          <a:xfrm>
            <a:off x="647700" y="5943600"/>
            <a:ext cx="57150" cy="400050"/>
          </a:xfrm>
          <a:prstGeom prst="rect">
            <a:avLst/>
          </a:prstGeom>
          <a:solidFill>
            <a:srgbClr val="ED7F0D"/>
          </a:solidFill>
          <a:ln w="0">
            <a:noFill/>
            <a:prstDash val="solid"/>
          </a:ln>
        </p:spPr>
      </p:sp>
      <p:sp>
        <p:nvSpPr>
          <p:cNvPr id="23" name="矩形 2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A learned cue changes how much ground is skipped—not whether residual search exists.</a:t>
            </a:r>
            <a:endParaRPr sz="1275" b="1">
              <a:solidFill>
                <a:srgbClr val="152538"/>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22</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FRAMEWORK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The shortcut retains posterior mass; it does not guarantee capture</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III-C · Proposition 1</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22</a:t>
            </a:r>
            <a:endParaRPr sz="825" b="1">
              <a:solidFill>
                <a:srgbClr val="004282"/>
              </a:solidFill>
            </a:endParaRPr>
          </a:p>
        </p:txBody>
      </p:sp>
      <p:sp>
        <p:nvSpPr>
          <p:cNvPr id="10" name="圆角矩形 9"/>
          <p:cNvSpPr>
            <a:spLocks noGrp="1"/>
          </p:cNvSpPr>
          <p:nvPr/>
        </p:nvSpPr>
        <p:spPr>
          <a:xfrm>
            <a:off x="742950" y="1676400"/>
            <a:ext cx="6953250" cy="2476500"/>
          </a:xfrm>
          <a:prstGeom prst="roundRect">
            <a:avLst>
              <a:gd name="adj" fmla="val 3077"/>
            </a:avLst>
          </a:prstGeom>
          <a:solidFill>
            <a:srgbClr val="FFFFFF"/>
          </a:solidFill>
          <a:ln w="19050">
            <a:solidFill>
              <a:srgbClr val="004282"/>
            </a:solidFill>
            <a:prstDash val="solid"/>
          </a:ln>
        </p:spPr>
      </p:sp>
      <p:sp>
        <p:nvSpPr>
          <p:cNvPr id="11" name="矩形 10"/>
          <p:cNvSpPr>
            <a:spLocks noGrp="1"/>
          </p:cNvSpPr>
          <p:nvPr/>
        </p:nvSpPr>
        <p:spPr>
          <a:xfrm>
            <a:off x="1028700" y="2000250"/>
            <a:ext cx="6381750" cy="1714500"/>
          </a:xfrm>
          <a:prstGeom prst="rect">
            <a:avLst/>
          </a:prstGeom>
          <a:noFill/>
          <a:ln w="0">
            <a:noFill/>
            <a:prstDash val="solid"/>
          </a:ln>
        </p:spPr>
        <p:txBody>
          <a:bodyPr anchor="ctr"/>
          <a:lstStyle/>
          <a:p>
            <a:pPr algn="ctr">
              <a:defRPr sz="2175" b="1">
                <a:solidFill>
                  <a:srgbClr val="004282"/>
                </a:solidFill>
              </a:defRPr>
            </a:pPr>
            <a:r>
              <a:rPr sz="2175" b="1">
                <a:solidFill>
                  <a:srgbClr val="004282"/>
                </a:solidFill>
              </a:rPr>
              <a:t>P̂w[z ≥ L* + 0.25 rₑff] ≥ 1 − α(q)</a:t>
            </a:r>
            <a:endParaRPr sz="2175" b="1">
              <a:solidFill>
                <a:srgbClr val="004282"/>
              </a:solidFill>
            </a:endParaRPr>
          </a:p>
          <a:p>
            <a:pPr algn="ctr">
              <a:defRPr sz="2175" b="1">
                <a:solidFill>
                  <a:srgbClr val="004282"/>
                </a:solidFill>
              </a:defRPr>
            </a:pPr>
            <a:r>
              <a:rPr sz="2175" b="1">
                <a:solidFill>
                  <a:srgbClr val="004282"/>
                </a:solidFill>
              </a:rPr>
              <a:t>L* ≤ λ(q) Q⁽ʷ⁾₀.₉₉(‖C − x₀‖)</a:t>
            </a:r>
            <a:endParaRPr sz="2175" b="1">
              <a:solidFill>
                <a:srgbClr val="004282"/>
              </a:solidFill>
            </a:endParaRPr>
          </a:p>
        </p:txBody>
      </p:sp>
      <p:sp>
        <p:nvSpPr>
          <p:cNvPr id="12" name="矩形 11"/>
          <p:cNvSpPr>
            <a:spLocks noGrp="1"/>
          </p:cNvSpPr>
          <p:nvPr/>
        </p:nvSpPr>
        <p:spPr>
          <a:xfrm>
            <a:off x="8096250" y="1762125"/>
            <a:ext cx="2952750" cy="304800"/>
          </a:xfrm>
          <a:prstGeom prst="rect">
            <a:avLst/>
          </a:prstGeom>
          <a:noFill/>
          <a:ln w="0">
            <a:noFill/>
            <a:prstDash val="solid"/>
          </a:ln>
        </p:spPr>
        <p:txBody>
          <a:bodyPr anchor="ctr"/>
          <a:lstStyle/>
          <a:p>
            <a:pPr algn="ctr">
              <a:defRPr sz="1350" b="1">
                <a:solidFill>
                  <a:srgbClr val="ED7F0D"/>
                </a:solidFill>
              </a:defRPr>
            </a:pPr>
            <a:r>
              <a:rPr sz="1350" b="1">
                <a:solidFill>
                  <a:srgbClr val="ED7F0D"/>
                </a:solidFill>
              </a:rPr>
              <a:t>ASSUMPTIONS</a:t>
            </a:r>
            <a:endParaRPr sz="1350" b="1">
              <a:solidFill>
                <a:srgbClr val="ED7F0D"/>
              </a:solidFill>
            </a:endParaRPr>
          </a:p>
        </p:txBody>
      </p:sp>
      <p:sp>
        <p:nvSpPr>
          <p:cNvPr id="13" name="椭圆 12"/>
          <p:cNvSpPr>
            <a:spLocks noGrp="1"/>
          </p:cNvSpPr>
          <p:nvPr/>
        </p:nvSpPr>
        <p:spPr>
          <a:xfrm>
            <a:off x="8020050" y="2333625"/>
            <a:ext cx="76200" cy="76200"/>
          </a:xfrm>
          <a:prstGeom prst="ellipse">
            <a:avLst/>
          </a:prstGeom>
          <a:solidFill>
            <a:srgbClr val="ED7F0D"/>
          </a:solidFill>
          <a:ln w="9525">
            <a:solidFill>
              <a:srgbClr val="ED7F0D"/>
            </a:solidFill>
            <a:prstDash val="solid"/>
          </a:ln>
        </p:spPr>
      </p:sp>
      <p:sp>
        <p:nvSpPr>
          <p:cNvPr id="14" name="矩形 13"/>
          <p:cNvSpPr>
            <a:spLocks noGrp="1"/>
          </p:cNvSpPr>
          <p:nvPr/>
        </p:nvSpPr>
        <p:spPr>
          <a:xfrm>
            <a:off x="8229600" y="2238375"/>
            <a:ext cx="2933700" cy="495300"/>
          </a:xfrm>
          <a:prstGeom prst="rect">
            <a:avLst/>
          </a:prstGeom>
          <a:noFill/>
          <a:ln w="0">
            <a:noFill/>
            <a:prstDash val="solid"/>
          </a:ln>
        </p:spPr>
        <p:txBody>
          <a:bodyPr anchor="t"/>
          <a:lstStyle/>
          <a:p>
            <a:pPr algn="l">
              <a:defRPr sz="1350" b="0">
                <a:solidFill>
                  <a:srgbClr val="152538"/>
                </a:solidFill>
              </a:defRPr>
            </a:pPr>
            <a:r>
              <a:rPr sz="1350" b="0">
                <a:solidFill>
                  <a:srgbClr val="152538"/>
                </a:solidFill>
              </a:rPr>
              <a:t>Fixed weighted-particle set</a:t>
            </a:r>
            <a:endParaRPr sz="1350" b="0">
              <a:solidFill>
                <a:srgbClr val="152538"/>
              </a:solidFill>
            </a:endParaRPr>
          </a:p>
        </p:txBody>
      </p:sp>
      <p:sp>
        <p:nvSpPr>
          <p:cNvPr id="15" name="椭圆 14"/>
          <p:cNvSpPr>
            <a:spLocks noGrp="1"/>
          </p:cNvSpPr>
          <p:nvPr/>
        </p:nvSpPr>
        <p:spPr>
          <a:xfrm>
            <a:off x="8020050" y="2962275"/>
            <a:ext cx="76200" cy="76200"/>
          </a:xfrm>
          <a:prstGeom prst="ellipse">
            <a:avLst/>
          </a:prstGeom>
          <a:solidFill>
            <a:srgbClr val="ED7F0D"/>
          </a:solidFill>
          <a:ln w="9525">
            <a:solidFill>
              <a:srgbClr val="ED7F0D"/>
            </a:solidFill>
            <a:prstDash val="solid"/>
          </a:ln>
        </p:spPr>
      </p:sp>
      <p:sp>
        <p:nvSpPr>
          <p:cNvPr id="16" name="矩形 15"/>
          <p:cNvSpPr>
            <a:spLocks noGrp="1"/>
          </p:cNvSpPr>
          <p:nvPr/>
        </p:nvSpPr>
        <p:spPr>
          <a:xfrm>
            <a:off x="8229600" y="2867025"/>
            <a:ext cx="2933700" cy="495300"/>
          </a:xfrm>
          <a:prstGeom prst="rect">
            <a:avLst/>
          </a:prstGeom>
          <a:noFill/>
          <a:ln w="0">
            <a:noFill/>
            <a:prstDash val="solid"/>
          </a:ln>
        </p:spPr>
        <p:txBody>
          <a:bodyPr anchor="t"/>
          <a:lstStyle/>
          <a:p>
            <a:pPr algn="l">
              <a:defRPr sz="1350" b="0">
                <a:solidFill>
                  <a:srgbClr val="152538"/>
                </a:solidFill>
              </a:defRPr>
            </a:pPr>
            <a:r>
              <a:rPr sz="1350" b="0">
                <a:solidFill>
                  <a:srgbClr val="152538"/>
                </a:solidFill>
              </a:rPr>
              <a:t>p₋ &lt; 0.20 and L* &gt; 0</a:t>
            </a:r>
            <a:endParaRPr sz="1350" b="0">
              <a:solidFill>
                <a:srgbClr val="152538"/>
              </a:solidFill>
            </a:endParaRPr>
          </a:p>
        </p:txBody>
      </p:sp>
      <p:sp>
        <p:nvSpPr>
          <p:cNvPr id="17" name="椭圆 16"/>
          <p:cNvSpPr>
            <a:spLocks noGrp="1"/>
          </p:cNvSpPr>
          <p:nvPr/>
        </p:nvSpPr>
        <p:spPr>
          <a:xfrm>
            <a:off x="8020050" y="3590925"/>
            <a:ext cx="76200" cy="76200"/>
          </a:xfrm>
          <a:prstGeom prst="ellipse">
            <a:avLst/>
          </a:prstGeom>
          <a:solidFill>
            <a:srgbClr val="ED7F0D"/>
          </a:solidFill>
          <a:ln w="9525">
            <a:solidFill>
              <a:srgbClr val="ED7F0D"/>
            </a:solidFill>
            <a:prstDash val="solid"/>
          </a:ln>
        </p:spPr>
      </p:sp>
      <p:sp>
        <p:nvSpPr>
          <p:cNvPr id="18" name="矩形 17"/>
          <p:cNvSpPr>
            <a:spLocks noGrp="1"/>
          </p:cNvSpPr>
          <p:nvPr/>
        </p:nvSpPr>
        <p:spPr>
          <a:xfrm>
            <a:off x="8229600" y="3495675"/>
            <a:ext cx="2933700" cy="495300"/>
          </a:xfrm>
          <a:prstGeom prst="rect">
            <a:avLst/>
          </a:prstGeom>
          <a:noFill/>
          <a:ln w="0">
            <a:noFill/>
            <a:prstDash val="solid"/>
          </a:ln>
        </p:spPr>
        <p:txBody>
          <a:bodyPr anchor="t"/>
          <a:lstStyle/>
          <a:p>
            <a:pPr algn="l">
              <a:defRPr sz="1350" b="0">
                <a:solidFill>
                  <a:srgbClr val="152538"/>
                </a:solidFill>
              </a:defRPr>
            </a:pPr>
            <a:r>
              <a:rPr sz="1350" b="0">
                <a:solidFill>
                  <a:srgbClr val="152538"/>
                </a:solidFill>
              </a:rPr>
              <a:t>Shortcut endpoint reached exactly</a:t>
            </a:r>
            <a:endParaRPr sz="1350" b="0">
              <a:solidFill>
                <a:srgbClr val="152538"/>
              </a:solidFill>
            </a:endParaRPr>
          </a:p>
        </p:txBody>
      </p:sp>
      <p:sp>
        <p:nvSpPr>
          <p:cNvPr id="19" name="圆角矩形 18"/>
          <p:cNvSpPr>
            <a:spLocks noGrp="1"/>
          </p:cNvSpPr>
          <p:nvPr/>
        </p:nvSpPr>
        <p:spPr>
          <a:xfrm>
            <a:off x="1809750" y="4552950"/>
            <a:ext cx="8572500" cy="666750"/>
          </a:xfrm>
          <a:prstGeom prst="roundRect">
            <a:avLst>
              <a:gd name="adj" fmla="val 11429"/>
            </a:avLst>
          </a:prstGeom>
          <a:solidFill>
            <a:srgbClr val="FFF0E2"/>
          </a:solidFill>
          <a:ln w="9525">
            <a:solidFill>
              <a:srgbClr val="ED7F0D"/>
            </a:solidFill>
            <a:prstDash val="solid"/>
          </a:ln>
        </p:spPr>
      </p:sp>
      <p:sp>
        <p:nvSpPr>
          <p:cNvPr id="20" name="矩形 19"/>
          <p:cNvSpPr>
            <a:spLocks noGrp="1"/>
          </p:cNvSpPr>
          <p:nvPr/>
        </p:nvSpPr>
        <p:spPr>
          <a:xfrm>
            <a:off x="2190750" y="4705350"/>
            <a:ext cx="7810500" cy="361950"/>
          </a:xfrm>
          <a:prstGeom prst="rect">
            <a:avLst/>
          </a:prstGeom>
          <a:noFill/>
          <a:ln w="0">
            <a:noFill/>
            <a:prstDash val="solid"/>
          </a:ln>
        </p:spPr>
        <p:txBody>
          <a:bodyPr anchor="ctr"/>
          <a:lstStyle/>
          <a:p>
            <a:pPr algn="ctr">
              <a:defRPr sz="1875" b="1">
                <a:solidFill>
                  <a:srgbClr val="ED7F0D"/>
                </a:solidFill>
              </a:defRPr>
            </a:pPr>
            <a:r>
              <a:rPr sz="1875" b="1">
                <a:solidFill>
                  <a:srgbClr val="ED7F0D"/>
                </a:solidFill>
              </a:rPr>
              <a:t>Retained posterior support ≠ capture guarantee</a:t>
            </a:r>
            <a:endParaRPr sz="1875" b="1">
              <a:solidFill>
                <a:srgbClr val="ED7F0D"/>
              </a:solidFill>
            </a:endParaRPr>
          </a:p>
        </p:txBody>
      </p:sp>
      <p:sp>
        <p:nvSpPr>
          <p:cNvPr id="21" name="矩形 20"/>
          <p:cNvSpPr>
            <a:spLocks noGrp="1"/>
          </p:cNvSpPr>
          <p:nvPr/>
        </p:nvSpPr>
        <p:spPr>
          <a:xfrm>
            <a:off x="647700" y="5943600"/>
            <a:ext cx="10839450" cy="400050"/>
          </a:xfrm>
          <a:prstGeom prst="rect">
            <a:avLst/>
          </a:prstGeom>
          <a:solidFill>
            <a:srgbClr val="FFF0E2"/>
          </a:solidFill>
          <a:ln w="0">
            <a:noFill/>
            <a:prstDash val="solid"/>
          </a:ln>
        </p:spPr>
      </p:sp>
      <p:sp>
        <p:nvSpPr>
          <p:cNvPr id="22" name="矩形 21"/>
          <p:cNvSpPr>
            <a:spLocks noGrp="1"/>
          </p:cNvSpPr>
          <p:nvPr/>
        </p:nvSpPr>
        <p:spPr>
          <a:xfrm>
            <a:off x="647700" y="5943600"/>
            <a:ext cx="57150" cy="400050"/>
          </a:xfrm>
          <a:prstGeom prst="rect">
            <a:avLst/>
          </a:prstGeom>
          <a:solidFill>
            <a:srgbClr val="ED7F0D"/>
          </a:solidFill>
          <a:ln w="0">
            <a:noFill/>
            <a:prstDash val="solid"/>
          </a:ln>
        </p:spPr>
      </p:sp>
      <p:sp>
        <p:nvSpPr>
          <p:cNvPr id="23" name="矩形 2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proposition allocates empirical posterior support under assumptions; it is not a capture theorem.</a:t>
            </a:r>
            <a:endParaRPr sz="1275" b="1">
              <a:solidFill>
                <a:srgbClr val="152538"/>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23</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FRAMEWORK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A valid shortcut miss becomes negative evidence</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III-C · Eqs. (20)–(21)</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23</a:t>
            </a:r>
            <a:endParaRPr sz="825" b="1">
              <a:solidFill>
                <a:srgbClr val="004282"/>
              </a:solidFill>
            </a:endParaRPr>
          </a:p>
        </p:txBody>
      </p:sp>
      <p:sp>
        <p:nvSpPr>
          <p:cNvPr id="10" name="圆角矩形 9"/>
          <p:cNvSpPr>
            <a:spLocks noGrp="1"/>
          </p:cNvSpPr>
          <p:nvPr/>
        </p:nvSpPr>
        <p:spPr>
          <a:xfrm>
            <a:off x="666750" y="1600200"/>
            <a:ext cx="6343650" cy="3886200"/>
          </a:xfrm>
          <a:prstGeom prst="roundRect">
            <a:avLst>
              <a:gd name="adj" fmla="val 1961"/>
            </a:avLst>
          </a:prstGeom>
          <a:solidFill>
            <a:srgbClr val="FFFFFF"/>
          </a:solidFill>
          <a:ln w="9525">
            <a:solidFill>
              <a:srgbClr val="D9E0E6"/>
            </a:solidFill>
            <a:prstDash val="solid"/>
          </a:ln>
        </p:spPr>
      </p:sp>
      <p:pic>
        <p:nvPicPr>
          <p:cNvPr id="38" name="图片 37"/>
          <p:cNvPicPr>
            <a:picLocks noChangeAspect="1"/>
          </p:cNvPicPr>
          <p:nvPr/>
        </p:nvPicPr>
        <p:blipFill>
          <a:blip r:embed="rId1"/>
          <a:stretch>
            <a:fillRect/>
          </a:stretch>
        </p:blipFill>
        <p:spPr>
          <a:xfrm>
            <a:off x="742950" y="2413308"/>
            <a:ext cx="6191250" cy="2259984"/>
          </a:xfrm>
          <a:prstGeom prst="roundRect">
            <a:avLst>
              <a:gd name="adj" fmla="val 2041"/>
            </a:avLst>
          </a:prstGeom>
        </p:spPr>
      </p:pic>
      <p:sp>
        <p:nvSpPr>
          <p:cNvPr id="11" name="椭圆 10"/>
          <p:cNvSpPr>
            <a:spLocks noGrp="1"/>
          </p:cNvSpPr>
          <p:nvPr/>
        </p:nvSpPr>
        <p:spPr>
          <a:xfrm>
            <a:off x="7429500" y="1819275"/>
            <a:ext cx="304800" cy="304800"/>
          </a:xfrm>
          <a:prstGeom prst="ellipse">
            <a:avLst/>
          </a:prstGeom>
          <a:solidFill>
            <a:srgbClr val="009E73"/>
          </a:solidFill>
          <a:ln w="9525">
            <a:solidFill>
              <a:srgbClr val="009E73"/>
            </a:solidFill>
            <a:prstDash val="solid"/>
          </a:ln>
        </p:spPr>
      </p:sp>
      <p:sp>
        <p:nvSpPr>
          <p:cNvPr id="12" name="矩形 11"/>
          <p:cNvSpPr>
            <a:spLocks noGrp="1"/>
          </p:cNvSpPr>
          <p:nvPr/>
        </p:nvSpPr>
        <p:spPr>
          <a:xfrm>
            <a:off x="7429500" y="1866900"/>
            <a:ext cx="30480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1</a:t>
            </a:r>
            <a:endParaRPr sz="975" b="1">
              <a:solidFill>
                <a:srgbClr val="FFFFFF"/>
              </a:solidFill>
            </a:endParaRPr>
          </a:p>
        </p:txBody>
      </p:sp>
      <p:sp>
        <p:nvSpPr>
          <p:cNvPr id="13" name="矩形 12"/>
          <p:cNvSpPr>
            <a:spLocks noGrp="1"/>
          </p:cNvSpPr>
          <p:nvPr/>
        </p:nvSpPr>
        <p:spPr>
          <a:xfrm>
            <a:off x="7924800" y="1733550"/>
            <a:ext cx="3143250" cy="514350"/>
          </a:xfrm>
          <a:prstGeom prst="rect">
            <a:avLst/>
          </a:prstGeom>
          <a:noFill/>
          <a:ln w="0">
            <a:noFill/>
            <a:prstDash val="solid"/>
          </a:ln>
        </p:spPr>
        <p:txBody>
          <a:bodyPr anchor="ctr"/>
          <a:lstStyle/>
          <a:p>
            <a:pPr algn="l">
              <a:defRPr sz="1425" b="1">
                <a:solidFill>
                  <a:srgbClr val="152538"/>
                </a:solidFill>
              </a:defRPr>
            </a:pPr>
            <a:r>
              <a:rPr sz="1425" b="1">
                <a:solidFill>
                  <a:srgbClr val="152538"/>
                </a:solidFill>
              </a:rPr>
              <a:t>execute guarded segment</a:t>
            </a:r>
            <a:endParaRPr sz="1425" b="1">
              <a:solidFill>
                <a:srgbClr val="152538"/>
              </a:solidFill>
            </a:endParaRPr>
          </a:p>
        </p:txBody>
      </p:sp>
      <p:sp>
        <p:nvSpPr>
          <p:cNvPr id="14" name="矩形 13"/>
          <p:cNvSpPr>
            <a:spLocks noGrp="1"/>
          </p:cNvSpPr>
          <p:nvPr/>
        </p:nvSpPr>
        <p:spPr>
          <a:xfrm>
            <a:off x="7572375" y="2133600"/>
            <a:ext cx="19050" cy="495300"/>
          </a:xfrm>
          <a:prstGeom prst="rect">
            <a:avLst/>
          </a:prstGeom>
          <a:solidFill>
            <a:srgbClr val="D9E0E6"/>
          </a:solidFill>
          <a:ln w="0">
            <a:noFill/>
            <a:prstDash val="solid"/>
          </a:ln>
        </p:spPr>
      </p:sp>
      <p:sp>
        <p:nvSpPr>
          <p:cNvPr id="15" name="椭圆 14"/>
          <p:cNvSpPr>
            <a:spLocks noGrp="1"/>
          </p:cNvSpPr>
          <p:nvPr/>
        </p:nvSpPr>
        <p:spPr>
          <a:xfrm>
            <a:off x="7429500" y="2714625"/>
            <a:ext cx="304800" cy="304800"/>
          </a:xfrm>
          <a:prstGeom prst="ellipse">
            <a:avLst/>
          </a:prstGeom>
          <a:solidFill>
            <a:srgbClr val="C74A4A"/>
          </a:solidFill>
          <a:ln w="9525">
            <a:solidFill>
              <a:srgbClr val="C74A4A"/>
            </a:solidFill>
            <a:prstDash val="solid"/>
          </a:ln>
        </p:spPr>
      </p:sp>
      <p:sp>
        <p:nvSpPr>
          <p:cNvPr id="16" name="矩形 15"/>
          <p:cNvSpPr>
            <a:spLocks noGrp="1"/>
          </p:cNvSpPr>
          <p:nvPr/>
        </p:nvSpPr>
        <p:spPr>
          <a:xfrm>
            <a:off x="7429500" y="2762250"/>
            <a:ext cx="30480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2</a:t>
            </a:r>
            <a:endParaRPr sz="975" b="1">
              <a:solidFill>
                <a:srgbClr val="FFFFFF"/>
              </a:solidFill>
            </a:endParaRPr>
          </a:p>
        </p:txBody>
      </p:sp>
      <p:sp>
        <p:nvSpPr>
          <p:cNvPr id="17" name="矩形 16"/>
          <p:cNvSpPr>
            <a:spLocks noGrp="1"/>
          </p:cNvSpPr>
          <p:nvPr/>
        </p:nvSpPr>
        <p:spPr>
          <a:xfrm>
            <a:off x="7924800" y="2628900"/>
            <a:ext cx="3143250" cy="514350"/>
          </a:xfrm>
          <a:prstGeom prst="rect">
            <a:avLst/>
          </a:prstGeom>
          <a:noFill/>
          <a:ln w="0">
            <a:noFill/>
            <a:prstDash val="solid"/>
          </a:ln>
        </p:spPr>
        <p:txBody>
          <a:bodyPr anchor="ctr"/>
          <a:lstStyle/>
          <a:p>
            <a:pPr algn="l">
              <a:defRPr sz="1425" b="1">
                <a:solidFill>
                  <a:srgbClr val="152538"/>
                </a:solidFill>
              </a:defRPr>
            </a:pPr>
            <a:r>
              <a:rPr sz="1425" b="1">
                <a:solidFill>
                  <a:srgbClr val="152538"/>
                </a:solidFill>
              </a:rPr>
              <a:t>reject capture at valid endpoint</a:t>
            </a:r>
            <a:endParaRPr sz="1425" b="1">
              <a:solidFill>
                <a:srgbClr val="152538"/>
              </a:solidFill>
            </a:endParaRPr>
          </a:p>
        </p:txBody>
      </p:sp>
      <p:sp>
        <p:nvSpPr>
          <p:cNvPr id="18" name="矩形 17"/>
          <p:cNvSpPr>
            <a:spLocks noGrp="1"/>
          </p:cNvSpPr>
          <p:nvPr/>
        </p:nvSpPr>
        <p:spPr>
          <a:xfrm>
            <a:off x="7572375" y="3028950"/>
            <a:ext cx="19050" cy="495300"/>
          </a:xfrm>
          <a:prstGeom prst="rect">
            <a:avLst/>
          </a:prstGeom>
          <a:solidFill>
            <a:srgbClr val="D9E0E6"/>
          </a:solidFill>
          <a:ln w="0">
            <a:noFill/>
            <a:prstDash val="solid"/>
          </a:ln>
        </p:spPr>
      </p:sp>
      <p:sp>
        <p:nvSpPr>
          <p:cNvPr id="19" name="椭圆 18"/>
          <p:cNvSpPr>
            <a:spLocks noGrp="1"/>
          </p:cNvSpPr>
          <p:nvPr/>
        </p:nvSpPr>
        <p:spPr>
          <a:xfrm>
            <a:off x="7429500" y="3609975"/>
            <a:ext cx="304800" cy="304800"/>
          </a:xfrm>
          <a:prstGeom prst="ellipse">
            <a:avLst/>
          </a:prstGeom>
          <a:solidFill>
            <a:srgbClr val="009E73"/>
          </a:solidFill>
          <a:ln w="9525">
            <a:solidFill>
              <a:srgbClr val="009E73"/>
            </a:solidFill>
            <a:prstDash val="solid"/>
          </a:ln>
        </p:spPr>
      </p:sp>
      <p:sp>
        <p:nvSpPr>
          <p:cNvPr id="20" name="矩形 19"/>
          <p:cNvSpPr>
            <a:spLocks noGrp="1"/>
          </p:cNvSpPr>
          <p:nvPr/>
        </p:nvSpPr>
        <p:spPr>
          <a:xfrm>
            <a:off x="7429500" y="3657600"/>
            <a:ext cx="30480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3</a:t>
            </a:r>
            <a:endParaRPr sz="975" b="1">
              <a:solidFill>
                <a:srgbClr val="FFFFFF"/>
              </a:solidFill>
            </a:endParaRPr>
          </a:p>
        </p:txBody>
      </p:sp>
      <p:sp>
        <p:nvSpPr>
          <p:cNvPr id="21" name="矩形 20"/>
          <p:cNvSpPr>
            <a:spLocks noGrp="1"/>
          </p:cNvSpPr>
          <p:nvPr/>
        </p:nvSpPr>
        <p:spPr>
          <a:xfrm>
            <a:off x="7924800" y="3524250"/>
            <a:ext cx="3143250" cy="514350"/>
          </a:xfrm>
          <a:prstGeom prst="rect">
            <a:avLst/>
          </a:prstGeom>
          <a:noFill/>
          <a:ln w="0">
            <a:noFill/>
            <a:prstDash val="solid"/>
          </a:ln>
        </p:spPr>
        <p:txBody>
          <a:bodyPr anchor="ctr"/>
          <a:lstStyle/>
          <a:p>
            <a:pPr algn="l">
              <a:defRPr sz="1425" b="1">
                <a:solidFill>
                  <a:srgbClr val="152538"/>
                </a:solidFill>
              </a:defRPr>
            </a:pPr>
            <a:r>
              <a:rPr sz="1425" b="1">
                <a:solidFill>
                  <a:srgbClr val="152538"/>
                </a:solidFill>
              </a:rPr>
              <a:t>downweight particles near missed segment</a:t>
            </a:r>
            <a:endParaRPr sz="1425" b="1">
              <a:solidFill>
                <a:srgbClr val="152538"/>
              </a:solidFill>
            </a:endParaRPr>
          </a:p>
        </p:txBody>
      </p:sp>
      <p:sp>
        <p:nvSpPr>
          <p:cNvPr id="22" name="矩形 21"/>
          <p:cNvSpPr>
            <a:spLocks noGrp="1"/>
          </p:cNvSpPr>
          <p:nvPr/>
        </p:nvSpPr>
        <p:spPr>
          <a:xfrm>
            <a:off x="7572375" y="3924300"/>
            <a:ext cx="19050" cy="495300"/>
          </a:xfrm>
          <a:prstGeom prst="rect">
            <a:avLst/>
          </a:prstGeom>
          <a:solidFill>
            <a:srgbClr val="D9E0E6"/>
          </a:solidFill>
          <a:ln w="0">
            <a:noFill/>
            <a:prstDash val="solid"/>
          </a:ln>
        </p:spPr>
      </p:sp>
      <p:sp>
        <p:nvSpPr>
          <p:cNvPr id="23" name="椭圆 22"/>
          <p:cNvSpPr>
            <a:spLocks noGrp="1"/>
          </p:cNvSpPr>
          <p:nvPr/>
        </p:nvSpPr>
        <p:spPr>
          <a:xfrm>
            <a:off x="7429500" y="4505325"/>
            <a:ext cx="304800" cy="304800"/>
          </a:xfrm>
          <a:prstGeom prst="ellipse">
            <a:avLst/>
          </a:prstGeom>
          <a:solidFill>
            <a:srgbClr val="009E73"/>
          </a:solidFill>
          <a:ln w="9525">
            <a:solidFill>
              <a:srgbClr val="009E73"/>
            </a:solidFill>
            <a:prstDash val="solid"/>
          </a:ln>
        </p:spPr>
      </p:sp>
      <p:sp>
        <p:nvSpPr>
          <p:cNvPr id="24" name="矩形 23"/>
          <p:cNvSpPr>
            <a:spLocks noGrp="1"/>
          </p:cNvSpPr>
          <p:nvPr/>
        </p:nvSpPr>
        <p:spPr>
          <a:xfrm>
            <a:off x="7429500" y="4552950"/>
            <a:ext cx="30480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4</a:t>
            </a:r>
            <a:endParaRPr sz="975" b="1">
              <a:solidFill>
                <a:srgbClr val="FFFFFF"/>
              </a:solidFill>
            </a:endParaRPr>
          </a:p>
        </p:txBody>
      </p:sp>
      <p:sp>
        <p:nvSpPr>
          <p:cNvPr id="25" name="矩形 24"/>
          <p:cNvSpPr>
            <a:spLocks noGrp="1"/>
          </p:cNvSpPr>
          <p:nvPr/>
        </p:nvSpPr>
        <p:spPr>
          <a:xfrm>
            <a:off x="7924800" y="4419600"/>
            <a:ext cx="3143250" cy="514350"/>
          </a:xfrm>
          <a:prstGeom prst="rect">
            <a:avLst/>
          </a:prstGeom>
          <a:noFill/>
          <a:ln w="0">
            <a:noFill/>
            <a:prstDash val="solid"/>
          </a:ln>
        </p:spPr>
        <p:txBody>
          <a:bodyPr anchor="ctr"/>
          <a:lstStyle/>
          <a:p>
            <a:pPr algn="l">
              <a:defRPr sz="1425" b="1">
                <a:solidFill>
                  <a:srgbClr val="152538"/>
                </a:solidFill>
              </a:defRPr>
            </a:pPr>
            <a:r>
              <a:rPr sz="1425" b="1">
                <a:solidFill>
                  <a:srgbClr val="152538"/>
                </a:solidFill>
              </a:rPr>
              <a:t>rebuild residual geometry</a:t>
            </a:r>
            <a:endParaRPr sz="1425" b="1">
              <a:solidFill>
                <a:srgbClr val="152538"/>
              </a:solidFill>
            </a:endParaRPr>
          </a:p>
        </p:txBody>
      </p:sp>
      <p:sp>
        <p:nvSpPr>
          <p:cNvPr id="26" name="矩形 25"/>
          <p:cNvSpPr>
            <a:spLocks noGrp="1"/>
          </p:cNvSpPr>
          <p:nvPr/>
        </p:nvSpPr>
        <p:spPr>
          <a:xfrm>
            <a:off x="647700" y="5943600"/>
            <a:ext cx="10839450" cy="400050"/>
          </a:xfrm>
          <a:prstGeom prst="rect">
            <a:avLst/>
          </a:prstGeom>
          <a:solidFill>
            <a:srgbClr val="FFF0E2"/>
          </a:solidFill>
          <a:ln w="0">
            <a:noFill/>
            <a:prstDash val="solid"/>
          </a:ln>
        </p:spPr>
      </p:sp>
      <p:sp>
        <p:nvSpPr>
          <p:cNvPr id="27" name="矩形 26"/>
          <p:cNvSpPr>
            <a:spLocks noGrp="1"/>
          </p:cNvSpPr>
          <p:nvPr/>
        </p:nvSpPr>
        <p:spPr>
          <a:xfrm>
            <a:off x="647700" y="5943600"/>
            <a:ext cx="57150" cy="400050"/>
          </a:xfrm>
          <a:prstGeom prst="rect">
            <a:avLst/>
          </a:prstGeom>
          <a:solidFill>
            <a:srgbClr val="ED7F0D"/>
          </a:solidFill>
          <a:ln w="0">
            <a:noFill/>
            <a:prstDash val="solid"/>
          </a:ln>
        </p:spPr>
      </p:sp>
      <p:sp>
        <p:nvSpPr>
          <p:cNvPr id="28" name="矩形 27"/>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Only a measured valid miss updates the belief; an invalid or unobserved endpoint does not.</a:t>
            </a:r>
            <a:endParaRPr sz="1275" b="1">
              <a:solidFill>
                <a:srgbClr val="152538"/>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24</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FRAMEWORK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PGS-O and PGS-G differ only in how they search what remains</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III-C · Eqs. (22)–(25)</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24</a:t>
            </a:r>
            <a:endParaRPr sz="825" b="1">
              <a:solidFill>
                <a:srgbClr val="004282"/>
              </a:solidFill>
            </a:endParaRPr>
          </a:p>
        </p:txBody>
      </p:sp>
      <p:sp>
        <p:nvSpPr>
          <p:cNvPr id="10" name="矩形 9"/>
          <p:cNvSpPr>
            <a:spLocks noGrp="1"/>
          </p:cNvSpPr>
          <p:nvPr/>
        </p:nvSpPr>
        <p:spPr>
          <a:xfrm>
            <a:off x="3333750" y="1657350"/>
            <a:ext cx="5524500" cy="457200"/>
          </a:xfrm>
          <a:prstGeom prst="rect">
            <a:avLst/>
          </a:prstGeom>
          <a:solidFill>
            <a:srgbClr val="E8F1F8"/>
          </a:solidFill>
          <a:ln w="0">
            <a:noFill/>
            <a:prstDash val="solid"/>
          </a:ln>
        </p:spPr>
        <p:txBody>
          <a:bodyPr anchor="ctr"/>
          <a:lstStyle/>
          <a:p>
            <a:pPr algn="ctr">
              <a:defRPr sz="1650" b="1">
                <a:solidFill>
                  <a:srgbClr val="004282"/>
                </a:solidFill>
              </a:defRPr>
            </a:pPr>
            <a:r>
              <a:rPr sz="1650" b="1">
                <a:solidFill>
                  <a:srgbClr val="004282"/>
                </a:solidFill>
              </a:rPr>
              <a:t>SHARED POSTERIOR-SUPPORTED SHORTCUT</a:t>
            </a:r>
            <a:endParaRPr sz="1650" b="1">
              <a:solidFill>
                <a:srgbClr val="004282"/>
              </a:solidFill>
            </a:endParaRPr>
          </a:p>
        </p:txBody>
      </p:sp>
      <p:sp>
        <p:nvSpPr>
          <p:cNvPr id="11" name="下箭头 10"/>
          <p:cNvSpPr>
            <a:spLocks noGrp="1"/>
          </p:cNvSpPr>
          <p:nvPr/>
        </p:nvSpPr>
        <p:spPr>
          <a:xfrm>
            <a:off x="5848350" y="2143125"/>
            <a:ext cx="495300" cy="457200"/>
          </a:xfrm>
          <a:prstGeom prst="downArrow">
            <a:avLst/>
          </a:prstGeom>
          <a:solidFill>
            <a:srgbClr val="ED7F0D"/>
          </a:solidFill>
          <a:ln w="0">
            <a:noFill/>
            <a:prstDash val="solid"/>
          </a:ln>
        </p:spPr>
      </p:sp>
      <p:sp>
        <p:nvSpPr>
          <p:cNvPr id="12" name="圆角矩形 11"/>
          <p:cNvSpPr>
            <a:spLocks noGrp="1"/>
          </p:cNvSpPr>
          <p:nvPr/>
        </p:nvSpPr>
        <p:spPr>
          <a:xfrm>
            <a:off x="781050" y="2781300"/>
            <a:ext cx="4857750" cy="2247900"/>
          </a:xfrm>
          <a:prstGeom prst="roundRect">
            <a:avLst>
              <a:gd name="adj" fmla="val 3390"/>
            </a:avLst>
          </a:prstGeom>
          <a:solidFill>
            <a:srgbClr val="FFFFFF"/>
          </a:solidFill>
          <a:ln w="19050">
            <a:solidFill>
              <a:srgbClr val="0072B2"/>
            </a:solidFill>
            <a:prstDash val="solid"/>
          </a:ln>
        </p:spPr>
      </p:sp>
      <p:sp>
        <p:nvSpPr>
          <p:cNvPr id="13" name="矩形 12"/>
          <p:cNvSpPr>
            <a:spLocks noGrp="1"/>
          </p:cNvSpPr>
          <p:nvPr/>
        </p:nvSpPr>
        <p:spPr>
          <a:xfrm>
            <a:off x="1019175" y="2990850"/>
            <a:ext cx="4381500" cy="476250"/>
          </a:xfrm>
          <a:prstGeom prst="rect">
            <a:avLst/>
          </a:prstGeom>
          <a:noFill/>
          <a:ln w="0">
            <a:noFill/>
            <a:prstDash val="solid"/>
          </a:ln>
        </p:spPr>
        <p:txBody>
          <a:bodyPr anchor="ctr"/>
          <a:lstStyle/>
          <a:p>
            <a:pPr algn="ctr">
              <a:defRPr sz="2325" b="1">
                <a:solidFill>
                  <a:srgbClr val="0072B2"/>
                </a:solidFill>
              </a:defRPr>
            </a:pPr>
            <a:r>
              <a:rPr sz="2325" b="1">
                <a:solidFill>
                  <a:srgbClr val="0072B2"/>
                </a:solidFill>
              </a:rPr>
              <a:t>PGS-O</a:t>
            </a:r>
            <a:endParaRPr sz="2325" b="1">
              <a:solidFill>
                <a:srgbClr val="0072B2"/>
              </a:solidFill>
            </a:endParaRPr>
          </a:p>
        </p:txBody>
      </p:sp>
      <p:sp>
        <p:nvSpPr>
          <p:cNvPr id="14" name="矩形 13"/>
          <p:cNvSpPr>
            <a:spLocks noGrp="1"/>
          </p:cNvSpPr>
          <p:nvPr/>
        </p:nvSpPr>
        <p:spPr>
          <a:xfrm>
            <a:off x="1066800" y="3600450"/>
            <a:ext cx="4286250" cy="381000"/>
          </a:xfrm>
          <a:prstGeom prst="rect">
            <a:avLst/>
          </a:prstGeom>
          <a:noFill/>
          <a:ln w="0">
            <a:noFill/>
            <a:prstDash val="solid"/>
          </a:ln>
        </p:spPr>
        <p:txBody>
          <a:bodyPr anchor="ctr"/>
          <a:lstStyle/>
          <a:p>
            <a:pPr algn="ctr">
              <a:defRPr sz="1575" b="1">
                <a:solidFill>
                  <a:srgbClr val="152538"/>
                </a:solidFill>
              </a:defRPr>
            </a:pPr>
            <a:r>
              <a:rPr sz="1575" b="1">
                <a:solidFill>
                  <a:srgbClr val="152538"/>
                </a:solidFill>
              </a:rPr>
              <a:t>finite local Archimedean spiral</a:t>
            </a:r>
            <a:endParaRPr sz="1575" b="1">
              <a:solidFill>
                <a:srgbClr val="152538"/>
              </a:solidFill>
            </a:endParaRPr>
          </a:p>
        </p:txBody>
      </p:sp>
      <p:sp>
        <p:nvSpPr>
          <p:cNvPr id="15" name="矩形 14"/>
          <p:cNvSpPr>
            <a:spLocks noGrp="1"/>
          </p:cNvSpPr>
          <p:nvPr/>
        </p:nvSpPr>
        <p:spPr>
          <a:xfrm>
            <a:off x="1162050" y="4124325"/>
            <a:ext cx="4095750" cy="571500"/>
          </a:xfrm>
          <a:prstGeom prst="rect">
            <a:avLst/>
          </a:prstGeom>
          <a:noFill/>
          <a:ln w="0">
            <a:noFill/>
            <a:prstDash val="solid"/>
          </a:ln>
        </p:spPr>
        <p:txBody>
          <a:bodyPr anchor="ctr"/>
          <a:lstStyle/>
          <a:p>
            <a:pPr algn="ctr">
              <a:defRPr sz="1350" b="0">
                <a:solidFill>
                  <a:srgbClr val="6B7580"/>
                </a:solidFill>
              </a:defRPr>
            </a:pPr>
            <a:r>
              <a:rPr sz="1350" b="0">
                <a:solidFill>
                  <a:srgbClr val="6B7580"/>
                </a:solidFill>
              </a:rPr>
              <a:t>simple coverage of residual disk</a:t>
            </a:r>
            <a:endParaRPr sz="1350" b="0">
              <a:solidFill>
                <a:srgbClr val="6B7580"/>
              </a:solidFill>
            </a:endParaRPr>
          </a:p>
        </p:txBody>
      </p:sp>
      <p:sp>
        <p:nvSpPr>
          <p:cNvPr id="16" name="圆角矩形 15"/>
          <p:cNvSpPr>
            <a:spLocks noGrp="1"/>
          </p:cNvSpPr>
          <p:nvPr/>
        </p:nvSpPr>
        <p:spPr>
          <a:xfrm>
            <a:off x="6438900" y="2781300"/>
            <a:ext cx="4857750" cy="2247900"/>
          </a:xfrm>
          <a:prstGeom prst="roundRect">
            <a:avLst>
              <a:gd name="adj" fmla="val 3390"/>
            </a:avLst>
          </a:prstGeom>
          <a:solidFill>
            <a:srgbClr val="FFFFFF"/>
          </a:solidFill>
          <a:ln w="19050">
            <a:solidFill>
              <a:srgbClr val="009E73"/>
            </a:solidFill>
            <a:prstDash val="solid"/>
          </a:ln>
        </p:spPr>
      </p:sp>
      <p:sp>
        <p:nvSpPr>
          <p:cNvPr id="17" name="矩形 16"/>
          <p:cNvSpPr>
            <a:spLocks noGrp="1"/>
          </p:cNvSpPr>
          <p:nvPr/>
        </p:nvSpPr>
        <p:spPr>
          <a:xfrm>
            <a:off x="6677025" y="2990850"/>
            <a:ext cx="4381500" cy="476250"/>
          </a:xfrm>
          <a:prstGeom prst="rect">
            <a:avLst/>
          </a:prstGeom>
          <a:noFill/>
          <a:ln w="0">
            <a:noFill/>
            <a:prstDash val="solid"/>
          </a:ln>
        </p:spPr>
        <p:txBody>
          <a:bodyPr anchor="ctr"/>
          <a:lstStyle/>
          <a:p>
            <a:pPr algn="ctr">
              <a:defRPr sz="2325" b="1">
                <a:solidFill>
                  <a:srgbClr val="009E73"/>
                </a:solidFill>
              </a:defRPr>
            </a:pPr>
            <a:r>
              <a:rPr sz="2325" b="1">
                <a:solidFill>
                  <a:srgbClr val="009E73"/>
                </a:solidFill>
              </a:rPr>
              <a:t>PGS-G</a:t>
            </a:r>
            <a:endParaRPr sz="2325" b="1">
              <a:solidFill>
                <a:srgbClr val="009E73"/>
              </a:solidFill>
            </a:endParaRPr>
          </a:p>
        </p:txBody>
      </p:sp>
      <p:sp>
        <p:nvSpPr>
          <p:cNvPr id="18" name="矩形 17"/>
          <p:cNvSpPr>
            <a:spLocks noGrp="1"/>
          </p:cNvSpPr>
          <p:nvPr/>
        </p:nvSpPr>
        <p:spPr>
          <a:xfrm>
            <a:off x="6724650" y="3600450"/>
            <a:ext cx="4286250" cy="381000"/>
          </a:xfrm>
          <a:prstGeom prst="rect">
            <a:avLst/>
          </a:prstGeom>
          <a:noFill/>
          <a:ln w="0">
            <a:noFill/>
            <a:prstDash val="solid"/>
          </a:ln>
        </p:spPr>
        <p:txBody>
          <a:bodyPr anchor="ctr"/>
          <a:lstStyle/>
          <a:p>
            <a:pPr algn="ctr">
              <a:defRPr sz="1575" b="1">
                <a:solidFill>
                  <a:srgbClr val="152538"/>
                </a:solidFill>
              </a:defRPr>
            </a:pPr>
            <a:r>
              <a:rPr sz="1575" b="1">
                <a:solidFill>
                  <a:srgbClr val="152538"/>
                </a:solidFill>
              </a:rPr>
              <a:t>entropy-grid contacts</a:t>
            </a:r>
            <a:endParaRPr sz="1575" b="1">
              <a:solidFill>
                <a:srgbClr val="152538"/>
              </a:solidFill>
            </a:endParaRPr>
          </a:p>
        </p:txBody>
      </p:sp>
      <p:sp>
        <p:nvSpPr>
          <p:cNvPr id="19" name="矩形 18"/>
          <p:cNvSpPr>
            <a:spLocks noGrp="1"/>
          </p:cNvSpPr>
          <p:nvPr/>
        </p:nvSpPr>
        <p:spPr>
          <a:xfrm>
            <a:off x="6819900" y="4124325"/>
            <a:ext cx="4095750" cy="571500"/>
          </a:xfrm>
          <a:prstGeom prst="rect">
            <a:avLst/>
          </a:prstGeom>
          <a:noFill/>
          <a:ln w="0">
            <a:noFill/>
            <a:prstDash val="solid"/>
          </a:ln>
        </p:spPr>
        <p:txBody>
          <a:bodyPr anchor="ctr"/>
          <a:lstStyle/>
          <a:p>
            <a:pPr algn="ctr">
              <a:defRPr sz="1350" b="0">
                <a:solidFill>
                  <a:srgbClr val="6B7580"/>
                </a:solidFill>
              </a:defRPr>
            </a:pPr>
            <a:r>
              <a:rPr sz="1350" b="0">
                <a:solidFill>
                  <a:srgbClr val="6B7580"/>
                </a:solidFill>
              </a:rPr>
              <a:t>information + capture coverage − travel</a:t>
            </a:r>
            <a:endParaRPr sz="1350" b="0">
              <a:solidFill>
                <a:srgbClr val="6B7580"/>
              </a:solidFill>
            </a:endParaRPr>
          </a:p>
        </p:txBody>
      </p:sp>
      <p:sp>
        <p:nvSpPr>
          <p:cNvPr id="20" name="矩形 19"/>
          <p:cNvSpPr>
            <a:spLocks noGrp="1"/>
          </p:cNvSpPr>
          <p:nvPr/>
        </p:nvSpPr>
        <p:spPr>
          <a:xfrm>
            <a:off x="647700" y="5943600"/>
            <a:ext cx="10839450" cy="400050"/>
          </a:xfrm>
          <a:prstGeom prst="rect">
            <a:avLst/>
          </a:prstGeom>
          <a:solidFill>
            <a:srgbClr val="FFF0E2"/>
          </a:solidFill>
          <a:ln w="0">
            <a:noFill/>
            <a:prstDash val="solid"/>
          </a:ln>
        </p:spPr>
      </p:sp>
      <p:sp>
        <p:nvSpPr>
          <p:cNvPr id="21" name="矩形 20"/>
          <p:cNvSpPr>
            <a:spLocks noGrp="1"/>
          </p:cNvSpPr>
          <p:nvPr/>
        </p:nvSpPr>
        <p:spPr>
          <a:xfrm>
            <a:off x="647700" y="5943600"/>
            <a:ext cx="57150" cy="400050"/>
          </a:xfrm>
          <a:prstGeom prst="rect">
            <a:avLst/>
          </a:prstGeom>
          <a:solidFill>
            <a:srgbClr val="ED7F0D"/>
          </a:solidFill>
          <a:ln w="0">
            <a:noFill/>
            <a:prstDash val="solid"/>
          </a:ln>
        </p:spPr>
      </p:sp>
      <p:sp>
        <p:nvSpPr>
          <p:cNvPr id="22" name="矩形 21"/>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shortcut, controller, recovery and verifier are shared.</a:t>
            </a:r>
            <a:endParaRPr sz="1275" b="1">
              <a:solidFill>
                <a:srgbClr val="152538"/>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25</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FRAMEWORK</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The physical loop owns capture, recovery, safety, and the final decision</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III-D · Eqs. (26)–(30)</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25</a:t>
            </a:r>
            <a:endParaRPr sz="825" b="1">
              <a:solidFill>
                <a:srgbClr val="004282"/>
              </a:solidFill>
            </a:endParaRPr>
          </a:p>
        </p:txBody>
      </p:sp>
      <p:sp>
        <p:nvSpPr>
          <p:cNvPr id="10" name="圆角矩形 9"/>
          <p:cNvSpPr>
            <a:spLocks noGrp="1"/>
          </p:cNvSpPr>
          <p:nvPr/>
        </p:nvSpPr>
        <p:spPr>
          <a:xfrm>
            <a:off x="704850" y="1447800"/>
            <a:ext cx="10725150" cy="3486150"/>
          </a:xfrm>
          <a:prstGeom prst="roundRect">
            <a:avLst>
              <a:gd name="adj" fmla="val 2186"/>
            </a:avLst>
          </a:prstGeom>
          <a:solidFill>
            <a:srgbClr val="FFFFFF"/>
          </a:solidFill>
          <a:ln w="9525">
            <a:solidFill>
              <a:srgbClr val="D9E0E6"/>
            </a:solidFill>
            <a:prstDash val="solid"/>
          </a:ln>
        </p:spPr>
      </p:sp>
      <p:pic>
        <p:nvPicPr>
          <p:cNvPr id="30" name="图片 29"/>
          <p:cNvPicPr>
            <a:picLocks noChangeAspect="1"/>
          </p:cNvPicPr>
          <p:nvPr/>
        </p:nvPicPr>
        <p:blipFill>
          <a:blip r:embed="rId1"/>
          <a:stretch>
            <a:fillRect/>
          </a:stretch>
        </p:blipFill>
        <p:spPr>
          <a:xfrm>
            <a:off x="1626294" y="1524000"/>
            <a:ext cx="8882261" cy="3333750"/>
          </a:xfrm>
          <a:prstGeom prst="roundRect">
            <a:avLst>
              <a:gd name="adj" fmla="val 2286"/>
            </a:avLst>
          </a:prstGeom>
        </p:spPr>
      </p:pic>
      <p:sp>
        <p:nvSpPr>
          <p:cNvPr id="11" name="矩形 10"/>
          <p:cNvSpPr>
            <a:spLocks noGrp="1"/>
          </p:cNvSpPr>
          <p:nvPr/>
        </p:nvSpPr>
        <p:spPr>
          <a:xfrm>
            <a:off x="876300" y="5048250"/>
            <a:ext cx="2171700" cy="419100"/>
          </a:xfrm>
          <a:prstGeom prst="rect">
            <a:avLst/>
          </a:prstGeom>
          <a:solidFill>
            <a:srgbClr val="E8F1F8"/>
          </a:solidFill>
          <a:ln w="0">
            <a:noFill/>
            <a:prstDash val="solid"/>
          </a:ln>
        </p:spPr>
        <p:txBody>
          <a:bodyPr anchor="ctr"/>
          <a:lstStyle/>
          <a:p>
            <a:pPr algn="ctr">
              <a:defRPr sz="1275" b="1">
                <a:solidFill>
                  <a:srgbClr val="004282"/>
                </a:solidFill>
              </a:defRPr>
            </a:pPr>
            <a:r>
              <a:rPr sz="1275" b="1">
                <a:solidFill>
                  <a:srgbClr val="004282"/>
                </a:solidFill>
              </a:rPr>
              <a:t>capture handoff</a:t>
            </a:r>
            <a:endParaRPr sz="1275" b="1">
              <a:solidFill>
                <a:srgbClr val="004282"/>
              </a:solidFill>
            </a:endParaRPr>
          </a:p>
        </p:txBody>
      </p:sp>
      <p:sp>
        <p:nvSpPr>
          <p:cNvPr id="12" name="右箭头 11"/>
          <p:cNvSpPr>
            <a:spLocks noGrp="1"/>
          </p:cNvSpPr>
          <p:nvPr/>
        </p:nvSpPr>
        <p:spPr>
          <a:xfrm>
            <a:off x="3067050" y="5124450"/>
            <a:ext cx="342900" cy="266700"/>
          </a:xfrm>
          <a:prstGeom prst="rightArrow">
            <a:avLst/>
          </a:prstGeom>
          <a:solidFill>
            <a:srgbClr val="ED7F0D"/>
          </a:solidFill>
          <a:ln w="0">
            <a:noFill/>
            <a:prstDash val="solid"/>
          </a:ln>
        </p:spPr>
      </p:sp>
      <p:sp>
        <p:nvSpPr>
          <p:cNvPr id="13" name="矩形 12"/>
          <p:cNvSpPr>
            <a:spLocks noGrp="1"/>
          </p:cNvSpPr>
          <p:nvPr/>
        </p:nvSpPr>
        <p:spPr>
          <a:xfrm>
            <a:off x="3495675" y="5048250"/>
            <a:ext cx="2171700" cy="419100"/>
          </a:xfrm>
          <a:prstGeom prst="rect">
            <a:avLst/>
          </a:prstGeom>
          <a:solidFill>
            <a:srgbClr val="E8F1F8"/>
          </a:solidFill>
          <a:ln w="0">
            <a:noFill/>
            <a:prstDash val="solid"/>
          </a:ln>
        </p:spPr>
        <p:txBody>
          <a:bodyPr anchor="ctr"/>
          <a:lstStyle/>
          <a:p>
            <a:pPr algn="ctr">
              <a:defRPr sz="1275" b="1">
                <a:solidFill>
                  <a:srgbClr val="004282"/>
                </a:solidFill>
              </a:defRPr>
            </a:pPr>
            <a:r>
              <a:rPr sz="1275" b="1">
                <a:solidFill>
                  <a:srgbClr val="004282"/>
                </a:solidFill>
              </a:rPr>
              <a:t>compliant insertion</a:t>
            </a:r>
            <a:endParaRPr sz="1275" b="1">
              <a:solidFill>
                <a:srgbClr val="004282"/>
              </a:solidFill>
            </a:endParaRPr>
          </a:p>
        </p:txBody>
      </p:sp>
      <p:sp>
        <p:nvSpPr>
          <p:cNvPr id="14" name="右箭头 13"/>
          <p:cNvSpPr>
            <a:spLocks noGrp="1"/>
          </p:cNvSpPr>
          <p:nvPr/>
        </p:nvSpPr>
        <p:spPr>
          <a:xfrm>
            <a:off x="5686425" y="5124450"/>
            <a:ext cx="342900" cy="266700"/>
          </a:xfrm>
          <a:prstGeom prst="rightArrow">
            <a:avLst/>
          </a:prstGeom>
          <a:solidFill>
            <a:srgbClr val="ED7F0D"/>
          </a:solidFill>
          <a:ln w="0">
            <a:noFill/>
            <a:prstDash val="solid"/>
          </a:ln>
        </p:spPr>
      </p:sp>
      <p:sp>
        <p:nvSpPr>
          <p:cNvPr id="15" name="矩形 14"/>
          <p:cNvSpPr>
            <a:spLocks noGrp="1"/>
          </p:cNvSpPr>
          <p:nvPr/>
        </p:nvSpPr>
        <p:spPr>
          <a:xfrm>
            <a:off x="6115050" y="5048250"/>
            <a:ext cx="2171700" cy="419100"/>
          </a:xfrm>
          <a:prstGeom prst="rect">
            <a:avLst/>
          </a:prstGeom>
          <a:solidFill>
            <a:srgbClr val="E8F1F8"/>
          </a:solidFill>
          <a:ln w="0">
            <a:noFill/>
            <a:prstDash val="solid"/>
          </a:ln>
        </p:spPr>
        <p:txBody>
          <a:bodyPr anchor="ctr"/>
          <a:lstStyle/>
          <a:p>
            <a:pPr algn="ctr">
              <a:defRPr sz="1275" b="1">
                <a:solidFill>
                  <a:srgbClr val="004282"/>
                </a:solidFill>
              </a:defRPr>
            </a:pPr>
            <a:r>
              <a:rPr sz="1275" b="1">
                <a:solidFill>
                  <a:srgbClr val="004282"/>
                </a:solidFill>
              </a:rPr>
              <a:t>unload / retract / upright / retouch</a:t>
            </a:r>
            <a:endParaRPr sz="1275" b="1">
              <a:solidFill>
                <a:srgbClr val="004282"/>
              </a:solidFill>
            </a:endParaRPr>
          </a:p>
        </p:txBody>
      </p:sp>
      <p:sp>
        <p:nvSpPr>
          <p:cNvPr id="16" name="右箭头 15"/>
          <p:cNvSpPr>
            <a:spLocks noGrp="1"/>
          </p:cNvSpPr>
          <p:nvPr/>
        </p:nvSpPr>
        <p:spPr>
          <a:xfrm>
            <a:off x="8305800" y="5124450"/>
            <a:ext cx="342900" cy="266700"/>
          </a:xfrm>
          <a:prstGeom prst="rightArrow">
            <a:avLst/>
          </a:prstGeom>
          <a:solidFill>
            <a:srgbClr val="ED7F0D"/>
          </a:solidFill>
          <a:ln w="0">
            <a:noFill/>
            <a:prstDash val="solid"/>
          </a:ln>
        </p:spPr>
      </p:sp>
      <p:sp>
        <p:nvSpPr>
          <p:cNvPr id="17" name="矩形 16"/>
          <p:cNvSpPr>
            <a:spLocks noGrp="1"/>
          </p:cNvSpPr>
          <p:nvPr/>
        </p:nvSpPr>
        <p:spPr>
          <a:xfrm>
            <a:off x="8734425" y="5048250"/>
            <a:ext cx="2171700" cy="419100"/>
          </a:xfrm>
          <a:prstGeom prst="rect">
            <a:avLst/>
          </a:prstGeom>
          <a:solidFill>
            <a:srgbClr val="FCE9E8"/>
          </a:solidFill>
          <a:ln w="0">
            <a:noFill/>
            <a:prstDash val="solid"/>
          </a:ln>
        </p:spPr>
        <p:txBody>
          <a:bodyPr anchor="ctr"/>
          <a:lstStyle/>
          <a:p>
            <a:pPr algn="ctr">
              <a:defRPr sz="1275" b="1">
                <a:solidFill>
                  <a:srgbClr val="C74A4A"/>
                </a:solidFill>
              </a:defRPr>
            </a:pPr>
            <a:r>
              <a:rPr sz="1275" b="1">
                <a:solidFill>
                  <a:srgbClr val="C74A4A"/>
                </a:solidFill>
              </a:rPr>
              <a:t>terminal dwell</a:t>
            </a:r>
            <a:endParaRPr sz="1275" b="1">
              <a:solidFill>
                <a:srgbClr val="C74A4A"/>
              </a:solidFill>
            </a:endParaRPr>
          </a:p>
        </p:txBody>
      </p:sp>
      <p:sp>
        <p:nvSpPr>
          <p:cNvPr id="18" name="矩形 17"/>
          <p:cNvSpPr>
            <a:spLocks noGrp="1"/>
          </p:cNvSpPr>
          <p:nvPr/>
        </p:nvSpPr>
        <p:spPr>
          <a:xfrm>
            <a:off x="647700" y="5943600"/>
            <a:ext cx="10839450" cy="400050"/>
          </a:xfrm>
          <a:prstGeom prst="rect">
            <a:avLst/>
          </a:prstGeom>
          <a:solidFill>
            <a:srgbClr val="FFF0E2"/>
          </a:solidFill>
          <a:ln w="0">
            <a:noFill/>
            <a:prstDash val="solid"/>
          </a:ln>
        </p:spPr>
      </p:sp>
      <p:sp>
        <p:nvSpPr>
          <p:cNvPr id="19" name="矩形 18"/>
          <p:cNvSpPr>
            <a:spLocks noGrp="1"/>
          </p:cNvSpPr>
          <p:nvPr/>
        </p:nvSpPr>
        <p:spPr>
          <a:xfrm>
            <a:off x="647700" y="5943600"/>
            <a:ext cx="57150" cy="400050"/>
          </a:xfrm>
          <a:prstGeom prst="rect">
            <a:avLst/>
          </a:prstGeom>
          <a:solidFill>
            <a:srgbClr val="ED7F0D"/>
          </a:solidFill>
          <a:ln w="0">
            <a:noFill/>
            <a:prstDash val="solid"/>
          </a:ln>
        </p:spPr>
      </p:sp>
      <p:sp>
        <p:nvSpPr>
          <p:cNvPr id="20" name="矩形 19"/>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Direct-ray attempts and post-capture recoveries are different budgets; at most three recoveries are allowed.</a:t>
            </a:r>
            <a:endParaRPr sz="1275" b="1">
              <a:solidFill>
                <a:srgbClr val="152538"/>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26</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SIMULATION</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Five questions organize the evidence</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IV-A–F</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26</a:t>
            </a:r>
            <a:endParaRPr sz="825" b="1">
              <a:solidFill>
                <a:srgbClr val="004282"/>
              </a:solidFill>
            </a:endParaRPr>
          </a:p>
        </p:txBody>
      </p:sp>
      <p:sp>
        <p:nvSpPr>
          <p:cNvPr id="10" name="矩形 9"/>
          <p:cNvSpPr>
            <a:spLocks noGrp="1"/>
          </p:cNvSpPr>
          <p:nvPr/>
        </p:nvSpPr>
        <p:spPr>
          <a:xfrm>
            <a:off x="838200" y="1638300"/>
            <a:ext cx="438150" cy="438150"/>
          </a:xfrm>
          <a:prstGeom prst="rect">
            <a:avLst/>
          </a:prstGeom>
          <a:solidFill>
            <a:srgbClr val="7F3C8D"/>
          </a:solidFill>
          <a:ln w="0">
            <a:noFill/>
            <a:prstDash val="solid"/>
          </a:ln>
        </p:spPr>
        <p:txBody>
          <a:bodyPr anchor="ctr"/>
          <a:lstStyle/>
          <a:p>
            <a:pPr algn="ctr">
              <a:defRPr sz="1500" b="1">
                <a:solidFill>
                  <a:srgbClr val="FFFFFF"/>
                </a:solidFill>
              </a:defRPr>
            </a:pPr>
            <a:r>
              <a:rPr sz="1500" b="1">
                <a:solidFill>
                  <a:srgbClr val="FFFFFF"/>
                </a:solidFill>
              </a:rPr>
              <a:t>1</a:t>
            </a:r>
            <a:endParaRPr sz="1500" b="1">
              <a:solidFill>
                <a:srgbClr val="FFFFFF"/>
              </a:solidFill>
            </a:endParaRPr>
          </a:p>
        </p:txBody>
      </p:sp>
      <p:sp>
        <p:nvSpPr>
          <p:cNvPr id="11" name="矩形 10"/>
          <p:cNvSpPr>
            <a:spLocks noGrp="1"/>
          </p:cNvSpPr>
          <p:nvPr/>
        </p:nvSpPr>
        <p:spPr>
          <a:xfrm>
            <a:off x="1466850" y="1638300"/>
            <a:ext cx="9620250" cy="457200"/>
          </a:xfrm>
          <a:prstGeom prst="rect">
            <a:avLst/>
          </a:prstGeom>
          <a:noFill/>
          <a:ln w="0">
            <a:noFill/>
            <a:prstDash val="solid"/>
          </a:ln>
        </p:spPr>
        <p:txBody>
          <a:bodyPr anchor="ctr"/>
          <a:lstStyle/>
          <a:p>
            <a:pPr algn="l">
              <a:defRPr sz="1650" b="1">
                <a:solidFill>
                  <a:srgbClr val="152538"/>
                </a:solidFill>
              </a:defRPr>
            </a:pPr>
            <a:r>
              <a:rPr sz="1650" b="1">
                <a:solidFill>
                  <a:srgbClr val="152538"/>
                </a:solidFill>
              </a:rPr>
              <a:t>RQ1  Does the four-channel representation help?</a:t>
            </a:r>
            <a:endParaRPr sz="1650" b="1">
              <a:solidFill>
                <a:srgbClr val="152538"/>
              </a:solidFill>
            </a:endParaRPr>
          </a:p>
        </p:txBody>
      </p:sp>
      <p:sp>
        <p:nvSpPr>
          <p:cNvPr id="12" name="矩形 11"/>
          <p:cNvSpPr>
            <a:spLocks noGrp="1"/>
          </p:cNvSpPr>
          <p:nvPr/>
        </p:nvSpPr>
        <p:spPr>
          <a:xfrm>
            <a:off x="1047750" y="2076450"/>
            <a:ext cx="19050" cy="314325"/>
          </a:xfrm>
          <a:prstGeom prst="rect">
            <a:avLst/>
          </a:prstGeom>
          <a:solidFill>
            <a:srgbClr val="D9E0E6"/>
          </a:solidFill>
          <a:ln w="0">
            <a:noFill/>
            <a:prstDash val="solid"/>
          </a:ln>
        </p:spPr>
      </p:sp>
      <p:sp>
        <p:nvSpPr>
          <p:cNvPr id="13" name="矩形 12"/>
          <p:cNvSpPr>
            <a:spLocks noGrp="1"/>
          </p:cNvSpPr>
          <p:nvPr/>
        </p:nvSpPr>
        <p:spPr>
          <a:xfrm>
            <a:off x="838200" y="2390775"/>
            <a:ext cx="438150" cy="438150"/>
          </a:xfrm>
          <a:prstGeom prst="rect">
            <a:avLst/>
          </a:prstGeom>
          <a:solidFill>
            <a:srgbClr val="0072B2"/>
          </a:solidFill>
          <a:ln w="0">
            <a:noFill/>
            <a:prstDash val="solid"/>
          </a:ln>
        </p:spPr>
        <p:txBody>
          <a:bodyPr anchor="ctr"/>
          <a:lstStyle/>
          <a:p>
            <a:pPr algn="ctr">
              <a:defRPr sz="1500" b="1">
                <a:solidFill>
                  <a:srgbClr val="FFFFFF"/>
                </a:solidFill>
              </a:defRPr>
            </a:pPr>
            <a:r>
              <a:rPr sz="1500" b="1">
                <a:solidFill>
                  <a:srgbClr val="FFFFFF"/>
                </a:solidFill>
              </a:rPr>
              <a:t>2</a:t>
            </a:r>
            <a:endParaRPr sz="1500" b="1">
              <a:solidFill>
                <a:srgbClr val="FFFFFF"/>
              </a:solidFill>
            </a:endParaRPr>
          </a:p>
        </p:txBody>
      </p:sp>
      <p:sp>
        <p:nvSpPr>
          <p:cNvPr id="14" name="矩形 13"/>
          <p:cNvSpPr>
            <a:spLocks noGrp="1"/>
          </p:cNvSpPr>
          <p:nvPr/>
        </p:nvSpPr>
        <p:spPr>
          <a:xfrm>
            <a:off x="1466850" y="2390775"/>
            <a:ext cx="9620250" cy="457200"/>
          </a:xfrm>
          <a:prstGeom prst="rect">
            <a:avLst/>
          </a:prstGeom>
          <a:noFill/>
          <a:ln w="0">
            <a:noFill/>
            <a:prstDash val="solid"/>
          </a:ln>
        </p:spPr>
        <p:txBody>
          <a:bodyPr anchor="ctr"/>
          <a:lstStyle/>
          <a:p>
            <a:pPr algn="l">
              <a:defRPr sz="1650" b="1">
                <a:solidFill>
                  <a:srgbClr val="152538"/>
                </a:solidFill>
              </a:defRPr>
            </a:pPr>
            <a:r>
              <a:rPr sz="1650" b="1">
                <a:solidFill>
                  <a:srgbClr val="152538"/>
                </a:solidFill>
              </a:rPr>
              <a:t>RQ2  Does posterior guidance reduce task effort?</a:t>
            </a:r>
            <a:endParaRPr sz="1650" b="1">
              <a:solidFill>
                <a:srgbClr val="152538"/>
              </a:solidFill>
            </a:endParaRPr>
          </a:p>
        </p:txBody>
      </p:sp>
      <p:sp>
        <p:nvSpPr>
          <p:cNvPr id="15" name="矩形 14"/>
          <p:cNvSpPr>
            <a:spLocks noGrp="1"/>
          </p:cNvSpPr>
          <p:nvPr/>
        </p:nvSpPr>
        <p:spPr>
          <a:xfrm>
            <a:off x="1047750" y="2828925"/>
            <a:ext cx="19050" cy="314325"/>
          </a:xfrm>
          <a:prstGeom prst="rect">
            <a:avLst/>
          </a:prstGeom>
          <a:solidFill>
            <a:srgbClr val="D9E0E6"/>
          </a:solidFill>
          <a:ln w="0">
            <a:noFill/>
            <a:prstDash val="solid"/>
          </a:ln>
        </p:spPr>
      </p:sp>
      <p:sp>
        <p:nvSpPr>
          <p:cNvPr id="16" name="矩形 15"/>
          <p:cNvSpPr>
            <a:spLocks noGrp="1"/>
          </p:cNvSpPr>
          <p:nvPr/>
        </p:nvSpPr>
        <p:spPr>
          <a:xfrm>
            <a:off x="838200" y="3143250"/>
            <a:ext cx="438150" cy="438150"/>
          </a:xfrm>
          <a:prstGeom prst="rect">
            <a:avLst/>
          </a:prstGeom>
          <a:solidFill>
            <a:srgbClr val="009E73"/>
          </a:solidFill>
          <a:ln w="0">
            <a:noFill/>
            <a:prstDash val="solid"/>
          </a:ln>
        </p:spPr>
        <p:txBody>
          <a:bodyPr anchor="ctr"/>
          <a:lstStyle/>
          <a:p>
            <a:pPr algn="ctr">
              <a:defRPr sz="1500" b="1">
                <a:solidFill>
                  <a:srgbClr val="FFFFFF"/>
                </a:solidFill>
              </a:defRPr>
            </a:pPr>
            <a:r>
              <a:rPr sz="1500" b="1">
                <a:solidFill>
                  <a:srgbClr val="FFFFFF"/>
                </a:solidFill>
              </a:rPr>
              <a:t>3</a:t>
            </a:r>
            <a:endParaRPr sz="1500" b="1">
              <a:solidFill>
                <a:srgbClr val="FFFFFF"/>
              </a:solidFill>
            </a:endParaRPr>
          </a:p>
        </p:txBody>
      </p:sp>
      <p:sp>
        <p:nvSpPr>
          <p:cNvPr id="17" name="矩形 16"/>
          <p:cNvSpPr>
            <a:spLocks noGrp="1"/>
          </p:cNvSpPr>
          <p:nvPr/>
        </p:nvSpPr>
        <p:spPr>
          <a:xfrm>
            <a:off x="1466850" y="3143250"/>
            <a:ext cx="9620250" cy="457200"/>
          </a:xfrm>
          <a:prstGeom prst="rect">
            <a:avLst/>
          </a:prstGeom>
          <a:noFill/>
          <a:ln w="0">
            <a:noFill/>
            <a:prstDash val="solid"/>
          </a:ln>
        </p:spPr>
        <p:txBody>
          <a:bodyPr anchor="ctr"/>
          <a:lstStyle/>
          <a:p>
            <a:pPr algn="l">
              <a:defRPr sz="1650" b="1">
                <a:solidFill>
                  <a:srgbClr val="152538"/>
                </a:solidFill>
              </a:defRPr>
            </a:pPr>
            <a:r>
              <a:rPr sz="1650" b="1">
                <a:solidFill>
                  <a:srgbClr val="152538"/>
                </a:solidFill>
              </a:rPr>
              <a:t>RQ3  Does the entropy grid beat the local spiral?</a:t>
            </a:r>
            <a:endParaRPr sz="1650" b="1">
              <a:solidFill>
                <a:srgbClr val="152538"/>
              </a:solidFill>
            </a:endParaRPr>
          </a:p>
        </p:txBody>
      </p:sp>
      <p:sp>
        <p:nvSpPr>
          <p:cNvPr id="18" name="矩形 17"/>
          <p:cNvSpPr>
            <a:spLocks noGrp="1"/>
          </p:cNvSpPr>
          <p:nvPr/>
        </p:nvSpPr>
        <p:spPr>
          <a:xfrm>
            <a:off x="1047750" y="3581400"/>
            <a:ext cx="19050" cy="314325"/>
          </a:xfrm>
          <a:prstGeom prst="rect">
            <a:avLst/>
          </a:prstGeom>
          <a:solidFill>
            <a:srgbClr val="D9E0E6"/>
          </a:solidFill>
          <a:ln w="0">
            <a:noFill/>
            <a:prstDash val="solid"/>
          </a:ln>
        </p:spPr>
      </p:sp>
      <p:sp>
        <p:nvSpPr>
          <p:cNvPr id="19" name="矩形 18"/>
          <p:cNvSpPr>
            <a:spLocks noGrp="1"/>
          </p:cNvSpPr>
          <p:nvPr/>
        </p:nvSpPr>
        <p:spPr>
          <a:xfrm>
            <a:off x="838200" y="3895725"/>
            <a:ext cx="438150" cy="438150"/>
          </a:xfrm>
          <a:prstGeom prst="rect">
            <a:avLst/>
          </a:prstGeom>
          <a:solidFill>
            <a:srgbClr val="C74A4A"/>
          </a:solidFill>
          <a:ln w="0">
            <a:noFill/>
            <a:prstDash val="solid"/>
          </a:ln>
        </p:spPr>
        <p:txBody>
          <a:bodyPr anchor="ctr"/>
          <a:lstStyle/>
          <a:p>
            <a:pPr algn="ctr">
              <a:defRPr sz="1500" b="1">
                <a:solidFill>
                  <a:srgbClr val="FFFFFF"/>
                </a:solidFill>
              </a:defRPr>
            </a:pPr>
            <a:r>
              <a:rPr sz="1500" b="1">
                <a:solidFill>
                  <a:srgbClr val="FFFFFF"/>
                </a:solidFill>
              </a:rPr>
              <a:t>4</a:t>
            </a:r>
            <a:endParaRPr sz="1500" b="1">
              <a:solidFill>
                <a:srgbClr val="FFFFFF"/>
              </a:solidFill>
            </a:endParaRPr>
          </a:p>
        </p:txBody>
      </p:sp>
      <p:sp>
        <p:nvSpPr>
          <p:cNvPr id="20" name="矩形 19"/>
          <p:cNvSpPr>
            <a:spLocks noGrp="1"/>
          </p:cNvSpPr>
          <p:nvPr/>
        </p:nvSpPr>
        <p:spPr>
          <a:xfrm>
            <a:off x="1466850" y="3895725"/>
            <a:ext cx="9620250" cy="457200"/>
          </a:xfrm>
          <a:prstGeom prst="rect">
            <a:avLst/>
          </a:prstGeom>
          <a:noFill/>
          <a:ln w="0">
            <a:noFill/>
            <a:prstDash val="solid"/>
          </a:ln>
        </p:spPr>
        <p:txBody>
          <a:bodyPr anchor="ctr"/>
          <a:lstStyle/>
          <a:p>
            <a:pPr algn="l">
              <a:defRPr sz="1650" b="1">
                <a:solidFill>
                  <a:srgbClr val="152538"/>
                </a:solidFill>
              </a:defRPr>
            </a:pPr>
            <a:r>
              <a:rPr sz="1650" b="1">
                <a:solidFill>
                  <a:srgbClr val="152538"/>
                </a:solidFill>
              </a:rPr>
              <a:t>RQ4  Does finite recovery change outcomes?</a:t>
            </a:r>
            <a:endParaRPr sz="1650" b="1">
              <a:solidFill>
                <a:srgbClr val="152538"/>
              </a:solidFill>
            </a:endParaRPr>
          </a:p>
        </p:txBody>
      </p:sp>
      <p:sp>
        <p:nvSpPr>
          <p:cNvPr id="21" name="矩形 20"/>
          <p:cNvSpPr>
            <a:spLocks noGrp="1"/>
          </p:cNvSpPr>
          <p:nvPr/>
        </p:nvSpPr>
        <p:spPr>
          <a:xfrm>
            <a:off x="1047750" y="4333875"/>
            <a:ext cx="19050" cy="314325"/>
          </a:xfrm>
          <a:prstGeom prst="rect">
            <a:avLst/>
          </a:prstGeom>
          <a:solidFill>
            <a:srgbClr val="D9E0E6"/>
          </a:solidFill>
          <a:ln w="0">
            <a:noFill/>
            <a:prstDash val="solid"/>
          </a:ln>
        </p:spPr>
      </p:sp>
      <p:sp>
        <p:nvSpPr>
          <p:cNvPr id="22" name="矩形 21"/>
          <p:cNvSpPr>
            <a:spLocks noGrp="1"/>
          </p:cNvSpPr>
          <p:nvPr/>
        </p:nvSpPr>
        <p:spPr>
          <a:xfrm>
            <a:off x="838200" y="4648200"/>
            <a:ext cx="438150" cy="438150"/>
          </a:xfrm>
          <a:prstGeom prst="rect">
            <a:avLst/>
          </a:prstGeom>
          <a:solidFill>
            <a:srgbClr val="ED7F0D"/>
          </a:solidFill>
          <a:ln w="0">
            <a:noFill/>
            <a:prstDash val="solid"/>
          </a:ln>
        </p:spPr>
        <p:txBody>
          <a:bodyPr anchor="ctr"/>
          <a:lstStyle/>
          <a:p>
            <a:pPr algn="ctr">
              <a:defRPr sz="1500" b="1">
                <a:solidFill>
                  <a:srgbClr val="FFFFFF"/>
                </a:solidFill>
              </a:defRPr>
            </a:pPr>
            <a:r>
              <a:rPr sz="1500" b="1">
                <a:solidFill>
                  <a:srgbClr val="FFFFFF"/>
                </a:solidFill>
              </a:rPr>
              <a:t>5</a:t>
            </a:r>
            <a:endParaRPr sz="1500" b="1">
              <a:solidFill>
                <a:srgbClr val="FFFFFF"/>
              </a:solidFill>
            </a:endParaRPr>
          </a:p>
        </p:txBody>
      </p:sp>
      <p:sp>
        <p:nvSpPr>
          <p:cNvPr id="23" name="矩形 22"/>
          <p:cNvSpPr>
            <a:spLocks noGrp="1"/>
          </p:cNvSpPr>
          <p:nvPr/>
        </p:nvSpPr>
        <p:spPr>
          <a:xfrm>
            <a:off x="1466850" y="4648200"/>
            <a:ext cx="9620250" cy="457200"/>
          </a:xfrm>
          <a:prstGeom prst="rect">
            <a:avLst/>
          </a:prstGeom>
          <a:noFill/>
          <a:ln w="0">
            <a:noFill/>
            <a:prstDash val="solid"/>
          </a:ln>
        </p:spPr>
        <p:txBody>
          <a:bodyPr anchor="ctr"/>
          <a:lstStyle/>
          <a:p>
            <a:pPr algn="l">
              <a:defRPr sz="1650" b="1">
                <a:solidFill>
                  <a:srgbClr val="152538"/>
                </a:solidFill>
              </a:defRPr>
            </a:pPr>
            <a:r>
              <a:rPr sz="1650" b="1">
                <a:solidFill>
                  <a:srgbClr val="152538"/>
                </a:solidFill>
              </a:rPr>
              <a:t>RQ5  What transfers across size and to hardware?</a:t>
            </a:r>
            <a:endParaRPr sz="1650" b="1">
              <a:solidFill>
                <a:srgbClr val="152538"/>
              </a:solidFill>
            </a:endParaRPr>
          </a:p>
        </p:txBody>
      </p:sp>
      <p:sp>
        <p:nvSpPr>
          <p:cNvPr id="24" name="矩形 23"/>
          <p:cNvSpPr>
            <a:spLocks noGrp="1"/>
          </p:cNvSpPr>
          <p:nvPr/>
        </p:nvSpPr>
        <p:spPr>
          <a:xfrm>
            <a:off x="647700" y="5943600"/>
            <a:ext cx="10839450" cy="400050"/>
          </a:xfrm>
          <a:prstGeom prst="rect">
            <a:avLst/>
          </a:prstGeom>
          <a:solidFill>
            <a:srgbClr val="FFF0E2"/>
          </a:solidFill>
          <a:ln w="0">
            <a:noFill/>
            <a:prstDash val="solid"/>
          </a:ln>
        </p:spPr>
      </p:sp>
      <p:sp>
        <p:nvSpPr>
          <p:cNvPr id="25" name="矩形 24"/>
          <p:cNvSpPr>
            <a:spLocks noGrp="1"/>
          </p:cNvSpPr>
          <p:nvPr/>
        </p:nvSpPr>
        <p:spPr>
          <a:xfrm>
            <a:off x="647700" y="5943600"/>
            <a:ext cx="57150" cy="400050"/>
          </a:xfrm>
          <a:prstGeom prst="rect">
            <a:avLst/>
          </a:prstGeom>
          <a:solidFill>
            <a:srgbClr val="ED7F0D"/>
          </a:solidFill>
          <a:ln w="0">
            <a:noFill/>
            <a:prstDash val="solid"/>
          </a:ln>
        </p:spPr>
      </p:sp>
      <p:sp>
        <p:nvSpPr>
          <p:cNvPr id="26" name="矩形 25"/>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Each result answers one question with its own denominator and evidence boundary.</a:t>
            </a:r>
            <a:endParaRPr sz="1275" b="1">
              <a:solidFill>
                <a:srgbClr val="152538"/>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27</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SIMULATION</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Every M8 policy faces the same 24 tasks, budget, and physical controller</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IV-A</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27</a:t>
            </a:r>
            <a:endParaRPr sz="825" b="1">
              <a:solidFill>
                <a:srgbClr val="004282"/>
              </a:solidFill>
            </a:endParaRPr>
          </a:p>
        </p:txBody>
      </p:sp>
      <p:sp>
        <p:nvSpPr>
          <p:cNvPr id="10" name="矩形 9"/>
          <p:cNvSpPr>
            <a:spLocks noGrp="1"/>
          </p:cNvSpPr>
          <p:nvPr/>
        </p:nvSpPr>
        <p:spPr>
          <a:xfrm>
            <a:off x="762000" y="1695450"/>
            <a:ext cx="3048000" cy="476250"/>
          </a:xfrm>
          <a:prstGeom prst="rect">
            <a:avLst/>
          </a:prstGeom>
          <a:noFill/>
          <a:ln w="0">
            <a:noFill/>
            <a:prstDash val="solid"/>
          </a:ln>
        </p:spPr>
        <p:txBody>
          <a:bodyPr anchor="ctr"/>
          <a:lstStyle/>
          <a:p>
            <a:pPr algn="ctr">
              <a:defRPr sz="2550" b="1">
                <a:solidFill>
                  <a:srgbClr val="004282"/>
                </a:solidFill>
              </a:defRPr>
            </a:pPr>
            <a:r>
              <a:rPr sz="2550" b="1">
                <a:solidFill>
                  <a:srgbClr val="004282"/>
                </a:solidFill>
              </a:rPr>
              <a:t>24</a:t>
            </a:r>
            <a:endParaRPr sz="2550" b="1">
              <a:solidFill>
                <a:srgbClr val="004282"/>
              </a:solidFill>
            </a:endParaRPr>
          </a:p>
        </p:txBody>
      </p:sp>
      <p:sp>
        <p:nvSpPr>
          <p:cNvPr id="11" name="矩形 10"/>
          <p:cNvSpPr>
            <a:spLocks noGrp="1"/>
          </p:cNvSpPr>
          <p:nvPr/>
        </p:nvSpPr>
        <p:spPr>
          <a:xfrm>
            <a:off x="762000" y="2190750"/>
            <a:ext cx="304800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paired Sobol tasks</a:t>
            </a:r>
            <a:endParaRPr sz="1200" b="0">
              <a:solidFill>
                <a:srgbClr val="6B7580"/>
              </a:solidFill>
            </a:endParaRPr>
          </a:p>
        </p:txBody>
      </p:sp>
      <p:sp>
        <p:nvSpPr>
          <p:cNvPr id="12" name="矩形 11"/>
          <p:cNvSpPr>
            <a:spLocks noGrp="1"/>
          </p:cNvSpPr>
          <p:nvPr/>
        </p:nvSpPr>
        <p:spPr>
          <a:xfrm>
            <a:off x="4191000" y="1695450"/>
            <a:ext cx="3048000" cy="476250"/>
          </a:xfrm>
          <a:prstGeom prst="rect">
            <a:avLst/>
          </a:prstGeom>
          <a:noFill/>
          <a:ln w="0">
            <a:noFill/>
            <a:prstDash val="solid"/>
          </a:ln>
        </p:spPr>
        <p:txBody>
          <a:bodyPr anchor="ctr"/>
          <a:lstStyle/>
          <a:p>
            <a:pPr algn="ctr">
              <a:defRPr sz="2550" b="1">
                <a:solidFill>
                  <a:srgbClr val="ED7F0D"/>
                </a:solidFill>
              </a:defRPr>
            </a:pPr>
            <a:r>
              <a:rPr sz="2550" b="1">
                <a:solidFill>
                  <a:srgbClr val="ED7F0D"/>
                </a:solidFill>
              </a:rPr>
              <a:t>1.74–4.88 mm</a:t>
            </a:r>
            <a:endParaRPr sz="2550" b="1">
              <a:solidFill>
                <a:srgbClr val="ED7F0D"/>
              </a:solidFill>
            </a:endParaRPr>
          </a:p>
        </p:txBody>
      </p:sp>
      <p:sp>
        <p:nvSpPr>
          <p:cNvPr id="13" name="矩形 12"/>
          <p:cNvSpPr>
            <a:spLocks noGrp="1"/>
          </p:cNvSpPr>
          <p:nvPr/>
        </p:nvSpPr>
        <p:spPr>
          <a:xfrm>
            <a:off x="4191000" y="2190750"/>
            <a:ext cx="304800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initial offset</a:t>
            </a:r>
            <a:endParaRPr sz="1200" b="0">
              <a:solidFill>
                <a:srgbClr val="6B7580"/>
              </a:solidFill>
            </a:endParaRPr>
          </a:p>
        </p:txBody>
      </p:sp>
      <p:sp>
        <p:nvSpPr>
          <p:cNvPr id="14" name="矩形 13"/>
          <p:cNvSpPr>
            <a:spLocks noGrp="1"/>
          </p:cNvSpPr>
          <p:nvPr/>
        </p:nvSpPr>
        <p:spPr>
          <a:xfrm>
            <a:off x="7620000" y="1695450"/>
            <a:ext cx="3048000" cy="476250"/>
          </a:xfrm>
          <a:prstGeom prst="rect">
            <a:avLst/>
          </a:prstGeom>
          <a:noFill/>
          <a:ln w="0">
            <a:noFill/>
            <a:prstDash val="solid"/>
          </a:ln>
        </p:spPr>
        <p:txBody>
          <a:bodyPr anchor="ctr"/>
          <a:lstStyle/>
          <a:p>
            <a:pPr algn="ctr">
              <a:defRPr sz="2550" b="1">
                <a:solidFill>
                  <a:srgbClr val="009E73"/>
                </a:solidFill>
              </a:defRPr>
            </a:pPr>
            <a:r>
              <a:rPr sz="2550" b="1">
                <a:solidFill>
                  <a:srgbClr val="009E73"/>
                </a:solidFill>
              </a:rPr>
              <a:t>130 s</a:t>
            </a:r>
            <a:endParaRPr sz="2550" b="1">
              <a:solidFill>
                <a:srgbClr val="009E73"/>
              </a:solidFill>
            </a:endParaRPr>
          </a:p>
        </p:txBody>
      </p:sp>
      <p:sp>
        <p:nvSpPr>
          <p:cNvPr id="15" name="矩形 14"/>
          <p:cNvSpPr>
            <a:spLocks noGrp="1"/>
          </p:cNvSpPr>
          <p:nvPr/>
        </p:nvSpPr>
        <p:spPr>
          <a:xfrm>
            <a:off x="7620000" y="2190750"/>
            <a:ext cx="304800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shared budget</a:t>
            </a:r>
            <a:endParaRPr sz="1200" b="0">
              <a:solidFill>
                <a:srgbClr val="6B7580"/>
              </a:solidFill>
            </a:endParaRPr>
          </a:p>
        </p:txBody>
      </p:sp>
      <p:sp>
        <p:nvSpPr>
          <p:cNvPr id="16" name="矩形 15"/>
          <p:cNvSpPr>
            <a:spLocks noGrp="1"/>
          </p:cNvSpPr>
          <p:nvPr/>
        </p:nvSpPr>
        <p:spPr>
          <a:xfrm>
            <a:off x="857250" y="2781300"/>
            <a:ext cx="10191750" cy="19050"/>
          </a:xfrm>
          <a:prstGeom prst="rect">
            <a:avLst/>
          </a:prstGeom>
          <a:solidFill>
            <a:srgbClr val="D9E0E6"/>
          </a:solidFill>
          <a:ln w="0">
            <a:noFill/>
            <a:prstDash val="solid"/>
          </a:ln>
        </p:spPr>
      </p:sp>
      <p:sp>
        <p:nvSpPr>
          <p:cNvPr id="17" name="椭圆 16"/>
          <p:cNvSpPr>
            <a:spLocks noGrp="1"/>
          </p:cNvSpPr>
          <p:nvPr/>
        </p:nvSpPr>
        <p:spPr>
          <a:xfrm>
            <a:off x="1238250" y="3238500"/>
            <a:ext cx="76200" cy="76200"/>
          </a:xfrm>
          <a:prstGeom prst="ellipse">
            <a:avLst/>
          </a:prstGeom>
          <a:solidFill>
            <a:srgbClr val="004282"/>
          </a:solidFill>
          <a:ln w="9525">
            <a:solidFill>
              <a:srgbClr val="004282"/>
            </a:solidFill>
            <a:prstDash val="solid"/>
          </a:ln>
        </p:spPr>
      </p:sp>
      <p:sp>
        <p:nvSpPr>
          <p:cNvPr id="18" name="矩形 17"/>
          <p:cNvSpPr>
            <a:spLocks noGrp="1"/>
          </p:cNvSpPr>
          <p:nvPr/>
        </p:nvSpPr>
        <p:spPr>
          <a:xfrm>
            <a:off x="1447800" y="3143250"/>
            <a:ext cx="9505950" cy="514350"/>
          </a:xfrm>
          <a:prstGeom prst="rect">
            <a:avLst/>
          </a:prstGeom>
          <a:noFill/>
          <a:ln w="0">
            <a:noFill/>
            <a:prstDash val="solid"/>
          </a:ln>
        </p:spPr>
        <p:txBody>
          <a:bodyPr anchor="t"/>
          <a:lstStyle/>
          <a:p>
            <a:pPr algn="l">
              <a:defRPr sz="1650" b="0">
                <a:solidFill>
                  <a:srgbClr val="152538"/>
                </a:solidFill>
              </a:defRPr>
            </a:pPr>
            <a:r>
              <a:rPr sz="1650" b="0">
                <a:solidFill>
                  <a:srgbClr val="152538"/>
                </a:solidFill>
              </a:rPr>
              <a:t>Same frozen nuisance tuple per method</a:t>
            </a:r>
            <a:endParaRPr sz="1650" b="0">
              <a:solidFill>
                <a:srgbClr val="152538"/>
              </a:solidFill>
            </a:endParaRPr>
          </a:p>
        </p:txBody>
      </p:sp>
      <p:sp>
        <p:nvSpPr>
          <p:cNvPr id="19" name="椭圆 18"/>
          <p:cNvSpPr>
            <a:spLocks noGrp="1"/>
          </p:cNvSpPr>
          <p:nvPr/>
        </p:nvSpPr>
        <p:spPr>
          <a:xfrm>
            <a:off x="1238250" y="3886200"/>
            <a:ext cx="76200" cy="76200"/>
          </a:xfrm>
          <a:prstGeom prst="ellipse">
            <a:avLst/>
          </a:prstGeom>
          <a:solidFill>
            <a:srgbClr val="004282"/>
          </a:solidFill>
          <a:ln w="9525">
            <a:solidFill>
              <a:srgbClr val="004282"/>
            </a:solidFill>
            <a:prstDash val="solid"/>
          </a:ln>
        </p:spPr>
      </p:sp>
      <p:sp>
        <p:nvSpPr>
          <p:cNvPr id="20" name="矩形 19"/>
          <p:cNvSpPr>
            <a:spLocks noGrp="1"/>
          </p:cNvSpPr>
          <p:nvPr/>
        </p:nvSpPr>
        <p:spPr>
          <a:xfrm>
            <a:off x="1447800" y="3790950"/>
            <a:ext cx="9505950" cy="514350"/>
          </a:xfrm>
          <a:prstGeom prst="rect">
            <a:avLst/>
          </a:prstGeom>
          <a:noFill/>
          <a:ln w="0">
            <a:noFill/>
            <a:prstDash val="solid"/>
          </a:ln>
        </p:spPr>
        <p:txBody>
          <a:bodyPr anchor="t"/>
          <a:lstStyle/>
          <a:p>
            <a:pPr algn="l">
              <a:defRPr sz="1650" b="0">
                <a:solidFill>
                  <a:srgbClr val="152538"/>
                </a:solidFill>
              </a:defRPr>
            </a:pPr>
            <a:r>
              <a:rPr sz="1650" b="0">
                <a:solidFill>
                  <a:srgbClr val="152538"/>
                </a:solidFill>
              </a:rPr>
              <a:t>Same admittance/RCC, guards and verifier</a:t>
            </a:r>
            <a:endParaRPr sz="1650" b="0">
              <a:solidFill>
                <a:srgbClr val="152538"/>
              </a:solidFill>
            </a:endParaRPr>
          </a:p>
        </p:txBody>
      </p:sp>
      <p:sp>
        <p:nvSpPr>
          <p:cNvPr id="21" name="椭圆 20"/>
          <p:cNvSpPr>
            <a:spLocks noGrp="1"/>
          </p:cNvSpPr>
          <p:nvPr/>
        </p:nvSpPr>
        <p:spPr>
          <a:xfrm>
            <a:off x="1238250" y="4533900"/>
            <a:ext cx="76200" cy="76200"/>
          </a:xfrm>
          <a:prstGeom prst="ellipse">
            <a:avLst/>
          </a:prstGeom>
          <a:solidFill>
            <a:srgbClr val="004282"/>
          </a:solidFill>
          <a:ln w="9525">
            <a:solidFill>
              <a:srgbClr val="004282"/>
            </a:solidFill>
            <a:prstDash val="solid"/>
          </a:ln>
        </p:spPr>
      </p:sp>
      <p:sp>
        <p:nvSpPr>
          <p:cNvPr id="22" name="矩形 21"/>
          <p:cNvSpPr>
            <a:spLocks noGrp="1"/>
          </p:cNvSpPr>
          <p:nvPr/>
        </p:nvSpPr>
        <p:spPr>
          <a:xfrm>
            <a:off x="1447800" y="4438650"/>
            <a:ext cx="9505950" cy="514350"/>
          </a:xfrm>
          <a:prstGeom prst="rect">
            <a:avLst/>
          </a:prstGeom>
          <a:noFill/>
          <a:ln w="0">
            <a:noFill/>
            <a:prstDash val="solid"/>
          </a:ln>
        </p:spPr>
        <p:txBody>
          <a:bodyPr anchor="t"/>
          <a:lstStyle/>
          <a:p>
            <a:pPr algn="l">
              <a:defRPr sz="1650" b="0">
                <a:solidFill>
                  <a:srgbClr val="152538"/>
                </a:solidFill>
              </a:defRPr>
            </a:pPr>
            <a:r>
              <a:rPr sz="1650" b="0">
                <a:solidFill>
                  <a:srgbClr val="152538"/>
                </a:solidFill>
              </a:rPr>
              <a:t>Paired tests wherever outcomes share a start</a:t>
            </a:r>
            <a:endParaRPr sz="1650" b="0">
              <a:solidFill>
                <a:srgbClr val="152538"/>
              </a:solidFill>
            </a:endParaRPr>
          </a:p>
        </p:txBody>
      </p:sp>
      <p:sp>
        <p:nvSpPr>
          <p:cNvPr id="23" name="矩形 22"/>
          <p:cNvSpPr>
            <a:spLocks noGrp="1"/>
          </p:cNvSpPr>
          <p:nvPr/>
        </p:nvSpPr>
        <p:spPr>
          <a:xfrm>
            <a:off x="647700" y="5943600"/>
            <a:ext cx="10839450" cy="400050"/>
          </a:xfrm>
          <a:prstGeom prst="rect">
            <a:avLst/>
          </a:prstGeom>
          <a:solidFill>
            <a:srgbClr val="FFF0E2"/>
          </a:solidFill>
          <a:ln w="0">
            <a:noFill/>
            <a:prstDash val="solid"/>
          </a:ln>
        </p:spPr>
      </p:sp>
      <p:sp>
        <p:nvSpPr>
          <p:cNvPr id="24" name="矩形 23"/>
          <p:cNvSpPr>
            <a:spLocks noGrp="1"/>
          </p:cNvSpPr>
          <p:nvPr/>
        </p:nvSpPr>
        <p:spPr>
          <a:xfrm>
            <a:off x="647700" y="5943600"/>
            <a:ext cx="57150" cy="400050"/>
          </a:xfrm>
          <a:prstGeom prst="rect">
            <a:avLst/>
          </a:prstGeom>
          <a:solidFill>
            <a:srgbClr val="ED7F0D"/>
          </a:solidFill>
          <a:ln w="0">
            <a:noFill/>
            <a:prstDash val="solid"/>
          </a:ln>
        </p:spPr>
      </p:sp>
      <p:sp>
        <p:nvSpPr>
          <p:cNvPr id="25" name="矩形 24"/>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Only the routing policy changes.</a:t>
            </a:r>
            <a:endParaRPr sz="1275" b="1">
              <a:solidFill>
                <a:srgbClr val="152538"/>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28</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SIMULATION</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Four channels improve the median direction error, but not the tail</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Table I · Fig. 5</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28</a:t>
            </a:r>
            <a:endParaRPr sz="825" b="1">
              <a:solidFill>
                <a:srgbClr val="004282"/>
              </a:solidFill>
            </a:endParaRPr>
          </a:p>
        </p:txBody>
      </p:sp>
      <p:sp>
        <p:nvSpPr>
          <p:cNvPr id="10" name="圆角矩形 9"/>
          <p:cNvSpPr>
            <a:spLocks noGrp="1"/>
          </p:cNvSpPr>
          <p:nvPr/>
        </p:nvSpPr>
        <p:spPr>
          <a:xfrm>
            <a:off x="704850" y="1428750"/>
            <a:ext cx="10725150" cy="4457700"/>
          </a:xfrm>
          <a:prstGeom prst="roundRect">
            <a:avLst>
              <a:gd name="adj" fmla="val 1709"/>
            </a:avLst>
          </a:prstGeom>
          <a:solidFill>
            <a:srgbClr val="FFFFFF"/>
          </a:solidFill>
          <a:ln w="9525">
            <a:solidFill>
              <a:srgbClr val="D9E0E6"/>
            </a:solidFill>
            <a:prstDash val="solid"/>
          </a:ln>
        </p:spPr>
      </p:sp>
      <p:pic>
        <p:nvPicPr>
          <p:cNvPr id="23" name="图片 22"/>
          <p:cNvPicPr>
            <a:picLocks noChangeAspect="1"/>
          </p:cNvPicPr>
          <p:nvPr/>
        </p:nvPicPr>
        <p:blipFill>
          <a:blip r:embed="rId1"/>
          <a:stretch>
            <a:fillRect/>
          </a:stretch>
        </p:blipFill>
        <p:spPr>
          <a:xfrm>
            <a:off x="1488916" y="1504950"/>
            <a:ext cx="9157019" cy="4305300"/>
          </a:xfrm>
          <a:prstGeom prst="roundRect">
            <a:avLst>
              <a:gd name="adj" fmla="val 1770"/>
            </a:avLst>
          </a:prstGeom>
        </p:spPr>
      </p:pic>
      <p:sp>
        <p:nvSpPr>
          <p:cNvPr id="11" name="矩形 10"/>
          <p:cNvSpPr>
            <a:spLocks noGrp="1"/>
          </p:cNvSpPr>
          <p:nvPr/>
        </p:nvSpPr>
        <p:spPr>
          <a:xfrm>
            <a:off x="647700" y="5943600"/>
            <a:ext cx="10839450" cy="400050"/>
          </a:xfrm>
          <a:prstGeom prst="rect">
            <a:avLst/>
          </a:prstGeom>
          <a:solidFill>
            <a:srgbClr val="FFF0E2"/>
          </a:solidFill>
          <a:ln w="0">
            <a:noFill/>
            <a:prstDash val="solid"/>
          </a:ln>
        </p:spPr>
      </p:sp>
      <p:sp>
        <p:nvSpPr>
          <p:cNvPr id="12" name="矩形 11"/>
          <p:cNvSpPr>
            <a:spLocks noGrp="1"/>
          </p:cNvSpPr>
          <p:nvPr/>
        </p:nvSpPr>
        <p:spPr>
          <a:xfrm>
            <a:off x="647700" y="5943600"/>
            <a:ext cx="57150" cy="400050"/>
          </a:xfrm>
          <a:prstGeom prst="rect">
            <a:avLst/>
          </a:prstGeom>
          <a:solidFill>
            <a:srgbClr val="ED7F0D"/>
          </a:solidFill>
          <a:ln w="0">
            <a:noFill/>
            <a:prstDash val="solid"/>
          </a:ln>
        </p:spPr>
      </p:sp>
      <p:sp>
        <p:nvSpPr>
          <p:cNvPr id="13" name="矩形 1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Median 4.75° vs 7.41°; p90 31.45° vs 13.79°; any-ray 19/24 both; verified 17/24 vs 16/24.</a:t>
            </a:r>
            <a:endParaRPr sz="1275" b="1">
              <a:solidFill>
                <a:srgbClr val="152538"/>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29</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SIMULATION</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325" b="1">
                <a:solidFill>
                  <a:srgbClr val="004282"/>
                </a:solidFill>
              </a:defRPr>
            </a:pPr>
            <a:r>
              <a:rPr sz="2325" b="1">
                <a:solidFill>
                  <a:srgbClr val="004282"/>
                </a:solidFill>
              </a:rPr>
              <a:t>One muted-touch case explains why bounded guidance still needs residual search</a:t>
            </a:r>
            <a:endParaRPr sz="232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Fig. 6 · Sobol 016</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29</a:t>
            </a:r>
            <a:endParaRPr sz="825" b="1">
              <a:solidFill>
                <a:srgbClr val="004282"/>
              </a:solidFill>
            </a:endParaRPr>
          </a:p>
        </p:txBody>
      </p:sp>
      <p:sp>
        <p:nvSpPr>
          <p:cNvPr id="10" name="圆角矩形 9"/>
          <p:cNvSpPr>
            <a:spLocks noGrp="1"/>
          </p:cNvSpPr>
          <p:nvPr/>
        </p:nvSpPr>
        <p:spPr>
          <a:xfrm>
            <a:off x="704850" y="1428750"/>
            <a:ext cx="10725150" cy="4457700"/>
          </a:xfrm>
          <a:prstGeom prst="roundRect">
            <a:avLst>
              <a:gd name="adj" fmla="val 1709"/>
            </a:avLst>
          </a:prstGeom>
          <a:solidFill>
            <a:srgbClr val="FFFFFF"/>
          </a:solidFill>
          <a:ln w="9525">
            <a:solidFill>
              <a:srgbClr val="D9E0E6"/>
            </a:solidFill>
            <a:prstDash val="solid"/>
          </a:ln>
        </p:spPr>
      </p:sp>
      <p:pic>
        <p:nvPicPr>
          <p:cNvPr id="23" name="图片 22"/>
          <p:cNvPicPr>
            <a:picLocks noChangeAspect="1"/>
          </p:cNvPicPr>
          <p:nvPr/>
        </p:nvPicPr>
        <p:blipFill>
          <a:blip r:embed="rId1"/>
          <a:stretch>
            <a:fillRect/>
          </a:stretch>
        </p:blipFill>
        <p:spPr>
          <a:xfrm>
            <a:off x="3186117" y="1504950"/>
            <a:ext cx="5762615" cy="4305300"/>
          </a:xfrm>
          <a:prstGeom prst="roundRect">
            <a:avLst>
              <a:gd name="adj" fmla="val 1770"/>
            </a:avLst>
          </a:prstGeom>
        </p:spPr>
      </p:pic>
      <p:sp>
        <p:nvSpPr>
          <p:cNvPr id="11" name="矩形 10"/>
          <p:cNvSpPr>
            <a:spLocks noGrp="1"/>
          </p:cNvSpPr>
          <p:nvPr/>
        </p:nvSpPr>
        <p:spPr>
          <a:xfrm>
            <a:off x="647700" y="5943600"/>
            <a:ext cx="10839450" cy="400050"/>
          </a:xfrm>
          <a:prstGeom prst="rect">
            <a:avLst/>
          </a:prstGeom>
          <a:solidFill>
            <a:srgbClr val="FFF0E2"/>
          </a:solidFill>
          <a:ln w="0">
            <a:noFill/>
            <a:prstDash val="solid"/>
          </a:ln>
        </p:spPr>
      </p:sp>
      <p:sp>
        <p:nvSpPr>
          <p:cNvPr id="12" name="矩形 11"/>
          <p:cNvSpPr>
            <a:spLocks noGrp="1"/>
          </p:cNvSpPr>
          <p:nvPr/>
        </p:nvSpPr>
        <p:spPr>
          <a:xfrm>
            <a:off x="647700" y="5943600"/>
            <a:ext cx="57150" cy="400050"/>
          </a:xfrm>
          <a:prstGeom prst="rect">
            <a:avLst/>
          </a:prstGeom>
          <a:solidFill>
            <a:srgbClr val="ED7F0D"/>
          </a:solidFill>
          <a:ln w="0">
            <a:noFill/>
            <a:prstDash val="solid"/>
          </a:ln>
        </p:spPr>
      </p:sp>
      <p:sp>
        <p:nvSpPr>
          <p:cNvPr id="13" name="矩形 1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This is one mechanism case: PGS-G, PGS-O and Outward verify; Direct-4C exhausts its ray budget without capture.</a:t>
            </a:r>
            <a:endParaRPr sz="1275" b="1">
              <a:solidFill>
                <a:srgbClr val="152538"/>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30</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SIMULATION</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Engagement counts are comparable; the stronger result is paired efficiency</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Table II · Fig. 7</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30</a:t>
            </a:r>
            <a:endParaRPr sz="825" b="1">
              <a:solidFill>
                <a:srgbClr val="004282"/>
              </a:solidFill>
            </a:endParaRPr>
          </a:p>
        </p:txBody>
      </p:sp>
      <p:sp>
        <p:nvSpPr>
          <p:cNvPr id="10" name="圆角矩形 9"/>
          <p:cNvSpPr>
            <a:spLocks noGrp="1"/>
          </p:cNvSpPr>
          <p:nvPr/>
        </p:nvSpPr>
        <p:spPr>
          <a:xfrm>
            <a:off x="704850" y="1428750"/>
            <a:ext cx="10725150" cy="4457700"/>
          </a:xfrm>
          <a:prstGeom prst="roundRect">
            <a:avLst>
              <a:gd name="adj" fmla="val 1709"/>
            </a:avLst>
          </a:prstGeom>
          <a:solidFill>
            <a:srgbClr val="FFFFFF"/>
          </a:solidFill>
          <a:ln w="9525">
            <a:solidFill>
              <a:srgbClr val="D9E0E6"/>
            </a:solidFill>
            <a:prstDash val="solid"/>
          </a:ln>
        </p:spPr>
      </p:sp>
      <p:pic>
        <p:nvPicPr>
          <p:cNvPr id="23" name="图片 22"/>
          <p:cNvPicPr>
            <a:picLocks noChangeAspect="1"/>
          </p:cNvPicPr>
          <p:nvPr/>
        </p:nvPicPr>
        <p:blipFill>
          <a:blip r:embed="rId1"/>
          <a:stretch>
            <a:fillRect/>
          </a:stretch>
        </p:blipFill>
        <p:spPr>
          <a:xfrm>
            <a:off x="3234351" y="1504950"/>
            <a:ext cx="5666147" cy="4305300"/>
          </a:xfrm>
          <a:prstGeom prst="roundRect">
            <a:avLst>
              <a:gd name="adj" fmla="val 1770"/>
            </a:avLst>
          </a:prstGeom>
        </p:spPr>
      </p:pic>
      <p:sp>
        <p:nvSpPr>
          <p:cNvPr id="11" name="矩形 10"/>
          <p:cNvSpPr>
            <a:spLocks noGrp="1"/>
          </p:cNvSpPr>
          <p:nvPr/>
        </p:nvSpPr>
        <p:spPr>
          <a:xfrm>
            <a:off x="647700" y="5943600"/>
            <a:ext cx="10839450" cy="400050"/>
          </a:xfrm>
          <a:prstGeom prst="rect">
            <a:avLst/>
          </a:prstGeom>
          <a:solidFill>
            <a:srgbClr val="FFF0E2"/>
          </a:solidFill>
          <a:ln w="0">
            <a:noFill/>
            <a:prstDash val="solid"/>
          </a:ln>
        </p:spPr>
      </p:sp>
      <p:sp>
        <p:nvSpPr>
          <p:cNvPr id="12" name="矩形 11"/>
          <p:cNvSpPr>
            <a:spLocks noGrp="1"/>
          </p:cNvSpPr>
          <p:nvPr/>
        </p:nvSpPr>
        <p:spPr>
          <a:xfrm>
            <a:off x="647700" y="5943600"/>
            <a:ext cx="57150" cy="400050"/>
          </a:xfrm>
          <a:prstGeom prst="rect">
            <a:avLst/>
          </a:prstGeom>
          <a:solidFill>
            <a:srgbClr val="ED7F0D"/>
          </a:solidFill>
          <a:ln w="0">
            <a:noFill/>
            <a:prstDash val="solid"/>
          </a:ln>
        </p:spPr>
      </p:sp>
      <p:sp>
        <p:nvSpPr>
          <p:cNvPr id="13" name="矩形 1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PGS-O 20/24 · PGS-G 19/24 · Outward 19/24 · Direct-4C 17/24.</a:t>
            </a:r>
            <a:endParaRPr sz="1275" b="1">
              <a:solidFill>
                <a:srgbClr val="152538"/>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31</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SIMULATION</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On 19 joint completions, PGS-O saves 41.14 mm and 16.79 s versus Outward</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IV-C · paired-difference figure</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31</a:t>
            </a:r>
            <a:endParaRPr sz="825" b="1">
              <a:solidFill>
                <a:srgbClr val="004282"/>
              </a:solidFill>
            </a:endParaRPr>
          </a:p>
        </p:txBody>
      </p:sp>
      <p:sp>
        <p:nvSpPr>
          <p:cNvPr id="10" name="圆角矩形 9"/>
          <p:cNvSpPr>
            <a:spLocks noGrp="1"/>
          </p:cNvSpPr>
          <p:nvPr/>
        </p:nvSpPr>
        <p:spPr>
          <a:xfrm>
            <a:off x="704850" y="1428750"/>
            <a:ext cx="10725150" cy="4457700"/>
          </a:xfrm>
          <a:prstGeom prst="roundRect">
            <a:avLst>
              <a:gd name="adj" fmla="val 1709"/>
            </a:avLst>
          </a:prstGeom>
          <a:solidFill>
            <a:srgbClr val="FFFFFF"/>
          </a:solidFill>
          <a:ln w="9525">
            <a:solidFill>
              <a:srgbClr val="D9E0E6"/>
            </a:solidFill>
            <a:prstDash val="solid"/>
          </a:ln>
        </p:spPr>
      </p:sp>
      <p:pic>
        <p:nvPicPr>
          <p:cNvPr id="23" name="图片 22"/>
          <p:cNvPicPr>
            <a:picLocks noChangeAspect="1"/>
          </p:cNvPicPr>
          <p:nvPr/>
        </p:nvPicPr>
        <p:blipFill>
          <a:blip r:embed="rId1"/>
          <a:stretch>
            <a:fillRect/>
          </a:stretch>
        </p:blipFill>
        <p:spPr>
          <a:xfrm>
            <a:off x="781050" y="1893820"/>
            <a:ext cx="10572750" cy="3527559"/>
          </a:xfrm>
          <a:prstGeom prst="roundRect">
            <a:avLst>
              <a:gd name="adj" fmla="val 1770"/>
            </a:avLst>
          </a:prstGeom>
        </p:spPr>
      </p:pic>
      <p:sp>
        <p:nvSpPr>
          <p:cNvPr id="11" name="矩形 10"/>
          <p:cNvSpPr>
            <a:spLocks noGrp="1"/>
          </p:cNvSpPr>
          <p:nvPr/>
        </p:nvSpPr>
        <p:spPr>
          <a:xfrm>
            <a:off x="647700" y="5943600"/>
            <a:ext cx="10839450" cy="400050"/>
          </a:xfrm>
          <a:prstGeom prst="rect">
            <a:avLst/>
          </a:prstGeom>
          <a:solidFill>
            <a:srgbClr val="FFF0E2"/>
          </a:solidFill>
          <a:ln w="0">
            <a:noFill/>
            <a:prstDash val="solid"/>
          </a:ln>
        </p:spPr>
      </p:sp>
      <p:sp>
        <p:nvSpPr>
          <p:cNvPr id="12" name="矩形 11"/>
          <p:cNvSpPr>
            <a:spLocks noGrp="1"/>
          </p:cNvSpPr>
          <p:nvPr/>
        </p:nvSpPr>
        <p:spPr>
          <a:xfrm>
            <a:off x="647700" y="5943600"/>
            <a:ext cx="57150" cy="400050"/>
          </a:xfrm>
          <a:prstGeom prst="rect">
            <a:avLst/>
          </a:prstGeom>
          <a:solidFill>
            <a:srgbClr val="ED7F0D"/>
          </a:solidFill>
          <a:ln w="0">
            <a:noFill/>
            <a:prstDash val="solid"/>
          </a:ln>
        </p:spPr>
      </p:sp>
      <p:sp>
        <p:nvSpPr>
          <p:cNvPr id="13" name="矩形 1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Paired median gaps: path −41.14 mm (19/19 shorter, p = 3.8×10⁻⁶); time −16.79 s (18/19 lower, p = 7.6×10⁻⁵).</a:t>
            </a:r>
            <a:endParaRPr sz="1275" b="1">
              <a:solidFill>
                <a:srgbClr val="152538"/>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32</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SIMULATION</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The entropy grid does not outperform the local spiral in this benchmark</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IV-C</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32</a:t>
            </a:r>
            <a:endParaRPr sz="825" b="1">
              <a:solidFill>
                <a:srgbClr val="004282"/>
              </a:solidFill>
            </a:endParaRPr>
          </a:p>
        </p:txBody>
      </p:sp>
      <p:sp>
        <p:nvSpPr>
          <p:cNvPr id="10" name="圆角矩形 9"/>
          <p:cNvSpPr>
            <a:spLocks noGrp="1"/>
          </p:cNvSpPr>
          <p:nvPr/>
        </p:nvSpPr>
        <p:spPr>
          <a:xfrm>
            <a:off x="876300" y="1828800"/>
            <a:ext cx="4905375" cy="1238250"/>
          </a:xfrm>
          <a:prstGeom prst="roundRect">
            <a:avLst>
              <a:gd name="adj" fmla="val 6154"/>
            </a:avLst>
          </a:prstGeom>
          <a:solidFill>
            <a:srgbClr val="FFFFFF"/>
          </a:solidFill>
          <a:ln w="9525">
            <a:solidFill>
              <a:srgbClr val="D9E0E6"/>
            </a:solidFill>
            <a:prstDash val="solid"/>
          </a:ln>
        </p:spPr>
      </p:sp>
      <p:sp>
        <p:nvSpPr>
          <p:cNvPr id="11" name="矩形 10"/>
          <p:cNvSpPr>
            <a:spLocks noGrp="1"/>
          </p:cNvSpPr>
          <p:nvPr/>
        </p:nvSpPr>
        <p:spPr>
          <a:xfrm>
            <a:off x="1066800" y="2000250"/>
            <a:ext cx="1905000" cy="457200"/>
          </a:xfrm>
          <a:prstGeom prst="rect">
            <a:avLst/>
          </a:prstGeom>
          <a:noFill/>
          <a:ln w="0">
            <a:noFill/>
            <a:prstDash val="solid"/>
          </a:ln>
        </p:spPr>
        <p:txBody>
          <a:bodyPr anchor="ctr"/>
          <a:lstStyle/>
          <a:p>
            <a:pPr algn="l">
              <a:defRPr sz="2400" b="1">
                <a:solidFill>
                  <a:srgbClr val="009E73"/>
                </a:solidFill>
              </a:defRPr>
            </a:pPr>
            <a:r>
              <a:rPr sz="2400" b="1">
                <a:solidFill>
                  <a:srgbClr val="009E73"/>
                </a:solidFill>
              </a:rPr>
              <a:t>−0.061 mm</a:t>
            </a:r>
            <a:endParaRPr sz="2400" b="1">
              <a:solidFill>
                <a:srgbClr val="009E73"/>
              </a:solidFill>
            </a:endParaRPr>
          </a:p>
        </p:txBody>
      </p:sp>
      <p:sp>
        <p:nvSpPr>
          <p:cNvPr id="12" name="矩形 11"/>
          <p:cNvSpPr>
            <a:spLocks noGrp="1"/>
          </p:cNvSpPr>
          <p:nvPr/>
        </p:nvSpPr>
        <p:spPr>
          <a:xfrm>
            <a:off x="2971800" y="2047875"/>
            <a:ext cx="2571750" cy="571500"/>
          </a:xfrm>
          <a:prstGeom prst="rect">
            <a:avLst/>
          </a:prstGeom>
          <a:noFill/>
          <a:ln w="0">
            <a:noFill/>
            <a:prstDash val="solid"/>
          </a:ln>
        </p:spPr>
        <p:txBody>
          <a:bodyPr anchor="ctr"/>
          <a:lstStyle/>
          <a:p>
            <a:pPr algn="l">
              <a:defRPr sz="1350" b="0">
                <a:solidFill>
                  <a:srgbClr val="152538"/>
                </a:solidFill>
              </a:defRPr>
            </a:pPr>
            <a:r>
              <a:rPr sz="1350" b="0">
                <a:solidFill>
                  <a:srgbClr val="152538"/>
                </a:solidFill>
              </a:rPr>
              <a:t>PGS-G − PGS-O path, median</a:t>
            </a:r>
            <a:endParaRPr sz="1350" b="0">
              <a:solidFill>
                <a:srgbClr val="152538"/>
              </a:solidFill>
            </a:endParaRPr>
          </a:p>
        </p:txBody>
      </p:sp>
      <p:sp>
        <p:nvSpPr>
          <p:cNvPr id="13" name="圆角矩形 12"/>
          <p:cNvSpPr>
            <a:spLocks noGrp="1"/>
          </p:cNvSpPr>
          <p:nvPr/>
        </p:nvSpPr>
        <p:spPr>
          <a:xfrm>
            <a:off x="6210300" y="1828800"/>
            <a:ext cx="4905375" cy="1238250"/>
          </a:xfrm>
          <a:prstGeom prst="roundRect">
            <a:avLst>
              <a:gd name="adj" fmla="val 6154"/>
            </a:avLst>
          </a:prstGeom>
          <a:solidFill>
            <a:srgbClr val="FFFFFF"/>
          </a:solidFill>
          <a:ln w="9525">
            <a:solidFill>
              <a:srgbClr val="D9E0E6"/>
            </a:solidFill>
            <a:prstDash val="solid"/>
          </a:ln>
        </p:spPr>
      </p:sp>
      <p:sp>
        <p:nvSpPr>
          <p:cNvPr id="14" name="矩形 13"/>
          <p:cNvSpPr>
            <a:spLocks noGrp="1"/>
          </p:cNvSpPr>
          <p:nvPr/>
        </p:nvSpPr>
        <p:spPr>
          <a:xfrm>
            <a:off x="6400800" y="2000250"/>
            <a:ext cx="1905000" cy="457200"/>
          </a:xfrm>
          <a:prstGeom prst="rect">
            <a:avLst/>
          </a:prstGeom>
          <a:noFill/>
          <a:ln w="0">
            <a:noFill/>
            <a:prstDash val="solid"/>
          </a:ln>
        </p:spPr>
        <p:txBody>
          <a:bodyPr anchor="ctr"/>
          <a:lstStyle/>
          <a:p>
            <a:pPr algn="l">
              <a:defRPr sz="2400" b="1">
                <a:solidFill>
                  <a:srgbClr val="6B7580"/>
                </a:solidFill>
              </a:defRPr>
            </a:pPr>
            <a:r>
              <a:rPr sz="2400" b="1">
                <a:solidFill>
                  <a:srgbClr val="6B7580"/>
                </a:solidFill>
              </a:rPr>
              <a:t>p = .465</a:t>
            </a:r>
            <a:endParaRPr sz="2400" b="1">
              <a:solidFill>
                <a:srgbClr val="6B7580"/>
              </a:solidFill>
            </a:endParaRPr>
          </a:p>
        </p:txBody>
      </p:sp>
      <p:sp>
        <p:nvSpPr>
          <p:cNvPr id="15" name="矩形 14"/>
          <p:cNvSpPr>
            <a:spLocks noGrp="1"/>
          </p:cNvSpPr>
          <p:nvPr/>
        </p:nvSpPr>
        <p:spPr>
          <a:xfrm>
            <a:off x="8305800" y="2047875"/>
            <a:ext cx="2571750" cy="571500"/>
          </a:xfrm>
          <a:prstGeom prst="rect">
            <a:avLst/>
          </a:prstGeom>
          <a:noFill/>
          <a:ln w="0">
            <a:noFill/>
            <a:prstDash val="solid"/>
          </a:ln>
        </p:spPr>
        <p:txBody>
          <a:bodyPr anchor="ctr"/>
          <a:lstStyle/>
          <a:p>
            <a:pPr algn="l">
              <a:defRPr sz="1350" b="0">
                <a:solidFill>
                  <a:srgbClr val="152538"/>
                </a:solidFill>
              </a:defRPr>
            </a:pPr>
            <a:r>
              <a:rPr sz="1350" b="0">
                <a:solidFill>
                  <a:srgbClr val="152538"/>
                </a:solidFill>
              </a:rPr>
              <a:t>paired path test</a:t>
            </a:r>
            <a:endParaRPr sz="1350" b="0">
              <a:solidFill>
                <a:srgbClr val="152538"/>
              </a:solidFill>
            </a:endParaRPr>
          </a:p>
        </p:txBody>
      </p:sp>
      <p:sp>
        <p:nvSpPr>
          <p:cNvPr id="16" name="圆角矩形 15"/>
          <p:cNvSpPr>
            <a:spLocks noGrp="1"/>
          </p:cNvSpPr>
          <p:nvPr/>
        </p:nvSpPr>
        <p:spPr>
          <a:xfrm>
            <a:off x="876300" y="3467100"/>
            <a:ext cx="4905375" cy="1238250"/>
          </a:xfrm>
          <a:prstGeom prst="roundRect">
            <a:avLst>
              <a:gd name="adj" fmla="val 6154"/>
            </a:avLst>
          </a:prstGeom>
          <a:solidFill>
            <a:srgbClr val="FFFFFF"/>
          </a:solidFill>
          <a:ln w="9525">
            <a:solidFill>
              <a:srgbClr val="D9E0E6"/>
            </a:solidFill>
            <a:prstDash val="solid"/>
          </a:ln>
        </p:spPr>
      </p:sp>
      <p:sp>
        <p:nvSpPr>
          <p:cNvPr id="17" name="矩形 16"/>
          <p:cNvSpPr>
            <a:spLocks noGrp="1"/>
          </p:cNvSpPr>
          <p:nvPr/>
        </p:nvSpPr>
        <p:spPr>
          <a:xfrm>
            <a:off x="1066800" y="3638550"/>
            <a:ext cx="1905000" cy="457200"/>
          </a:xfrm>
          <a:prstGeom prst="rect">
            <a:avLst/>
          </a:prstGeom>
          <a:noFill/>
          <a:ln w="0">
            <a:noFill/>
            <a:prstDash val="solid"/>
          </a:ln>
        </p:spPr>
        <p:txBody>
          <a:bodyPr anchor="ctr"/>
          <a:lstStyle/>
          <a:p>
            <a:pPr algn="l">
              <a:defRPr sz="2400" b="1">
                <a:solidFill>
                  <a:srgbClr val="009E73"/>
                </a:solidFill>
              </a:defRPr>
            </a:pPr>
            <a:r>
              <a:rPr sz="2400" b="1">
                <a:solidFill>
                  <a:srgbClr val="009E73"/>
                </a:solidFill>
              </a:rPr>
              <a:t>+0.536 s</a:t>
            </a:r>
            <a:endParaRPr sz="2400" b="1">
              <a:solidFill>
                <a:srgbClr val="009E73"/>
              </a:solidFill>
            </a:endParaRPr>
          </a:p>
        </p:txBody>
      </p:sp>
      <p:sp>
        <p:nvSpPr>
          <p:cNvPr id="18" name="矩形 17"/>
          <p:cNvSpPr>
            <a:spLocks noGrp="1"/>
          </p:cNvSpPr>
          <p:nvPr/>
        </p:nvSpPr>
        <p:spPr>
          <a:xfrm>
            <a:off x="2971800" y="3686175"/>
            <a:ext cx="2571750" cy="571500"/>
          </a:xfrm>
          <a:prstGeom prst="rect">
            <a:avLst/>
          </a:prstGeom>
          <a:noFill/>
          <a:ln w="0">
            <a:noFill/>
            <a:prstDash val="solid"/>
          </a:ln>
        </p:spPr>
        <p:txBody>
          <a:bodyPr anchor="ctr"/>
          <a:lstStyle/>
          <a:p>
            <a:pPr algn="l">
              <a:defRPr sz="1350" b="0">
                <a:solidFill>
                  <a:srgbClr val="152538"/>
                </a:solidFill>
              </a:defRPr>
            </a:pPr>
            <a:r>
              <a:rPr sz="1350" b="0">
                <a:solidFill>
                  <a:srgbClr val="152538"/>
                </a:solidFill>
              </a:rPr>
              <a:t>PGS-G − PGS-O time, median</a:t>
            </a:r>
            <a:endParaRPr sz="1350" b="0">
              <a:solidFill>
                <a:srgbClr val="152538"/>
              </a:solidFill>
            </a:endParaRPr>
          </a:p>
        </p:txBody>
      </p:sp>
      <p:sp>
        <p:nvSpPr>
          <p:cNvPr id="19" name="圆角矩形 18"/>
          <p:cNvSpPr>
            <a:spLocks noGrp="1"/>
          </p:cNvSpPr>
          <p:nvPr/>
        </p:nvSpPr>
        <p:spPr>
          <a:xfrm>
            <a:off x="6210300" y="3467100"/>
            <a:ext cx="4905375" cy="1238250"/>
          </a:xfrm>
          <a:prstGeom prst="roundRect">
            <a:avLst>
              <a:gd name="adj" fmla="val 6154"/>
            </a:avLst>
          </a:prstGeom>
          <a:solidFill>
            <a:srgbClr val="FFFFFF"/>
          </a:solidFill>
          <a:ln w="9525">
            <a:solidFill>
              <a:srgbClr val="D9E0E6"/>
            </a:solidFill>
            <a:prstDash val="solid"/>
          </a:ln>
        </p:spPr>
      </p:sp>
      <p:sp>
        <p:nvSpPr>
          <p:cNvPr id="20" name="矩形 19"/>
          <p:cNvSpPr>
            <a:spLocks noGrp="1"/>
          </p:cNvSpPr>
          <p:nvPr/>
        </p:nvSpPr>
        <p:spPr>
          <a:xfrm>
            <a:off x="6400800" y="3638550"/>
            <a:ext cx="1905000" cy="457200"/>
          </a:xfrm>
          <a:prstGeom prst="rect">
            <a:avLst/>
          </a:prstGeom>
          <a:noFill/>
          <a:ln w="0">
            <a:noFill/>
            <a:prstDash val="solid"/>
          </a:ln>
        </p:spPr>
        <p:txBody>
          <a:bodyPr anchor="ctr"/>
          <a:lstStyle/>
          <a:p>
            <a:pPr algn="l">
              <a:defRPr sz="2400" b="1">
                <a:solidFill>
                  <a:srgbClr val="6B7580"/>
                </a:solidFill>
              </a:defRPr>
            </a:pPr>
            <a:r>
              <a:rPr sz="2400" b="1">
                <a:solidFill>
                  <a:srgbClr val="6B7580"/>
                </a:solidFill>
              </a:rPr>
              <a:t>p = .196</a:t>
            </a:r>
            <a:endParaRPr sz="2400" b="1">
              <a:solidFill>
                <a:srgbClr val="6B7580"/>
              </a:solidFill>
            </a:endParaRPr>
          </a:p>
        </p:txBody>
      </p:sp>
      <p:sp>
        <p:nvSpPr>
          <p:cNvPr id="21" name="矩形 20"/>
          <p:cNvSpPr>
            <a:spLocks noGrp="1"/>
          </p:cNvSpPr>
          <p:nvPr/>
        </p:nvSpPr>
        <p:spPr>
          <a:xfrm>
            <a:off x="8305800" y="3686175"/>
            <a:ext cx="2571750" cy="571500"/>
          </a:xfrm>
          <a:prstGeom prst="rect">
            <a:avLst/>
          </a:prstGeom>
          <a:noFill/>
          <a:ln w="0">
            <a:noFill/>
            <a:prstDash val="solid"/>
          </a:ln>
        </p:spPr>
        <p:txBody>
          <a:bodyPr anchor="ctr"/>
          <a:lstStyle/>
          <a:p>
            <a:pPr algn="l">
              <a:defRPr sz="1350" b="0">
                <a:solidFill>
                  <a:srgbClr val="152538"/>
                </a:solidFill>
              </a:defRPr>
            </a:pPr>
            <a:r>
              <a:rPr sz="1350" b="0">
                <a:solidFill>
                  <a:srgbClr val="152538"/>
                </a:solidFill>
              </a:rPr>
              <a:t>paired time test</a:t>
            </a:r>
            <a:endParaRPr sz="1350" b="0">
              <a:solidFill>
                <a:srgbClr val="152538"/>
              </a:solidFill>
            </a:endParaRPr>
          </a:p>
        </p:txBody>
      </p:sp>
      <p:sp>
        <p:nvSpPr>
          <p:cNvPr id="22" name="矩形 21"/>
          <p:cNvSpPr>
            <a:spLocks noGrp="1"/>
          </p:cNvSpPr>
          <p:nvPr/>
        </p:nvSpPr>
        <p:spPr>
          <a:xfrm>
            <a:off x="4429125" y="5067300"/>
            <a:ext cx="3333750" cy="342900"/>
          </a:xfrm>
          <a:prstGeom prst="rect">
            <a:avLst/>
          </a:prstGeom>
          <a:noFill/>
          <a:ln w="0">
            <a:noFill/>
            <a:prstDash val="solid"/>
          </a:ln>
        </p:spPr>
        <p:txBody>
          <a:bodyPr anchor="ctr"/>
          <a:lstStyle/>
          <a:p>
            <a:pPr algn="ctr">
              <a:defRPr sz="1725" b="1">
                <a:solidFill>
                  <a:srgbClr val="004282"/>
                </a:solidFill>
              </a:defRPr>
            </a:pPr>
            <a:r>
              <a:rPr sz="1725" b="1">
                <a:solidFill>
                  <a:srgbClr val="004282"/>
                </a:solidFill>
              </a:rPr>
              <a:t>19 shared completions</a:t>
            </a:r>
            <a:endParaRPr sz="1725" b="1">
              <a:solidFill>
                <a:srgbClr val="004282"/>
              </a:solidFill>
            </a:endParaRPr>
          </a:p>
        </p:txBody>
      </p:sp>
      <p:sp>
        <p:nvSpPr>
          <p:cNvPr id="23" name="矩形 22"/>
          <p:cNvSpPr>
            <a:spLocks noGrp="1"/>
          </p:cNvSpPr>
          <p:nvPr/>
        </p:nvSpPr>
        <p:spPr>
          <a:xfrm>
            <a:off x="647700" y="5943600"/>
            <a:ext cx="10839450" cy="400050"/>
          </a:xfrm>
          <a:prstGeom prst="rect">
            <a:avLst/>
          </a:prstGeom>
          <a:solidFill>
            <a:srgbClr val="FFF0E2"/>
          </a:solidFill>
          <a:ln w="0">
            <a:noFill/>
            <a:prstDash val="solid"/>
          </a:ln>
        </p:spPr>
      </p:sp>
      <p:sp>
        <p:nvSpPr>
          <p:cNvPr id="24" name="矩形 23"/>
          <p:cNvSpPr>
            <a:spLocks noGrp="1"/>
          </p:cNvSpPr>
          <p:nvPr/>
        </p:nvSpPr>
        <p:spPr>
          <a:xfrm>
            <a:off x="647700" y="5943600"/>
            <a:ext cx="57150" cy="400050"/>
          </a:xfrm>
          <a:prstGeom prst="rect">
            <a:avLst/>
          </a:prstGeom>
          <a:solidFill>
            <a:srgbClr val="ED7F0D"/>
          </a:solidFill>
          <a:ln w="0">
            <a:noFill/>
            <a:prstDash val="solid"/>
          </a:ln>
        </p:spPr>
      </p:sp>
      <p:sp>
        <p:nvSpPr>
          <p:cNvPr id="25" name="矩形 24"/>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On 19 shared completions, neither paired difference supports superiority.</a:t>
            </a:r>
            <a:endParaRPr sz="1275" b="1">
              <a:solidFill>
                <a:srgbClr val="152538"/>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33</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SIMULATION</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Recovery restores 9 of 12 stressed cases, but remains non-guaranteed</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IV-D · recovery ablation</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33</a:t>
            </a:r>
            <a:endParaRPr sz="825" b="1">
              <a:solidFill>
                <a:srgbClr val="004282"/>
              </a:solidFill>
            </a:endParaRPr>
          </a:p>
        </p:txBody>
      </p:sp>
      <p:sp>
        <p:nvSpPr>
          <p:cNvPr id="10" name="圆角矩形 9"/>
          <p:cNvSpPr>
            <a:spLocks noGrp="1"/>
          </p:cNvSpPr>
          <p:nvPr/>
        </p:nvSpPr>
        <p:spPr>
          <a:xfrm>
            <a:off x="704850" y="1428750"/>
            <a:ext cx="10725150" cy="4457700"/>
          </a:xfrm>
          <a:prstGeom prst="roundRect">
            <a:avLst>
              <a:gd name="adj" fmla="val 1709"/>
            </a:avLst>
          </a:prstGeom>
          <a:solidFill>
            <a:srgbClr val="FFFFFF"/>
          </a:solidFill>
          <a:ln w="9525">
            <a:solidFill>
              <a:srgbClr val="D9E0E6"/>
            </a:solidFill>
            <a:prstDash val="solid"/>
          </a:ln>
        </p:spPr>
      </p:sp>
      <p:pic>
        <p:nvPicPr>
          <p:cNvPr id="23" name="图片 22"/>
          <p:cNvPicPr>
            <a:picLocks noChangeAspect="1"/>
          </p:cNvPicPr>
          <p:nvPr/>
        </p:nvPicPr>
        <p:blipFill>
          <a:blip r:embed="rId1"/>
          <a:stretch>
            <a:fillRect/>
          </a:stretch>
        </p:blipFill>
        <p:spPr>
          <a:xfrm>
            <a:off x="2710455" y="1504950"/>
            <a:ext cx="6713941" cy="4305300"/>
          </a:xfrm>
          <a:prstGeom prst="roundRect">
            <a:avLst>
              <a:gd name="adj" fmla="val 1770"/>
            </a:avLst>
          </a:prstGeom>
        </p:spPr>
      </p:pic>
      <p:sp>
        <p:nvSpPr>
          <p:cNvPr id="11" name="矩形 10"/>
          <p:cNvSpPr>
            <a:spLocks noGrp="1"/>
          </p:cNvSpPr>
          <p:nvPr/>
        </p:nvSpPr>
        <p:spPr>
          <a:xfrm>
            <a:off x="647700" y="5943600"/>
            <a:ext cx="10839450" cy="400050"/>
          </a:xfrm>
          <a:prstGeom prst="rect">
            <a:avLst/>
          </a:prstGeom>
          <a:solidFill>
            <a:srgbClr val="FFF0E2"/>
          </a:solidFill>
          <a:ln w="0">
            <a:noFill/>
            <a:prstDash val="solid"/>
          </a:ln>
        </p:spPr>
      </p:sp>
      <p:sp>
        <p:nvSpPr>
          <p:cNvPr id="12" name="矩形 11"/>
          <p:cNvSpPr>
            <a:spLocks noGrp="1"/>
          </p:cNvSpPr>
          <p:nvPr/>
        </p:nvSpPr>
        <p:spPr>
          <a:xfrm>
            <a:off x="647700" y="5943600"/>
            <a:ext cx="57150" cy="400050"/>
          </a:xfrm>
          <a:prstGeom prst="rect">
            <a:avLst/>
          </a:prstGeom>
          <a:solidFill>
            <a:srgbClr val="ED7F0D"/>
          </a:solidFill>
          <a:ln w="0">
            <a:noFill/>
            <a:prstDash val="solid"/>
          </a:ln>
        </p:spPr>
      </p:sp>
      <p:sp>
        <p:nvSpPr>
          <p:cNvPr id="13" name="矩形 1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No recovery: 0/12. Up to three recoveries: 9/12, exact two-sided p = .00390625; two force-limit and one protected exit remain.</a:t>
            </a:r>
            <a:endParaRPr sz="1275" b="1">
              <a:solidFill>
                <a:srgbClr val="152538"/>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34</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SIMULATION</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Cross-size tests do not establish a benefit from anchored fine-tuning</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IV-E · Table III</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34</a:t>
            </a:r>
            <a:endParaRPr sz="825" b="1">
              <a:solidFill>
                <a:srgbClr val="004282"/>
              </a:solidFill>
            </a:endParaRPr>
          </a:p>
        </p:txBody>
      </p:sp>
      <p:sp>
        <p:nvSpPr>
          <p:cNvPr id="10" name="矩形 9"/>
          <p:cNvSpPr>
            <a:spLocks noGrp="1"/>
          </p:cNvSpPr>
          <p:nvPr/>
        </p:nvSpPr>
        <p:spPr>
          <a:xfrm>
            <a:off x="723900" y="1790700"/>
            <a:ext cx="2714625" cy="605790"/>
          </a:xfrm>
          <a:prstGeom prst="rect">
            <a:avLst/>
          </a:prstGeom>
          <a:solidFill>
            <a:srgbClr val="004282"/>
          </a:solidFill>
          <a:ln w="9525">
            <a:solidFill>
              <a:srgbClr val="D9E0E6"/>
            </a:solidFill>
            <a:prstDash val="solid"/>
          </a:ln>
        </p:spPr>
      </p:sp>
      <p:sp>
        <p:nvSpPr>
          <p:cNvPr id="11" name="矩形 10"/>
          <p:cNvSpPr>
            <a:spLocks noGrp="1"/>
          </p:cNvSpPr>
          <p:nvPr/>
        </p:nvSpPr>
        <p:spPr>
          <a:xfrm>
            <a:off x="819150" y="1828800"/>
            <a:ext cx="2524125" cy="52959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Interface</a:t>
            </a:r>
            <a:endParaRPr sz="1200" b="1">
              <a:solidFill>
                <a:srgbClr val="FFFFFF"/>
              </a:solidFill>
            </a:endParaRPr>
          </a:p>
        </p:txBody>
      </p:sp>
      <p:sp>
        <p:nvSpPr>
          <p:cNvPr id="12" name="矩形 11"/>
          <p:cNvSpPr>
            <a:spLocks noGrp="1"/>
          </p:cNvSpPr>
          <p:nvPr/>
        </p:nvSpPr>
        <p:spPr>
          <a:xfrm>
            <a:off x="3438525" y="1790700"/>
            <a:ext cx="2000250" cy="605790"/>
          </a:xfrm>
          <a:prstGeom prst="rect">
            <a:avLst/>
          </a:prstGeom>
          <a:solidFill>
            <a:srgbClr val="004282"/>
          </a:solidFill>
          <a:ln w="9525">
            <a:solidFill>
              <a:srgbClr val="D9E0E6"/>
            </a:solidFill>
            <a:prstDash val="solid"/>
          </a:ln>
        </p:spPr>
      </p:sp>
      <p:sp>
        <p:nvSpPr>
          <p:cNvPr id="13" name="矩形 12"/>
          <p:cNvSpPr>
            <a:spLocks noGrp="1"/>
          </p:cNvSpPr>
          <p:nvPr/>
        </p:nvSpPr>
        <p:spPr>
          <a:xfrm>
            <a:off x="3533775" y="1828800"/>
            <a:ext cx="1809750" cy="52959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Dev M10</a:t>
            </a:r>
            <a:endParaRPr sz="1200" b="1">
              <a:solidFill>
                <a:srgbClr val="FFFFFF"/>
              </a:solidFill>
            </a:endParaRPr>
          </a:p>
        </p:txBody>
      </p:sp>
      <p:sp>
        <p:nvSpPr>
          <p:cNvPr id="14" name="矩形 13"/>
          <p:cNvSpPr>
            <a:spLocks noGrp="1"/>
          </p:cNvSpPr>
          <p:nvPr/>
        </p:nvSpPr>
        <p:spPr>
          <a:xfrm>
            <a:off x="5438775" y="1790700"/>
            <a:ext cx="2000250" cy="605790"/>
          </a:xfrm>
          <a:prstGeom prst="rect">
            <a:avLst/>
          </a:prstGeom>
          <a:solidFill>
            <a:srgbClr val="004282"/>
          </a:solidFill>
          <a:ln w="9525">
            <a:solidFill>
              <a:srgbClr val="D9E0E6"/>
            </a:solidFill>
            <a:prstDash val="solid"/>
          </a:ln>
        </p:spPr>
      </p:sp>
      <p:sp>
        <p:nvSpPr>
          <p:cNvPr id="15" name="矩形 14"/>
          <p:cNvSpPr>
            <a:spLocks noGrp="1"/>
          </p:cNvSpPr>
          <p:nvPr/>
        </p:nvSpPr>
        <p:spPr>
          <a:xfrm>
            <a:off x="5534025" y="1828800"/>
            <a:ext cx="1809750" cy="52959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Dev M12</a:t>
            </a:r>
            <a:endParaRPr sz="1200" b="1">
              <a:solidFill>
                <a:srgbClr val="FFFFFF"/>
              </a:solidFill>
            </a:endParaRPr>
          </a:p>
        </p:txBody>
      </p:sp>
      <p:sp>
        <p:nvSpPr>
          <p:cNvPr id="16" name="矩形 15"/>
          <p:cNvSpPr>
            <a:spLocks noGrp="1"/>
          </p:cNvSpPr>
          <p:nvPr/>
        </p:nvSpPr>
        <p:spPr>
          <a:xfrm>
            <a:off x="7439025" y="1790700"/>
            <a:ext cx="2000250" cy="605790"/>
          </a:xfrm>
          <a:prstGeom prst="rect">
            <a:avLst/>
          </a:prstGeom>
          <a:solidFill>
            <a:srgbClr val="004282"/>
          </a:solidFill>
          <a:ln w="9525">
            <a:solidFill>
              <a:srgbClr val="D9E0E6"/>
            </a:solidFill>
            <a:prstDash val="solid"/>
          </a:ln>
        </p:spPr>
      </p:sp>
      <p:sp>
        <p:nvSpPr>
          <p:cNvPr id="17" name="矩形 16"/>
          <p:cNvSpPr>
            <a:spLocks noGrp="1"/>
          </p:cNvSpPr>
          <p:nvPr/>
        </p:nvSpPr>
        <p:spPr>
          <a:xfrm>
            <a:off x="7534275" y="1828800"/>
            <a:ext cx="1809750" cy="52959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Test M10</a:t>
            </a:r>
            <a:endParaRPr sz="1200" b="1">
              <a:solidFill>
                <a:srgbClr val="FFFFFF"/>
              </a:solidFill>
            </a:endParaRPr>
          </a:p>
        </p:txBody>
      </p:sp>
      <p:sp>
        <p:nvSpPr>
          <p:cNvPr id="18" name="矩形 17"/>
          <p:cNvSpPr>
            <a:spLocks noGrp="1"/>
          </p:cNvSpPr>
          <p:nvPr/>
        </p:nvSpPr>
        <p:spPr>
          <a:xfrm>
            <a:off x="9439275" y="1790700"/>
            <a:ext cx="2000250" cy="605790"/>
          </a:xfrm>
          <a:prstGeom prst="rect">
            <a:avLst/>
          </a:prstGeom>
          <a:solidFill>
            <a:srgbClr val="004282"/>
          </a:solidFill>
          <a:ln w="9525">
            <a:solidFill>
              <a:srgbClr val="D9E0E6"/>
            </a:solidFill>
            <a:prstDash val="solid"/>
          </a:ln>
        </p:spPr>
      </p:sp>
      <p:sp>
        <p:nvSpPr>
          <p:cNvPr id="19" name="矩形 18"/>
          <p:cNvSpPr>
            <a:spLocks noGrp="1"/>
          </p:cNvSpPr>
          <p:nvPr/>
        </p:nvSpPr>
        <p:spPr>
          <a:xfrm>
            <a:off x="9534525" y="1828800"/>
            <a:ext cx="1809750" cy="52959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Test M12</a:t>
            </a:r>
            <a:endParaRPr sz="1200" b="1">
              <a:solidFill>
                <a:srgbClr val="FFFFFF"/>
              </a:solidFill>
            </a:endParaRPr>
          </a:p>
        </p:txBody>
      </p:sp>
      <p:sp>
        <p:nvSpPr>
          <p:cNvPr id="20" name="矩形 19"/>
          <p:cNvSpPr>
            <a:spLocks noGrp="1"/>
          </p:cNvSpPr>
          <p:nvPr/>
        </p:nvSpPr>
        <p:spPr>
          <a:xfrm>
            <a:off x="723900" y="2396490"/>
            <a:ext cx="2714625" cy="605790"/>
          </a:xfrm>
          <a:prstGeom prst="rect">
            <a:avLst/>
          </a:prstGeom>
          <a:solidFill>
            <a:srgbClr val="FFFFFF"/>
          </a:solidFill>
          <a:ln w="9525">
            <a:solidFill>
              <a:srgbClr val="D9E0E6"/>
            </a:solidFill>
            <a:prstDash val="solid"/>
          </a:ln>
        </p:spPr>
      </p:sp>
      <p:sp>
        <p:nvSpPr>
          <p:cNvPr id="21" name="矩形 20"/>
          <p:cNvSpPr>
            <a:spLocks noGrp="1"/>
          </p:cNvSpPr>
          <p:nvPr/>
        </p:nvSpPr>
        <p:spPr>
          <a:xfrm>
            <a:off x="819150" y="2434590"/>
            <a:ext cx="2524125"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M8 zero-shot</a:t>
            </a:r>
            <a:endParaRPr sz="1125" b="0">
              <a:solidFill>
                <a:srgbClr val="152538"/>
              </a:solidFill>
            </a:endParaRPr>
          </a:p>
        </p:txBody>
      </p:sp>
      <p:sp>
        <p:nvSpPr>
          <p:cNvPr id="22" name="矩形 21"/>
          <p:cNvSpPr>
            <a:spLocks noGrp="1"/>
          </p:cNvSpPr>
          <p:nvPr/>
        </p:nvSpPr>
        <p:spPr>
          <a:xfrm>
            <a:off x="3438525" y="2396490"/>
            <a:ext cx="2000250" cy="605790"/>
          </a:xfrm>
          <a:prstGeom prst="rect">
            <a:avLst/>
          </a:prstGeom>
          <a:solidFill>
            <a:srgbClr val="FFFFFF"/>
          </a:solidFill>
          <a:ln w="9525">
            <a:solidFill>
              <a:srgbClr val="D9E0E6"/>
            </a:solidFill>
            <a:prstDash val="solid"/>
          </a:ln>
        </p:spPr>
      </p:sp>
      <p:sp>
        <p:nvSpPr>
          <p:cNvPr id="23" name="矩形 22"/>
          <p:cNvSpPr>
            <a:spLocks noGrp="1"/>
          </p:cNvSpPr>
          <p:nvPr/>
        </p:nvSpPr>
        <p:spPr>
          <a:xfrm>
            <a:off x="3533775" y="243459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24" name="矩形 23"/>
          <p:cNvSpPr>
            <a:spLocks noGrp="1"/>
          </p:cNvSpPr>
          <p:nvPr/>
        </p:nvSpPr>
        <p:spPr>
          <a:xfrm>
            <a:off x="5438775" y="2396490"/>
            <a:ext cx="2000250" cy="605790"/>
          </a:xfrm>
          <a:prstGeom prst="rect">
            <a:avLst/>
          </a:prstGeom>
          <a:solidFill>
            <a:srgbClr val="FFFFFF"/>
          </a:solidFill>
          <a:ln w="9525">
            <a:solidFill>
              <a:srgbClr val="D9E0E6"/>
            </a:solidFill>
            <a:prstDash val="solid"/>
          </a:ln>
        </p:spPr>
      </p:sp>
      <p:sp>
        <p:nvSpPr>
          <p:cNvPr id="25" name="矩形 24"/>
          <p:cNvSpPr>
            <a:spLocks noGrp="1"/>
          </p:cNvSpPr>
          <p:nvPr/>
        </p:nvSpPr>
        <p:spPr>
          <a:xfrm>
            <a:off x="5534025" y="243459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10/1/1</a:t>
            </a:r>
            <a:endParaRPr sz="1125" b="0">
              <a:solidFill>
                <a:srgbClr val="152538"/>
              </a:solidFill>
            </a:endParaRPr>
          </a:p>
        </p:txBody>
      </p:sp>
      <p:sp>
        <p:nvSpPr>
          <p:cNvPr id="26" name="矩形 25"/>
          <p:cNvSpPr>
            <a:spLocks noGrp="1"/>
          </p:cNvSpPr>
          <p:nvPr/>
        </p:nvSpPr>
        <p:spPr>
          <a:xfrm>
            <a:off x="7439025" y="2396490"/>
            <a:ext cx="2000250" cy="605790"/>
          </a:xfrm>
          <a:prstGeom prst="rect">
            <a:avLst/>
          </a:prstGeom>
          <a:solidFill>
            <a:srgbClr val="FFFFFF"/>
          </a:solidFill>
          <a:ln w="9525">
            <a:solidFill>
              <a:srgbClr val="D9E0E6"/>
            </a:solidFill>
            <a:prstDash val="solid"/>
          </a:ln>
        </p:spPr>
      </p:sp>
      <p:sp>
        <p:nvSpPr>
          <p:cNvPr id="27" name="矩形 26"/>
          <p:cNvSpPr>
            <a:spLocks noGrp="1"/>
          </p:cNvSpPr>
          <p:nvPr/>
        </p:nvSpPr>
        <p:spPr>
          <a:xfrm>
            <a:off x="7534275" y="243459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28" name="矩形 27"/>
          <p:cNvSpPr>
            <a:spLocks noGrp="1"/>
          </p:cNvSpPr>
          <p:nvPr/>
        </p:nvSpPr>
        <p:spPr>
          <a:xfrm>
            <a:off x="9439275" y="2396490"/>
            <a:ext cx="2000250" cy="605790"/>
          </a:xfrm>
          <a:prstGeom prst="rect">
            <a:avLst/>
          </a:prstGeom>
          <a:solidFill>
            <a:srgbClr val="FFFFFF"/>
          </a:solidFill>
          <a:ln w="9525">
            <a:solidFill>
              <a:srgbClr val="D9E0E6"/>
            </a:solidFill>
            <a:prstDash val="solid"/>
          </a:ln>
        </p:spPr>
      </p:sp>
      <p:sp>
        <p:nvSpPr>
          <p:cNvPr id="29" name="矩形 28"/>
          <p:cNvSpPr>
            <a:spLocks noGrp="1"/>
          </p:cNvSpPr>
          <p:nvPr/>
        </p:nvSpPr>
        <p:spPr>
          <a:xfrm>
            <a:off x="9534525" y="243459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10/0/1</a:t>
            </a:r>
            <a:endParaRPr sz="1125" b="0">
              <a:solidFill>
                <a:srgbClr val="152538"/>
              </a:solidFill>
            </a:endParaRPr>
          </a:p>
        </p:txBody>
      </p:sp>
      <p:sp>
        <p:nvSpPr>
          <p:cNvPr id="30" name="矩形 29"/>
          <p:cNvSpPr>
            <a:spLocks noGrp="1"/>
          </p:cNvSpPr>
          <p:nvPr/>
        </p:nvSpPr>
        <p:spPr>
          <a:xfrm>
            <a:off x="723900" y="3002280"/>
            <a:ext cx="2714625" cy="605790"/>
          </a:xfrm>
          <a:prstGeom prst="rect">
            <a:avLst/>
          </a:prstGeom>
          <a:solidFill>
            <a:srgbClr val="E8F1F8"/>
          </a:solidFill>
          <a:ln w="9525">
            <a:solidFill>
              <a:srgbClr val="D9E0E6"/>
            </a:solidFill>
            <a:prstDash val="solid"/>
          </a:ln>
        </p:spPr>
      </p:sp>
      <p:sp>
        <p:nvSpPr>
          <p:cNvPr id="31" name="矩形 30"/>
          <p:cNvSpPr>
            <a:spLocks noGrp="1"/>
          </p:cNvSpPr>
          <p:nvPr/>
        </p:nvSpPr>
        <p:spPr>
          <a:xfrm>
            <a:off x="819150" y="3040380"/>
            <a:ext cx="2524125"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Calibration only</a:t>
            </a:r>
            <a:endParaRPr sz="1125" b="0">
              <a:solidFill>
                <a:srgbClr val="152538"/>
              </a:solidFill>
            </a:endParaRPr>
          </a:p>
        </p:txBody>
      </p:sp>
      <p:sp>
        <p:nvSpPr>
          <p:cNvPr id="32" name="矩形 31"/>
          <p:cNvSpPr>
            <a:spLocks noGrp="1"/>
          </p:cNvSpPr>
          <p:nvPr/>
        </p:nvSpPr>
        <p:spPr>
          <a:xfrm>
            <a:off x="3438525" y="3002280"/>
            <a:ext cx="2000250" cy="605790"/>
          </a:xfrm>
          <a:prstGeom prst="rect">
            <a:avLst/>
          </a:prstGeom>
          <a:solidFill>
            <a:srgbClr val="E8F1F8"/>
          </a:solidFill>
          <a:ln w="9525">
            <a:solidFill>
              <a:srgbClr val="D9E0E6"/>
            </a:solidFill>
            <a:prstDash val="solid"/>
          </a:ln>
        </p:spPr>
      </p:sp>
      <p:sp>
        <p:nvSpPr>
          <p:cNvPr id="33" name="矩形 32"/>
          <p:cNvSpPr>
            <a:spLocks noGrp="1"/>
          </p:cNvSpPr>
          <p:nvPr/>
        </p:nvSpPr>
        <p:spPr>
          <a:xfrm>
            <a:off x="3533775" y="304038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34" name="矩形 33"/>
          <p:cNvSpPr>
            <a:spLocks noGrp="1"/>
          </p:cNvSpPr>
          <p:nvPr/>
        </p:nvSpPr>
        <p:spPr>
          <a:xfrm>
            <a:off x="5438775" y="3002280"/>
            <a:ext cx="2000250" cy="605790"/>
          </a:xfrm>
          <a:prstGeom prst="rect">
            <a:avLst/>
          </a:prstGeom>
          <a:solidFill>
            <a:srgbClr val="E8F1F8"/>
          </a:solidFill>
          <a:ln w="9525">
            <a:solidFill>
              <a:srgbClr val="D9E0E6"/>
            </a:solidFill>
            <a:prstDash val="solid"/>
          </a:ln>
        </p:spPr>
      </p:sp>
      <p:sp>
        <p:nvSpPr>
          <p:cNvPr id="35" name="矩形 34"/>
          <p:cNvSpPr>
            <a:spLocks noGrp="1"/>
          </p:cNvSpPr>
          <p:nvPr/>
        </p:nvSpPr>
        <p:spPr>
          <a:xfrm>
            <a:off x="5534025" y="304038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10/0/1</a:t>
            </a:r>
            <a:endParaRPr sz="1125" b="0">
              <a:solidFill>
                <a:srgbClr val="152538"/>
              </a:solidFill>
            </a:endParaRPr>
          </a:p>
        </p:txBody>
      </p:sp>
      <p:sp>
        <p:nvSpPr>
          <p:cNvPr id="36" name="矩形 35"/>
          <p:cNvSpPr>
            <a:spLocks noGrp="1"/>
          </p:cNvSpPr>
          <p:nvPr/>
        </p:nvSpPr>
        <p:spPr>
          <a:xfrm>
            <a:off x="7439025" y="3002280"/>
            <a:ext cx="2000250" cy="605790"/>
          </a:xfrm>
          <a:prstGeom prst="rect">
            <a:avLst/>
          </a:prstGeom>
          <a:solidFill>
            <a:srgbClr val="E8F1F8"/>
          </a:solidFill>
          <a:ln w="9525">
            <a:solidFill>
              <a:srgbClr val="D9E0E6"/>
            </a:solidFill>
            <a:prstDash val="solid"/>
          </a:ln>
        </p:spPr>
      </p:sp>
      <p:sp>
        <p:nvSpPr>
          <p:cNvPr id="37" name="矩形 36"/>
          <p:cNvSpPr>
            <a:spLocks noGrp="1"/>
          </p:cNvSpPr>
          <p:nvPr/>
        </p:nvSpPr>
        <p:spPr>
          <a:xfrm>
            <a:off x="7534275" y="304038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38" name="矩形 37"/>
          <p:cNvSpPr>
            <a:spLocks noGrp="1"/>
          </p:cNvSpPr>
          <p:nvPr/>
        </p:nvSpPr>
        <p:spPr>
          <a:xfrm>
            <a:off x="9439275" y="3002280"/>
            <a:ext cx="2000250" cy="605790"/>
          </a:xfrm>
          <a:prstGeom prst="rect">
            <a:avLst/>
          </a:prstGeom>
          <a:solidFill>
            <a:srgbClr val="E8F1F8"/>
          </a:solidFill>
          <a:ln w="9525">
            <a:solidFill>
              <a:srgbClr val="D9E0E6"/>
            </a:solidFill>
            <a:prstDash val="solid"/>
          </a:ln>
        </p:spPr>
      </p:sp>
      <p:sp>
        <p:nvSpPr>
          <p:cNvPr id="39" name="矩形 38"/>
          <p:cNvSpPr>
            <a:spLocks noGrp="1"/>
          </p:cNvSpPr>
          <p:nvPr/>
        </p:nvSpPr>
        <p:spPr>
          <a:xfrm>
            <a:off x="9534525" y="304038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11/0/0</a:t>
            </a:r>
            <a:endParaRPr sz="1125" b="0">
              <a:solidFill>
                <a:srgbClr val="152538"/>
              </a:solidFill>
            </a:endParaRPr>
          </a:p>
        </p:txBody>
      </p:sp>
      <p:sp>
        <p:nvSpPr>
          <p:cNvPr id="40" name="矩形 39"/>
          <p:cNvSpPr>
            <a:spLocks noGrp="1"/>
          </p:cNvSpPr>
          <p:nvPr/>
        </p:nvSpPr>
        <p:spPr>
          <a:xfrm>
            <a:off x="723900" y="3608070"/>
            <a:ext cx="2714625" cy="605790"/>
          </a:xfrm>
          <a:prstGeom prst="rect">
            <a:avLst/>
          </a:prstGeom>
          <a:solidFill>
            <a:srgbClr val="FFFFFF"/>
          </a:solidFill>
          <a:ln w="9525">
            <a:solidFill>
              <a:srgbClr val="D9E0E6"/>
            </a:solidFill>
            <a:prstDash val="solid"/>
          </a:ln>
        </p:spPr>
      </p:sp>
      <p:sp>
        <p:nvSpPr>
          <p:cNvPr id="41" name="矩形 40"/>
          <p:cNvSpPr>
            <a:spLocks noGrp="1"/>
          </p:cNvSpPr>
          <p:nvPr/>
        </p:nvSpPr>
        <p:spPr>
          <a:xfrm>
            <a:off x="819150" y="3646170"/>
            <a:ext cx="2524125"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Anchored fine-tuning</a:t>
            </a:r>
            <a:endParaRPr sz="1125" b="0">
              <a:solidFill>
                <a:srgbClr val="152538"/>
              </a:solidFill>
            </a:endParaRPr>
          </a:p>
        </p:txBody>
      </p:sp>
      <p:sp>
        <p:nvSpPr>
          <p:cNvPr id="42" name="矩形 41"/>
          <p:cNvSpPr>
            <a:spLocks noGrp="1"/>
          </p:cNvSpPr>
          <p:nvPr/>
        </p:nvSpPr>
        <p:spPr>
          <a:xfrm>
            <a:off x="3438525" y="3608070"/>
            <a:ext cx="2000250" cy="605790"/>
          </a:xfrm>
          <a:prstGeom prst="rect">
            <a:avLst/>
          </a:prstGeom>
          <a:solidFill>
            <a:srgbClr val="FFFFFF"/>
          </a:solidFill>
          <a:ln w="9525">
            <a:solidFill>
              <a:srgbClr val="D9E0E6"/>
            </a:solidFill>
            <a:prstDash val="solid"/>
          </a:ln>
        </p:spPr>
      </p:sp>
      <p:sp>
        <p:nvSpPr>
          <p:cNvPr id="43" name="矩形 42"/>
          <p:cNvSpPr>
            <a:spLocks noGrp="1"/>
          </p:cNvSpPr>
          <p:nvPr/>
        </p:nvSpPr>
        <p:spPr>
          <a:xfrm>
            <a:off x="3533775" y="364617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44" name="矩形 43"/>
          <p:cNvSpPr>
            <a:spLocks noGrp="1"/>
          </p:cNvSpPr>
          <p:nvPr/>
        </p:nvSpPr>
        <p:spPr>
          <a:xfrm>
            <a:off x="5438775" y="3608070"/>
            <a:ext cx="2000250" cy="605790"/>
          </a:xfrm>
          <a:prstGeom prst="rect">
            <a:avLst/>
          </a:prstGeom>
          <a:solidFill>
            <a:srgbClr val="FFFFFF"/>
          </a:solidFill>
          <a:ln w="9525">
            <a:solidFill>
              <a:srgbClr val="D9E0E6"/>
            </a:solidFill>
            <a:prstDash val="solid"/>
          </a:ln>
        </p:spPr>
      </p:sp>
      <p:sp>
        <p:nvSpPr>
          <p:cNvPr id="45" name="矩形 44"/>
          <p:cNvSpPr>
            <a:spLocks noGrp="1"/>
          </p:cNvSpPr>
          <p:nvPr/>
        </p:nvSpPr>
        <p:spPr>
          <a:xfrm>
            <a:off x="5534025" y="364617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10/0/2</a:t>
            </a:r>
            <a:endParaRPr sz="1125" b="0">
              <a:solidFill>
                <a:srgbClr val="152538"/>
              </a:solidFill>
            </a:endParaRPr>
          </a:p>
        </p:txBody>
      </p:sp>
      <p:sp>
        <p:nvSpPr>
          <p:cNvPr id="46" name="矩形 45"/>
          <p:cNvSpPr>
            <a:spLocks noGrp="1"/>
          </p:cNvSpPr>
          <p:nvPr/>
        </p:nvSpPr>
        <p:spPr>
          <a:xfrm>
            <a:off x="7439025" y="3608070"/>
            <a:ext cx="2000250" cy="605790"/>
          </a:xfrm>
          <a:prstGeom prst="rect">
            <a:avLst/>
          </a:prstGeom>
          <a:solidFill>
            <a:srgbClr val="FFFFFF"/>
          </a:solidFill>
          <a:ln w="9525">
            <a:solidFill>
              <a:srgbClr val="D9E0E6"/>
            </a:solidFill>
            <a:prstDash val="solid"/>
          </a:ln>
        </p:spPr>
      </p:sp>
      <p:sp>
        <p:nvSpPr>
          <p:cNvPr id="47" name="矩形 46"/>
          <p:cNvSpPr>
            <a:spLocks noGrp="1"/>
          </p:cNvSpPr>
          <p:nvPr/>
        </p:nvSpPr>
        <p:spPr>
          <a:xfrm>
            <a:off x="7534275" y="364617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10/1/1</a:t>
            </a:r>
            <a:endParaRPr sz="1125" b="0">
              <a:solidFill>
                <a:srgbClr val="152538"/>
              </a:solidFill>
            </a:endParaRPr>
          </a:p>
        </p:txBody>
      </p:sp>
      <p:sp>
        <p:nvSpPr>
          <p:cNvPr id="48" name="矩形 47"/>
          <p:cNvSpPr>
            <a:spLocks noGrp="1"/>
          </p:cNvSpPr>
          <p:nvPr/>
        </p:nvSpPr>
        <p:spPr>
          <a:xfrm>
            <a:off x="9439275" y="3608070"/>
            <a:ext cx="2000250" cy="605790"/>
          </a:xfrm>
          <a:prstGeom prst="rect">
            <a:avLst/>
          </a:prstGeom>
          <a:solidFill>
            <a:srgbClr val="FFFFFF"/>
          </a:solidFill>
          <a:ln w="9525">
            <a:solidFill>
              <a:srgbClr val="D9E0E6"/>
            </a:solidFill>
            <a:prstDash val="solid"/>
          </a:ln>
        </p:spPr>
      </p:sp>
      <p:sp>
        <p:nvSpPr>
          <p:cNvPr id="49" name="矩形 48"/>
          <p:cNvSpPr>
            <a:spLocks noGrp="1"/>
          </p:cNvSpPr>
          <p:nvPr/>
        </p:nvSpPr>
        <p:spPr>
          <a:xfrm>
            <a:off x="9534525" y="364617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10/0/2</a:t>
            </a:r>
            <a:endParaRPr sz="1125" b="0">
              <a:solidFill>
                <a:srgbClr val="152538"/>
              </a:solidFill>
            </a:endParaRPr>
          </a:p>
        </p:txBody>
      </p:sp>
      <p:sp>
        <p:nvSpPr>
          <p:cNvPr id="50" name="矩形 49"/>
          <p:cNvSpPr>
            <a:spLocks noGrp="1"/>
          </p:cNvSpPr>
          <p:nvPr/>
        </p:nvSpPr>
        <p:spPr>
          <a:xfrm>
            <a:off x="723900" y="4213860"/>
            <a:ext cx="2714625" cy="605790"/>
          </a:xfrm>
          <a:prstGeom prst="rect">
            <a:avLst/>
          </a:prstGeom>
          <a:solidFill>
            <a:srgbClr val="E8F1F8"/>
          </a:solidFill>
          <a:ln w="9525">
            <a:solidFill>
              <a:srgbClr val="D9E0E6"/>
            </a:solidFill>
            <a:prstDash val="solid"/>
          </a:ln>
        </p:spPr>
      </p:sp>
      <p:sp>
        <p:nvSpPr>
          <p:cNvPr id="51" name="矩形 50"/>
          <p:cNvSpPr>
            <a:spLocks noGrp="1"/>
          </p:cNvSpPr>
          <p:nvPr/>
        </p:nvSpPr>
        <p:spPr>
          <a:xfrm>
            <a:off x="819150" y="4251960"/>
            <a:ext cx="2524125"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Privileged center</a:t>
            </a:r>
            <a:endParaRPr sz="1125" b="0">
              <a:solidFill>
                <a:srgbClr val="152538"/>
              </a:solidFill>
            </a:endParaRPr>
          </a:p>
        </p:txBody>
      </p:sp>
      <p:sp>
        <p:nvSpPr>
          <p:cNvPr id="52" name="矩形 51"/>
          <p:cNvSpPr>
            <a:spLocks noGrp="1"/>
          </p:cNvSpPr>
          <p:nvPr/>
        </p:nvSpPr>
        <p:spPr>
          <a:xfrm>
            <a:off x="3438525" y="4213860"/>
            <a:ext cx="2000250" cy="605790"/>
          </a:xfrm>
          <a:prstGeom prst="rect">
            <a:avLst/>
          </a:prstGeom>
          <a:solidFill>
            <a:srgbClr val="E8F1F8"/>
          </a:solidFill>
          <a:ln w="9525">
            <a:solidFill>
              <a:srgbClr val="D9E0E6"/>
            </a:solidFill>
            <a:prstDash val="solid"/>
          </a:ln>
        </p:spPr>
      </p:sp>
      <p:sp>
        <p:nvSpPr>
          <p:cNvPr id="53" name="矩形 52"/>
          <p:cNvSpPr>
            <a:spLocks noGrp="1"/>
          </p:cNvSpPr>
          <p:nvPr/>
        </p:nvSpPr>
        <p:spPr>
          <a:xfrm>
            <a:off x="3533775" y="425196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54" name="矩形 53"/>
          <p:cNvSpPr>
            <a:spLocks noGrp="1"/>
          </p:cNvSpPr>
          <p:nvPr/>
        </p:nvSpPr>
        <p:spPr>
          <a:xfrm>
            <a:off x="5438775" y="4213860"/>
            <a:ext cx="2000250" cy="605790"/>
          </a:xfrm>
          <a:prstGeom prst="rect">
            <a:avLst/>
          </a:prstGeom>
          <a:solidFill>
            <a:srgbClr val="E8F1F8"/>
          </a:solidFill>
          <a:ln w="9525">
            <a:solidFill>
              <a:srgbClr val="D9E0E6"/>
            </a:solidFill>
            <a:prstDash val="solid"/>
          </a:ln>
        </p:spPr>
      </p:sp>
      <p:sp>
        <p:nvSpPr>
          <p:cNvPr id="55" name="矩形 54"/>
          <p:cNvSpPr>
            <a:spLocks noGrp="1"/>
          </p:cNvSpPr>
          <p:nvPr/>
        </p:nvSpPr>
        <p:spPr>
          <a:xfrm>
            <a:off x="5534025" y="425196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11/0/1</a:t>
            </a:r>
            <a:endParaRPr sz="1125" b="0">
              <a:solidFill>
                <a:srgbClr val="152538"/>
              </a:solidFill>
            </a:endParaRPr>
          </a:p>
        </p:txBody>
      </p:sp>
      <p:sp>
        <p:nvSpPr>
          <p:cNvPr id="56" name="矩形 55"/>
          <p:cNvSpPr>
            <a:spLocks noGrp="1"/>
          </p:cNvSpPr>
          <p:nvPr/>
        </p:nvSpPr>
        <p:spPr>
          <a:xfrm>
            <a:off x="7439025" y="4213860"/>
            <a:ext cx="2000250" cy="605790"/>
          </a:xfrm>
          <a:prstGeom prst="rect">
            <a:avLst/>
          </a:prstGeom>
          <a:solidFill>
            <a:srgbClr val="E8F1F8"/>
          </a:solidFill>
          <a:ln w="9525">
            <a:solidFill>
              <a:srgbClr val="D9E0E6"/>
            </a:solidFill>
            <a:prstDash val="solid"/>
          </a:ln>
        </p:spPr>
      </p:sp>
      <p:sp>
        <p:nvSpPr>
          <p:cNvPr id="57" name="矩形 56"/>
          <p:cNvSpPr>
            <a:spLocks noGrp="1"/>
          </p:cNvSpPr>
          <p:nvPr/>
        </p:nvSpPr>
        <p:spPr>
          <a:xfrm>
            <a:off x="7534275" y="425196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58" name="矩形 57"/>
          <p:cNvSpPr>
            <a:spLocks noGrp="1"/>
          </p:cNvSpPr>
          <p:nvPr/>
        </p:nvSpPr>
        <p:spPr>
          <a:xfrm>
            <a:off x="9439275" y="4213860"/>
            <a:ext cx="2000250" cy="605790"/>
          </a:xfrm>
          <a:prstGeom prst="rect">
            <a:avLst/>
          </a:prstGeom>
          <a:solidFill>
            <a:srgbClr val="E8F1F8"/>
          </a:solidFill>
          <a:ln w="9525">
            <a:solidFill>
              <a:srgbClr val="D9E0E6"/>
            </a:solidFill>
            <a:prstDash val="solid"/>
          </a:ln>
        </p:spPr>
      </p:sp>
      <p:sp>
        <p:nvSpPr>
          <p:cNvPr id="59" name="矩形 58"/>
          <p:cNvSpPr>
            <a:spLocks noGrp="1"/>
          </p:cNvSpPr>
          <p:nvPr/>
        </p:nvSpPr>
        <p:spPr>
          <a:xfrm>
            <a:off x="9534525" y="425196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60" name="矩形 59"/>
          <p:cNvSpPr>
            <a:spLocks noGrp="1"/>
          </p:cNvSpPr>
          <p:nvPr/>
        </p:nvSpPr>
        <p:spPr>
          <a:xfrm>
            <a:off x="1047750" y="5010150"/>
            <a:ext cx="10096500" cy="323850"/>
          </a:xfrm>
          <a:prstGeom prst="rect">
            <a:avLst/>
          </a:prstGeom>
          <a:noFill/>
          <a:ln w="0">
            <a:noFill/>
            <a:prstDash val="solid"/>
          </a:ln>
        </p:spPr>
        <p:txBody>
          <a:bodyPr anchor="ctr"/>
          <a:lstStyle/>
          <a:p>
            <a:pPr algn="ctr">
              <a:defRPr sz="1350" b="0">
                <a:solidFill>
                  <a:srgbClr val="6B7580"/>
                </a:solidFill>
              </a:defRPr>
            </a:pPr>
            <a:r>
              <a:rPr sz="1350" b="0">
                <a:solidFill>
                  <a:srgbClr val="6B7580"/>
                </a:solidFill>
              </a:rPr>
              <a:t>Each cell: verified / force-limit / protected termination · n = 12</a:t>
            </a:r>
            <a:endParaRPr sz="1350" b="0">
              <a:solidFill>
                <a:srgbClr val="6B7580"/>
              </a:solidFill>
            </a:endParaRPr>
          </a:p>
        </p:txBody>
      </p:sp>
      <p:sp>
        <p:nvSpPr>
          <p:cNvPr id="61" name="矩形 60"/>
          <p:cNvSpPr>
            <a:spLocks noGrp="1"/>
          </p:cNvSpPr>
          <p:nvPr/>
        </p:nvSpPr>
        <p:spPr>
          <a:xfrm>
            <a:off x="647700" y="5943600"/>
            <a:ext cx="10839450" cy="400050"/>
          </a:xfrm>
          <a:prstGeom prst="rect">
            <a:avLst/>
          </a:prstGeom>
          <a:solidFill>
            <a:srgbClr val="FFF0E2"/>
          </a:solidFill>
          <a:ln w="0">
            <a:noFill/>
            <a:prstDash val="solid"/>
          </a:ln>
        </p:spPr>
      </p:sp>
      <p:sp>
        <p:nvSpPr>
          <p:cNvPr id="62" name="矩形 61"/>
          <p:cNvSpPr>
            <a:spLocks noGrp="1"/>
          </p:cNvSpPr>
          <p:nvPr/>
        </p:nvSpPr>
        <p:spPr>
          <a:xfrm>
            <a:off x="647700" y="5943600"/>
            <a:ext cx="57150" cy="400050"/>
          </a:xfrm>
          <a:prstGeom prst="rect">
            <a:avLst/>
          </a:prstGeom>
          <a:solidFill>
            <a:srgbClr val="ED7F0D"/>
          </a:solidFill>
          <a:ln w="0">
            <a:noFill/>
            <a:prstDash val="solid"/>
          </a:ln>
        </p:spPr>
      </p:sp>
      <p:sp>
        <p:nvSpPr>
          <p:cNvPr id="63" name="矩形 6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Cross-size simulation is not sim-to-real evidence; held-out results show no steady fine-tuning benefit.</a:t>
            </a:r>
            <a:endParaRPr sz="1275" b="1">
              <a:solidFill>
                <a:srgbClr val="152538"/>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35</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HARDWARE</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Real signals require an installed-stack observation model</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IV-F · Table IV</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35</a:t>
            </a:r>
            <a:endParaRPr sz="825" b="1">
              <a:solidFill>
                <a:srgbClr val="004282"/>
              </a:solidFill>
            </a:endParaRPr>
          </a:p>
        </p:txBody>
      </p:sp>
      <p:sp>
        <p:nvSpPr>
          <p:cNvPr id="10" name="圆角矩形 9"/>
          <p:cNvSpPr>
            <a:spLocks noGrp="1"/>
          </p:cNvSpPr>
          <p:nvPr/>
        </p:nvSpPr>
        <p:spPr>
          <a:xfrm>
            <a:off x="647700" y="1543050"/>
            <a:ext cx="6343650" cy="3848100"/>
          </a:xfrm>
          <a:prstGeom prst="roundRect">
            <a:avLst>
              <a:gd name="adj" fmla="val 1980"/>
            </a:avLst>
          </a:prstGeom>
          <a:solidFill>
            <a:srgbClr val="FFFFFF"/>
          </a:solidFill>
          <a:ln w="9525">
            <a:solidFill>
              <a:srgbClr val="D9E0E6"/>
            </a:solidFill>
            <a:prstDash val="solid"/>
          </a:ln>
        </p:spPr>
      </p:sp>
      <p:pic>
        <p:nvPicPr>
          <p:cNvPr id="29" name="图片 28"/>
          <p:cNvPicPr>
            <a:picLocks noChangeAspect="1"/>
          </p:cNvPicPr>
          <p:nvPr/>
        </p:nvPicPr>
        <p:blipFill>
          <a:blip r:embed="rId1"/>
          <a:srcRect l="2534" r="2534"/>
          <a:stretch>
            <a:fillRect/>
          </a:stretch>
        </p:blipFill>
        <p:spPr>
          <a:xfrm>
            <a:off x="723900" y="1619250"/>
            <a:ext cx="6191250" cy="3695700"/>
          </a:xfrm>
          <a:prstGeom prst="roundRect">
            <a:avLst>
              <a:gd name="adj" fmla="val 2062"/>
            </a:avLst>
          </a:prstGeom>
        </p:spPr>
      </p:pic>
      <p:sp>
        <p:nvSpPr>
          <p:cNvPr id="11" name="矩形 10"/>
          <p:cNvSpPr>
            <a:spLocks noGrp="1"/>
          </p:cNvSpPr>
          <p:nvPr/>
        </p:nvSpPr>
        <p:spPr>
          <a:xfrm>
            <a:off x="7334250" y="1714500"/>
            <a:ext cx="3619500" cy="476250"/>
          </a:xfrm>
          <a:prstGeom prst="rect">
            <a:avLst/>
          </a:prstGeom>
          <a:noFill/>
          <a:ln w="0">
            <a:noFill/>
            <a:prstDash val="solid"/>
          </a:ln>
        </p:spPr>
        <p:txBody>
          <a:bodyPr anchor="ctr"/>
          <a:lstStyle/>
          <a:p>
            <a:pPr algn="ctr">
              <a:defRPr sz="2550" b="1">
                <a:solidFill>
                  <a:srgbClr val="004282"/>
                </a:solidFill>
              </a:defRPr>
            </a:pPr>
            <a:r>
              <a:rPr sz="2550" b="1">
                <a:solidFill>
                  <a:srgbClr val="004282"/>
                </a:solidFill>
              </a:rPr>
              <a:t>26 / size</a:t>
            </a:r>
            <a:endParaRPr sz="2550" b="1">
              <a:solidFill>
                <a:srgbClr val="004282"/>
              </a:solidFill>
            </a:endParaRPr>
          </a:p>
        </p:txBody>
      </p:sp>
      <p:sp>
        <p:nvSpPr>
          <p:cNvPr id="12" name="矩形 11"/>
          <p:cNvSpPr>
            <a:spLocks noGrp="1"/>
          </p:cNvSpPr>
          <p:nvPr/>
        </p:nvSpPr>
        <p:spPr>
          <a:xfrm>
            <a:off x="7334250" y="2209800"/>
            <a:ext cx="361950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registered conical scans</a:t>
            </a:r>
            <a:endParaRPr sz="1200" b="0">
              <a:solidFill>
                <a:srgbClr val="6B7580"/>
              </a:solidFill>
            </a:endParaRPr>
          </a:p>
        </p:txBody>
      </p:sp>
      <p:sp>
        <p:nvSpPr>
          <p:cNvPr id="13" name="矩形 12"/>
          <p:cNvSpPr>
            <a:spLocks noGrp="1"/>
          </p:cNvSpPr>
          <p:nvPr/>
        </p:nvSpPr>
        <p:spPr>
          <a:xfrm>
            <a:off x="7334250" y="2809875"/>
            <a:ext cx="3619500" cy="476250"/>
          </a:xfrm>
          <a:prstGeom prst="rect">
            <a:avLst/>
          </a:prstGeom>
          <a:noFill/>
          <a:ln w="0">
            <a:noFill/>
            <a:prstDash val="solid"/>
          </a:ln>
        </p:spPr>
        <p:txBody>
          <a:bodyPr anchor="ctr"/>
          <a:lstStyle/>
          <a:p>
            <a:pPr algn="ctr">
              <a:defRPr sz="2550" b="1">
                <a:solidFill>
                  <a:srgbClr val="009E73"/>
                </a:solidFill>
              </a:defRPr>
            </a:pPr>
            <a:r>
              <a:rPr sz="2550" b="1">
                <a:solidFill>
                  <a:srgbClr val="009E73"/>
                </a:solidFill>
              </a:rPr>
              <a:t>78 / 78</a:t>
            </a:r>
            <a:endParaRPr sz="2550" b="1">
              <a:solidFill>
                <a:srgbClr val="009E73"/>
              </a:solidFill>
            </a:endParaRPr>
          </a:p>
        </p:txBody>
      </p:sp>
      <p:sp>
        <p:nvSpPr>
          <p:cNvPr id="14" name="矩形 13"/>
          <p:cNvSpPr>
            <a:spLocks noGrp="1"/>
          </p:cNvSpPr>
          <p:nvPr/>
        </p:nvSpPr>
        <p:spPr>
          <a:xfrm>
            <a:off x="7334250" y="3305175"/>
            <a:ext cx="361950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acquisition-valid traces</a:t>
            </a:r>
            <a:endParaRPr sz="1200" b="0">
              <a:solidFill>
                <a:srgbClr val="6B7580"/>
              </a:solidFill>
            </a:endParaRPr>
          </a:p>
        </p:txBody>
      </p:sp>
      <p:sp>
        <p:nvSpPr>
          <p:cNvPr id="15" name="矩形 14"/>
          <p:cNvSpPr>
            <a:spLocks noGrp="1"/>
          </p:cNvSpPr>
          <p:nvPr/>
        </p:nvSpPr>
        <p:spPr>
          <a:xfrm>
            <a:off x="7334250" y="3905250"/>
            <a:ext cx="3619500" cy="476250"/>
          </a:xfrm>
          <a:prstGeom prst="rect">
            <a:avLst/>
          </a:prstGeom>
          <a:noFill/>
          <a:ln w="0">
            <a:noFill/>
            <a:prstDash val="solid"/>
          </a:ln>
        </p:spPr>
        <p:txBody>
          <a:bodyPr anchor="ctr"/>
          <a:lstStyle/>
          <a:p>
            <a:pPr algn="ctr">
              <a:defRPr sz="2550" b="1">
                <a:solidFill>
                  <a:srgbClr val="ED7F0D"/>
                </a:solidFill>
              </a:defRPr>
            </a:pPr>
            <a:r>
              <a:rPr sz="2550" b="1">
                <a:solidFill>
                  <a:srgbClr val="ED7F0D"/>
                </a:solidFill>
              </a:rPr>
              <a:t>4 × 360</a:t>
            </a:r>
            <a:endParaRPr sz="2550" b="1">
              <a:solidFill>
                <a:srgbClr val="ED7F0D"/>
              </a:solidFill>
            </a:endParaRPr>
          </a:p>
        </p:txBody>
      </p:sp>
      <p:sp>
        <p:nvSpPr>
          <p:cNvPr id="16" name="矩形 15"/>
          <p:cNvSpPr>
            <a:spLocks noGrp="1"/>
          </p:cNvSpPr>
          <p:nvPr/>
        </p:nvSpPr>
        <p:spPr>
          <a:xfrm>
            <a:off x="7334250" y="4400550"/>
            <a:ext cx="3619500" cy="400050"/>
          </a:xfrm>
          <a:prstGeom prst="rect">
            <a:avLst/>
          </a:prstGeom>
          <a:noFill/>
          <a:ln w="0">
            <a:noFill/>
            <a:prstDash val="solid"/>
          </a:ln>
        </p:spPr>
        <p:txBody>
          <a:bodyPr anchor="t"/>
          <a:lstStyle/>
          <a:p>
            <a:pPr algn="ctr">
              <a:defRPr sz="1200" b="0">
                <a:solidFill>
                  <a:srgbClr val="6B7580"/>
                </a:solidFill>
              </a:defRPr>
            </a:pPr>
            <a:r>
              <a:rPr sz="1200" b="0">
                <a:solidFill>
                  <a:srgbClr val="6B7580"/>
                </a:solidFill>
              </a:rPr>
              <a:t>phase-aligned model input</a:t>
            </a:r>
            <a:endParaRPr sz="1200" b="0">
              <a:solidFill>
                <a:srgbClr val="6B7580"/>
              </a:solidFill>
            </a:endParaRPr>
          </a:p>
        </p:txBody>
      </p:sp>
      <p:sp>
        <p:nvSpPr>
          <p:cNvPr id="17" name="矩形 16"/>
          <p:cNvSpPr>
            <a:spLocks noGrp="1"/>
          </p:cNvSpPr>
          <p:nvPr/>
        </p:nvSpPr>
        <p:spPr>
          <a:xfrm>
            <a:off x="647700" y="5943600"/>
            <a:ext cx="10839450" cy="400050"/>
          </a:xfrm>
          <a:prstGeom prst="rect">
            <a:avLst/>
          </a:prstGeom>
          <a:solidFill>
            <a:srgbClr val="FFF0E2"/>
          </a:solidFill>
          <a:ln w="0">
            <a:noFill/>
            <a:prstDash val="solid"/>
          </a:ln>
        </p:spPr>
      </p:sp>
      <p:sp>
        <p:nvSpPr>
          <p:cNvPr id="18" name="矩形 17"/>
          <p:cNvSpPr>
            <a:spLocks noGrp="1"/>
          </p:cNvSpPr>
          <p:nvPr/>
        </p:nvSpPr>
        <p:spPr>
          <a:xfrm>
            <a:off x="647700" y="5943600"/>
            <a:ext cx="57150" cy="400050"/>
          </a:xfrm>
          <a:prstGeom prst="rect">
            <a:avLst/>
          </a:prstGeom>
          <a:solidFill>
            <a:srgbClr val="ED7F0D"/>
          </a:solidFill>
          <a:ln w="0">
            <a:noFill/>
            <a:prstDash val="solid"/>
          </a:ln>
        </p:spPr>
      </p:sp>
      <p:sp>
        <p:nvSpPr>
          <p:cNvPr id="19" name="矩形 18"/>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78/78 is an acquisition result, not a task-success rate; development holdouts are not untouched qualification data.</a:t>
            </a:r>
            <a:endParaRPr sz="1275" b="1">
              <a:solidFill>
                <a:srgbClr val="152538"/>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36</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HARDWARE</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Selected M10/M12 runs demonstrate the mechanism, not a success rate</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IV-F · Figs. 8–10 · Table IV</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36</a:t>
            </a:r>
            <a:endParaRPr sz="825" b="1">
              <a:solidFill>
                <a:srgbClr val="004282"/>
              </a:solidFill>
            </a:endParaRPr>
          </a:p>
        </p:txBody>
      </p:sp>
      <p:sp>
        <p:nvSpPr>
          <p:cNvPr id="10" name="圆角矩形 9"/>
          <p:cNvSpPr>
            <a:spLocks noGrp="1"/>
          </p:cNvSpPr>
          <p:nvPr/>
        </p:nvSpPr>
        <p:spPr>
          <a:xfrm>
            <a:off x="685800" y="1466850"/>
            <a:ext cx="3676650" cy="4152900"/>
          </a:xfrm>
          <a:prstGeom prst="roundRect">
            <a:avLst>
              <a:gd name="adj" fmla="val 2073"/>
            </a:avLst>
          </a:prstGeom>
          <a:solidFill>
            <a:srgbClr val="FFFFFF"/>
          </a:solidFill>
          <a:ln w="9525">
            <a:solidFill>
              <a:srgbClr val="D9E0E6"/>
            </a:solidFill>
            <a:prstDash val="solid"/>
          </a:ln>
        </p:spPr>
      </p:sp>
      <p:pic>
        <p:nvPicPr>
          <p:cNvPr id="25" name="图片 24"/>
          <p:cNvPicPr>
            <a:picLocks noChangeAspect="1"/>
          </p:cNvPicPr>
          <p:nvPr/>
        </p:nvPicPr>
        <p:blipFill>
          <a:blip r:embed="rId1"/>
          <a:srcRect l="25040" r="25040"/>
          <a:stretch>
            <a:fillRect/>
          </a:stretch>
        </p:blipFill>
        <p:spPr>
          <a:xfrm>
            <a:off x="762000" y="1543050"/>
            <a:ext cx="3524250" cy="4000500"/>
          </a:xfrm>
          <a:prstGeom prst="roundRect">
            <a:avLst>
              <a:gd name="adj" fmla="val 2162"/>
            </a:avLst>
          </a:prstGeom>
        </p:spPr>
      </p:pic>
      <p:sp>
        <p:nvSpPr>
          <p:cNvPr id="11" name="圆角矩形 10"/>
          <p:cNvSpPr>
            <a:spLocks noGrp="1"/>
          </p:cNvSpPr>
          <p:nvPr/>
        </p:nvSpPr>
        <p:spPr>
          <a:xfrm>
            <a:off x="4572000" y="1466850"/>
            <a:ext cx="6724650" cy="4152900"/>
          </a:xfrm>
          <a:prstGeom prst="roundRect">
            <a:avLst>
              <a:gd name="adj" fmla="val 1835"/>
            </a:avLst>
          </a:prstGeom>
          <a:solidFill>
            <a:srgbClr val="FFFFFF"/>
          </a:solidFill>
          <a:ln w="9525">
            <a:solidFill>
              <a:srgbClr val="D9E0E6"/>
            </a:solidFill>
            <a:prstDash val="solid"/>
          </a:ln>
        </p:spPr>
      </p:sp>
      <p:pic>
        <p:nvPicPr>
          <p:cNvPr id="27" name="图片 26"/>
          <p:cNvPicPr>
            <a:picLocks noChangeAspect="1"/>
          </p:cNvPicPr>
          <p:nvPr/>
        </p:nvPicPr>
        <p:blipFill>
          <a:blip r:embed="rId2"/>
          <a:stretch>
            <a:fillRect/>
          </a:stretch>
        </p:blipFill>
        <p:spPr>
          <a:xfrm>
            <a:off x="5685626" y="1543050"/>
            <a:ext cx="4497398" cy="4000500"/>
          </a:xfrm>
          <a:prstGeom prst="roundRect">
            <a:avLst>
              <a:gd name="adj" fmla="val 1905"/>
            </a:avLst>
          </a:prstGeom>
        </p:spPr>
      </p:pic>
      <p:sp>
        <p:nvSpPr>
          <p:cNvPr id="13" name="矩形 12"/>
          <p:cNvSpPr>
            <a:spLocks noGrp="1"/>
          </p:cNvSpPr>
          <p:nvPr/>
        </p:nvSpPr>
        <p:spPr>
          <a:xfrm>
            <a:off x="647700" y="5943600"/>
            <a:ext cx="10839450" cy="400050"/>
          </a:xfrm>
          <a:prstGeom prst="rect">
            <a:avLst/>
          </a:prstGeom>
          <a:solidFill>
            <a:srgbClr val="FFF0E2"/>
          </a:solidFill>
          <a:ln w="0">
            <a:noFill/>
            <a:prstDash val="solid"/>
          </a:ln>
        </p:spPr>
      </p:sp>
      <p:sp>
        <p:nvSpPr>
          <p:cNvPr id="14" name="矩形 13"/>
          <p:cNvSpPr>
            <a:spLocks noGrp="1"/>
          </p:cNvSpPr>
          <p:nvPr/>
        </p:nvSpPr>
        <p:spPr>
          <a:xfrm>
            <a:off x="647700" y="5943600"/>
            <a:ext cx="57150" cy="400050"/>
          </a:xfrm>
          <a:prstGeom prst="rect">
            <a:avLst/>
          </a:prstGeom>
          <a:solidFill>
            <a:srgbClr val="ED7F0D"/>
          </a:solidFill>
          <a:ln w="0">
            <a:noFill/>
            <a:prstDash val="solid"/>
          </a:ln>
        </p:spPr>
      </p:sp>
      <p:sp>
        <p:nvSpPr>
          <p:cNvPr id="15" name="矩形 14"/>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Named M12 PGS-G: 3.00 mm shortcut; 0.054 mm endpoint error; miss → negative-evidence replan; capture 42.45 s; terminal candidate 116.63 s; depth 5.792 mm.</a:t>
            </a:r>
            <a:endParaRPr sz="1275" b="1">
              <a:solidFill>
                <a:srgbClr val="152538"/>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37</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DISCUSSION</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The evidence supports bounded search guidance, with clear validity limits</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Discussion</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37</a:t>
            </a:r>
            <a:endParaRPr sz="825" b="1">
              <a:solidFill>
                <a:srgbClr val="004282"/>
              </a:solidFill>
            </a:endParaRPr>
          </a:p>
        </p:txBody>
      </p:sp>
      <p:sp>
        <p:nvSpPr>
          <p:cNvPr id="10" name="圆角矩形 9"/>
          <p:cNvSpPr>
            <a:spLocks noGrp="1"/>
          </p:cNvSpPr>
          <p:nvPr/>
        </p:nvSpPr>
        <p:spPr>
          <a:xfrm>
            <a:off x="723900" y="1657350"/>
            <a:ext cx="5086350" cy="3848100"/>
          </a:xfrm>
          <a:prstGeom prst="roundRect">
            <a:avLst>
              <a:gd name="adj" fmla="val 1980"/>
            </a:avLst>
          </a:prstGeom>
          <a:solidFill>
            <a:srgbClr val="E6F5EF"/>
          </a:solidFill>
          <a:ln w="19050">
            <a:solidFill>
              <a:srgbClr val="009E73"/>
            </a:solidFill>
            <a:prstDash val="solid"/>
          </a:ln>
        </p:spPr>
      </p:sp>
      <p:sp>
        <p:nvSpPr>
          <p:cNvPr id="11" name="圆角矩形 10"/>
          <p:cNvSpPr>
            <a:spLocks noGrp="1"/>
          </p:cNvSpPr>
          <p:nvPr/>
        </p:nvSpPr>
        <p:spPr>
          <a:xfrm>
            <a:off x="6381750" y="1657350"/>
            <a:ext cx="5086350" cy="3848100"/>
          </a:xfrm>
          <a:prstGeom prst="roundRect">
            <a:avLst>
              <a:gd name="adj" fmla="val 1980"/>
            </a:avLst>
          </a:prstGeom>
          <a:solidFill>
            <a:srgbClr val="FCE9E8"/>
          </a:solidFill>
          <a:ln w="19050">
            <a:solidFill>
              <a:srgbClr val="C74A4A"/>
            </a:solidFill>
            <a:prstDash val="solid"/>
          </a:ln>
        </p:spPr>
      </p:sp>
      <p:sp>
        <p:nvSpPr>
          <p:cNvPr id="12" name="矩形 11"/>
          <p:cNvSpPr>
            <a:spLocks noGrp="1"/>
          </p:cNvSpPr>
          <p:nvPr/>
        </p:nvSpPr>
        <p:spPr>
          <a:xfrm>
            <a:off x="1000125" y="1847850"/>
            <a:ext cx="4533900" cy="342900"/>
          </a:xfrm>
          <a:prstGeom prst="rect">
            <a:avLst/>
          </a:prstGeom>
          <a:noFill/>
          <a:ln w="0">
            <a:noFill/>
            <a:prstDash val="solid"/>
          </a:ln>
        </p:spPr>
        <p:txBody>
          <a:bodyPr anchor="ctr"/>
          <a:lstStyle/>
          <a:p>
            <a:pPr algn="ctr">
              <a:defRPr sz="1800" b="1">
                <a:solidFill>
                  <a:srgbClr val="009E73"/>
                </a:solidFill>
              </a:defRPr>
            </a:pPr>
            <a:r>
              <a:rPr sz="1800" b="1">
                <a:solidFill>
                  <a:srgbClr val="009E73"/>
                </a:solidFill>
              </a:rPr>
              <a:t>ESTABLISHES</a:t>
            </a:r>
            <a:endParaRPr sz="1800" b="1">
              <a:solidFill>
                <a:srgbClr val="009E73"/>
              </a:solidFill>
            </a:endParaRPr>
          </a:p>
        </p:txBody>
      </p:sp>
      <p:sp>
        <p:nvSpPr>
          <p:cNvPr id="13" name="矩形 12"/>
          <p:cNvSpPr>
            <a:spLocks noGrp="1"/>
          </p:cNvSpPr>
          <p:nvPr/>
        </p:nvSpPr>
        <p:spPr>
          <a:xfrm>
            <a:off x="6657975" y="1847850"/>
            <a:ext cx="4533900" cy="342900"/>
          </a:xfrm>
          <a:prstGeom prst="rect">
            <a:avLst/>
          </a:prstGeom>
          <a:noFill/>
          <a:ln w="0">
            <a:noFill/>
            <a:prstDash val="solid"/>
          </a:ln>
        </p:spPr>
        <p:txBody>
          <a:bodyPr anchor="ctr"/>
          <a:lstStyle/>
          <a:p>
            <a:pPr algn="ctr">
              <a:defRPr sz="1800" b="1">
                <a:solidFill>
                  <a:srgbClr val="C74A4A"/>
                </a:solidFill>
              </a:defRPr>
            </a:pPr>
            <a:r>
              <a:rPr sz="1800" b="1">
                <a:solidFill>
                  <a:srgbClr val="C74A4A"/>
                </a:solidFill>
              </a:rPr>
              <a:t>DOES NOT ESTABLISH</a:t>
            </a:r>
            <a:endParaRPr sz="1800" b="1">
              <a:solidFill>
                <a:srgbClr val="C74A4A"/>
              </a:solidFill>
            </a:endParaRPr>
          </a:p>
        </p:txBody>
      </p:sp>
      <p:sp>
        <p:nvSpPr>
          <p:cNvPr id="14" name="椭圆 13"/>
          <p:cNvSpPr>
            <a:spLocks noGrp="1"/>
          </p:cNvSpPr>
          <p:nvPr/>
        </p:nvSpPr>
        <p:spPr>
          <a:xfrm>
            <a:off x="1066800" y="2524125"/>
            <a:ext cx="76200" cy="76200"/>
          </a:xfrm>
          <a:prstGeom prst="ellipse">
            <a:avLst/>
          </a:prstGeom>
          <a:solidFill>
            <a:srgbClr val="009E73"/>
          </a:solidFill>
          <a:ln w="9525">
            <a:solidFill>
              <a:srgbClr val="009E73"/>
            </a:solidFill>
            <a:prstDash val="solid"/>
          </a:ln>
        </p:spPr>
      </p:sp>
      <p:sp>
        <p:nvSpPr>
          <p:cNvPr id="15" name="矩形 14"/>
          <p:cNvSpPr>
            <a:spLocks noGrp="1"/>
          </p:cNvSpPr>
          <p:nvPr/>
        </p:nvSpPr>
        <p:spPr>
          <a:xfrm>
            <a:off x="1276350" y="2428875"/>
            <a:ext cx="4076700" cy="457200"/>
          </a:xfrm>
          <a:prstGeom prst="rect">
            <a:avLst/>
          </a:prstGeom>
          <a:noFill/>
          <a:ln w="0">
            <a:noFill/>
            <a:prstDash val="solid"/>
          </a:ln>
        </p:spPr>
        <p:txBody>
          <a:bodyPr anchor="t"/>
          <a:lstStyle/>
          <a:p>
            <a:pPr algn="l">
              <a:defRPr sz="1425" b="0">
                <a:solidFill>
                  <a:srgbClr val="152538"/>
                </a:solidFill>
              </a:defRPr>
            </a:pPr>
            <a:r>
              <a:rPr sz="1425" b="0">
                <a:solidFill>
                  <a:srgbClr val="152538"/>
                </a:solidFill>
              </a:rPr>
              <a:t>Posterior-supported motion allocation</a:t>
            </a:r>
            <a:endParaRPr sz="1425" b="0">
              <a:solidFill>
                <a:srgbClr val="152538"/>
              </a:solidFill>
            </a:endParaRPr>
          </a:p>
        </p:txBody>
      </p:sp>
      <p:sp>
        <p:nvSpPr>
          <p:cNvPr id="16" name="椭圆 15"/>
          <p:cNvSpPr>
            <a:spLocks noGrp="1"/>
          </p:cNvSpPr>
          <p:nvPr/>
        </p:nvSpPr>
        <p:spPr>
          <a:xfrm>
            <a:off x="1066800" y="3019425"/>
            <a:ext cx="76200" cy="76200"/>
          </a:xfrm>
          <a:prstGeom prst="ellipse">
            <a:avLst/>
          </a:prstGeom>
          <a:solidFill>
            <a:srgbClr val="009E73"/>
          </a:solidFill>
          <a:ln w="9525">
            <a:solidFill>
              <a:srgbClr val="009E73"/>
            </a:solidFill>
            <a:prstDash val="solid"/>
          </a:ln>
        </p:spPr>
      </p:sp>
      <p:sp>
        <p:nvSpPr>
          <p:cNvPr id="17" name="矩形 16"/>
          <p:cNvSpPr>
            <a:spLocks noGrp="1"/>
          </p:cNvSpPr>
          <p:nvPr/>
        </p:nvSpPr>
        <p:spPr>
          <a:xfrm>
            <a:off x="1276350" y="2924175"/>
            <a:ext cx="4076700" cy="457200"/>
          </a:xfrm>
          <a:prstGeom prst="rect">
            <a:avLst/>
          </a:prstGeom>
          <a:noFill/>
          <a:ln w="0">
            <a:noFill/>
            <a:prstDash val="solid"/>
          </a:ln>
        </p:spPr>
        <p:txBody>
          <a:bodyPr anchor="t"/>
          <a:lstStyle/>
          <a:p>
            <a:pPr algn="l">
              <a:defRPr sz="1425" b="0">
                <a:solidFill>
                  <a:srgbClr val="152538"/>
                </a:solidFill>
              </a:defRPr>
            </a:pPr>
            <a:r>
              <a:rPr sz="1425" b="0">
                <a:solidFill>
                  <a:srgbClr val="152538"/>
                </a:solidFill>
              </a:rPr>
              <a:t>PGS-O paired path/time reduction</a:t>
            </a:r>
            <a:endParaRPr sz="1425" b="0">
              <a:solidFill>
                <a:srgbClr val="152538"/>
              </a:solidFill>
            </a:endParaRPr>
          </a:p>
        </p:txBody>
      </p:sp>
      <p:sp>
        <p:nvSpPr>
          <p:cNvPr id="18" name="椭圆 17"/>
          <p:cNvSpPr>
            <a:spLocks noGrp="1"/>
          </p:cNvSpPr>
          <p:nvPr/>
        </p:nvSpPr>
        <p:spPr>
          <a:xfrm>
            <a:off x="1066800" y="3514725"/>
            <a:ext cx="76200" cy="76200"/>
          </a:xfrm>
          <a:prstGeom prst="ellipse">
            <a:avLst/>
          </a:prstGeom>
          <a:solidFill>
            <a:srgbClr val="009E73"/>
          </a:solidFill>
          <a:ln w="9525">
            <a:solidFill>
              <a:srgbClr val="009E73"/>
            </a:solidFill>
            <a:prstDash val="solid"/>
          </a:ln>
        </p:spPr>
      </p:sp>
      <p:sp>
        <p:nvSpPr>
          <p:cNvPr id="19" name="矩形 18"/>
          <p:cNvSpPr>
            <a:spLocks noGrp="1"/>
          </p:cNvSpPr>
          <p:nvPr/>
        </p:nvSpPr>
        <p:spPr>
          <a:xfrm>
            <a:off x="1276350" y="3419475"/>
            <a:ext cx="4076700" cy="457200"/>
          </a:xfrm>
          <a:prstGeom prst="rect">
            <a:avLst/>
          </a:prstGeom>
          <a:noFill/>
          <a:ln w="0">
            <a:noFill/>
            <a:prstDash val="solid"/>
          </a:ln>
        </p:spPr>
        <p:txBody>
          <a:bodyPr anchor="t"/>
          <a:lstStyle/>
          <a:p>
            <a:pPr algn="l">
              <a:defRPr sz="1425" b="0">
                <a:solidFill>
                  <a:srgbClr val="152538"/>
                </a:solidFill>
              </a:defRPr>
            </a:pPr>
            <a:r>
              <a:rPr sz="1425" b="0">
                <a:solidFill>
                  <a:srgbClr val="152538"/>
                </a:solidFill>
              </a:rPr>
              <a:t>Recovery effect on fixed stress set</a:t>
            </a:r>
            <a:endParaRPr sz="1425" b="0">
              <a:solidFill>
                <a:srgbClr val="152538"/>
              </a:solidFill>
            </a:endParaRPr>
          </a:p>
        </p:txBody>
      </p:sp>
      <p:sp>
        <p:nvSpPr>
          <p:cNvPr id="20" name="椭圆 19"/>
          <p:cNvSpPr>
            <a:spLocks noGrp="1"/>
          </p:cNvSpPr>
          <p:nvPr/>
        </p:nvSpPr>
        <p:spPr>
          <a:xfrm>
            <a:off x="1066800" y="4010025"/>
            <a:ext cx="76200" cy="76200"/>
          </a:xfrm>
          <a:prstGeom prst="ellipse">
            <a:avLst/>
          </a:prstGeom>
          <a:solidFill>
            <a:srgbClr val="009E73"/>
          </a:solidFill>
          <a:ln w="9525">
            <a:solidFill>
              <a:srgbClr val="009E73"/>
            </a:solidFill>
            <a:prstDash val="solid"/>
          </a:ln>
        </p:spPr>
      </p:sp>
      <p:sp>
        <p:nvSpPr>
          <p:cNvPr id="21" name="矩形 20"/>
          <p:cNvSpPr>
            <a:spLocks noGrp="1"/>
          </p:cNvSpPr>
          <p:nvPr/>
        </p:nvSpPr>
        <p:spPr>
          <a:xfrm>
            <a:off x="1276350" y="3914775"/>
            <a:ext cx="4076700" cy="457200"/>
          </a:xfrm>
          <a:prstGeom prst="rect">
            <a:avLst/>
          </a:prstGeom>
          <a:noFill/>
          <a:ln w="0">
            <a:noFill/>
            <a:prstDash val="solid"/>
          </a:ln>
        </p:spPr>
        <p:txBody>
          <a:bodyPr anchor="t"/>
          <a:lstStyle/>
          <a:p>
            <a:pPr algn="l">
              <a:defRPr sz="1425" b="0">
                <a:solidFill>
                  <a:srgbClr val="152538"/>
                </a:solidFill>
              </a:defRPr>
            </a:pPr>
            <a:r>
              <a:rPr sz="1425" b="0">
                <a:solidFill>
                  <a:srgbClr val="152538"/>
                </a:solidFill>
              </a:rPr>
              <a:t>Selected M10/M12 hardware feasibility</a:t>
            </a:r>
            <a:endParaRPr sz="1425" b="0">
              <a:solidFill>
                <a:srgbClr val="152538"/>
              </a:solidFill>
            </a:endParaRPr>
          </a:p>
        </p:txBody>
      </p:sp>
      <p:sp>
        <p:nvSpPr>
          <p:cNvPr id="22" name="椭圆 21"/>
          <p:cNvSpPr>
            <a:spLocks noGrp="1"/>
          </p:cNvSpPr>
          <p:nvPr/>
        </p:nvSpPr>
        <p:spPr>
          <a:xfrm>
            <a:off x="6724650" y="2476500"/>
            <a:ext cx="76200" cy="76200"/>
          </a:xfrm>
          <a:prstGeom prst="ellipse">
            <a:avLst/>
          </a:prstGeom>
          <a:solidFill>
            <a:srgbClr val="C74A4A"/>
          </a:solidFill>
          <a:ln w="9525">
            <a:solidFill>
              <a:srgbClr val="C74A4A"/>
            </a:solidFill>
            <a:prstDash val="solid"/>
          </a:ln>
        </p:spPr>
      </p:sp>
      <p:sp>
        <p:nvSpPr>
          <p:cNvPr id="23" name="矩形 22"/>
          <p:cNvSpPr>
            <a:spLocks noGrp="1"/>
          </p:cNvSpPr>
          <p:nvPr/>
        </p:nvSpPr>
        <p:spPr>
          <a:xfrm>
            <a:off x="6934200" y="2381250"/>
            <a:ext cx="4076700" cy="409575"/>
          </a:xfrm>
          <a:prstGeom prst="rect">
            <a:avLst/>
          </a:prstGeom>
          <a:noFill/>
          <a:ln w="0">
            <a:noFill/>
            <a:prstDash val="solid"/>
          </a:ln>
        </p:spPr>
        <p:txBody>
          <a:bodyPr anchor="t"/>
          <a:lstStyle/>
          <a:p>
            <a:pPr algn="l">
              <a:defRPr sz="1350" b="0">
                <a:solidFill>
                  <a:srgbClr val="152538"/>
                </a:solidFill>
              </a:defRPr>
            </a:pPr>
            <a:r>
              <a:rPr sz="1350" b="0">
                <a:solidFill>
                  <a:srgbClr val="152538"/>
                </a:solidFill>
              </a:rPr>
              <a:t>PGS-G superiority</a:t>
            </a:r>
            <a:endParaRPr sz="1350" b="0">
              <a:solidFill>
                <a:srgbClr val="152538"/>
              </a:solidFill>
            </a:endParaRPr>
          </a:p>
        </p:txBody>
      </p:sp>
      <p:sp>
        <p:nvSpPr>
          <p:cNvPr id="24" name="椭圆 23"/>
          <p:cNvSpPr>
            <a:spLocks noGrp="1"/>
          </p:cNvSpPr>
          <p:nvPr/>
        </p:nvSpPr>
        <p:spPr>
          <a:xfrm>
            <a:off x="6724650" y="2895600"/>
            <a:ext cx="76200" cy="76200"/>
          </a:xfrm>
          <a:prstGeom prst="ellipse">
            <a:avLst/>
          </a:prstGeom>
          <a:solidFill>
            <a:srgbClr val="C74A4A"/>
          </a:solidFill>
          <a:ln w="9525">
            <a:solidFill>
              <a:srgbClr val="C74A4A"/>
            </a:solidFill>
            <a:prstDash val="solid"/>
          </a:ln>
        </p:spPr>
      </p:sp>
      <p:sp>
        <p:nvSpPr>
          <p:cNvPr id="25" name="矩形 24"/>
          <p:cNvSpPr>
            <a:spLocks noGrp="1"/>
          </p:cNvSpPr>
          <p:nvPr/>
        </p:nvSpPr>
        <p:spPr>
          <a:xfrm>
            <a:off x="6934200" y="2800350"/>
            <a:ext cx="4076700" cy="409575"/>
          </a:xfrm>
          <a:prstGeom prst="rect">
            <a:avLst/>
          </a:prstGeom>
          <a:noFill/>
          <a:ln w="0">
            <a:noFill/>
            <a:prstDash val="solid"/>
          </a:ln>
        </p:spPr>
        <p:txBody>
          <a:bodyPr anchor="t"/>
          <a:lstStyle/>
          <a:p>
            <a:pPr algn="l">
              <a:defRPr sz="1350" b="0">
                <a:solidFill>
                  <a:srgbClr val="152538"/>
                </a:solidFill>
              </a:defRPr>
            </a:pPr>
            <a:r>
              <a:rPr sz="1350" b="0">
                <a:solidFill>
                  <a:srgbClr val="152538"/>
                </a:solidFill>
              </a:rPr>
              <a:t>Fine-tuning benefit</a:t>
            </a:r>
            <a:endParaRPr sz="1350" b="0">
              <a:solidFill>
                <a:srgbClr val="152538"/>
              </a:solidFill>
            </a:endParaRPr>
          </a:p>
        </p:txBody>
      </p:sp>
      <p:sp>
        <p:nvSpPr>
          <p:cNvPr id="26" name="椭圆 25"/>
          <p:cNvSpPr>
            <a:spLocks noGrp="1"/>
          </p:cNvSpPr>
          <p:nvPr/>
        </p:nvSpPr>
        <p:spPr>
          <a:xfrm>
            <a:off x="6724650" y="3314700"/>
            <a:ext cx="76200" cy="76200"/>
          </a:xfrm>
          <a:prstGeom prst="ellipse">
            <a:avLst/>
          </a:prstGeom>
          <a:solidFill>
            <a:srgbClr val="C74A4A"/>
          </a:solidFill>
          <a:ln w="9525">
            <a:solidFill>
              <a:srgbClr val="C74A4A"/>
            </a:solidFill>
            <a:prstDash val="solid"/>
          </a:ln>
        </p:spPr>
      </p:sp>
      <p:sp>
        <p:nvSpPr>
          <p:cNvPr id="27" name="矩形 26"/>
          <p:cNvSpPr>
            <a:spLocks noGrp="1"/>
          </p:cNvSpPr>
          <p:nvPr/>
        </p:nvSpPr>
        <p:spPr>
          <a:xfrm>
            <a:off x="6934200" y="3219450"/>
            <a:ext cx="4076700" cy="409575"/>
          </a:xfrm>
          <a:prstGeom prst="rect">
            <a:avLst/>
          </a:prstGeom>
          <a:noFill/>
          <a:ln w="0">
            <a:noFill/>
            <a:prstDash val="solid"/>
          </a:ln>
        </p:spPr>
        <p:txBody>
          <a:bodyPr anchor="t"/>
          <a:lstStyle/>
          <a:p>
            <a:pPr algn="l">
              <a:defRPr sz="1350" b="0">
                <a:solidFill>
                  <a:srgbClr val="152538"/>
                </a:solidFill>
              </a:defRPr>
            </a:pPr>
            <a:r>
              <a:rPr sz="1350" b="0">
                <a:solidFill>
                  <a:srgbClr val="152538"/>
                </a:solidFill>
              </a:rPr>
              <a:t>Randomized hardware success rate</a:t>
            </a:r>
            <a:endParaRPr sz="1350" b="0">
              <a:solidFill>
                <a:srgbClr val="152538"/>
              </a:solidFill>
            </a:endParaRPr>
          </a:p>
        </p:txBody>
      </p:sp>
      <p:sp>
        <p:nvSpPr>
          <p:cNvPr id="28" name="椭圆 27"/>
          <p:cNvSpPr>
            <a:spLocks noGrp="1"/>
          </p:cNvSpPr>
          <p:nvPr/>
        </p:nvSpPr>
        <p:spPr>
          <a:xfrm>
            <a:off x="6724650" y="3733800"/>
            <a:ext cx="76200" cy="76200"/>
          </a:xfrm>
          <a:prstGeom prst="ellipse">
            <a:avLst/>
          </a:prstGeom>
          <a:solidFill>
            <a:srgbClr val="C74A4A"/>
          </a:solidFill>
          <a:ln w="9525">
            <a:solidFill>
              <a:srgbClr val="C74A4A"/>
            </a:solidFill>
            <a:prstDash val="solid"/>
          </a:ln>
        </p:spPr>
      </p:sp>
      <p:sp>
        <p:nvSpPr>
          <p:cNvPr id="29" name="矩形 28"/>
          <p:cNvSpPr>
            <a:spLocks noGrp="1"/>
          </p:cNvSpPr>
          <p:nvPr/>
        </p:nvSpPr>
        <p:spPr>
          <a:xfrm>
            <a:off x="6934200" y="3638550"/>
            <a:ext cx="4076700" cy="409575"/>
          </a:xfrm>
          <a:prstGeom prst="rect">
            <a:avLst/>
          </a:prstGeom>
          <a:noFill/>
          <a:ln w="0">
            <a:noFill/>
            <a:prstDash val="solid"/>
          </a:ln>
        </p:spPr>
        <p:txBody>
          <a:bodyPr anchor="t"/>
          <a:lstStyle/>
          <a:p>
            <a:pPr algn="l">
              <a:defRPr sz="1350" b="0">
                <a:solidFill>
                  <a:srgbClr val="152538"/>
                </a:solidFill>
              </a:defRPr>
            </a:pPr>
            <a:r>
              <a:rPr sz="1350" b="0">
                <a:solidFill>
                  <a:srgbClr val="152538"/>
                </a:solidFill>
              </a:rPr>
              <a:t>Capture guarantee or certified tip wrench</a:t>
            </a:r>
            <a:endParaRPr sz="1350" b="0">
              <a:solidFill>
                <a:srgbClr val="152538"/>
              </a:solidFill>
            </a:endParaRPr>
          </a:p>
        </p:txBody>
      </p:sp>
      <p:sp>
        <p:nvSpPr>
          <p:cNvPr id="30" name="椭圆 29"/>
          <p:cNvSpPr>
            <a:spLocks noGrp="1"/>
          </p:cNvSpPr>
          <p:nvPr/>
        </p:nvSpPr>
        <p:spPr>
          <a:xfrm>
            <a:off x="6724650" y="4152900"/>
            <a:ext cx="76200" cy="76200"/>
          </a:xfrm>
          <a:prstGeom prst="ellipse">
            <a:avLst/>
          </a:prstGeom>
          <a:solidFill>
            <a:srgbClr val="C74A4A"/>
          </a:solidFill>
          <a:ln w="9525">
            <a:solidFill>
              <a:srgbClr val="C74A4A"/>
            </a:solidFill>
            <a:prstDash val="solid"/>
          </a:ln>
        </p:spPr>
      </p:sp>
      <p:sp>
        <p:nvSpPr>
          <p:cNvPr id="31" name="矩形 30"/>
          <p:cNvSpPr>
            <a:spLocks noGrp="1"/>
          </p:cNvSpPr>
          <p:nvPr/>
        </p:nvSpPr>
        <p:spPr>
          <a:xfrm>
            <a:off x="6934200" y="4057650"/>
            <a:ext cx="4076700" cy="409575"/>
          </a:xfrm>
          <a:prstGeom prst="rect">
            <a:avLst/>
          </a:prstGeom>
          <a:noFill/>
          <a:ln w="0">
            <a:noFill/>
            <a:prstDash val="solid"/>
          </a:ln>
        </p:spPr>
        <p:txBody>
          <a:bodyPr anchor="t"/>
          <a:lstStyle/>
          <a:p>
            <a:pPr algn="l">
              <a:defRPr sz="1350" b="0">
                <a:solidFill>
                  <a:srgbClr val="152538"/>
                </a:solidFill>
              </a:defRPr>
            </a:pPr>
            <a:r>
              <a:rPr sz="1350" b="0">
                <a:solidFill>
                  <a:srgbClr val="152538"/>
                </a:solidFill>
              </a:rPr>
              <a:t>Torque coupling / thread release / extraction</a:t>
            </a:r>
            <a:endParaRPr sz="1350" b="0">
              <a:solidFill>
                <a:srgbClr val="152538"/>
              </a:solidFill>
            </a:endParaRPr>
          </a:p>
        </p:txBody>
      </p:sp>
      <p:sp>
        <p:nvSpPr>
          <p:cNvPr id="32" name="矩形 31"/>
          <p:cNvSpPr>
            <a:spLocks noGrp="1"/>
          </p:cNvSpPr>
          <p:nvPr/>
        </p:nvSpPr>
        <p:spPr>
          <a:xfrm>
            <a:off x="647700" y="5943600"/>
            <a:ext cx="10839450" cy="400050"/>
          </a:xfrm>
          <a:prstGeom prst="rect">
            <a:avLst/>
          </a:prstGeom>
          <a:solidFill>
            <a:srgbClr val="FFF0E2"/>
          </a:solidFill>
          <a:ln w="0">
            <a:noFill/>
            <a:prstDash val="solid"/>
          </a:ln>
        </p:spPr>
      </p:sp>
      <p:sp>
        <p:nvSpPr>
          <p:cNvPr id="33" name="矩形 32"/>
          <p:cNvSpPr>
            <a:spLocks noGrp="1"/>
          </p:cNvSpPr>
          <p:nvPr/>
        </p:nvSpPr>
        <p:spPr>
          <a:xfrm>
            <a:off x="647700" y="5943600"/>
            <a:ext cx="57150" cy="400050"/>
          </a:xfrm>
          <a:prstGeom prst="rect">
            <a:avLst/>
          </a:prstGeom>
          <a:solidFill>
            <a:srgbClr val="ED7F0D"/>
          </a:solidFill>
          <a:ln w="0">
            <a:noFill/>
            <a:prstDash val="solid"/>
          </a:ln>
        </p:spPr>
      </p:sp>
      <p:sp>
        <p:nvSpPr>
          <p:cNvPr id="34" name="矩形 33"/>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contribution is useful because the boundary is explicit.</a:t>
            </a:r>
            <a:endParaRPr sz="1275" b="1">
              <a:solidFill>
                <a:srgbClr val="152538"/>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38</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DISCUSSION</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The paper is defensible as a geometric-engagement study</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Conclusion</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38</a:t>
            </a:r>
            <a:endParaRPr sz="825" b="1">
              <a:solidFill>
                <a:srgbClr val="004282"/>
              </a:solidFill>
            </a:endParaRPr>
          </a:p>
        </p:txBody>
      </p:sp>
      <p:sp>
        <p:nvSpPr>
          <p:cNvPr id="10" name="矩形 9"/>
          <p:cNvSpPr>
            <a:spLocks noGrp="1"/>
          </p:cNvSpPr>
          <p:nvPr/>
        </p:nvSpPr>
        <p:spPr>
          <a:xfrm>
            <a:off x="685800" y="1504950"/>
            <a:ext cx="619125" cy="762000"/>
          </a:xfrm>
          <a:prstGeom prst="rect">
            <a:avLst/>
          </a:prstGeom>
          <a:noFill/>
          <a:ln w="0">
            <a:noFill/>
            <a:prstDash val="solid"/>
          </a:ln>
        </p:spPr>
        <p:txBody>
          <a:bodyPr anchor="ctr"/>
          <a:lstStyle/>
          <a:p>
            <a:pPr algn="l">
              <a:defRPr sz="5400" b="1">
                <a:solidFill>
                  <a:srgbClr val="ED7F0D"/>
                </a:solidFill>
              </a:defRPr>
            </a:pPr>
            <a:r>
              <a:rPr sz="5400" b="1">
                <a:solidFill>
                  <a:srgbClr val="ED7F0D"/>
                </a:solidFill>
              </a:rPr>
              <a:t>“</a:t>
            </a:r>
            <a:endParaRPr sz="5400" b="1">
              <a:solidFill>
                <a:srgbClr val="ED7F0D"/>
              </a:solidFill>
            </a:endParaRPr>
          </a:p>
        </p:txBody>
      </p:sp>
      <p:sp>
        <p:nvSpPr>
          <p:cNvPr id="11" name="矩形 10"/>
          <p:cNvSpPr>
            <a:spLocks noGrp="1"/>
          </p:cNvSpPr>
          <p:nvPr/>
        </p:nvSpPr>
        <p:spPr>
          <a:xfrm>
            <a:off x="1200150" y="1762125"/>
            <a:ext cx="9810750" cy="1066800"/>
          </a:xfrm>
          <a:prstGeom prst="rect">
            <a:avLst/>
          </a:prstGeom>
          <a:noFill/>
          <a:ln w="0">
            <a:noFill/>
            <a:prstDash val="solid"/>
          </a:ln>
        </p:spPr>
        <p:txBody>
          <a:bodyPr anchor="ctr"/>
          <a:lstStyle/>
          <a:p>
            <a:pPr algn="ctr">
              <a:defRPr sz="2025" b="1">
                <a:solidFill>
                  <a:srgbClr val="004282"/>
                </a:solidFill>
              </a:defRPr>
            </a:pPr>
            <a:r>
              <a:rPr sz="2025" b="1">
                <a:solidFill>
                  <a:srgbClr val="004282"/>
                </a:solidFill>
              </a:rPr>
              <a:t>A conical tactile cue can shorten search when its authority is limited to a posterior-supported shortcut and unresolved uncertainty remains inside guarded physical search and verification.</a:t>
            </a:r>
            <a:endParaRPr sz="2025" b="1">
              <a:solidFill>
                <a:srgbClr val="004282"/>
              </a:solidFill>
            </a:endParaRPr>
          </a:p>
        </p:txBody>
      </p:sp>
      <p:sp>
        <p:nvSpPr>
          <p:cNvPr id="12" name="矩形 11"/>
          <p:cNvSpPr>
            <a:spLocks noGrp="1"/>
          </p:cNvSpPr>
          <p:nvPr/>
        </p:nvSpPr>
        <p:spPr>
          <a:xfrm>
            <a:off x="2095500" y="3105150"/>
            <a:ext cx="8001000" cy="19050"/>
          </a:xfrm>
          <a:prstGeom prst="rect">
            <a:avLst/>
          </a:prstGeom>
          <a:solidFill>
            <a:srgbClr val="D9E0E6"/>
          </a:solidFill>
          <a:ln w="0">
            <a:noFill/>
            <a:prstDash val="solid"/>
          </a:ln>
        </p:spPr>
      </p:sp>
      <p:sp>
        <p:nvSpPr>
          <p:cNvPr id="13" name="矩形 12"/>
          <p:cNvSpPr>
            <a:spLocks noGrp="1"/>
          </p:cNvSpPr>
          <p:nvPr/>
        </p:nvSpPr>
        <p:spPr>
          <a:xfrm>
            <a:off x="4000500" y="3333750"/>
            <a:ext cx="4191000" cy="285750"/>
          </a:xfrm>
          <a:prstGeom prst="rect">
            <a:avLst/>
          </a:prstGeom>
          <a:noFill/>
          <a:ln w="0">
            <a:noFill/>
            <a:prstDash val="solid"/>
          </a:ln>
        </p:spPr>
        <p:txBody>
          <a:bodyPr anchor="ctr"/>
          <a:lstStyle/>
          <a:p>
            <a:pPr algn="ctr">
              <a:defRPr sz="1275" b="1">
                <a:solidFill>
                  <a:srgbClr val="ED7F0D"/>
                </a:solidFill>
              </a:defRPr>
            </a:pPr>
            <a:r>
              <a:rPr sz="1275" b="1">
                <a:solidFill>
                  <a:srgbClr val="ED7F0D"/>
                </a:solidFill>
              </a:rPr>
              <a:t>DISCUSSION DECISIONS</a:t>
            </a:r>
            <a:endParaRPr sz="1275" b="1">
              <a:solidFill>
                <a:srgbClr val="ED7F0D"/>
              </a:solidFill>
            </a:endParaRPr>
          </a:p>
        </p:txBody>
      </p:sp>
      <p:sp>
        <p:nvSpPr>
          <p:cNvPr id="14" name="椭圆 13"/>
          <p:cNvSpPr>
            <a:spLocks noGrp="1"/>
          </p:cNvSpPr>
          <p:nvPr/>
        </p:nvSpPr>
        <p:spPr>
          <a:xfrm>
            <a:off x="1524000" y="3810000"/>
            <a:ext cx="304800" cy="304800"/>
          </a:xfrm>
          <a:prstGeom prst="ellipse">
            <a:avLst/>
          </a:prstGeom>
          <a:solidFill>
            <a:srgbClr val="004282"/>
          </a:solidFill>
          <a:ln w="9525">
            <a:solidFill>
              <a:srgbClr val="004282"/>
            </a:solidFill>
            <a:prstDash val="solid"/>
          </a:ln>
        </p:spPr>
      </p:sp>
      <p:sp>
        <p:nvSpPr>
          <p:cNvPr id="15" name="矩形 14"/>
          <p:cNvSpPr>
            <a:spLocks noGrp="1"/>
          </p:cNvSpPr>
          <p:nvPr/>
        </p:nvSpPr>
        <p:spPr>
          <a:xfrm>
            <a:off x="1524000" y="3848100"/>
            <a:ext cx="304800" cy="19050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1</a:t>
            </a:r>
            <a:endParaRPr sz="975" b="1">
              <a:solidFill>
                <a:srgbClr val="FFFFFF"/>
              </a:solidFill>
            </a:endParaRPr>
          </a:p>
        </p:txBody>
      </p:sp>
      <p:sp>
        <p:nvSpPr>
          <p:cNvPr id="16" name="矩形 15"/>
          <p:cNvSpPr>
            <a:spLocks noGrp="1"/>
          </p:cNvSpPr>
          <p:nvPr/>
        </p:nvSpPr>
        <p:spPr>
          <a:xfrm>
            <a:off x="2000250" y="3790950"/>
            <a:ext cx="8572500" cy="400050"/>
          </a:xfrm>
          <a:prstGeom prst="rect">
            <a:avLst/>
          </a:prstGeom>
          <a:noFill/>
          <a:ln w="0">
            <a:noFill/>
            <a:prstDash val="solid"/>
          </a:ln>
        </p:spPr>
        <p:txBody>
          <a:bodyPr anchor="ctr"/>
          <a:lstStyle/>
          <a:p>
            <a:pPr algn="l">
              <a:defRPr sz="1500" b="1">
                <a:solidFill>
                  <a:srgbClr val="152538"/>
                </a:solidFill>
              </a:defRPr>
            </a:pPr>
            <a:r>
              <a:rPr sz="1500" b="1">
                <a:solidFill>
                  <a:srgbClr val="152538"/>
                </a:solidFill>
              </a:rPr>
              <a:t>Keep PGS-O primary and position PGS-G as a variant?</a:t>
            </a:r>
            <a:endParaRPr sz="1500" b="1">
              <a:solidFill>
                <a:srgbClr val="152538"/>
              </a:solidFill>
            </a:endParaRPr>
          </a:p>
        </p:txBody>
      </p:sp>
      <p:sp>
        <p:nvSpPr>
          <p:cNvPr id="17" name="椭圆 16"/>
          <p:cNvSpPr>
            <a:spLocks noGrp="1"/>
          </p:cNvSpPr>
          <p:nvPr/>
        </p:nvSpPr>
        <p:spPr>
          <a:xfrm>
            <a:off x="1524000" y="4352925"/>
            <a:ext cx="304800" cy="304800"/>
          </a:xfrm>
          <a:prstGeom prst="ellipse">
            <a:avLst/>
          </a:prstGeom>
          <a:solidFill>
            <a:srgbClr val="004282"/>
          </a:solidFill>
          <a:ln w="9525">
            <a:solidFill>
              <a:srgbClr val="004282"/>
            </a:solidFill>
            <a:prstDash val="solid"/>
          </a:ln>
        </p:spPr>
      </p:sp>
      <p:sp>
        <p:nvSpPr>
          <p:cNvPr id="18" name="矩形 17"/>
          <p:cNvSpPr>
            <a:spLocks noGrp="1"/>
          </p:cNvSpPr>
          <p:nvPr/>
        </p:nvSpPr>
        <p:spPr>
          <a:xfrm>
            <a:off x="1524000" y="4391025"/>
            <a:ext cx="304800" cy="19050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2</a:t>
            </a:r>
            <a:endParaRPr sz="975" b="1">
              <a:solidFill>
                <a:srgbClr val="FFFFFF"/>
              </a:solidFill>
            </a:endParaRPr>
          </a:p>
        </p:txBody>
      </p:sp>
      <p:sp>
        <p:nvSpPr>
          <p:cNvPr id="19" name="矩形 18"/>
          <p:cNvSpPr>
            <a:spLocks noGrp="1"/>
          </p:cNvSpPr>
          <p:nvPr/>
        </p:nvSpPr>
        <p:spPr>
          <a:xfrm>
            <a:off x="2000250" y="4333875"/>
            <a:ext cx="8572500" cy="400050"/>
          </a:xfrm>
          <a:prstGeom prst="rect">
            <a:avLst/>
          </a:prstGeom>
          <a:noFill/>
          <a:ln w="0">
            <a:noFill/>
            <a:prstDash val="solid"/>
          </a:ln>
        </p:spPr>
        <p:txBody>
          <a:bodyPr anchor="ctr"/>
          <a:lstStyle/>
          <a:p>
            <a:pPr algn="l">
              <a:defRPr sz="1500" b="1">
                <a:solidFill>
                  <a:srgbClr val="152538"/>
                </a:solidFill>
              </a:defRPr>
            </a:pPr>
            <a:r>
              <a:rPr sz="1500" b="1">
                <a:solidFill>
                  <a:srgbClr val="152538"/>
                </a:solidFill>
              </a:rPr>
              <a:t>Minimum randomized hardware study before submission?</a:t>
            </a:r>
            <a:endParaRPr sz="1500" b="1">
              <a:solidFill>
                <a:srgbClr val="152538"/>
              </a:solidFill>
            </a:endParaRPr>
          </a:p>
        </p:txBody>
      </p:sp>
      <p:sp>
        <p:nvSpPr>
          <p:cNvPr id="20" name="椭圆 19"/>
          <p:cNvSpPr>
            <a:spLocks noGrp="1"/>
          </p:cNvSpPr>
          <p:nvPr/>
        </p:nvSpPr>
        <p:spPr>
          <a:xfrm>
            <a:off x="1524000" y="4895850"/>
            <a:ext cx="304800" cy="304800"/>
          </a:xfrm>
          <a:prstGeom prst="ellipse">
            <a:avLst/>
          </a:prstGeom>
          <a:solidFill>
            <a:srgbClr val="004282"/>
          </a:solidFill>
          <a:ln w="9525">
            <a:solidFill>
              <a:srgbClr val="004282"/>
            </a:solidFill>
            <a:prstDash val="solid"/>
          </a:ln>
        </p:spPr>
      </p:sp>
      <p:sp>
        <p:nvSpPr>
          <p:cNvPr id="21" name="矩形 20"/>
          <p:cNvSpPr>
            <a:spLocks noGrp="1"/>
          </p:cNvSpPr>
          <p:nvPr/>
        </p:nvSpPr>
        <p:spPr>
          <a:xfrm>
            <a:off x="1524000" y="4933950"/>
            <a:ext cx="304800" cy="19050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3</a:t>
            </a:r>
            <a:endParaRPr sz="975" b="1">
              <a:solidFill>
                <a:srgbClr val="FFFFFF"/>
              </a:solidFill>
            </a:endParaRPr>
          </a:p>
        </p:txBody>
      </p:sp>
      <p:sp>
        <p:nvSpPr>
          <p:cNvPr id="22" name="矩形 21"/>
          <p:cNvSpPr>
            <a:spLocks noGrp="1"/>
          </p:cNvSpPr>
          <p:nvPr/>
        </p:nvSpPr>
        <p:spPr>
          <a:xfrm>
            <a:off x="2000250" y="4876800"/>
            <a:ext cx="8572500" cy="400050"/>
          </a:xfrm>
          <a:prstGeom prst="rect">
            <a:avLst/>
          </a:prstGeom>
          <a:noFill/>
          <a:ln w="0">
            <a:noFill/>
            <a:prstDash val="solid"/>
          </a:ln>
        </p:spPr>
        <p:txBody>
          <a:bodyPr anchor="ctr"/>
          <a:lstStyle/>
          <a:p>
            <a:pPr algn="l">
              <a:defRPr sz="1500" b="1">
                <a:solidFill>
                  <a:srgbClr val="152538"/>
                </a:solidFill>
              </a:defRPr>
            </a:pPr>
            <a:r>
              <a:rPr sz="1500" b="1">
                <a:solidFill>
                  <a:srgbClr val="152538"/>
                </a:solidFill>
              </a:rPr>
              <a:t>Submit at geometric terminal scope, or add first-turn coupling first?</a:t>
            </a:r>
            <a:endParaRPr sz="1500" b="1">
              <a:solidFill>
                <a:srgbClr val="152538"/>
              </a:solidFill>
            </a:endParaRPr>
          </a:p>
        </p:txBody>
      </p:sp>
      <p:sp>
        <p:nvSpPr>
          <p:cNvPr id="23" name="矩形 22"/>
          <p:cNvSpPr>
            <a:spLocks noGrp="1"/>
          </p:cNvSpPr>
          <p:nvPr/>
        </p:nvSpPr>
        <p:spPr>
          <a:xfrm>
            <a:off x="647700" y="5943600"/>
            <a:ext cx="10839450" cy="400050"/>
          </a:xfrm>
          <a:prstGeom prst="rect">
            <a:avLst/>
          </a:prstGeom>
          <a:solidFill>
            <a:srgbClr val="FFF0E2"/>
          </a:solidFill>
          <a:ln w="0">
            <a:noFill/>
            <a:prstDash val="solid"/>
          </a:ln>
        </p:spPr>
      </p:sp>
      <p:sp>
        <p:nvSpPr>
          <p:cNvPr id="24" name="矩形 23"/>
          <p:cNvSpPr>
            <a:spLocks noGrp="1"/>
          </p:cNvSpPr>
          <p:nvPr/>
        </p:nvSpPr>
        <p:spPr>
          <a:xfrm>
            <a:off x="647700" y="5943600"/>
            <a:ext cx="57150" cy="400050"/>
          </a:xfrm>
          <a:prstGeom prst="rect">
            <a:avLst/>
          </a:prstGeom>
          <a:solidFill>
            <a:srgbClr val="ED7F0D"/>
          </a:solidFill>
          <a:ln w="0">
            <a:noFill/>
            <a:prstDash val="solid"/>
          </a:ln>
        </p:spPr>
      </p:sp>
      <p:sp>
        <p:nvSpPr>
          <p:cNvPr id="25" name="矩形 24"/>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A conical tactile cue can shorten search when its authority is limited to a posterior-supported shortcut and unresolved uncertainty remains inside guarded physical search and verification.</a:t>
            </a:r>
            <a:endParaRPr sz="1275" b="1">
              <a:solidFill>
                <a:srgbClr val="152538"/>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39</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A01 · Coordinate frames, notation and online/offline authority</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II-A · Fig. 1</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39</a:t>
            </a:r>
            <a:endParaRPr sz="825" b="1">
              <a:solidFill>
                <a:srgbClr val="004282"/>
              </a:solidFill>
            </a:endParaRPr>
          </a:p>
        </p:txBody>
      </p:sp>
      <p:sp>
        <p:nvSpPr>
          <p:cNvPr id="10" name="圆角矩形 9"/>
          <p:cNvSpPr>
            <a:spLocks noGrp="1"/>
          </p:cNvSpPr>
          <p:nvPr/>
        </p:nvSpPr>
        <p:spPr>
          <a:xfrm>
            <a:off x="666750" y="1676400"/>
            <a:ext cx="4191000" cy="3676650"/>
          </a:xfrm>
          <a:prstGeom prst="roundRect">
            <a:avLst>
              <a:gd name="adj" fmla="val 2073"/>
            </a:avLst>
          </a:prstGeom>
          <a:solidFill>
            <a:srgbClr val="FFFFFF"/>
          </a:solidFill>
          <a:ln w="9525">
            <a:solidFill>
              <a:srgbClr val="D9E0E6"/>
            </a:solidFill>
            <a:prstDash val="solid"/>
          </a:ln>
        </p:spPr>
      </p:sp>
      <p:pic>
        <p:nvPicPr>
          <p:cNvPr id="53" name="图片 52"/>
          <p:cNvPicPr>
            <a:picLocks noChangeAspect="1"/>
          </p:cNvPicPr>
          <p:nvPr/>
        </p:nvPicPr>
        <p:blipFill>
          <a:blip r:embed="rId1"/>
          <a:stretch>
            <a:fillRect/>
          </a:stretch>
        </p:blipFill>
        <p:spPr>
          <a:xfrm>
            <a:off x="742950" y="2168525"/>
            <a:ext cx="4038600" cy="2692400"/>
          </a:xfrm>
          <a:prstGeom prst="roundRect">
            <a:avLst>
              <a:gd name="adj" fmla="val 2162"/>
            </a:avLst>
          </a:prstGeom>
        </p:spPr>
      </p:pic>
      <p:sp>
        <p:nvSpPr>
          <p:cNvPr id="11" name="矩形 10"/>
          <p:cNvSpPr>
            <a:spLocks noGrp="1"/>
          </p:cNvSpPr>
          <p:nvPr/>
        </p:nvSpPr>
        <p:spPr>
          <a:xfrm>
            <a:off x="5048250" y="1752600"/>
            <a:ext cx="1428750" cy="704850"/>
          </a:xfrm>
          <a:prstGeom prst="rect">
            <a:avLst/>
          </a:prstGeom>
          <a:solidFill>
            <a:srgbClr val="004282"/>
          </a:solidFill>
          <a:ln w="9525">
            <a:solidFill>
              <a:srgbClr val="D9E0E6"/>
            </a:solidFill>
            <a:prstDash val="solid"/>
          </a:ln>
        </p:spPr>
      </p:sp>
      <p:sp>
        <p:nvSpPr>
          <p:cNvPr id="12" name="矩形 11"/>
          <p:cNvSpPr>
            <a:spLocks noGrp="1"/>
          </p:cNvSpPr>
          <p:nvPr/>
        </p:nvSpPr>
        <p:spPr>
          <a:xfrm>
            <a:off x="5143500" y="1790700"/>
            <a:ext cx="1238250" cy="62865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Symbol</a:t>
            </a:r>
            <a:endParaRPr sz="1200" b="1">
              <a:solidFill>
                <a:srgbClr val="FFFFFF"/>
              </a:solidFill>
            </a:endParaRPr>
          </a:p>
        </p:txBody>
      </p:sp>
      <p:sp>
        <p:nvSpPr>
          <p:cNvPr id="13" name="矩形 12"/>
          <p:cNvSpPr>
            <a:spLocks noGrp="1"/>
          </p:cNvSpPr>
          <p:nvPr/>
        </p:nvSpPr>
        <p:spPr>
          <a:xfrm>
            <a:off x="6477000" y="1752600"/>
            <a:ext cx="3333750" cy="704850"/>
          </a:xfrm>
          <a:prstGeom prst="rect">
            <a:avLst/>
          </a:prstGeom>
          <a:solidFill>
            <a:srgbClr val="004282"/>
          </a:solidFill>
          <a:ln w="9525">
            <a:solidFill>
              <a:srgbClr val="D9E0E6"/>
            </a:solidFill>
            <a:prstDash val="solid"/>
          </a:ln>
        </p:spPr>
      </p:sp>
      <p:sp>
        <p:nvSpPr>
          <p:cNvPr id="14" name="矩形 13"/>
          <p:cNvSpPr>
            <a:spLocks noGrp="1"/>
          </p:cNvSpPr>
          <p:nvPr/>
        </p:nvSpPr>
        <p:spPr>
          <a:xfrm>
            <a:off x="6572250" y="1790700"/>
            <a:ext cx="3143250" cy="62865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Meaning</a:t>
            </a:r>
            <a:endParaRPr sz="1200" b="1">
              <a:solidFill>
                <a:srgbClr val="FFFFFF"/>
              </a:solidFill>
            </a:endParaRPr>
          </a:p>
        </p:txBody>
      </p:sp>
      <p:sp>
        <p:nvSpPr>
          <p:cNvPr id="15" name="矩形 14"/>
          <p:cNvSpPr>
            <a:spLocks noGrp="1"/>
          </p:cNvSpPr>
          <p:nvPr/>
        </p:nvSpPr>
        <p:spPr>
          <a:xfrm>
            <a:off x="9810750" y="1752600"/>
            <a:ext cx="1504950" cy="704850"/>
          </a:xfrm>
          <a:prstGeom prst="rect">
            <a:avLst/>
          </a:prstGeom>
          <a:solidFill>
            <a:srgbClr val="004282"/>
          </a:solidFill>
          <a:ln w="9525">
            <a:solidFill>
              <a:srgbClr val="D9E0E6"/>
            </a:solidFill>
            <a:prstDash val="solid"/>
          </a:ln>
        </p:spPr>
      </p:sp>
      <p:sp>
        <p:nvSpPr>
          <p:cNvPr id="16" name="矩形 15"/>
          <p:cNvSpPr>
            <a:spLocks noGrp="1"/>
          </p:cNvSpPr>
          <p:nvPr/>
        </p:nvSpPr>
        <p:spPr>
          <a:xfrm>
            <a:off x="9906000" y="1790700"/>
            <a:ext cx="1314450" cy="62865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Online?</a:t>
            </a:r>
            <a:endParaRPr sz="1200" b="1">
              <a:solidFill>
                <a:srgbClr val="FFFFFF"/>
              </a:solidFill>
            </a:endParaRPr>
          </a:p>
        </p:txBody>
      </p:sp>
      <p:sp>
        <p:nvSpPr>
          <p:cNvPr id="17" name="矩形 16"/>
          <p:cNvSpPr>
            <a:spLocks noGrp="1"/>
          </p:cNvSpPr>
          <p:nvPr/>
        </p:nvSpPr>
        <p:spPr>
          <a:xfrm>
            <a:off x="5048250" y="2457450"/>
            <a:ext cx="1428750" cy="704850"/>
          </a:xfrm>
          <a:prstGeom prst="rect">
            <a:avLst/>
          </a:prstGeom>
          <a:solidFill>
            <a:srgbClr val="FFFFFF"/>
          </a:solidFill>
          <a:ln w="9525">
            <a:solidFill>
              <a:srgbClr val="D9E0E6"/>
            </a:solidFill>
            <a:prstDash val="solid"/>
          </a:ln>
        </p:spPr>
      </p:sp>
      <p:sp>
        <p:nvSpPr>
          <p:cNvPr id="18" name="矩形 17"/>
          <p:cNvSpPr>
            <a:spLocks noGrp="1"/>
          </p:cNvSpPr>
          <p:nvPr/>
        </p:nvSpPr>
        <p:spPr>
          <a:xfrm>
            <a:off x="5143500" y="2495550"/>
            <a:ext cx="1238250" cy="6286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{b}, {p}, {f}</a:t>
            </a:r>
            <a:endParaRPr sz="1125" b="0">
              <a:solidFill>
                <a:srgbClr val="152538"/>
              </a:solidFill>
            </a:endParaRPr>
          </a:p>
        </p:txBody>
      </p:sp>
      <p:sp>
        <p:nvSpPr>
          <p:cNvPr id="19" name="矩形 18"/>
          <p:cNvSpPr>
            <a:spLocks noGrp="1"/>
          </p:cNvSpPr>
          <p:nvPr/>
        </p:nvSpPr>
        <p:spPr>
          <a:xfrm>
            <a:off x="6477000" y="2457450"/>
            <a:ext cx="3333750" cy="704850"/>
          </a:xfrm>
          <a:prstGeom prst="rect">
            <a:avLst/>
          </a:prstGeom>
          <a:solidFill>
            <a:srgbClr val="FFFFFF"/>
          </a:solidFill>
          <a:ln w="9525">
            <a:solidFill>
              <a:srgbClr val="D9E0E6"/>
            </a:solidFill>
            <a:prstDash val="solid"/>
          </a:ln>
        </p:spPr>
      </p:sp>
      <p:sp>
        <p:nvSpPr>
          <p:cNvPr id="20" name="矩形 19"/>
          <p:cNvSpPr>
            <a:spLocks noGrp="1"/>
          </p:cNvSpPr>
          <p:nvPr/>
        </p:nvSpPr>
        <p:spPr>
          <a:xfrm>
            <a:off x="6572250" y="2495550"/>
            <a:ext cx="3143250" cy="6286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base, fixture, interaction frames</a:t>
            </a:r>
            <a:endParaRPr sz="1125" b="0">
              <a:solidFill>
                <a:srgbClr val="152538"/>
              </a:solidFill>
            </a:endParaRPr>
          </a:p>
        </p:txBody>
      </p:sp>
      <p:sp>
        <p:nvSpPr>
          <p:cNvPr id="21" name="矩形 20"/>
          <p:cNvSpPr>
            <a:spLocks noGrp="1"/>
          </p:cNvSpPr>
          <p:nvPr/>
        </p:nvSpPr>
        <p:spPr>
          <a:xfrm>
            <a:off x="9810750" y="2457450"/>
            <a:ext cx="1504950" cy="704850"/>
          </a:xfrm>
          <a:prstGeom prst="rect">
            <a:avLst/>
          </a:prstGeom>
          <a:solidFill>
            <a:srgbClr val="FFFFFF"/>
          </a:solidFill>
          <a:ln w="9525">
            <a:solidFill>
              <a:srgbClr val="D9E0E6"/>
            </a:solidFill>
            <a:prstDash val="solid"/>
          </a:ln>
        </p:spPr>
      </p:sp>
      <p:sp>
        <p:nvSpPr>
          <p:cNvPr id="22" name="矩形 21"/>
          <p:cNvSpPr>
            <a:spLocks noGrp="1"/>
          </p:cNvSpPr>
          <p:nvPr/>
        </p:nvSpPr>
        <p:spPr>
          <a:xfrm>
            <a:off x="9906000" y="2495550"/>
            <a:ext cx="1314450" cy="6286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yes</a:t>
            </a:r>
            <a:endParaRPr sz="1125" b="0">
              <a:solidFill>
                <a:srgbClr val="152538"/>
              </a:solidFill>
            </a:endParaRPr>
          </a:p>
        </p:txBody>
      </p:sp>
      <p:sp>
        <p:nvSpPr>
          <p:cNvPr id="23" name="矩形 22"/>
          <p:cNvSpPr>
            <a:spLocks noGrp="1"/>
          </p:cNvSpPr>
          <p:nvPr/>
        </p:nvSpPr>
        <p:spPr>
          <a:xfrm>
            <a:off x="5048250" y="3162300"/>
            <a:ext cx="1428750" cy="704850"/>
          </a:xfrm>
          <a:prstGeom prst="rect">
            <a:avLst/>
          </a:prstGeom>
          <a:solidFill>
            <a:srgbClr val="E8F1F8"/>
          </a:solidFill>
          <a:ln w="9525">
            <a:solidFill>
              <a:srgbClr val="D9E0E6"/>
            </a:solidFill>
            <a:prstDash val="solid"/>
          </a:ln>
        </p:spPr>
      </p:sp>
      <p:sp>
        <p:nvSpPr>
          <p:cNvPr id="24" name="矩形 23"/>
          <p:cNvSpPr>
            <a:spLocks noGrp="1"/>
          </p:cNvSpPr>
          <p:nvPr/>
        </p:nvSpPr>
        <p:spPr>
          <a:xfrm>
            <a:off x="5143500" y="3200400"/>
            <a:ext cx="1238250" cy="6286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x₀, w, ϕ</a:t>
            </a:r>
            <a:endParaRPr sz="1125" b="0">
              <a:solidFill>
                <a:srgbClr val="152538"/>
              </a:solidFill>
            </a:endParaRPr>
          </a:p>
        </p:txBody>
      </p:sp>
      <p:sp>
        <p:nvSpPr>
          <p:cNvPr id="25" name="矩形 24"/>
          <p:cNvSpPr>
            <a:spLocks noGrp="1"/>
          </p:cNvSpPr>
          <p:nvPr/>
        </p:nvSpPr>
        <p:spPr>
          <a:xfrm>
            <a:off x="6477000" y="3162300"/>
            <a:ext cx="3333750" cy="704850"/>
          </a:xfrm>
          <a:prstGeom prst="rect">
            <a:avLst/>
          </a:prstGeom>
          <a:solidFill>
            <a:srgbClr val="E8F1F8"/>
          </a:solidFill>
          <a:ln w="9525">
            <a:solidFill>
              <a:srgbClr val="D9E0E6"/>
            </a:solidFill>
            <a:prstDash val="solid"/>
          </a:ln>
        </p:spPr>
      </p:sp>
      <p:sp>
        <p:nvSpPr>
          <p:cNvPr id="26" name="矩形 25"/>
          <p:cNvSpPr>
            <a:spLocks noGrp="1"/>
          </p:cNvSpPr>
          <p:nvPr/>
        </p:nvSpPr>
        <p:spPr>
          <a:xfrm>
            <a:off x="6572250" y="3200400"/>
            <a:ext cx="3143250" cy="6286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touchdown, wrench, probe phase</a:t>
            </a:r>
            <a:endParaRPr sz="1125" b="0">
              <a:solidFill>
                <a:srgbClr val="152538"/>
              </a:solidFill>
            </a:endParaRPr>
          </a:p>
        </p:txBody>
      </p:sp>
      <p:sp>
        <p:nvSpPr>
          <p:cNvPr id="27" name="矩形 26"/>
          <p:cNvSpPr>
            <a:spLocks noGrp="1"/>
          </p:cNvSpPr>
          <p:nvPr/>
        </p:nvSpPr>
        <p:spPr>
          <a:xfrm>
            <a:off x="9810750" y="3162300"/>
            <a:ext cx="1504950" cy="704850"/>
          </a:xfrm>
          <a:prstGeom prst="rect">
            <a:avLst/>
          </a:prstGeom>
          <a:solidFill>
            <a:srgbClr val="E8F1F8"/>
          </a:solidFill>
          <a:ln w="9525">
            <a:solidFill>
              <a:srgbClr val="D9E0E6"/>
            </a:solidFill>
            <a:prstDash val="solid"/>
          </a:ln>
        </p:spPr>
      </p:sp>
      <p:sp>
        <p:nvSpPr>
          <p:cNvPr id="28" name="矩形 27"/>
          <p:cNvSpPr>
            <a:spLocks noGrp="1"/>
          </p:cNvSpPr>
          <p:nvPr/>
        </p:nvSpPr>
        <p:spPr>
          <a:xfrm>
            <a:off x="9906000" y="3200400"/>
            <a:ext cx="1314450" cy="6286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yes</a:t>
            </a:r>
            <a:endParaRPr sz="1125" b="0">
              <a:solidFill>
                <a:srgbClr val="152538"/>
              </a:solidFill>
            </a:endParaRPr>
          </a:p>
        </p:txBody>
      </p:sp>
      <p:sp>
        <p:nvSpPr>
          <p:cNvPr id="29" name="矩形 28"/>
          <p:cNvSpPr>
            <a:spLocks noGrp="1"/>
          </p:cNvSpPr>
          <p:nvPr/>
        </p:nvSpPr>
        <p:spPr>
          <a:xfrm>
            <a:off x="5048250" y="3867150"/>
            <a:ext cx="1428750" cy="704850"/>
          </a:xfrm>
          <a:prstGeom prst="rect">
            <a:avLst/>
          </a:prstGeom>
          <a:solidFill>
            <a:srgbClr val="FFFFFF"/>
          </a:solidFill>
          <a:ln w="9525">
            <a:solidFill>
              <a:srgbClr val="D9E0E6"/>
            </a:solidFill>
            <a:prstDash val="solid"/>
          </a:ln>
        </p:spPr>
      </p:sp>
      <p:sp>
        <p:nvSpPr>
          <p:cNvPr id="30" name="矩形 29"/>
          <p:cNvSpPr>
            <a:spLocks noGrp="1"/>
          </p:cNvSpPr>
          <p:nvPr/>
        </p:nvSpPr>
        <p:spPr>
          <a:xfrm>
            <a:off x="5143500" y="3905250"/>
            <a:ext cx="1238250" cy="6286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C, contact labels</a:t>
            </a:r>
            <a:endParaRPr sz="1125" b="0">
              <a:solidFill>
                <a:srgbClr val="152538"/>
              </a:solidFill>
            </a:endParaRPr>
          </a:p>
        </p:txBody>
      </p:sp>
      <p:sp>
        <p:nvSpPr>
          <p:cNvPr id="31" name="矩形 30"/>
          <p:cNvSpPr>
            <a:spLocks noGrp="1"/>
          </p:cNvSpPr>
          <p:nvPr/>
        </p:nvSpPr>
        <p:spPr>
          <a:xfrm>
            <a:off x="6477000" y="3867150"/>
            <a:ext cx="3333750" cy="704850"/>
          </a:xfrm>
          <a:prstGeom prst="rect">
            <a:avLst/>
          </a:prstGeom>
          <a:solidFill>
            <a:srgbClr val="FFFFFF"/>
          </a:solidFill>
          <a:ln w="9525">
            <a:solidFill>
              <a:srgbClr val="D9E0E6"/>
            </a:solidFill>
            <a:prstDash val="solid"/>
          </a:ln>
        </p:spPr>
      </p:sp>
      <p:sp>
        <p:nvSpPr>
          <p:cNvPr id="32" name="矩形 31"/>
          <p:cNvSpPr>
            <a:spLocks noGrp="1"/>
          </p:cNvSpPr>
          <p:nvPr/>
        </p:nvSpPr>
        <p:spPr>
          <a:xfrm>
            <a:off x="6572250" y="3905250"/>
            <a:ext cx="3143250" cy="6286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true center / privileged labels</a:t>
            </a:r>
            <a:endParaRPr sz="1125" b="0">
              <a:solidFill>
                <a:srgbClr val="152538"/>
              </a:solidFill>
            </a:endParaRPr>
          </a:p>
        </p:txBody>
      </p:sp>
      <p:sp>
        <p:nvSpPr>
          <p:cNvPr id="33" name="矩形 32"/>
          <p:cNvSpPr>
            <a:spLocks noGrp="1"/>
          </p:cNvSpPr>
          <p:nvPr/>
        </p:nvSpPr>
        <p:spPr>
          <a:xfrm>
            <a:off x="9810750" y="3867150"/>
            <a:ext cx="1504950" cy="704850"/>
          </a:xfrm>
          <a:prstGeom prst="rect">
            <a:avLst/>
          </a:prstGeom>
          <a:solidFill>
            <a:srgbClr val="FFFFFF"/>
          </a:solidFill>
          <a:ln w="9525">
            <a:solidFill>
              <a:srgbClr val="D9E0E6"/>
            </a:solidFill>
            <a:prstDash val="solid"/>
          </a:ln>
        </p:spPr>
      </p:sp>
      <p:sp>
        <p:nvSpPr>
          <p:cNvPr id="34" name="矩形 33"/>
          <p:cNvSpPr>
            <a:spLocks noGrp="1"/>
          </p:cNvSpPr>
          <p:nvPr/>
        </p:nvSpPr>
        <p:spPr>
          <a:xfrm>
            <a:off x="9906000" y="3905250"/>
            <a:ext cx="1314450" cy="6286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no</a:t>
            </a:r>
            <a:endParaRPr sz="1125" b="0">
              <a:solidFill>
                <a:srgbClr val="152538"/>
              </a:solidFill>
            </a:endParaRPr>
          </a:p>
        </p:txBody>
      </p:sp>
      <p:sp>
        <p:nvSpPr>
          <p:cNvPr id="35" name="矩形 34"/>
          <p:cNvSpPr>
            <a:spLocks noGrp="1"/>
          </p:cNvSpPr>
          <p:nvPr/>
        </p:nvSpPr>
        <p:spPr>
          <a:xfrm>
            <a:off x="5048250" y="4572000"/>
            <a:ext cx="1428750" cy="704850"/>
          </a:xfrm>
          <a:prstGeom prst="rect">
            <a:avLst/>
          </a:prstGeom>
          <a:solidFill>
            <a:srgbClr val="E8F1F8"/>
          </a:solidFill>
          <a:ln w="9525">
            <a:solidFill>
              <a:srgbClr val="D9E0E6"/>
            </a:solidFill>
            <a:prstDash val="solid"/>
          </a:ln>
        </p:spPr>
      </p:sp>
      <p:sp>
        <p:nvSpPr>
          <p:cNvPr id="36" name="矩形 35"/>
          <p:cNvSpPr>
            <a:spLocks noGrp="1"/>
          </p:cNvSpPr>
          <p:nvPr/>
        </p:nvSpPr>
        <p:spPr>
          <a:xfrm>
            <a:off x="5143500" y="4610100"/>
            <a:ext cx="1238250" cy="6286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θ* and offline metrics</a:t>
            </a:r>
            <a:endParaRPr sz="1125" b="0">
              <a:solidFill>
                <a:srgbClr val="152538"/>
              </a:solidFill>
            </a:endParaRPr>
          </a:p>
        </p:txBody>
      </p:sp>
      <p:sp>
        <p:nvSpPr>
          <p:cNvPr id="37" name="矩形 36"/>
          <p:cNvSpPr>
            <a:spLocks noGrp="1"/>
          </p:cNvSpPr>
          <p:nvPr/>
        </p:nvSpPr>
        <p:spPr>
          <a:xfrm>
            <a:off x="6477000" y="4572000"/>
            <a:ext cx="3333750" cy="704850"/>
          </a:xfrm>
          <a:prstGeom prst="rect">
            <a:avLst/>
          </a:prstGeom>
          <a:solidFill>
            <a:srgbClr val="E8F1F8"/>
          </a:solidFill>
          <a:ln w="9525">
            <a:solidFill>
              <a:srgbClr val="D9E0E6"/>
            </a:solidFill>
            <a:prstDash val="solid"/>
          </a:ln>
        </p:spPr>
      </p:sp>
      <p:sp>
        <p:nvSpPr>
          <p:cNvPr id="38" name="矩形 37"/>
          <p:cNvSpPr>
            <a:spLocks noGrp="1"/>
          </p:cNvSpPr>
          <p:nvPr/>
        </p:nvSpPr>
        <p:spPr>
          <a:xfrm>
            <a:off x="6572250" y="4610100"/>
            <a:ext cx="3143250" cy="6286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grading references</a:t>
            </a:r>
            <a:endParaRPr sz="1125" b="0">
              <a:solidFill>
                <a:srgbClr val="152538"/>
              </a:solidFill>
            </a:endParaRPr>
          </a:p>
        </p:txBody>
      </p:sp>
      <p:sp>
        <p:nvSpPr>
          <p:cNvPr id="39" name="矩形 38"/>
          <p:cNvSpPr>
            <a:spLocks noGrp="1"/>
          </p:cNvSpPr>
          <p:nvPr/>
        </p:nvSpPr>
        <p:spPr>
          <a:xfrm>
            <a:off x="9810750" y="4572000"/>
            <a:ext cx="1504950" cy="704850"/>
          </a:xfrm>
          <a:prstGeom prst="rect">
            <a:avLst/>
          </a:prstGeom>
          <a:solidFill>
            <a:srgbClr val="E8F1F8"/>
          </a:solidFill>
          <a:ln w="9525">
            <a:solidFill>
              <a:srgbClr val="D9E0E6"/>
            </a:solidFill>
            <a:prstDash val="solid"/>
          </a:ln>
        </p:spPr>
      </p:sp>
      <p:sp>
        <p:nvSpPr>
          <p:cNvPr id="40" name="矩形 39"/>
          <p:cNvSpPr>
            <a:spLocks noGrp="1"/>
          </p:cNvSpPr>
          <p:nvPr/>
        </p:nvSpPr>
        <p:spPr>
          <a:xfrm>
            <a:off x="9906000" y="4610100"/>
            <a:ext cx="1314450" cy="6286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no</a:t>
            </a:r>
            <a:endParaRPr sz="1125" b="0">
              <a:solidFill>
                <a:srgbClr val="152538"/>
              </a:solidFill>
            </a:endParaRPr>
          </a:p>
        </p:txBody>
      </p:sp>
      <p:sp>
        <p:nvSpPr>
          <p:cNvPr id="41" name="矩形 40"/>
          <p:cNvSpPr>
            <a:spLocks noGrp="1"/>
          </p:cNvSpPr>
          <p:nvPr/>
        </p:nvSpPr>
        <p:spPr>
          <a:xfrm>
            <a:off x="647700" y="5943600"/>
            <a:ext cx="10839450" cy="400050"/>
          </a:xfrm>
          <a:prstGeom prst="rect">
            <a:avLst/>
          </a:prstGeom>
          <a:solidFill>
            <a:srgbClr val="FFF0E2"/>
          </a:solidFill>
          <a:ln w="0">
            <a:noFill/>
            <a:prstDash val="solid"/>
          </a:ln>
        </p:spPr>
      </p:sp>
      <p:sp>
        <p:nvSpPr>
          <p:cNvPr id="42" name="矩形 41"/>
          <p:cNvSpPr>
            <a:spLocks noGrp="1"/>
          </p:cNvSpPr>
          <p:nvPr/>
        </p:nvSpPr>
        <p:spPr>
          <a:xfrm>
            <a:off x="647700" y="5943600"/>
            <a:ext cx="57150" cy="400050"/>
          </a:xfrm>
          <a:prstGeom prst="rect">
            <a:avLst/>
          </a:prstGeom>
          <a:solidFill>
            <a:srgbClr val="ED7F0D"/>
          </a:solidFill>
          <a:ln w="0">
            <a:noFill/>
            <a:prstDash val="solid"/>
          </a:ln>
        </p:spPr>
      </p:sp>
      <p:sp>
        <p:nvSpPr>
          <p:cNvPr id="43" name="矩形 4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All planar geometry is expressed in {p}; learned outputs never receive privileged labels online.</a:t>
            </a:r>
            <a:endParaRPr sz="1275" b="1">
              <a:solidFill>
                <a:srgbClr val="152538"/>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40</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A02 · Verified-engagement predicate and failure taxonomy</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II-A · Eqs. (4)–(5)</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40</a:t>
            </a:r>
            <a:endParaRPr sz="825" b="1">
              <a:solidFill>
                <a:srgbClr val="004282"/>
              </a:solidFill>
            </a:endParaRPr>
          </a:p>
        </p:txBody>
      </p:sp>
      <p:sp>
        <p:nvSpPr>
          <p:cNvPr id="10" name="椭圆 9"/>
          <p:cNvSpPr>
            <a:spLocks noGrp="1"/>
          </p:cNvSpPr>
          <p:nvPr/>
        </p:nvSpPr>
        <p:spPr>
          <a:xfrm>
            <a:off x="952500" y="2019300"/>
            <a:ext cx="76200" cy="76200"/>
          </a:xfrm>
          <a:prstGeom prst="ellipse">
            <a:avLst/>
          </a:prstGeom>
          <a:solidFill>
            <a:srgbClr val="004282"/>
          </a:solidFill>
          <a:ln w="9525">
            <a:solidFill>
              <a:srgbClr val="004282"/>
            </a:solidFill>
            <a:prstDash val="solid"/>
          </a:ln>
        </p:spPr>
      </p:sp>
      <p:sp>
        <p:nvSpPr>
          <p:cNvPr id="11" name="矩形 10"/>
          <p:cNvSpPr>
            <a:spLocks noGrp="1"/>
          </p:cNvSpPr>
          <p:nvPr/>
        </p:nvSpPr>
        <p:spPr>
          <a:xfrm>
            <a:off x="1162050" y="1924050"/>
            <a:ext cx="9886950" cy="619125"/>
          </a:xfrm>
          <a:prstGeom prst="rect">
            <a:avLst/>
          </a:prstGeom>
          <a:noFill/>
          <a:ln w="0">
            <a:noFill/>
            <a:prstDash val="solid"/>
          </a:ln>
        </p:spPr>
        <p:txBody>
          <a:bodyPr anchor="t"/>
          <a:lstStyle/>
          <a:p>
            <a:pPr algn="l">
              <a:defRPr sz="1650" b="0">
                <a:solidFill>
                  <a:srgbClr val="152538"/>
                </a:solidFill>
              </a:defRPr>
            </a:pPr>
            <a:r>
              <a:rPr sz="1650" b="0">
                <a:solidFill>
                  <a:srgbClr val="152538"/>
                </a:solidFill>
              </a:rPr>
              <a:t>Verified: capture precedes bottom-mode dwell, safety holds, and tb ≤ 130 s.</a:t>
            </a:r>
            <a:endParaRPr sz="1650" b="0">
              <a:solidFill>
                <a:srgbClr val="152538"/>
              </a:solidFill>
            </a:endParaRPr>
          </a:p>
        </p:txBody>
      </p:sp>
      <p:sp>
        <p:nvSpPr>
          <p:cNvPr id="12" name="椭圆 11"/>
          <p:cNvSpPr>
            <a:spLocks noGrp="1"/>
          </p:cNvSpPr>
          <p:nvPr/>
        </p:nvSpPr>
        <p:spPr>
          <a:xfrm>
            <a:off x="952500" y="2771775"/>
            <a:ext cx="76200" cy="76200"/>
          </a:xfrm>
          <a:prstGeom prst="ellipse">
            <a:avLst/>
          </a:prstGeom>
          <a:solidFill>
            <a:srgbClr val="004282"/>
          </a:solidFill>
          <a:ln w="9525">
            <a:solidFill>
              <a:srgbClr val="004282"/>
            </a:solidFill>
            <a:prstDash val="solid"/>
          </a:ln>
        </p:spPr>
      </p:sp>
      <p:sp>
        <p:nvSpPr>
          <p:cNvPr id="13" name="矩形 12"/>
          <p:cNvSpPr>
            <a:spLocks noGrp="1"/>
          </p:cNvSpPr>
          <p:nvPr/>
        </p:nvSpPr>
        <p:spPr>
          <a:xfrm>
            <a:off x="1162050" y="2676525"/>
            <a:ext cx="9886950" cy="619125"/>
          </a:xfrm>
          <a:prstGeom prst="rect">
            <a:avLst/>
          </a:prstGeom>
          <a:noFill/>
          <a:ln w="0">
            <a:noFill/>
            <a:prstDash val="solid"/>
          </a:ln>
        </p:spPr>
        <p:txBody>
          <a:bodyPr anchor="t"/>
          <a:lstStyle/>
          <a:p>
            <a:pPr algn="l">
              <a:defRPr sz="1650" b="0">
                <a:solidFill>
                  <a:srgbClr val="152538"/>
                </a:solidFill>
              </a:defRPr>
            </a:pPr>
            <a:r>
              <a:rPr sz="1650" b="0">
                <a:solidFill>
                  <a:srgbClr val="152538"/>
                </a:solidFill>
              </a:rPr>
              <a:t>Conditional efficiency: Teng, planar path Lxy and contact-work proxy Ew are reported only for verified trials.</a:t>
            </a:r>
            <a:endParaRPr sz="1650" b="0">
              <a:solidFill>
                <a:srgbClr val="152538"/>
              </a:solidFill>
            </a:endParaRPr>
          </a:p>
        </p:txBody>
      </p:sp>
      <p:sp>
        <p:nvSpPr>
          <p:cNvPr id="14" name="椭圆 13"/>
          <p:cNvSpPr>
            <a:spLocks noGrp="1"/>
          </p:cNvSpPr>
          <p:nvPr/>
        </p:nvSpPr>
        <p:spPr>
          <a:xfrm>
            <a:off x="952500" y="3524250"/>
            <a:ext cx="76200" cy="76200"/>
          </a:xfrm>
          <a:prstGeom prst="ellipse">
            <a:avLst/>
          </a:prstGeom>
          <a:solidFill>
            <a:srgbClr val="004282"/>
          </a:solidFill>
          <a:ln w="9525">
            <a:solidFill>
              <a:srgbClr val="004282"/>
            </a:solidFill>
            <a:prstDash val="solid"/>
          </a:ln>
        </p:spPr>
      </p:sp>
      <p:sp>
        <p:nvSpPr>
          <p:cNvPr id="15" name="矩形 14"/>
          <p:cNvSpPr>
            <a:spLocks noGrp="1"/>
          </p:cNvSpPr>
          <p:nvPr/>
        </p:nvSpPr>
        <p:spPr>
          <a:xfrm>
            <a:off x="1162050" y="3429000"/>
            <a:ext cx="9886950" cy="619125"/>
          </a:xfrm>
          <a:prstGeom prst="rect">
            <a:avLst/>
          </a:prstGeom>
          <a:noFill/>
          <a:ln w="0">
            <a:noFill/>
            <a:prstDash val="solid"/>
          </a:ln>
        </p:spPr>
        <p:txBody>
          <a:bodyPr anchor="t"/>
          <a:lstStyle/>
          <a:p>
            <a:pPr algn="l">
              <a:defRPr sz="1650" b="0">
                <a:solidFill>
                  <a:srgbClr val="152538"/>
                </a:solidFill>
              </a:defRPr>
            </a:pPr>
            <a:r>
              <a:rPr sz="1650" b="0">
                <a:solidFill>
                  <a:srgbClr val="152538"/>
                </a:solidFill>
              </a:rPr>
              <a:t>Failure labels retain budget exhaustion, force-limit termination, protected termination and terminal rejection.</a:t>
            </a:r>
            <a:endParaRPr sz="1650" b="0">
              <a:solidFill>
                <a:srgbClr val="152538"/>
              </a:solidFill>
            </a:endParaRPr>
          </a:p>
        </p:txBody>
      </p:sp>
      <p:sp>
        <p:nvSpPr>
          <p:cNvPr id="16" name="圆角矩形 15"/>
          <p:cNvSpPr>
            <a:spLocks noGrp="1"/>
          </p:cNvSpPr>
          <p:nvPr/>
        </p:nvSpPr>
        <p:spPr>
          <a:xfrm>
            <a:off x="1714500" y="4514850"/>
            <a:ext cx="8763000" cy="781050"/>
          </a:xfrm>
          <a:prstGeom prst="roundRect">
            <a:avLst>
              <a:gd name="adj" fmla="val 9756"/>
            </a:avLst>
          </a:prstGeom>
          <a:solidFill>
            <a:srgbClr val="E8F1F8"/>
          </a:solidFill>
          <a:ln w="9525">
            <a:solidFill>
              <a:srgbClr val="004282"/>
            </a:solidFill>
            <a:prstDash val="solid"/>
          </a:ln>
        </p:spPr>
      </p:sp>
      <p:sp>
        <p:nvSpPr>
          <p:cNvPr id="17" name="矩形 16"/>
          <p:cNvSpPr>
            <a:spLocks noGrp="1"/>
          </p:cNvSpPr>
          <p:nvPr/>
        </p:nvSpPr>
        <p:spPr>
          <a:xfrm>
            <a:off x="1952625" y="4695825"/>
            <a:ext cx="8286750" cy="419100"/>
          </a:xfrm>
          <a:prstGeom prst="rect">
            <a:avLst/>
          </a:prstGeom>
          <a:noFill/>
          <a:ln w="0">
            <a:noFill/>
            <a:prstDash val="solid"/>
          </a:ln>
        </p:spPr>
        <p:txBody>
          <a:bodyPr anchor="ctr"/>
          <a:lstStyle/>
          <a:p>
            <a:pPr algn="ctr">
              <a:defRPr sz="1875" b="1">
                <a:solidFill>
                  <a:srgbClr val="004282"/>
                </a:solidFill>
              </a:defRPr>
            </a:pPr>
            <a:r>
              <a:rPr sz="1875" b="1">
                <a:solidFill>
                  <a:srgbClr val="004282"/>
                </a:solidFill>
              </a:rPr>
              <a:t>V = {∃ tc &lt; tb ≤ Tmax : γcap(tc) γdwell(tb) γsafe[0,tb] = 1}</a:t>
            </a:r>
            <a:endParaRPr sz="1875" b="1">
              <a:solidFill>
                <a:srgbClr val="004282"/>
              </a:solidFill>
            </a:endParaRPr>
          </a:p>
        </p:txBody>
      </p:sp>
      <p:sp>
        <p:nvSpPr>
          <p:cNvPr id="18" name="矩形 17"/>
          <p:cNvSpPr>
            <a:spLocks noGrp="1"/>
          </p:cNvSpPr>
          <p:nvPr/>
        </p:nvSpPr>
        <p:spPr>
          <a:xfrm>
            <a:off x="647700" y="5943600"/>
            <a:ext cx="10839450" cy="400050"/>
          </a:xfrm>
          <a:prstGeom prst="rect">
            <a:avLst/>
          </a:prstGeom>
          <a:solidFill>
            <a:srgbClr val="FFF0E2"/>
          </a:solidFill>
          <a:ln w="0">
            <a:noFill/>
            <a:prstDash val="solid"/>
          </a:ln>
        </p:spPr>
      </p:sp>
      <p:sp>
        <p:nvSpPr>
          <p:cNvPr id="19" name="矩形 18"/>
          <p:cNvSpPr>
            <a:spLocks noGrp="1"/>
          </p:cNvSpPr>
          <p:nvPr/>
        </p:nvSpPr>
        <p:spPr>
          <a:xfrm>
            <a:off x="647700" y="5943600"/>
            <a:ext cx="57150" cy="400050"/>
          </a:xfrm>
          <a:prstGeom prst="rect">
            <a:avLst/>
          </a:prstGeom>
          <a:solidFill>
            <a:srgbClr val="ED7F0D"/>
          </a:solidFill>
          <a:ln w="0">
            <a:noFill/>
            <a:prstDash val="solid"/>
          </a:ln>
        </p:spPr>
      </p:sp>
      <p:sp>
        <p:nvSpPr>
          <p:cNvPr id="20" name="矩形 19"/>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Contact-work proxy is not wear and not energy consumption.</a:t>
            </a:r>
            <a:endParaRPr sz="1275" b="1">
              <a:solidFill>
                <a:srgbClr val="152538"/>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41</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A03 · Model split, symmetry, augmentation and calibration lineage</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III-A · IV-E</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41</a:t>
            </a:r>
            <a:endParaRPr sz="825" b="1">
              <a:solidFill>
                <a:srgbClr val="004282"/>
              </a:solidFill>
            </a:endParaRPr>
          </a:p>
        </p:txBody>
      </p:sp>
      <p:sp>
        <p:nvSpPr>
          <p:cNvPr id="10" name="圆角矩形 9"/>
          <p:cNvSpPr>
            <a:spLocks noGrp="1"/>
          </p:cNvSpPr>
          <p:nvPr/>
        </p:nvSpPr>
        <p:spPr>
          <a:xfrm>
            <a:off x="762000" y="1771650"/>
            <a:ext cx="2952750" cy="914400"/>
          </a:xfrm>
          <a:prstGeom prst="roundRect">
            <a:avLst>
              <a:gd name="adj" fmla="val 8333"/>
            </a:avLst>
          </a:prstGeom>
          <a:solidFill>
            <a:srgbClr val="E8F1F8"/>
          </a:solidFill>
          <a:ln w="19050">
            <a:solidFill>
              <a:srgbClr val="004282"/>
            </a:solidFill>
            <a:prstDash val="solid"/>
          </a:ln>
        </p:spPr>
      </p:sp>
      <p:sp>
        <p:nvSpPr>
          <p:cNvPr id="11" name="矩形 10"/>
          <p:cNvSpPr>
            <a:spLocks noGrp="1"/>
          </p:cNvSpPr>
          <p:nvPr/>
        </p:nvSpPr>
        <p:spPr>
          <a:xfrm>
            <a:off x="952500" y="1933575"/>
            <a:ext cx="2571750" cy="571500"/>
          </a:xfrm>
          <a:prstGeom prst="rect">
            <a:avLst/>
          </a:prstGeom>
          <a:noFill/>
          <a:ln w="0">
            <a:noFill/>
            <a:prstDash val="solid"/>
          </a:ln>
        </p:spPr>
        <p:txBody>
          <a:bodyPr anchor="ctr"/>
          <a:lstStyle/>
          <a:p>
            <a:pPr algn="ctr">
              <a:defRPr sz="1575" b="1">
                <a:solidFill>
                  <a:srgbClr val="004282"/>
                </a:solidFill>
              </a:defRPr>
            </a:pPr>
            <a:r>
              <a:rPr sz="1575" b="1">
                <a:solidFill>
                  <a:srgbClr val="004282"/>
                </a:solidFill>
              </a:rPr>
              <a:t>phase-indexed scans</a:t>
            </a:r>
            <a:endParaRPr sz="1575" b="1">
              <a:solidFill>
                <a:srgbClr val="004282"/>
              </a:solidFill>
            </a:endParaRPr>
          </a:p>
        </p:txBody>
      </p:sp>
      <p:sp>
        <p:nvSpPr>
          <p:cNvPr id="12" name="右箭头 11"/>
          <p:cNvSpPr>
            <a:spLocks noGrp="1"/>
          </p:cNvSpPr>
          <p:nvPr/>
        </p:nvSpPr>
        <p:spPr>
          <a:xfrm>
            <a:off x="3790950" y="2105025"/>
            <a:ext cx="428625" cy="266700"/>
          </a:xfrm>
          <a:prstGeom prst="rightArrow">
            <a:avLst/>
          </a:prstGeom>
          <a:solidFill>
            <a:srgbClr val="ED7F0D"/>
          </a:solidFill>
          <a:ln w="0">
            <a:noFill/>
            <a:prstDash val="solid"/>
          </a:ln>
        </p:spPr>
      </p:sp>
      <p:sp>
        <p:nvSpPr>
          <p:cNvPr id="13" name="圆角矩形 12"/>
          <p:cNvSpPr>
            <a:spLocks noGrp="1"/>
          </p:cNvSpPr>
          <p:nvPr/>
        </p:nvSpPr>
        <p:spPr>
          <a:xfrm>
            <a:off x="4333875" y="1771650"/>
            <a:ext cx="2952750" cy="914400"/>
          </a:xfrm>
          <a:prstGeom prst="roundRect">
            <a:avLst>
              <a:gd name="adj" fmla="val 8333"/>
            </a:avLst>
          </a:prstGeom>
          <a:solidFill>
            <a:srgbClr val="E8F1F8"/>
          </a:solidFill>
          <a:ln w="19050">
            <a:solidFill>
              <a:srgbClr val="004282"/>
            </a:solidFill>
            <a:prstDash val="solid"/>
          </a:ln>
        </p:spPr>
      </p:sp>
      <p:sp>
        <p:nvSpPr>
          <p:cNvPr id="14" name="矩形 13"/>
          <p:cNvSpPr>
            <a:spLocks noGrp="1"/>
          </p:cNvSpPr>
          <p:nvPr/>
        </p:nvSpPr>
        <p:spPr>
          <a:xfrm>
            <a:off x="4524375" y="1933575"/>
            <a:ext cx="2571750" cy="571500"/>
          </a:xfrm>
          <a:prstGeom prst="rect">
            <a:avLst/>
          </a:prstGeom>
          <a:noFill/>
          <a:ln w="0">
            <a:noFill/>
            <a:prstDash val="solid"/>
          </a:ln>
        </p:spPr>
        <p:txBody>
          <a:bodyPr anchor="ctr"/>
          <a:lstStyle/>
          <a:p>
            <a:pPr algn="ctr">
              <a:defRPr sz="1575" b="1">
                <a:solidFill>
                  <a:srgbClr val="004282"/>
                </a:solidFill>
              </a:defRPr>
            </a:pPr>
            <a:r>
              <a:rPr sz="1575" b="1">
                <a:solidFill>
                  <a:srgbClr val="004282"/>
                </a:solidFill>
              </a:rPr>
              <a:t>sixfold symmetry split</a:t>
            </a:r>
            <a:endParaRPr sz="1575" b="1">
              <a:solidFill>
                <a:srgbClr val="004282"/>
              </a:solidFill>
            </a:endParaRPr>
          </a:p>
        </p:txBody>
      </p:sp>
      <p:sp>
        <p:nvSpPr>
          <p:cNvPr id="15" name="右箭头 14"/>
          <p:cNvSpPr>
            <a:spLocks noGrp="1"/>
          </p:cNvSpPr>
          <p:nvPr/>
        </p:nvSpPr>
        <p:spPr>
          <a:xfrm>
            <a:off x="7362825" y="2105025"/>
            <a:ext cx="428625" cy="266700"/>
          </a:xfrm>
          <a:prstGeom prst="rightArrow">
            <a:avLst/>
          </a:prstGeom>
          <a:solidFill>
            <a:srgbClr val="ED7F0D"/>
          </a:solidFill>
          <a:ln w="0">
            <a:noFill/>
            <a:prstDash val="solid"/>
          </a:ln>
        </p:spPr>
      </p:sp>
      <p:sp>
        <p:nvSpPr>
          <p:cNvPr id="16" name="圆角矩形 15"/>
          <p:cNvSpPr>
            <a:spLocks noGrp="1"/>
          </p:cNvSpPr>
          <p:nvPr/>
        </p:nvSpPr>
        <p:spPr>
          <a:xfrm>
            <a:off x="7905750" y="1771650"/>
            <a:ext cx="2952750" cy="914400"/>
          </a:xfrm>
          <a:prstGeom prst="roundRect">
            <a:avLst>
              <a:gd name="adj" fmla="val 8333"/>
            </a:avLst>
          </a:prstGeom>
          <a:solidFill>
            <a:srgbClr val="E8F1F8"/>
          </a:solidFill>
          <a:ln w="19050">
            <a:solidFill>
              <a:srgbClr val="004282"/>
            </a:solidFill>
            <a:prstDash val="solid"/>
          </a:ln>
        </p:spPr>
      </p:sp>
      <p:sp>
        <p:nvSpPr>
          <p:cNvPr id="17" name="矩形 16"/>
          <p:cNvSpPr>
            <a:spLocks noGrp="1"/>
          </p:cNvSpPr>
          <p:nvPr/>
        </p:nvSpPr>
        <p:spPr>
          <a:xfrm>
            <a:off x="8096250" y="1933575"/>
            <a:ext cx="2571750" cy="571500"/>
          </a:xfrm>
          <a:prstGeom prst="rect">
            <a:avLst/>
          </a:prstGeom>
          <a:noFill/>
          <a:ln w="0">
            <a:noFill/>
            <a:prstDash val="solid"/>
          </a:ln>
        </p:spPr>
        <p:txBody>
          <a:bodyPr anchor="ctr"/>
          <a:lstStyle/>
          <a:p>
            <a:pPr algn="ctr">
              <a:defRPr sz="1575" b="1">
                <a:solidFill>
                  <a:srgbClr val="004282"/>
                </a:solidFill>
              </a:defRPr>
            </a:pPr>
            <a:r>
              <a:rPr sz="1575" b="1">
                <a:solidFill>
                  <a:srgbClr val="004282"/>
                </a:solidFill>
              </a:rPr>
              <a:t>train / validation / calibration</a:t>
            </a:r>
            <a:endParaRPr sz="1575" b="1">
              <a:solidFill>
                <a:srgbClr val="004282"/>
              </a:solidFill>
            </a:endParaRPr>
          </a:p>
        </p:txBody>
      </p:sp>
      <p:sp>
        <p:nvSpPr>
          <p:cNvPr id="18" name="圆角矩形 17"/>
          <p:cNvSpPr>
            <a:spLocks noGrp="1"/>
          </p:cNvSpPr>
          <p:nvPr/>
        </p:nvSpPr>
        <p:spPr>
          <a:xfrm>
            <a:off x="762000" y="3533775"/>
            <a:ext cx="2952750" cy="914400"/>
          </a:xfrm>
          <a:prstGeom prst="roundRect">
            <a:avLst>
              <a:gd name="adj" fmla="val 8333"/>
            </a:avLst>
          </a:prstGeom>
          <a:solidFill>
            <a:srgbClr val="FFFFFF"/>
          </a:solidFill>
          <a:ln w="19050">
            <a:solidFill>
              <a:srgbClr val="009E73"/>
            </a:solidFill>
            <a:prstDash val="solid"/>
          </a:ln>
        </p:spPr>
      </p:sp>
      <p:sp>
        <p:nvSpPr>
          <p:cNvPr id="19" name="矩形 18"/>
          <p:cNvSpPr>
            <a:spLocks noGrp="1"/>
          </p:cNvSpPr>
          <p:nvPr/>
        </p:nvSpPr>
        <p:spPr>
          <a:xfrm>
            <a:off x="952500" y="3695700"/>
            <a:ext cx="2571750" cy="571500"/>
          </a:xfrm>
          <a:prstGeom prst="rect">
            <a:avLst/>
          </a:prstGeom>
          <a:noFill/>
          <a:ln w="0">
            <a:noFill/>
            <a:prstDash val="solid"/>
          </a:ln>
        </p:spPr>
        <p:txBody>
          <a:bodyPr anchor="ctr"/>
          <a:lstStyle/>
          <a:p>
            <a:pPr algn="ctr">
              <a:defRPr sz="1575" b="1">
                <a:solidFill>
                  <a:srgbClr val="009E73"/>
                </a:solidFill>
              </a:defRPr>
            </a:pPr>
            <a:r>
              <a:rPr sz="1575" b="1">
                <a:solidFill>
                  <a:srgbClr val="009E73"/>
                </a:solidFill>
              </a:rPr>
              <a:t>3 independently trained members</a:t>
            </a:r>
            <a:endParaRPr sz="1575" b="1">
              <a:solidFill>
                <a:srgbClr val="009E73"/>
              </a:solidFill>
            </a:endParaRPr>
          </a:p>
        </p:txBody>
      </p:sp>
      <p:sp>
        <p:nvSpPr>
          <p:cNvPr id="20" name="右箭头 19"/>
          <p:cNvSpPr>
            <a:spLocks noGrp="1"/>
          </p:cNvSpPr>
          <p:nvPr/>
        </p:nvSpPr>
        <p:spPr>
          <a:xfrm>
            <a:off x="3790950" y="3867150"/>
            <a:ext cx="428625" cy="266700"/>
          </a:xfrm>
          <a:prstGeom prst="rightArrow">
            <a:avLst/>
          </a:prstGeom>
          <a:solidFill>
            <a:srgbClr val="ED7F0D"/>
          </a:solidFill>
          <a:ln w="0">
            <a:noFill/>
            <a:prstDash val="solid"/>
          </a:ln>
        </p:spPr>
      </p:sp>
      <p:sp>
        <p:nvSpPr>
          <p:cNvPr id="21" name="圆角矩形 20"/>
          <p:cNvSpPr>
            <a:spLocks noGrp="1"/>
          </p:cNvSpPr>
          <p:nvPr/>
        </p:nvSpPr>
        <p:spPr>
          <a:xfrm>
            <a:off x="4333875" y="3533775"/>
            <a:ext cx="2952750" cy="914400"/>
          </a:xfrm>
          <a:prstGeom prst="roundRect">
            <a:avLst>
              <a:gd name="adj" fmla="val 8333"/>
            </a:avLst>
          </a:prstGeom>
          <a:solidFill>
            <a:srgbClr val="FFFFFF"/>
          </a:solidFill>
          <a:ln w="19050">
            <a:solidFill>
              <a:srgbClr val="009E73"/>
            </a:solidFill>
            <a:prstDash val="solid"/>
          </a:ln>
        </p:spPr>
      </p:sp>
      <p:sp>
        <p:nvSpPr>
          <p:cNvPr id="22" name="矩形 21"/>
          <p:cNvSpPr>
            <a:spLocks noGrp="1"/>
          </p:cNvSpPr>
          <p:nvPr/>
        </p:nvSpPr>
        <p:spPr>
          <a:xfrm>
            <a:off x="4524375" y="3695700"/>
            <a:ext cx="2571750" cy="571500"/>
          </a:xfrm>
          <a:prstGeom prst="rect">
            <a:avLst/>
          </a:prstGeom>
          <a:noFill/>
          <a:ln w="0">
            <a:noFill/>
            <a:prstDash val="solid"/>
          </a:ln>
        </p:spPr>
        <p:txBody>
          <a:bodyPr anchor="ctr"/>
          <a:lstStyle/>
          <a:p>
            <a:pPr algn="ctr">
              <a:defRPr sz="1575" b="1">
                <a:solidFill>
                  <a:srgbClr val="009E73"/>
                </a:solidFill>
              </a:defRPr>
            </a:pPr>
            <a:r>
              <a:rPr sz="1575" b="1">
                <a:solidFill>
                  <a:srgbClr val="009E73"/>
                </a:solidFill>
              </a:rPr>
              <a:t>temperature calibration</a:t>
            </a:r>
            <a:endParaRPr sz="1575" b="1">
              <a:solidFill>
                <a:srgbClr val="009E73"/>
              </a:solidFill>
            </a:endParaRPr>
          </a:p>
        </p:txBody>
      </p:sp>
      <p:sp>
        <p:nvSpPr>
          <p:cNvPr id="23" name="右箭头 22"/>
          <p:cNvSpPr>
            <a:spLocks noGrp="1"/>
          </p:cNvSpPr>
          <p:nvPr/>
        </p:nvSpPr>
        <p:spPr>
          <a:xfrm>
            <a:off x="7362825" y="3867150"/>
            <a:ext cx="428625" cy="266700"/>
          </a:xfrm>
          <a:prstGeom prst="rightArrow">
            <a:avLst/>
          </a:prstGeom>
          <a:solidFill>
            <a:srgbClr val="ED7F0D"/>
          </a:solidFill>
          <a:ln w="0">
            <a:noFill/>
            <a:prstDash val="solid"/>
          </a:ln>
        </p:spPr>
      </p:sp>
      <p:sp>
        <p:nvSpPr>
          <p:cNvPr id="24" name="圆角矩形 23"/>
          <p:cNvSpPr>
            <a:spLocks noGrp="1"/>
          </p:cNvSpPr>
          <p:nvPr/>
        </p:nvSpPr>
        <p:spPr>
          <a:xfrm>
            <a:off x="7905750" y="3533775"/>
            <a:ext cx="2952750" cy="914400"/>
          </a:xfrm>
          <a:prstGeom prst="roundRect">
            <a:avLst>
              <a:gd name="adj" fmla="val 8333"/>
            </a:avLst>
          </a:prstGeom>
          <a:solidFill>
            <a:srgbClr val="FFFFFF"/>
          </a:solidFill>
          <a:ln w="19050">
            <a:solidFill>
              <a:srgbClr val="009E73"/>
            </a:solidFill>
            <a:prstDash val="solid"/>
          </a:ln>
        </p:spPr>
      </p:sp>
      <p:sp>
        <p:nvSpPr>
          <p:cNvPr id="25" name="矩形 24"/>
          <p:cNvSpPr>
            <a:spLocks noGrp="1"/>
          </p:cNvSpPr>
          <p:nvPr/>
        </p:nvSpPr>
        <p:spPr>
          <a:xfrm>
            <a:off x="8096250" y="3695700"/>
            <a:ext cx="2571750" cy="571500"/>
          </a:xfrm>
          <a:prstGeom prst="rect">
            <a:avLst/>
          </a:prstGeom>
          <a:noFill/>
          <a:ln w="0">
            <a:noFill/>
            <a:prstDash val="solid"/>
          </a:ln>
        </p:spPr>
        <p:txBody>
          <a:bodyPr anchor="ctr"/>
          <a:lstStyle/>
          <a:p>
            <a:pPr algn="ctr">
              <a:defRPr sz="1575" b="1">
                <a:solidFill>
                  <a:srgbClr val="009E73"/>
                </a:solidFill>
              </a:defRPr>
            </a:pPr>
            <a:r>
              <a:rPr sz="1575" b="1">
                <a:solidFill>
                  <a:srgbClr val="009E73"/>
                </a:solidFill>
              </a:rPr>
              <a:t>frozen evaluation lineage</a:t>
            </a:r>
            <a:endParaRPr sz="1575" b="1">
              <a:solidFill>
                <a:srgbClr val="009E73"/>
              </a:solidFill>
            </a:endParaRPr>
          </a:p>
        </p:txBody>
      </p:sp>
      <p:sp>
        <p:nvSpPr>
          <p:cNvPr id="26" name="下箭头 25"/>
          <p:cNvSpPr>
            <a:spLocks noGrp="1"/>
          </p:cNvSpPr>
          <p:nvPr/>
        </p:nvSpPr>
        <p:spPr>
          <a:xfrm>
            <a:off x="5695950" y="2781300"/>
            <a:ext cx="419100" cy="457200"/>
          </a:xfrm>
          <a:prstGeom prst="downArrow">
            <a:avLst/>
          </a:prstGeom>
          <a:solidFill>
            <a:srgbClr val="ED7F0D"/>
          </a:solidFill>
          <a:ln w="0">
            <a:noFill/>
            <a:prstDash val="solid"/>
          </a:ln>
        </p:spPr>
      </p:sp>
      <p:sp>
        <p:nvSpPr>
          <p:cNvPr id="27" name="矩形 26"/>
          <p:cNvSpPr>
            <a:spLocks noGrp="1"/>
          </p:cNvSpPr>
          <p:nvPr/>
        </p:nvSpPr>
        <p:spPr>
          <a:xfrm>
            <a:off x="647700" y="5943600"/>
            <a:ext cx="10839450" cy="400050"/>
          </a:xfrm>
          <a:prstGeom prst="rect">
            <a:avLst/>
          </a:prstGeom>
          <a:solidFill>
            <a:srgbClr val="FFF0E2"/>
          </a:solidFill>
          <a:ln w="0">
            <a:noFill/>
            <a:prstDash val="solid"/>
          </a:ln>
        </p:spPr>
      </p:sp>
      <p:sp>
        <p:nvSpPr>
          <p:cNvPr id="28" name="矩形 27"/>
          <p:cNvSpPr>
            <a:spLocks noGrp="1"/>
          </p:cNvSpPr>
          <p:nvPr/>
        </p:nvSpPr>
        <p:spPr>
          <a:xfrm>
            <a:off x="647700" y="5943600"/>
            <a:ext cx="57150" cy="400050"/>
          </a:xfrm>
          <a:prstGeom prst="rect">
            <a:avLst/>
          </a:prstGeom>
          <a:solidFill>
            <a:srgbClr val="ED7F0D"/>
          </a:solidFill>
          <a:ln w="0">
            <a:noFill/>
            <a:prstDash val="solid"/>
          </a:ln>
        </p:spPr>
      </p:sp>
      <p:sp>
        <p:nvSpPr>
          <p:cNvPr id="29" name="矩形 28"/>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Calibration data tune uncertainty interfaces; they do not become online privileged state.</a:t>
            </a:r>
            <a:endParaRPr sz="1275" b="1">
              <a:solidFill>
                <a:srgbClr val="152538"/>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42</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A04 · Posterior diagnostics beyond top-1 accuracy</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III-A · Eqs. (9)–(12)</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42</a:t>
            </a:r>
            <a:endParaRPr sz="825" b="1">
              <a:solidFill>
                <a:srgbClr val="004282"/>
              </a:solidFill>
            </a:endParaRPr>
          </a:p>
        </p:txBody>
      </p:sp>
      <p:sp>
        <p:nvSpPr>
          <p:cNvPr id="10" name="矩形 9"/>
          <p:cNvSpPr>
            <a:spLocks noGrp="1"/>
          </p:cNvSpPr>
          <p:nvPr/>
        </p:nvSpPr>
        <p:spPr>
          <a:xfrm>
            <a:off x="781050" y="1752600"/>
            <a:ext cx="2381250" cy="619125"/>
          </a:xfrm>
          <a:prstGeom prst="rect">
            <a:avLst/>
          </a:prstGeom>
          <a:solidFill>
            <a:srgbClr val="004282"/>
          </a:solidFill>
          <a:ln w="9525">
            <a:solidFill>
              <a:srgbClr val="D9E0E6"/>
            </a:solidFill>
            <a:prstDash val="solid"/>
          </a:ln>
        </p:spPr>
      </p:sp>
      <p:sp>
        <p:nvSpPr>
          <p:cNvPr id="11" name="矩形 10"/>
          <p:cNvSpPr>
            <a:spLocks noGrp="1"/>
          </p:cNvSpPr>
          <p:nvPr/>
        </p:nvSpPr>
        <p:spPr>
          <a:xfrm>
            <a:off x="876300" y="1790700"/>
            <a:ext cx="2190750" cy="542925"/>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Diagnostic</a:t>
            </a:r>
            <a:endParaRPr sz="1200" b="1">
              <a:solidFill>
                <a:srgbClr val="FFFFFF"/>
              </a:solidFill>
            </a:endParaRPr>
          </a:p>
        </p:txBody>
      </p:sp>
      <p:sp>
        <p:nvSpPr>
          <p:cNvPr id="12" name="矩形 11"/>
          <p:cNvSpPr>
            <a:spLocks noGrp="1"/>
          </p:cNvSpPr>
          <p:nvPr/>
        </p:nvSpPr>
        <p:spPr>
          <a:xfrm>
            <a:off x="3162300" y="1752600"/>
            <a:ext cx="4762500" cy="619125"/>
          </a:xfrm>
          <a:prstGeom prst="rect">
            <a:avLst/>
          </a:prstGeom>
          <a:solidFill>
            <a:srgbClr val="004282"/>
          </a:solidFill>
          <a:ln w="9525">
            <a:solidFill>
              <a:srgbClr val="D9E0E6"/>
            </a:solidFill>
            <a:prstDash val="solid"/>
          </a:ln>
        </p:spPr>
      </p:sp>
      <p:sp>
        <p:nvSpPr>
          <p:cNvPr id="13" name="矩形 12"/>
          <p:cNvSpPr>
            <a:spLocks noGrp="1"/>
          </p:cNvSpPr>
          <p:nvPr/>
        </p:nvSpPr>
        <p:spPr>
          <a:xfrm>
            <a:off x="3257550" y="1790700"/>
            <a:ext cx="4572000" cy="542925"/>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Question answered</a:t>
            </a:r>
            <a:endParaRPr sz="1200" b="1">
              <a:solidFill>
                <a:srgbClr val="FFFFFF"/>
              </a:solidFill>
            </a:endParaRPr>
          </a:p>
        </p:txBody>
      </p:sp>
      <p:sp>
        <p:nvSpPr>
          <p:cNvPr id="14" name="矩形 13"/>
          <p:cNvSpPr>
            <a:spLocks noGrp="1"/>
          </p:cNvSpPr>
          <p:nvPr/>
        </p:nvSpPr>
        <p:spPr>
          <a:xfrm>
            <a:off x="7924800" y="1752600"/>
            <a:ext cx="3429000" cy="619125"/>
          </a:xfrm>
          <a:prstGeom prst="rect">
            <a:avLst/>
          </a:prstGeom>
          <a:solidFill>
            <a:srgbClr val="004282"/>
          </a:solidFill>
          <a:ln w="9525">
            <a:solidFill>
              <a:srgbClr val="D9E0E6"/>
            </a:solidFill>
            <a:prstDash val="solid"/>
          </a:ln>
        </p:spPr>
      </p:sp>
      <p:sp>
        <p:nvSpPr>
          <p:cNvPr id="15" name="矩形 14"/>
          <p:cNvSpPr>
            <a:spLocks noGrp="1"/>
          </p:cNvSpPr>
          <p:nvPr/>
        </p:nvSpPr>
        <p:spPr>
          <a:xfrm>
            <a:off x="8020050" y="1790700"/>
            <a:ext cx="3238500" cy="542925"/>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Not equivalent to</a:t>
            </a:r>
            <a:endParaRPr sz="1200" b="1">
              <a:solidFill>
                <a:srgbClr val="FFFFFF"/>
              </a:solidFill>
            </a:endParaRPr>
          </a:p>
        </p:txBody>
      </p:sp>
      <p:sp>
        <p:nvSpPr>
          <p:cNvPr id="16" name="矩形 15"/>
          <p:cNvSpPr>
            <a:spLocks noGrp="1"/>
          </p:cNvSpPr>
          <p:nvPr/>
        </p:nvSpPr>
        <p:spPr>
          <a:xfrm>
            <a:off x="781050" y="2371725"/>
            <a:ext cx="2381250" cy="619125"/>
          </a:xfrm>
          <a:prstGeom prst="rect">
            <a:avLst/>
          </a:prstGeom>
          <a:solidFill>
            <a:srgbClr val="FFFFFF"/>
          </a:solidFill>
          <a:ln w="9525">
            <a:solidFill>
              <a:srgbClr val="D9E0E6"/>
            </a:solidFill>
            <a:prstDash val="solid"/>
          </a:ln>
        </p:spPr>
      </p:sp>
      <p:sp>
        <p:nvSpPr>
          <p:cNvPr id="17" name="矩形 16"/>
          <p:cNvSpPr>
            <a:spLocks noGrp="1"/>
          </p:cNvSpPr>
          <p:nvPr/>
        </p:nvSpPr>
        <p:spPr>
          <a:xfrm>
            <a:off x="876300" y="2409825"/>
            <a:ext cx="219075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κ</a:t>
            </a:r>
            <a:endParaRPr sz="1125" b="0">
              <a:solidFill>
                <a:srgbClr val="152538"/>
              </a:solidFill>
            </a:endParaRPr>
          </a:p>
        </p:txBody>
      </p:sp>
      <p:sp>
        <p:nvSpPr>
          <p:cNvPr id="18" name="矩形 17"/>
          <p:cNvSpPr>
            <a:spLocks noGrp="1"/>
          </p:cNvSpPr>
          <p:nvPr/>
        </p:nvSpPr>
        <p:spPr>
          <a:xfrm>
            <a:off x="3162300" y="2371725"/>
            <a:ext cx="4762500" cy="619125"/>
          </a:xfrm>
          <a:prstGeom prst="rect">
            <a:avLst/>
          </a:prstGeom>
          <a:solidFill>
            <a:srgbClr val="FFFFFF"/>
          </a:solidFill>
          <a:ln w="9525">
            <a:solidFill>
              <a:srgbClr val="D9E0E6"/>
            </a:solidFill>
            <a:prstDash val="solid"/>
          </a:ln>
        </p:spPr>
      </p:sp>
      <p:sp>
        <p:nvSpPr>
          <p:cNvPr id="19" name="矩形 18"/>
          <p:cNvSpPr>
            <a:spLocks noGrp="1"/>
          </p:cNvSpPr>
          <p:nvPr/>
        </p:nvSpPr>
        <p:spPr>
          <a:xfrm>
            <a:off x="3257550" y="2409825"/>
            <a:ext cx="457200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Is average posterior concentrated?</a:t>
            </a:r>
            <a:endParaRPr sz="1125" b="0">
              <a:solidFill>
                <a:srgbClr val="152538"/>
              </a:solidFill>
            </a:endParaRPr>
          </a:p>
        </p:txBody>
      </p:sp>
      <p:sp>
        <p:nvSpPr>
          <p:cNvPr id="20" name="矩形 19"/>
          <p:cNvSpPr>
            <a:spLocks noGrp="1"/>
          </p:cNvSpPr>
          <p:nvPr/>
        </p:nvSpPr>
        <p:spPr>
          <a:xfrm>
            <a:off x="7924800" y="2371725"/>
            <a:ext cx="3429000" cy="619125"/>
          </a:xfrm>
          <a:prstGeom prst="rect">
            <a:avLst/>
          </a:prstGeom>
          <a:solidFill>
            <a:srgbClr val="FFFFFF"/>
          </a:solidFill>
          <a:ln w="9525">
            <a:solidFill>
              <a:srgbClr val="D9E0E6"/>
            </a:solidFill>
            <a:prstDash val="solid"/>
          </a:ln>
        </p:spPr>
      </p:sp>
      <p:sp>
        <p:nvSpPr>
          <p:cNvPr id="21" name="矩形 20"/>
          <p:cNvSpPr>
            <a:spLocks noGrp="1"/>
          </p:cNvSpPr>
          <p:nvPr/>
        </p:nvSpPr>
        <p:spPr>
          <a:xfrm>
            <a:off x="8020050" y="2409825"/>
            <a:ext cx="323850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member agreement</a:t>
            </a:r>
            <a:endParaRPr sz="1125" b="0">
              <a:solidFill>
                <a:srgbClr val="152538"/>
              </a:solidFill>
            </a:endParaRPr>
          </a:p>
        </p:txBody>
      </p:sp>
      <p:sp>
        <p:nvSpPr>
          <p:cNvPr id="22" name="矩形 21"/>
          <p:cNvSpPr>
            <a:spLocks noGrp="1"/>
          </p:cNvSpPr>
          <p:nvPr/>
        </p:nvSpPr>
        <p:spPr>
          <a:xfrm>
            <a:off x="781050" y="2990850"/>
            <a:ext cx="2381250" cy="619125"/>
          </a:xfrm>
          <a:prstGeom prst="rect">
            <a:avLst/>
          </a:prstGeom>
          <a:solidFill>
            <a:srgbClr val="E8F1F8"/>
          </a:solidFill>
          <a:ln w="9525">
            <a:solidFill>
              <a:srgbClr val="D9E0E6"/>
            </a:solidFill>
            <a:prstDash val="solid"/>
          </a:ln>
        </p:spPr>
      </p:sp>
      <p:sp>
        <p:nvSpPr>
          <p:cNvPr id="23" name="矩形 22"/>
          <p:cNvSpPr>
            <a:spLocks noGrp="1"/>
          </p:cNvSpPr>
          <p:nvPr/>
        </p:nvSpPr>
        <p:spPr>
          <a:xfrm>
            <a:off x="876300" y="3028950"/>
            <a:ext cx="219075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Aε</a:t>
            </a:r>
            <a:endParaRPr sz="1125" b="0">
              <a:solidFill>
                <a:srgbClr val="152538"/>
              </a:solidFill>
            </a:endParaRPr>
          </a:p>
        </p:txBody>
      </p:sp>
      <p:sp>
        <p:nvSpPr>
          <p:cNvPr id="24" name="矩形 23"/>
          <p:cNvSpPr>
            <a:spLocks noGrp="1"/>
          </p:cNvSpPr>
          <p:nvPr/>
        </p:nvSpPr>
        <p:spPr>
          <a:xfrm>
            <a:off x="3162300" y="2990850"/>
            <a:ext cx="4762500" cy="619125"/>
          </a:xfrm>
          <a:prstGeom prst="rect">
            <a:avLst/>
          </a:prstGeom>
          <a:solidFill>
            <a:srgbClr val="E8F1F8"/>
          </a:solidFill>
          <a:ln w="9525">
            <a:solidFill>
              <a:srgbClr val="D9E0E6"/>
            </a:solidFill>
            <a:prstDash val="solid"/>
          </a:ln>
        </p:spPr>
      </p:sp>
      <p:sp>
        <p:nvSpPr>
          <p:cNvPr id="25" name="矩形 24"/>
          <p:cNvSpPr>
            <a:spLocks noGrp="1"/>
          </p:cNvSpPr>
          <p:nvPr/>
        </p:nvSpPr>
        <p:spPr>
          <a:xfrm>
            <a:off x="3257550" y="3028950"/>
            <a:ext cx="457200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How many bins retain target mass?</a:t>
            </a:r>
            <a:endParaRPr sz="1125" b="0">
              <a:solidFill>
                <a:srgbClr val="152538"/>
              </a:solidFill>
            </a:endParaRPr>
          </a:p>
        </p:txBody>
      </p:sp>
      <p:sp>
        <p:nvSpPr>
          <p:cNvPr id="26" name="矩形 25"/>
          <p:cNvSpPr>
            <a:spLocks noGrp="1"/>
          </p:cNvSpPr>
          <p:nvPr/>
        </p:nvSpPr>
        <p:spPr>
          <a:xfrm>
            <a:off x="7924800" y="2990850"/>
            <a:ext cx="3429000" cy="619125"/>
          </a:xfrm>
          <a:prstGeom prst="rect">
            <a:avLst/>
          </a:prstGeom>
          <a:solidFill>
            <a:srgbClr val="E8F1F8"/>
          </a:solidFill>
          <a:ln w="9525">
            <a:solidFill>
              <a:srgbClr val="D9E0E6"/>
            </a:solidFill>
            <a:prstDash val="solid"/>
          </a:ln>
        </p:spPr>
      </p:sp>
      <p:sp>
        <p:nvSpPr>
          <p:cNvPr id="27" name="矩形 26"/>
          <p:cNvSpPr>
            <a:spLocks noGrp="1"/>
          </p:cNvSpPr>
          <p:nvPr/>
        </p:nvSpPr>
        <p:spPr>
          <a:xfrm>
            <a:off x="8020050" y="3028950"/>
            <a:ext cx="323850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capture probability</a:t>
            </a:r>
            <a:endParaRPr sz="1125" b="0">
              <a:solidFill>
                <a:srgbClr val="152538"/>
              </a:solidFill>
            </a:endParaRPr>
          </a:p>
        </p:txBody>
      </p:sp>
      <p:sp>
        <p:nvSpPr>
          <p:cNvPr id="28" name="矩形 27"/>
          <p:cNvSpPr>
            <a:spLocks noGrp="1"/>
          </p:cNvSpPr>
          <p:nvPr/>
        </p:nvSpPr>
        <p:spPr>
          <a:xfrm>
            <a:off x="781050" y="3609975"/>
            <a:ext cx="2381250" cy="619125"/>
          </a:xfrm>
          <a:prstGeom prst="rect">
            <a:avLst/>
          </a:prstGeom>
          <a:solidFill>
            <a:srgbClr val="FFFFFF"/>
          </a:solidFill>
          <a:ln w="9525">
            <a:solidFill>
              <a:srgbClr val="D9E0E6"/>
            </a:solidFill>
            <a:prstDash val="solid"/>
          </a:ln>
        </p:spPr>
      </p:sp>
      <p:sp>
        <p:nvSpPr>
          <p:cNvPr id="29" name="矩形 28"/>
          <p:cNvSpPr>
            <a:spLocks noGrp="1"/>
          </p:cNvSpPr>
          <p:nvPr/>
        </p:nvSpPr>
        <p:spPr>
          <a:xfrm>
            <a:off x="876300" y="3648075"/>
            <a:ext cx="219075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H(p)</a:t>
            </a:r>
            <a:endParaRPr sz="1125" b="0">
              <a:solidFill>
                <a:srgbClr val="152538"/>
              </a:solidFill>
            </a:endParaRPr>
          </a:p>
        </p:txBody>
      </p:sp>
      <p:sp>
        <p:nvSpPr>
          <p:cNvPr id="30" name="矩形 29"/>
          <p:cNvSpPr>
            <a:spLocks noGrp="1"/>
          </p:cNvSpPr>
          <p:nvPr/>
        </p:nvSpPr>
        <p:spPr>
          <a:xfrm>
            <a:off x="3162300" y="3609975"/>
            <a:ext cx="4762500" cy="619125"/>
          </a:xfrm>
          <a:prstGeom prst="rect">
            <a:avLst/>
          </a:prstGeom>
          <a:solidFill>
            <a:srgbClr val="FFFFFF"/>
          </a:solidFill>
          <a:ln w="9525">
            <a:solidFill>
              <a:srgbClr val="D9E0E6"/>
            </a:solidFill>
            <a:prstDash val="solid"/>
          </a:ln>
        </p:spPr>
      </p:sp>
      <p:sp>
        <p:nvSpPr>
          <p:cNvPr id="31" name="矩形 30"/>
          <p:cNvSpPr>
            <a:spLocks noGrp="1"/>
          </p:cNvSpPr>
          <p:nvPr/>
        </p:nvSpPr>
        <p:spPr>
          <a:xfrm>
            <a:off x="3257550" y="3648075"/>
            <a:ext cx="457200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How spread is the posterior?</a:t>
            </a:r>
            <a:endParaRPr sz="1125" b="0">
              <a:solidFill>
                <a:srgbClr val="152538"/>
              </a:solidFill>
            </a:endParaRPr>
          </a:p>
        </p:txBody>
      </p:sp>
      <p:sp>
        <p:nvSpPr>
          <p:cNvPr id="32" name="矩形 31"/>
          <p:cNvSpPr>
            <a:spLocks noGrp="1"/>
          </p:cNvSpPr>
          <p:nvPr/>
        </p:nvSpPr>
        <p:spPr>
          <a:xfrm>
            <a:off x="7924800" y="3609975"/>
            <a:ext cx="3429000" cy="619125"/>
          </a:xfrm>
          <a:prstGeom prst="rect">
            <a:avLst/>
          </a:prstGeom>
          <a:solidFill>
            <a:srgbClr val="FFFFFF"/>
          </a:solidFill>
          <a:ln w="9525">
            <a:solidFill>
              <a:srgbClr val="D9E0E6"/>
            </a:solidFill>
            <a:prstDash val="solid"/>
          </a:ln>
        </p:spPr>
      </p:sp>
      <p:sp>
        <p:nvSpPr>
          <p:cNvPr id="33" name="矩形 32"/>
          <p:cNvSpPr>
            <a:spLocks noGrp="1"/>
          </p:cNvSpPr>
          <p:nvPr/>
        </p:nvSpPr>
        <p:spPr>
          <a:xfrm>
            <a:off x="8020050" y="3648075"/>
            <a:ext cx="323850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geometric reachability</a:t>
            </a:r>
            <a:endParaRPr sz="1125" b="0">
              <a:solidFill>
                <a:srgbClr val="152538"/>
              </a:solidFill>
            </a:endParaRPr>
          </a:p>
        </p:txBody>
      </p:sp>
      <p:sp>
        <p:nvSpPr>
          <p:cNvPr id="34" name="矩形 33"/>
          <p:cNvSpPr>
            <a:spLocks noGrp="1"/>
          </p:cNvSpPr>
          <p:nvPr/>
        </p:nvSpPr>
        <p:spPr>
          <a:xfrm>
            <a:off x="781050" y="4229100"/>
            <a:ext cx="2381250" cy="619125"/>
          </a:xfrm>
          <a:prstGeom prst="rect">
            <a:avLst/>
          </a:prstGeom>
          <a:solidFill>
            <a:srgbClr val="E8F1F8"/>
          </a:solidFill>
          <a:ln w="9525">
            <a:solidFill>
              <a:srgbClr val="D9E0E6"/>
            </a:solidFill>
            <a:prstDash val="solid"/>
          </a:ln>
        </p:spPr>
      </p:sp>
      <p:sp>
        <p:nvSpPr>
          <p:cNvPr id="35" name="矩形 34"/>
          <p:cNvSpPr>
            <a:spLocks noGrp="1"/>
          </p:cNvSpPr>
          <p:nvPr/>
        </p:nvSpPr>
        <p:spPr>
          <a:xfrm>
            <a:off x="876300" y="4267200"/>
            <a:ext cx="219075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Δens</a:t>
            </a:r>
            <a:endParaRPr sz="1125" b="0">
              <a:solidFill>
                <a:srgbClr val="152538"/>
              </a:solidFill>
            </a:endParaRPr>
          </a:p>
        </p:txBody>
      </p:sp>
      <p:sp>
        <p:nvSpPr>
          <p:cNvPr id="36" name="矩形 35"/>
          <p:cNvSpPr>
            <a:spLocks noGrp="1"/>
          </p:cNvSpPr>
          <p:nvPr/>
        </p:nvSpPr>
        <p:spPr>
          <a:xfrm>
            <a:off x="3162300" y="4229100"/>
            <a:ext cx="4762500" cy="619125"/>
          </a:xfrm>
          <a:prstGeom prst="rect">
            <a:avLst/>
          </a:prstGeom>
          <a:solidFill>
            <a:srgbClr val="E8F1F8"/>
          </a:solidFill>
          <a:ln w="9525">
            <a:solidFill>
              <a:srgbClr val="D9E0E6"/>
            </a:solidFill>
            <a:prstDash val="solid"/>
          </a:ln>
        </p:spPr>
      </p:sp>
      <p:sp>
        <p:nvSpPr>
          <p:cNvPr id="37" name="矩形 36"/>
          <p:cNvSpPr>
            <a:spLocks noGrp="1"/>
          </p:cNvSpPr>
          <p:nvPr/>
        </p:nvSpPr>
        <p:spPr>
          <a:xfrm>
            <a:off x="3257550" y="4267200"/>
            <a:ext cx="457200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Do members point together?</a:t>
            </a:r>
            <a:endParaRPr sz="1125" b="0">
              <a:solidFill>
                <a:srgbClr val="152538"/>
              </a:solidFill>
            </a:endParaRPr>
          </a:p>
        </p:txBody>
      </p:sp>
      <p:sp>
        <p:nvSpPr>
          <p:cNvPr id="38" name="矩形 37"/>
          <p:cNvSpPr>
            <a:spLocks noGrp="1"/>
          </p:cNvSpPr>
          <p:nvPr/>
        </p:nvSpPr>
        <p:spPr>
          <a:xfrm>
            <a:off x="7924800" y="4229100"/>
            <a:ext cx="3429000" cy="619125"/>
          </a:xfrm>
          <a:prstGeom prst="rect">
            <a:avLst/>
          </a:prstGeom>
          <a:solidFill>
            <a:srgbClr val="E8F1F8"/>
          </a:solidFill>
          <a:ln w="9525">
            <a:solidFill>
              <a:srgbClr val="D9E0E6"/>
            </a:solidFill>
            <a:prstDash val="solid"/>
          </a:ln>
        </p:spPr>
      </p:sp>
      <p:sp>
        <p:nvSpPr>
          <p:cNvPr id="39" name="矩形 38"/>
          <p:cNvSpPr>
            <a:spLocks noGrp="1"/>
          </p:cNvSpPr>
          <p:nvPr/>
        </p:nvSpPr>
        <p:spPr>
          <a:xfrm>
            <a:off x="8020050" y="4267200"/>
            <a:ext cx="323850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entropy</a:t>
            </a:r>
            <a:endParaRPr sz="1125" b="0">
              <a:solidFill>
                <a:srgbClr val="152538"/>
              </a:solidFill>
            </a:endParaRPr>
          </a:p>
        </p:txBody>
      </p:sp>
      <p:sp>
        <p:nvSpPr>
          <p:cNvPr id="40" name="矩形 39"/>
          <p:cNvSpPr>
            <a:spLocks noGrp="1"/>
          </p:cNvSpPr>
          <p:nvPr/>
        </p:nvSpPr>
        <p:spPr>
          <a:xfrm>
            <a:off x="781050" y="4848225"/>
            <a:ext cx="2381250" cy="619125"/>
          </a:xfrm>
          <a:prstGeom prst="rect">
            <a:avLst/>
          </a:prstGeom>
          <a:solidFill>
            <a:srgbClr val="FFFFFF"/>
          </a:solidFill>
          <a:ln w="9525">
            <a:solidFill>
              <a:srgbClr val="D9E0E6"/>
            </a:solidFill>
            <a:prstDash val="solid"/>
          </a:ln>
        </p:spPr>
      </p:sp>
      <p:sp>
        <p:nvSpPr>
          <p:cNvPr id="41" name="矩形 40"/>
          <p:cNvSpPr>
            <a:spLocks noGrp="1"/>
          </p:cNvSpPr>
          <p:nvPr/>
        </p:nvSpPr>
        <p:spPr>
          <a:xfrm>
            <a:off x="876300" y="4886325"/>
            <a:ext cx="219075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a:t>
            </a:r>
            <a:endParaRPr sz="1125" b="0">
              <a:solidFill>
                <a:srgbClr val="152538"/>
              </a:solidFill>
            </a:endParaRPr>
          </a:p>
        </p:txBody>
      </p:sp>
      <p:sp>
        <p:nvSpPr>
          <p:cNvPr id="42" name="矩形 41"/>
          <p:cNvSpPr>
            <a:spLocks noGrp="1"/>
          </p:cNvSpPr>
          <p:nvPr/>
        </p:nvSpPr>
        <p:spPr>
          <a:xfrm>
            <a:off x="3162300" y="4848225"/>
            <a:ext cx="4762500" cy="619125"/>
          </a:xfrm>
          <a:prstGeom prst="rect">
            <a:avLst/>
          </a:prstGeom>
          <a:solidFill>
            <a:srgbClr val="FFFFFF"/>
          </a:solidFill>
          <a:ln w="9525">
            <a:solidFill>
              <a:srgbClr val="D9E0E6"/>
            </a:solidFill>
            <a:prstDash val="solid"/>
          </a:ln>
        </p:spPr>
      </p:sp>
      <p:sp>
        <p:nvSpPr>
          <p:cNvPr id="43" name="矩形 42"/>
          <p:cNvSpPr>
            <a:spLocks noGrp="1"/>
          </p:cNvSpPr>
          <p:nvPr/>
        </p:nvSpPr>
        <p:spPr>
          <a:xfrm>
            <a:off x="3257550" y="4886325"/>
            <a:ext cx="457200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How much mass points behind?</a:t>
            </a:r>
            <a:endParaRPr sz="1125" b="0">
              <a:solidFill>
                <a:srgbClr val="152538"/>
              </a:solidFill>
            </a:endParaRPr>
          </a:p>
        </p:txBody>
      </p:sp>
      <p:sp>
        <p:nvSpPr>
          <p:cNvPr id="44" name="矩形 43"/>
          <p:cNvSpPr>
            <a:spLocks noGrp="1"/>
          </p:cNvSpPr>
          <p:nvPr/>
        </p:nvSpPr>
        <p:spPr>
          <a:xfrm>
            <a:off x="7924800" y="4848225"/>
            <a:ext cx="3429000" cy="619125"/>
          </a:xfrm>
          <a:prstGeom prst="rect">
            <a:avLst/>
          </a:prstGeom>
          <a:solidFill>
            <a:srgbClr val="FFFFFF"/>
          </a:solidFill>
          <a:ln w="9525">
            <a:solidFill>
              <a:srgbClr val="D9E0E6"/>
            </a:solidFill>
            <a:prstDash val="solid"/>
          </a:ln>
        </p:spPr>
      </p:sp>
      <p:sp>
        <p:nvSpPr>
          <p:cNvPr id="45" name="矩形 44"/>
          <p:cNvSpPr>
            <a:spLocks noGrp="1"/>
          </p:cNvSpPr>
          <p:nvPr/>
        </p:nvSpPr>
        <p:spPr>
          <a:xfrm>
            <a:off x="8020050" y="4886325"/>
            <a:ext cx="3238500" cy="5429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center distance</a:t>
            </a:r>
            <a:endParaRPr sz="1125" b="0">
              <a:solidFill>
                <a:srgbClr val="152538"/>
              </a:solidFill>
            </a:endParaRPr>
          </a:p>
        </p:txBody>
      </p:sp>
      <p:sp>
        <p:nvSpPr>
          <p:cNvPr id="46" name="矩形 45"/>
          <p:cNvSpPr>
            <a:spLocks noGrp="1"/>
          </p:cNvSpPr>
          <p:nvPr/>
        </p:nvSpPr>
        <p:spPr>
          <a:xfrm>
            <a:off x="647700" y="5943600"/>
            <a:ext cx="10839450" cy="400050"/>
          </a:xfrm>
          <a:prstGeom prst="rect">
            <a:avLst/>
          </a:prstGeom>
          <a:solidFill>
            <a:srgbClr val="FFF0E2"/>
          </a:solidFill>
          <a:ln w="0">
            <a:noFill/>
            <a:prstDash val="solid"/>
          </a:ln>
        </p:spPr>
      </p:sp>
      <p:sp>
        <p:nvSpPr>
          <p:cNvPr id="47" name="矩形 46"/>
          <p:cNvSpPr>
            <a:spLocks noGrp="1"/>
          </p:cNvSpPr>
          <p:nvPr/>
        </p:nvSpPr>
        <p:spPr>
          <a:xfrm>
            <a:off x="647700" y="5943600"/>
            <a:ext cx="57150" cy="400050"/>
          </a:xfrm>
          <a:prstGeom prst="rect">
            <a:avLst/>
          </a:prstGeom>
          <a:solidFill>
            <a:srgbClr val="ED7F0D"/>
          </a:solidFill>
          <a:ln w="0">
            <a:noFill/>
            <a:prstDash val="solid"/>
          </a:ln>
        </p:spPr>
      </p:sp>
      <p:sp>
        <p:nvSpPr>
          <p:cNvPr id="48" name="矩形 47"/>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Diagnostics gate motion authority; none is a success detector.</a:t>
            </a:r>
            <a:endParaRPr sz="1275" b="1">
              <a:solidFill>
                <a:srgbClr val="152538"/>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43</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A05 · Radial likelihood and shortcut parameters</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III-B–C · Eqs. (13)–(19)</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43</a:t>
            </a:r>
            <a:endParaRPr sz="825" b="1">
              <a:solidFill>
                <a:srgbClr val="004282"/>
              </a:solidFill>
            </a:endParaRPr>
          </a:p>
        </p:txBody>
      </p:sp>
      <p:sp>
        <p:nvSpPr>
          <p:cNvPr id="10" name="矩形 9"/>
          <p:cNvSpPr>
            <a:spLocks noGrp="1"/>
          </p:cNvSpPr>
          <p:nvPr/>
        </p:nvSpPr>
        <p:spPr>
          <a:xfrm>
            <a:off x="781050" y="1752600"/>
            <a:ext cx="2381250" cy="530679"/>
          </a:xfrm>
          <a:prstGeom prst="rect">
            <a:avLst/>
          </a:prstGeom>
          <a:solidFill>
            <a:srgbClr val="004282"/>
          </a:solidFill>
          <a:ln w="9525">
            <a:solidFill>
              <a:srgbClr val="D9E0E6"/>
            </a:solidFill>
            <a:prstDash val="solid"/>
          </a:ln>
        </p:spPr>
      </p:sp>
      <p:sp>
        <p:nvSpPr>
          <p:cNvPr id="11" name="矩形 10"/>
          <p:cNvSpPr>
            <a:spLocks noGrp="1"/>
          </p:cNvSpPr>
          <p:nvPr/>
        </p:nvSpPr>
        <p:spPr>
          <a:xfrm>
            <a:off x="876300" y="1790700"/>
            <a:ext cx="2190750" cy="454479"/>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Quantity</a:t>
            </a:r>
            <a:endParaRPr sz="1200" b="1">
              <a:solidFill>
                <a:srgbClr val="FFFFFF"/>
              </a:solidFill>
            </a:endParaRPr>
          </a:p>
        </p:txBody>
      </p:sp>
      <p:sp>
        <p:nvSpPr>
          <p:cNvPr id="12" name="矩形 11"/>
          <p:cNvSpPr>
            <a:spLocks noGrp="1"/>
          </p:cNvSpPr>
          <p:nvPr/>
        </p:nvSpPr>
        <p:spPr>
          <a:xfrm>
            <a:off x="3162300" y="1752600"/>
            <a:ext cx="4762500" cy="530679"/>
          </a:xfrm>
          <a:prstGeom prst="rect">
            <a:avLst/>
          </a:prstGeom>
          <a:solidFill>
            <a:srgbClr val="004282"/>
          </a:solidFill>
          <a:ln w="9525">
            <a:solidFill>
              <a:srgbClr val="D9E0E6"/>
            </a:solidFill>
            <a:prstDash val="solid"/>
          </a:ln>
        </p:spPr>
      </p:sp>
      <p:sp>
        <p:nvSpPr>
          <p:cNvPr id="13" name="矩形 12"/>
          <p:cNvSpPr>
            <a:spLocks noGrp="1"/>
          </p:cNvSpPr>
          <p:nvPr/>
        </p:nvSpPr>
        <p:spPr>
          <a:xfrm>
            <a:off x="3257550" y="1790700"/>
            <a:ext cx="4572000" cy="454479"/>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Role</a:t>
            </a:r>
            <a:endParaRPr sz="1200" b="1">
              <a:solidFill>
                <a:srgbClr val="FFFFFF"/>
              </a:solidFill>
            </a:endParaRPr>
          </a:p>
        </p:txBody>
      </p:sp>
      <p:sp>
        <p:nvSpPr>
          <p:cNvPr id="14" name="矩形 13"/>
          <p:cNvSpPr>
            <a:spLocks noGrp="1"/>
          </p:cNvSpPr>
          <p:nvPr/>
        </p:nvSpPr>
        <p:spPr>
          <a:xfrm>
            <a:off x="7924800" y="1752600"/>
            <a:ext cx="3429000" cy="530679"/>
          </a:xfrm>
          <a:prstGeom prst="rect">
            <a:avLst/>
          </a:prstGeom>
          <a:solidFill>
            <a:srgbClr val="004282"/>
          </a:solidFill>
          <a:ln w="9525">
            <a:solidFill>
              <a:srgbClr val="D9E0E6"/>
            </a:solidFill>
            <a:prstDash val="solid"/>
          </a:ln>
        </p:spPr>
      </p:sp>
      <p:sp>
        <p:nvSpPr>
          <p:cNvPr id="15" name="矩形 14"/>
          <p:cNvSpPr>
            <a:spLocks noGrp="1"/>
          </p:cNvSpPr>
          <p:nvPr/>
        </p:nvSpPr>
        <p:spPr>
          <a:xfrm>
            <a:off x="8020050" y="1790700"/>
            <a:ext cx="3238500" cy="454479"/>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Paper value / rule</a:t>
            </a:r>
            <a:endParaRPr sz="1200" b="1">
              <a:solidFill>
                <a:srgbClr val="FFFFFF"/>
              </a:solidFill>
            </a:endParaRPr>
          </a:p>
        </p:txBody>
      </p:sp>
      <p:sp>
        <p:nvSpPr>
          <p:cNvPr id="16" name="矩形 15"/>
          <p:cNvSpPr>
            <a:spLocks noGrp="1"/>
          </p:cNvSpPr>
          <p:nvPr/>
        </p:nvSpPr>
        <p:spPr>
          <a:xfrm>
            <a:off x="781050" y="2283279"/>
            <a:ext cx="2381250" cy="530679"/>
          </a:xfrm>
          <a:prstGeom prst="rect">
            <a:avLst/>
          </a:prstGeom>
          <a:solidFill>
            <a:srgbClr val="FFFFFF"/>
          </a:solidFill>
          <a:ln w="9525">
            <a:solidFill>
              <a:srgbClr val="D9E0E6"/>
            </a:solidFill>
            <a:prstDash val="solid"/>
          </a:ln>
        </p:spPr>
      </p:sp>
      <p:sp>
        <p:nvSpPr>
          <p:cNvPr id="17" name="矩形 16"/>
          <p:cNvSpPr>
            <a:spLocks noGrp="1"/>
          </p:cNvSpPr>
          <p:nvPr/>
        </p:nvSpPr>
        <p:spPr>
          <a:xfrm>
            <a:off x="876300" y="2321379"/>
            <a:ext cx="219075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N</a:t>
            </a:r>
            <a:endParaRPr sz="1125" b="0">
              <a:solidFill>
                <a:srgbClr val="152538"/>
              </a:solidFill>
            </a:endParaRPr>
          </a:p>
        </p:txBody>
      </p:sp>
      <p:sp>
        <p:nvSpPr>
          <p:cNvPr id="18" name="矩形 17"/>
          <p:cNvSpPr>
            <a:spLocks noGrp="1"/>
          </p:cNvSpPr>
          <p:nvPr/>
        </p:nvSpPr>
        <p:spPr>
          <a:xfrm>
            <a:off x="3162300" y="2283279"/>
            <a:ext cx="4762500" cy="530679"/>
          </a:xfrm>
          <a:prstGeom prst="rect">
            <a:avLst/>
          </a:prstGeom>
          <a:solidFill>
            <a:srgbClr val="FFFFFF"/>
          </a:solidFill>
          <a:ln w="9525">
            <a:solidFill>
              <a:srgbClr val="D9E0E6"/>
            </a:solidFill>
            <a:prstDash val="solid"/>
          </a:ln>
        </p:spPr>
      </p:sp>
      <p:sp>
        <p:nvSpPr>
          <p:cNvPr id="19" name="矩形 18"/>
          <p:cNvSpPr>
            <a:spLocks noGrp="1"/>
          </p:cNvSpPr>
          <p:nvPr/>
        </p:nvSpPr>
        <p:spPr>
          <a:xfrm>
            <a:off x="3257550" y="2321379"/>
            <a:ext cx="457200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CAD-prior particles</a:t>
            </a:r>
            <a:endParaRPr sz="1125" b="0">
              <a:solidFill>
                <a:srgbClr val="152538"/>
              </a:solidFill>
            </a:endParaRPr>
          </a:p>
        </p:txBody>
      </p:sp>
      <p:sp>
        <p:nvSpPr>
          <p:cNvPr id="20" name="矩形 19"/>
          <p:cNvSpPr>
            <a:spLocks noGrp="1"/>
          </p:cNvSpPr>
          <p:nvPr/>
        </p:nvSpPr>
        <p:spPr>
          <a:xfrm>
            <a:off x="7924800" y="2283279"/>
            <a:ext cx="3429000" cy="530679"/>
          </a:xfrm>
          <a:prstGeom prst="rect">
            <a:avLst/>
          </a:prstGeom>
          <a:solidFill>
            <a:srgbClr val="FFFFFF"/>
          </a:solidFill>
          <a:ln w="9525">
            <a:solidFill>
              <a:srgbClr val="D9E0E6"/>
            </a:solidFill>
            <a:prstDash val="solid"/>
          </a:ln>
        </p:spPr>
      </p:sp>
      <p:sp>
        <p:nvSpPr>
          <p:cNvPr id="21" name="矩形 20"/>
          <p:cNvSpPr>
            <a:spLocks noGrp="1"/>
          </p:cNvSpPr>
          <p:nvPr/>
        </p:nvSpPr>
        <p:spPr>
          <a:xfrm>
            <a:off x="8020050" y="2321379"/>
            <a:ext cx="323850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4096</a:t>
            </a:r>
            <a:endParaRPr sz="1125" b="0">
              <a:solidFill>
                <a:srgbClr val="152538"/>
              </a:solidFill>
            </a:endParaRPr>
          </a:p>
        </p:txBody>
      </p:sp>
      <p:sp>
        <p:nvSpPr>
          <p:cNvPr id="22" name="矩形 21"/>
          <p:cNvSpPr>
            <a:spLocks noGrp="1"/>
          </p:cNvSpPr>
          <p:nvPr/>
        </p:nvSpPr>
        <p:spPr>
          <a:xfrm>
            <a:off x="781050" y="2813957"/>
            <a:ext cx="2381250" cy="530679"/>
          </a:xfrm>
          <a:prstGeom prst="rect">
            <a:avLst/>
          </a:prstGeom>
          <a:solidFill>
            <a:srgbClr val="E8F1F8"/>
          </a:solidFill>
          <a:ln w="9525">
            <a:solidFill>
              <a:srgbClr val="D9E0E6"/>
            </a:solidFill>
            <a:prstDash val="solid"/>
          </a:ln>
        </p:spPr>
      </p:sp>
      <p:sp>
        <p:nvSpPr>
          <p:cNvPr id="23" name="矩形 22"/>
          <p:cNvSpPr>
            <a:spLocks noGrp="1"/>
          </p:cNvSpPr>
          <p:nvPr/>
        </p:nvSpPr>
        <p:spPr>
          <a:xfrm>
            <a:off x="876300" y="2852057"/>
            <a:ext cx="219075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σᵥ, Rᵥ</a:t>
            </a:r>
            <a:endParaRPr sz="1125" b="0">
              <a:solidFill>
                <a:srgbClr val="152538"/>
              </a:solidFill>
            </a:endParaRPr>
          </a:p>
        </p:txBody>
      </p:sp>
      <p:sp>
        <p:nvSpPr>
          <p:cNvPr id="24" name="矩形 23"/>
          <p:cNvSpPr>
            <a:spLocks noGrp="1"/>
          </p:cNvSpPr>
          <p:nvPr/>
        </p:nvSpPr>
        <p:spPr>
          <a:xfrm>
            <a:off x="3162300" y="2813957"/>
            <a:ext cx="4762500" cy="530679"/>
          </a:xfrm>
          <a:prstGeom prst="rect">
            <a:avLst/>
          </a:prstGeom>
          <a:solidFill>
            <a:srgbClr val="E8F1F8"/>
          </a:solidFill>
          <a:ln w="9525">
            <a:solidFill>
              <a:srgbClr val="D9E0E6"/>
            </a:solidFill>
            <a:prstDash val="solid"/>
          </a:ln>
        </p:spPr>
      </p:sp>
      <p:sp>
        <p:nvSpPr>
          <p:cNvPr id="25" name="矩形 24"/>
          <p:cNvSpPr>
            <a:spLocks noGrp="1"/>
          </p:cNvSpPr>
          <p:nvPr/>
        </p:nvSpPr>
        <p:spPr>
          <a:xfrm>
            <a:off x="3257550" y="2852057"/>
            <a:ext cx="457200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M8 prior spread / truncation</a:t>
            </a:r>
            <a:endParaRPr sz="1125" b="0">
              <a:solidFill>
                <a:srgbClr val="152538"/>
              </a:solidFill>
            </a:endParaRPr>
          </a:p>
        </p:txBody>
      </p:sp>
      <p:sp>
        <p:nvSpPr>
          <p:cNvPr id="26" name="矩形 25"/>
          <p:cNvSpPr>
            <a:spLocks noGrp="1"/>
          </p:cNvSpPr>
          <p:nvPr/>
        </p:nvSpPr>
        <p:spPr>
          <a:xfrm>
            <a:off x="7924800" y="2813957"/>
            <a:ext cx="3429000" cy="530679"/>
          </a:xfrm>
          <a:prstGeom prst="rect">
            <a:avLst/>
          </a:prstGeom>
          <a:solidFill>
            <a:srgbClr val="E8F1F8"/>
          </a:solidFill>
          <a:ln w="9525">
            <a:solidFill>
              <a:srgbClr val="D9E0E6"/>
            </a:solidFill>
            <a:prstDash val="solid"/>
          </a:ln>
        </p:spPr>
      </p:sp>
      <p:sp>
        <p:nvSpPr>
          <p:cNvPr id="27" name="矩形 26"/>
          <p:cNvSpPr>
            <a:spLocks noGrp="1"/>
          </p:cNvSpPr>
          <p:nvPr/>
        </p:nvSpPr>
        <p:spPr>
          <a:xfrm>
            <a:off x="8020050" y="2852057"/>
            <a:ext cx="323850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2 mm / 4.895 mm</a:t>
            </a:r>
            <a:endParaRPr sz="1125" b="0">
              <a:solidFill>
                <a:srgbClr val="152538"/>
              </a:solidFill>
            </a:endParaRPr>
          </a:p>
        </p:txBody>
      </p:sp>
      <p:sp>
        <p:nvSpPr>
          <p:cNvPr id="28" name="矩形 27"/>
          <p:cNvSpPr>
            <a:spLocks noGrp="1"/>
          </p:cNvSpPr>
          <p:nvPr/>
        </p:nvSpPr>
        <p:spPr>
          <a:xfrm>
            <a:off x="781050" y="3344636"/>
            <a:ext cx="2381250" cy="530679"/>
          </a:xfrm>
          <a:prstGeom prst="rect">
            <a:avLst/>
          </a:prstGeom>
          <a:solidFill>
            <a:srgbClr val="FFFFFF"/>
          </a:solidFill>
          <a:ln w="9525">
            <a:solidFill>
              <a:srgbClr val="D9E0E6"/>
            </a:solidFill>
            <a:prstDash val="solid"/>
          </a:ln>
        </p:spPr>
      </p:sp>
      <p:sp>
        <p:nvSpPr>
          <p:cNvPr id="29" name="矩形 28"/>
          <p:cNvSpPr>
            <a:spLocks noGrp="1"/>
          </p:cNvSpPr>
          <p:nvPr/>
        </p:nvSpPr>
        <p:spPr>
          <a:xfrm>
            <a:off x="876300" y="3382736"/>
            <a:ext cx="219075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α(q)</a:t>
            </a:r>
            <a:endParaRPr sz="1125" b="0">
              <a:solidFill>
                <a:srgbClr val="152538"/>
              </a:solidFill>
            </a:endParaRPr>
          </a:p>
        </p:txBody>
      </p:sp>
      <p:sp>
        <p:nvSpPr>
          <p:cNvPr id="30" name="矩形 29"/>
          <p:cNvSpPr>
            <a:spLocks noGrp="1"/>
          </p:cNvSpPr>
          <p:nvPr/>
        </p:nvSpPr>
        <p:spPr>
          <a:xfrm>
            <a:off x="3162300" y="3344636"/>
            <a:ext cx="4762500" cy="530679"/>
          </a:xfrm>
          <a:prstGeom prst="rect">
            <a:avLst/>
          </a:prstGeom>
          <a:solidFill>
            <a:srgbClr val="FFFFFF"/>
          </a:solidFill>
          <a:ln w="9525">
            <a:solidFill>
              <a:srgbClr val="D9E0E6"/>
            </a:solidFill>
            <a:prstDash val="solid"/>
          </a:ln>
        </p:spPr>
      </p:sp>
      <p:sp>
        <p:nvSpPr>
          <p:cNvPr id="31" name="矩形 30"/>
          <p:cNvSpPr>
            <a:spLocks noGrp="1"/>
          </p:cNvSpPr>
          <p:nvPr/>
        </p:nvSpPr>
        <p:spPr>
          <a:xfrm>
            <a:off x="3257550" y="3382736"/>
            <a:ext cx="457200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retained projected mass</a:t>
            </a:r>
            <a:endParaRPr sz="1125" b="0">
              <a:solidFill>
                <a:srgbClr val="152538"/>
              </a:solidFill>
            </a:endParaRPr>
          </a:p>
        </p:txBody>
      </p:sp>
      <p:sp>
        <p:nvSpPr>
          <p:cNvPr id="32" name="矩形 31"/>
          <p:cNvSpPr>
            <a:spLocks noGrp="1"/>
          </p:cNvSpPr>
          <p:nvPr/>
        </p:nvSpPr>
        <p:spPr>
          <a:xfrm>
            <a:off x="7924800" y="3344636"/>
            <a:ext cx="3429000" cy="530679"/>
          </a:xfrm>
          <a:prstGeom prst="rect">
            <a:avLst/>
          </a:prstGeom>
          <a:solidFill>
            <a:srgbClr val="FFFFFF"/>
          </a:solidFill>
          <a:ln w="9525">
            <a:solidFill>
              <a:srgbClr val="D9E0E6"/>
            </a:solidFill>
            <a:prstDash val="solid"/>
          </a:ln>
        </p:spPr>
      </p:sp>
      <p:sp>
        <p:nvSpPr>
          <p:cNvPr id="33" name="矩形 32"/>
          <p:cNvSpPr>
            <a:spLocks noGrp="1"/>
          </p:cNvSpPr>
          <p:nvPr/>
        </p:nvSpPr>
        <p:spPr>
          <a:xfrm>
            <a:off x="8020050" y="3382736"/>
            <a:ext cx="323850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0.10 + 0.15q</a:t>
            </a:r>
            <a:endParaRPr sz="1125" b="0">
              <a:solidFill>
                <a:srgbClr val="152538"/>
              </a:solidFill>
            </a:endParaRPr>
          </a:p>
        </p:txBody>
      </p:sp>
      <p:sp>
        <p:nvSpPr>
          <p:cNvPr id="34" name="矩形 33"/>
          <p:cNvSpPr>
            <a:spLocks noGrp="1"/>
          </p:cNvSpPr>
          <p:nvPr/>
        </p:nvSpPr>
        <p:spPr>
          <a:xfrm>
            <a:off x="781050" y="3875314"/>
            <a:ext cx="2381250" cy="530679"/>
          </a:xfrm>
          <a:prstGeom prst="rect">
            <a:avLst/>
          </a:prstGeom>
          <a:solidFill>
            <a:srgbClr val="E8F1F8"/>
          </a:solidFill>
          <a:ln w="9525">
            <a:solidFill>
              <a:srgbClr val="D9E0E6"/>
            </a:solidFill>
            <a:prstDash val="solid"/>
          </a:ln>
        </p:spPr>
      </p:sp>
      <p:sp>
        <p:nvSpPr>
          <p:cNvPr id="35" name="矩形 34"/>
          <p:cNvSpPr>
            <a:spLocks noGrp="1"/>
          </p:cNvSpPr>
          <p:nvPr/>
        </p:nvSpPr>
        <p:spPr>
          <a:xfrm>
            <a:off x="876300" y="3913414"/>
            <a:ext cx="219075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λ(q)</a:t>
            </a:r>
            <a:endParaRPr sz="1125" b="0">
              <a:solidFill>
                <a:srgbClr val="152538"/>
              </a:solidFill>
            </a:endParaRPr>
          </a:p>
        </p:txBody>
      </p:sp>
      <p:sp>
        <p:nvSpPr>
          <p:cNvPr id="36" name="矩形 35"/>
          <p:cNvSpPr>
            <a:spLocks noGrp="1"/>
          </p:cNvSpPr>
          <p:nvPr/>
        </p:nvSpPr>
        <p:spPr>
          <a:xfrm>
            <a:off x="3162300" y="3875314"/>
            <a:ext cx="4762500" cy="530679"/>
          </a:xfrm>
          <a:prstGeom prst="rect">
            <a:avLst/>
          </a:prstGeom>
          <a:solidFill>
            <a:srgbClr val="E8F1F8"/>
          </a:solidFill>
          <a:ln w="9525">
            <a:solidFill>
              <a:srgbClr val="D9E0E6"/>
            </a:solidFill>
            <a:prstDash val="solid"/>
          </a:ln>
        </p:spPr>
      </p:sp>
      <p:sp>
        <p:nvSpPr>
          <p:cNvPr id="37" name="矩形 36"/>
          <p:cNvSpPr>
            <a:spLocks noGrp="1"/>
          </p:cNvSpPr>
          <p:nvPr/>
        </p:nvSpPr>
        <p:spPr>
          <a:xfrm>
            <a:off x="3257550" y="3913414"/>
            <a:ext cx="457200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radial cap factor</a:t>
            </a:r>
            <a:endParaRPr sz="1125" b="0">
              <a:solidFill>
                <a:srgbClr val="152538"/>
              </a:solidFill>
            </a:endParaRPr>
          </a:p>
        </p:txBody>
      </p:sp>
      <p:sp>
        <p:nvSpPr>
          <p:cNvPr id="38" name="矩形 37"/>
          <p:cNvSpPr>
            <a:spLocks noGrp="1"/>
          </p:cNvSpPr>
          <p:nvPr/>
        </p:nvSpPr>
        <p:spPr>
          <a:xfrm>
            <a:off x="7924800" y="3875314"/>
            <a:ext cx="3429000" cy="530679"/>
          </a:xfrm>
          <a:prstGeom prst="rect">
            <a:avLst/>
          </a:prstGeom>
          <a:solidFill>
            <a:srgbClr val="E8F1F8"/>
          </a:solidFill>
          <a:ln w="9525">
            <a:solidFill>
              <a:srgbClr val="D9E0E6"/>
            </a:solidFill>
            <a:prstDash val="solid"/>
          </a:ln>
        </p:spPr>
      </p:sp>
      <p:sp>
        <p:nvSpPr>
          <p:cNvPr id="39" name="矩形 38"/>
          <p:cNvSpPr>
            <a:spLocks noGrp="1"/>
          </p:cNvSpPr>
          <p:nvPr/>
        </p:nvSpPr>
        <p:spPr>
          <a:xfrm>
            <a:off x="8020050" y="3913414"/>
            <a:ext cx="323850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0.35 + 0.30q</a:t>
            </a:r>
            <a:endParaRPr sz="1125" b="0">
              <a:solidFill>
                <a:srgbClr val="152538"/>
              </a:solidFill>
            </a:endParaRPr>
          </a:p>
        </p:txBody>
      </p:sp>
      <p:sp>
        <p:nvSpPr>
          <p:cNvPr id="40" name="矩形 39"/>
          <p:cNvSpPr>
            <a:spLocks noGrp="1"/>
          </p:cNvSpPr>
          <p:nvPr/>
        </p:nvSpPr>
        <p:spPr>
          <a:xfrm>
            <a:off x="781050" y="4405993"/>
            <a:ext cx="2381250" cy="530679"/>
          </a:xfrm>
          <a:prstGeom prst="rect">
            <a:avLst/>
          </a:prstGeom>
          <a:solidFill>
            <a:srgbClr val="FFFFFF"/>
          </a:solidFill>
          <a:ln w="9525">
            <a:solidFill>
              <a:srgbClr val="D9E0E6"/>
            </a:solidFill>
            <a:prstDash val="solid"/>
          </a:ln>
        </p:spPr>
      </p:sp>
      <p:sp>
        <p:nvSpPr>
          <p:cNvPr id="41" name="矩形 40"/>
          <p:cNvSpPr>
            <a:spLocks noGrp="1"/>
          </p:cNvSpPr>
          <p:nvPr/>
        </p:nvSpPr>
        <p:spPr>
          <a:xfrm>
            <a:off x="876300" y="4444093"/>
            <a:ext cx="219075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 gate</a:t>
            </a:r>
            <a:endParaRPr sz="1125" b="0">
              <a:solidFill>
                <a:srgbClr val="152538"/>
              </a:solidFill>
            </a:endParaRPr>
          </a:p>
        </p:txBody>
      </p:sp>
      <p:sp>
        <p:nvSpPr>
          <p:cNvPr id="42" name="矩形 41"/>
          <p:cNvSpPr>
            <a:spLocks noGrp="1"/>
          </p:cNvSpPr>
          <p:nvPr/>
        </p:nvSpPr>
        <p:spPr>
          <a:xfrm>
            <a:off x="3162300" y="4405993"/>
            <a:ext cx="4762500" cy="530679"/>
          </a:xfrm>
          <a:prstGeom prst="rect">
            <a:avLst/>
          </a:prstGeom>
          <a:solidFill>
            <a:srgbClr val="FFFFFF"/>
          </a:solidFill>
          <a:ln w="9525">
            <a:solidFill>
              <a:srgbClr val="D9E0E6"/>
            </a:solidFill>
            <a:prstDash val="solid"/>
          </a:ln>
        </p:spPr>
      </p:sp>
      <p:sp>
        <p:nvSpPr>
          <p:cNvPr id="43" name="矩形 42"/>
          <p:cNvSpPr>
            <a:spLocks noGrp="1"/>
          </p:cNvSpPr>
          <p:nvPr/>
        </p:nvSpPr>
        <p:spPr>
          <a:xfrm>
            <a:off x="3257550" y="4444093"/>
            <a:ext cx="457200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reverse-mass veto</a:t>
            </a:r>
            <a:endParaRPr sz="1125" b="0">
              <a:solidFill>
                <a:srgbClr val="152538"/>
              </a:solidFill>
            </a:endParaRPr>
          </a:p>
        </p:txBody>
      </p:sp>
      <p:sp>
        <p:nvSpPr>
          <p:cNvPr id="44" name="矩形 43"/>
          <p:cNvSpPr>
            <a:spLocks noGrp="1"/>
          </p:cNvSpPr>
          <p:nvPr/>
        </p:nvSpPr>
        <p:spPr>
          <a:xfrm>
            <a:off x="7924800" y="4405993"/>
            <a:ext cx="3429000" cy="530679"/>
          </a:xfrm>
          <a:prstGeom prst="rect">
            <a:avLst/>
          </a:prstGeom>
          <a:solidFill>
            <a:srgbClr val="FFFFFF"/>
          </a:solidFill>
          <a:ln w="9525">
            <a:solidFill>
              <a:srgbClr val="D9E0E6"/>
            </a:solidFill>
            <a:prstDash val="solid"/>
          </a:ln>
        </p:spPr>
      </p:sp>
      <p:sp>
        <p:nvSpPr>
          <p:cNvPr id="45" name="矩形 44"/>
          <p:cNvSpPr>
            <a:spLocks noGrp="1"/>
          </p:cNvSpPr>
          <p:nvPr/>
        </p:nvSpPr>
        <p:spPr>
          <a:xfrm>
            <a:off x="8020050" y="4444093"/>
            <a:ext cx="323850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L* = 0 if p₋ ≥ 0.20</a:t>
            </a:r>
            <a:endParaRPr sz="1125" b="0">
              <a:solidFill>
                <a:srgbClr val="152538"/>
              </a:solidFill>
            </a:endParaRPr>
          </a:p>
        </p:txBody>
      </p:sp>
      <p:sp>
        <p:nvSpPr>
          <p:cNvPr id="46" name="矩形 45"/>
          <p:cNvSpPr>
            <a:spLocks noGrp="1"/>
          </p:cNvSpPr>
          <p:nvPr/>
        </p:nvSpPr>
        <p:spPr>
          <a:xfrm>
            <a:off x="781050" y="4936671"/>
            <a:ext cx="2381250" cy="530679"/>
          </a:xfrm>
          <a:prstGeom prst="rect">
            <a:avLst/>
          </a:prstGeom>
          <a:solidFill>
            <a:srgbClr val="E8F1F8"/>
          </a:solidFill>
          <a:ln w="9525">
            <a:solidFill>
              <a:srgbClr val="D9E0E6"/>
            </a:solidFill>
            <a:prstDash val="solid"/>
          </a:ln>
        </p:spPr>
      </p:sp>
      <p:sp>
        <p:nvSpPr>
          <p:cNvPr id="47" name="矩形 46"/>
          <p:cNvSpPr>
            <a:spLocks noGrp="1"/>
          </p:cNvSpPr>
          <p:nvPr/>
        </p:nvSpPr>
        <p:spPr>
          <a:xfrm>
            <a:off x="876300" y="4974771"/>
            <a:ext cx="219075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Lc</a:t>
            </a:r>
            <a:endParaRPr sz="1125" b="0">
              <a:solidFill>
                <a:srgbClr val="152538"/>
              </a:solidFill>
            </a:endParaRPr>
          </a:p>
        </p:txBody>
      </p:sp>
      <p:sp>
        <p:nvSpPr>
          <p:cNvPr id="48" name="矩形 47"/>
          <p:cNvSpPr>
            <a:spLocks noGrp="1"/>
          </p:cNvSpPr>
          <p:nvPr/>
        </p:nvSpPr>
        <p:spPr>
          <a:xfrm>
            <a:off x="3162300" y="4936671"/>
            <a:ext cx="4762500" cy="530679"/>
          </a:xfrm>
          <a:prstGeom prst="rect">
            <a:avLst/>
          </a:prstGeom>
          <a:solidFill>
            <a:srgbClr val="E8F1F8"/>
          </a:solidFill>
          <a:ln w="9525">
            <a:solidFill>
              <a:srgbClr val="D9E0E6"/>
            </a:solidFill>
            <a:prstDash val="solid"/>
          </a:ln>
        </p:spPr>
      </p:sp>
      <p:sp>
        <p:nvSpPr>
          <p:cNvPr id="49" name="矩形 48"/>
          <p:cNvSpPr>
            <a:spLocks noGrp="1"/>
          </p:cNvSpPr>
          <p:nvPr/>
        </p:nvSpPr>
        <p:spPr>
          <a:xfrm>
            <a:off x="3257550" y="4974771"/>
            <a:ext cx="457200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optional command cap</a:t>
            </a:r>
            <a:endParaRPr sz="1125" b="0">
              <a:solidFill>
                <a:srgbClr val="152538"/>
              </a:solidFill>
            </a:endParaRPr>
          </a:p>
        </p:txBody>
      </p:sp>
      <p:sp>
        <p:nvSpPr>
          <p:cNvPr id="50" name="矩形 49"/>
          <p:cNvSpPr>
            <a:spLocks noGrp="1"/>
          </p:cNvSpPr>
          <p:nvPr/>
        </p:nvSpPr>
        <p:spPr>
          <a:xfrm>
            <a:off x="7924800" y="4936671"/>
            <a:ext cx="3429000" cy="530679"/>
          </a:xfrm>
          <a:prstGeom prst="rect">
            <a:avLst/>
          </a:prstGeom>
          <a:solidFill>
            <a:srgbClr val="E8F1F8"/>
          </a:solidFill>
          <a:ln w="9525">
            <a:solidFill>
              <a:srgbClr val="D9E0E6"/>
            </a:solidFill>
            <a:prstDash val="solid"/>
          </a:ln>
        </p:spPr>
      </p:sp>
      <p:sp>
        <p:nvSpPr>
          <p:cNvPr id="51" name="矩形 50"/>
          <p:cNvSpPr>
            <a:spLocks noGrp="1"/>
          </p:cNvSpPr>
          <p:nvPr/>
        </p:nvSpPr>
        <p:spPr>
          <a:xfrm>
            <a:off x="8020050" y="4974771"/>
            <a:ext cx="3238500" cy="454479"/>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minimum with other caps</a:t>
            </a:r>
            <a:endParaRPr sz="1125" b="0">
              <a:solidFill>
                <a:srgbClr val="152538"/>
              </a:solidFill>
            </a:endParaRPr>
          </a:p>
        </p:txBody>
      </p:sp>
      <p:sp>
        <p:nvSpPr>
          <p:cNvPr id="52" name="矩形 51"/>
          <p:cNvSpPr>
            <a:spLocks noGrp="1"/>
          </p:cNvSpPr>
          <p:nvPr/>
        </p:nvSpPr>
        <p:spPr>
          <a:xfrm>
            <a:off x="647700" y="5943600"/>
            <a:ext cx="10839450" cy="400050"/>
          </a:xfrm>
          <a:prstGeom prst="rect">
            <a:avLst/>
          </a:prstGeom>
          <a:solidFill>
            <a:srgbClr val="FFF0E2"/>
          </a:solidFill>
          <a:ln w="0">
            <a:noFill/>
            <a:prstDash val="solid"/>
          </a:ln>
        </p:spPr>
      </p:sp>
      <p:sp>
        <p:nvSpPr>
          <p:cNvPr id="53" name="矩形 52"/>
          <p:cNvSpPr>
            <a:spLocks noGrp="1"/>
          </p:cNvSpPr>
          <p:nvPr/>
        </p:nvSpPr>
        <p:spPr>
          <a:xfrm>
            <a:off x="647700" y="5943600"/>
            <a:ext cx="57150" cy="400050"/>
          </a:xfrm>
          <a:prstGeom prst="rect">
            <a:avLst/>
          </a:prstGeom>
          <a:solidFill>
            <a:srgbClr val="ED7F0D"/>
          </a:solidFill>
          <a:ln w="0">
            <a:noFill/>
            <a:prstDash val="solid"/>
          </a:ln>
        </p:spPr>
      </p:sp>
      <p:sp>
        <p:nvSpPr>
          <p:cNvPr id="54" name="矩形 53"/>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0.02 uniform term prevents one shaky observation from erasing geometric support.</a:t>
            </a:r>
            <a:endParaRPr sz="1275" b="1">
              <a:solidFill>
                <a:srgbClr val="152538"/>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44</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A06 · Proposition 1: statement, proof idea and assumption ledger</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III-C · Proposition 1</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44</a:t>
            </a:r>
            <a:endParaRPr sz="825" b="1">
              <a:solidFill>
                <a:srgbClr val="004282"/>
              </a:solidFill>
            </a:endParaRPr>
          </a:p>
        </p:txBody>
      </p:sp>
      <p:sp>
        <p:nvSpPr>
          <p:cNvPr id="10" name="圆角矩形 9"/>
          <p:cNvSpPr>
            <a:spLocks noGrp="1"/>
          </p:cNvSpPr>
          <p:nvPr/>
        </p:nvSpPr>
        <p:spPr>
          <a:xfrm>
            <a:off x="742950" y="1676400"/>
            <a:ext cx="6953250" cy="2476500"/>
          </a:xfrm>
          <a:prstGeom prst="roundRect">
            <a:avLst>
              <a:gd name="adj" fmla="val 3077"/>
            </a:avLst>
          </a:prstGeom>
          <a:solidFill>
            <a:srgbClr val="FFFFFF"/>
          </a:solidFill>
          <a:ln w="19050">
            <a:solidFill>
              <a:srgbClr val="004282"/>
            </a:solidFill>
            <a:prstDash val="solid"/>
          </a:ln>
        </p:spPr>
      </p:sp>
      <p:sp>
        <p:nvSpPr>
          <p:cNvPr id="11" name="矩形 10"/>
          <p:cNvSpPr>
            <a:spLocks noGrp="1"/>
          </p:cNvSpPr>
          <p:nvPr/>
        </p:nvSpPr>
        <p:spPr>
          <a:xfrm>
            <a:off x="1028700" y="2000250"/>
            <a:ext cx="6381750" cy="1714500"/>
          </a:xfrm>
          <a:prstGeom prst="rect">
            <a:avLst/>
          </a:prstGeom>
          <a:noFill/>
          <a:ln w="0">
            <a:noFill/>
            <a:prstDash val="solid"/>
          </a:ln>
        </p:spPr>
        <p:txBody>
          <a:bodyPr anchor="ctr"/>
          <a:lstStyle/>
          <a:p>
            <a:pPr algn="ctr">
              <a:defRPr sz="2025" b="1">
                <a:solidFill>
                  <a:srgbClr val="004282"/>
                </a:solidFill>
              </a:defRPr>
            </a:pPr>
            <a:r>
              <a:rPr sz="2025" b="1">
                <a:solidFill>
                  <a:srgbClr val="004282"/>
                </a:solidFill>
              </a:rPr>
              <a:t>L* ≤ Lproj  ⇒  retained projected mass ≥ 1 − α(q)</a:t>
            </a:r>
            <a:endParaRPr sz="2025" b="1">
              <a:solidFill>
                <a:srgbClr val="004282"/>
              </a:solidFill>
            </a:endParaRPr>
          </a:p>
          <a:p>
            <a:pPr algn="ctr">
              <a:defRPr sz="2025" b="1">
                <a:solidFill>
                  <a:srgbClr val="004282"/>
                </a:solidFill>
              </a:defRPr>
            </a:pPr>
            <a:r>
              <a:rPr sz="2025" b="1">
                <a:solidFill>
                  <a:srgbClr val="004282"/>
                </a:solidFill>
              </a:rPr>
              <a:t>L* ≤ Lrad   ⇒  radial travel remains capped by Q⁽ʷ⁾₀.₉₉</a:t>
            </a:r>
            <a:endParaRPr sz="2025" b="1">
              <a:solidFill>
                <a:srgbClr val="004282"/>
              </a:solidFill>
            </a:endParaRPr>
          </a:p>
        </p:txBody>
      </p:sp>
      <p:sp>
        <p:nvSpPr>
          <p:cNvPr id="12" name="矩形 11"/>
          <p:cNvSpPr>
            <a:spLocks noGrp="1"/>
          </p:cNvSpPr>
          <p:nvPr/>
        </p:nvSpPr>
        <p:spPr>
          <a:xfrm>
            <a:off x="8096250" y="1762125"/>
            <a:ext cx="2952750" cy="304800"/>
          </a:xfrm>
          <a:prstGeom prst="rect">
            <a:avLst/>
          </a:prstGeom>
          <a:noFill/>
          <a:ln w="0">
            <a:noFill/>
            <a:prstDash val="solid"/>
          </a:ln>
        </p:spPr>
        <p:txBody>
          <a:bodyPr anchor="ctr"/>
          <a:lstStyle/>
          <a:p>
            <a:pPr algn="ctr">
              <a:defRPr sz="1350" b="1">
                <a:solidFill>
                  <a:srgbClr val="ED7F0D"/>
                </a:solidFill>
              </a:defRPr>
            </a:pPr>
            <a:r>
              <a:rPr sz="1350" b="1">
                <a:solidFill>
                  <a:srgbClr val="ED7F0D"/>
                </a:solidFill>
              </a:rPr>
              <a:t>ASSUMPTIONS</a:t>
            </a:r>
            <a:endParaRPr sz="1350" b="1">
              <a:solidFill>
                <a:srgbClr val="ED7F0D"/>
              </a:solidFill>
            </a:endParaRPr>
          </a:p>
        </p:txBody>
      </p:sp>
      <p:sp>
        <p:nvSpPr>
          <p:cNvPr id="13" name="椭圆 12"/>
          <p:cNvSpPr>
            <a:spLocks noGrp="1"/>
          </p:cNvSpPr>
          <p:nvPr/>
        </p:nvSpPr>
        <p:spPr>
          <a:xfrm>
            <a:off x="8020050" y="2333625"/>
            <a:ext cx="76200" cy="76200"/>
          </a:xfrm>
          <a:prstGeom prst="ellipse">
            <a:avLst/>
          </a:prstGeom>
          <a:solidFill>
            <a:srgbClr val="ED7F0D"/>
          </a:solidFill>
          <a:ln w="9525">
            <a:solidFill>
              <a:srgbClr val="ED7F0D"/>
            </a:solidFill>
            <a:prstDash val="solid"/>
          </a:ln>
        </p:spPr>
      </p:sp>
      <p:sp>
        <p:nvSpPr>
          <p:cNvPr id="14" name="矩形 13"/>
          <p:cNvSpPr>
            <a:spLocks noGrp="1"/>
          </p:cNvSpPr>
          <p:nvPr/>
        </p:nvSpPr>
        <p:spPr>
          <a:xfrm>
            <a:off x="8229600" y="2238375"/>
            <a:ext cx="2933700" cy="495300"/>
          </a:xfrm>
          <a:prstGeom prst="rect">
            <a:avLst/>
          </a:prstGeom>
          <a:noFill/>
          <a:ln w="0">
            <a:noFill/>
            <a:prstDash val="solid"/>
          </a:ln>
        </p:spPr>
        <p:txBody>
          <a:bodyPr anchor="t"/>
          <a:lstStyle/>
          <a:p>
            <a:pPr algn="l">
              <a:defRPr sz="1350" b="0">
                <a:solidFill>
                  <a:srgbClr val="152538"/>
                </a:solidFill>
              </a:defRPr>
            </a:pPr>
            <a:r>
              <a:rPr sz="1350" b="0">
                <a:solidFill>
                  <a:srgbClr val="152538"/>
                </a:solidFill>
              </a:rPr>
              <a:t>Empirical fixed-particle posterior</a:t>
            </a:r>
            <a:endParaRPr sz="1350" b="0">
              <a:solidFill>
                <a:srgbClr val="152538"/>
              </a:solidFill>
            </a:endParaRPr>
          </a:p>
        </p:txBody>
      </p:sp>
      <p:sp>
        <p:nvSpPr>
          <p:cNvPr id="15" name="椭圆 14"/>
          <p:cNvSpPr>
            <a:spLocks noGrp="1"/>
          </p:cNvSpPr>
          <p:nvPr/>
        </p:nvSpPr>
        <p:spPr>
          <a:xfrm>
            <a:off x="8020050" y="2962275"/>
            <a:ext cx="76200" cy="76200"/>
          </a:xfrm>
          <a:prstGeom prst="ellipse">
            <a:avLst/>
          </a:prstGeom>
          <a:solidFill>
            <a:srgbClr val="ED7F0D"/>
          </a:solidFill>
          <a:ln w="9525">
            <a:solidFill>
              <a:srgbClr val="ED7F0D"/>
            </a:solidFill>
            <a:prstDash val="solid"/>
          </a:ln>
        </p:spPr>
      </p:sp>
      <p:sp>
        <p:nvSpPr>
          <p:cNvPr id="16" name="矩形 15"/>
          <p:cNvSpPr>
            <a:spLocks noGrp="1"/>
          </p:cNvSpPr>
          <p:nvPr/>
        </p:nvSpPr>
        <p:spPr>
          <a:xfrm>
            <a:off x="8229600" y="2867025"/>
            <a:ext cx="2933700" cy="495300"/>
          </a:xfrm>
          <a:prstGeom prst="rect">
            <a:avLst/>
          </a:prstGeom>
          <a:noFill/>
          <a:ln w="0">
            <a:noFill/>
            <a:prstDash val="solid"/>
          </a:ln>
        </p:spPr>
        <p:txBody>
          <a:bodyPr anchor="t"/>
          <a:lstStyle/>
          <a:p>
            <a:pPr algn="l">
              <a:defRPr sz="1350" b="0">
                <a:solidFill>
                  <a:srgbClr val="152538"/>
                </a:solidFill>
              </a:defRPr>
            </a:pPr>
            <a:r>
              <a:rPr sz="1350" b="0">
                <a:solidFill>
                  <a:srgbClr val="152538"/>
                </a:solidFill>
              </a:rPr>
              <a:t>Exact endpoint execution</a:t>
            </a:r>
            <a:endParaRPr sz="1350" b="0">
              <a:solidFill>
                <a:srgbClr val="152538"/>
              </a:solidFill>
            </a:endParaRPr>
          </a:p>
        </p:txBody>
      </p:sp>
      <p:sp>
        <p:nvSpPr>
          <p:cNvPr id="17" name="椭圆 16"/>
          <p:cNvSpPr>
            <a:spLocks noGrp="1"/>
          </p:cNvSpPr>
          <p:nvPr/>
        </p:nvSpPr>
        <p:spPr>
          <a:xfrm>
            <a:off x="8020050" y="3590925"/>
            <a:ext cx="76200" cy="76200"/>
          </a:xfrm>
          <a:prstGeom prst="ellipse">
            <a:avLst/>
          </a:prstGeom>
          <a:solidFill>
            <a:srgbClr val="ED7F0D"/>
          </a:solidFill>
          <a:ln w="9525">
            <a:solidFill>
              <a:srgbClr val="ED7F0D"/>
            </a:solidFill>
            <a:prstDash val="solid"/>
          </a:ln>
        </p:spPr>
      </p:sp>
      <p:sp>
        <p:nvSpPr>
          <p:cNvPr id="18" name="矩形 17"/>
          <p:cNvSpPr>
            <a:spLocks noGrp="1"/>
          </p:cNvSpPr>
          <p:nvPr/>
        </p:nvSpPr>
        <p:spPr>
          <a:xfrm>
            <a:off x="8229600" y="3495675"/>
            <a:ext cx="2933700" cy="495300"/>
          </a:xfrm>
          <a:prstGeom prst="rect">
            <a:avLst/>
          </a:prstGeom>
          <a:noFill/>
          <a:ln w="0">
            <a:noFill/>
            <a:prstDash val="solid"/>
          </a:ln>
        </p:spPr>
        <p:txBody>
          <a:bodyPr anchor="t"/>
          <a:lstStyle/>
          <a:p>
            <a:pPr algn="l">
              <a:defRPr sz="1350" b="0">
                <a:solidFill>
                  <a:srgbClr val="152538"/>
                </a:solidFill>
              </a:defRPr>
            </a:pPr>
            <a:r>
              <a:rPr sz="1350" b="0">
                <a:solidFill>
                  <a:srgbClr val="152538"/>
                </a:solidFill>
              </a:rPr>
              <a:t>No distribution shift during the bound</a:t>
            </a:r>
            <a:endParaRPr sz="1350" b="0">
              <a:solidFill>
                <a:srgbClr val="152538"/>
              </a:solidFill>
            </a:endParaRPr>
          </a:p>
        </p:txBody>
      </p:sp>
      <p:sp>
        <p:nvSpPr>
          <p:cNvPr id="19" name="椭圆 18"/>
          <p:cNvSpPr>
            <a:spLocks noGrp="1"/>
          </p:cNvSpPr>
          <p:nvPr/>
        </p:nvSpPr>
        <p:spPr>
          <a:xfrm>
            <a:off x="8020050" y="4219575"/>
            <a:ext cx="76200" cy="76200"/>
          </a:xfrm>
          <a:prstGeom prst="ellipse">
            <a:avLst/>
          </a:prstGeom>
          <a:solidFill>
            <a:srgbClr val="ED7F0D"/>
          </a:solidFill>
          <a:ln w="9525">
            <a:solidFill>
              <a:srgbClr val="ED7F0D"/>
            </a:solidFill>
            <a:prstDash val="solid"/>
          </a:ln>
        </p:spPr>
      </p:sp>
      <p:sp>
        <p:nvSpPr>
          <p:cNvPr id="20" name="矩形 19"/>
          <p:cNvSpPr>
            <a:spLocks noGrp="1"/>
          </p:cNvSpPr>
          <p:nvPr/>
        </p:nvSpPr>
        <p:spPr>
          <a:xfrm>
            <a:off x="8229600" y="4124325"/>
            <a:ext cx="2933700" cy="495300"/>
          </a:xfrm>
          <a:prstGeom prst="rect">
            <a:avLst/>
          </a:prstGeom>
          <a:noFill/>
          <a:ln w="0">
            <a:noFill/>
            <a:prstDash val="solid"/>
          </a:ln>
        </p:spPr>
        <p:txBody>
          <a:bodyPr anchor="t"/>
          <a:lstStyle/>
          <a:p>
            <a:pPr algn="l">
              <a:defRPr sz="1350" b="0">
                <a:solidFill>
                  <a:srgbClr val="152538"/>
                </a:solidFill>
              </a:defRPr>
            </a:pPr>
            <a:r>
              <a:rPr sz="1350" b="0">
                <a:solidFill>
                  <a:srgbClr val="152538"/>
                </a:solidFill>
              </a:rPr>
              <a:t>Finite residual coverage evaluated separately</a:t>
            </a:r>
            <a:endParaRPr sz="1350" b="0">
              <a:solidFill>
                <a:srgbClr val="152538"/>
              </a:solidFill>
            </a:endParaRPr>
          </a:p>
        </p:txBody>
      </p:sp>
      <p:sp>
        <p:nvSpPr>
          <p:cNvPr id="21" name="圆角矩形 20"/>
          <p:cNvSpPr>
            <a:spLocks noGrp="1"/>
          </p:cNvSpPr>
          <p:nvPr/>
        </p:nvSpPr>
        <p:spPr>
          <a:xfrm>
            <a:off x="1809750" y="4552950"/>
            <a:ext cx="8572500" cy="666750"/>
          </a:xfrm>
          <a:prstGeom prst="roundRect">
            <a:avLst>
              <a:gd name="adj" fmla="val 11429"/>
            </a:avLst>
          </a:prstGeom>
          <a:solidFill>
            <a:srgbClr val="FFF0E2"/>
          </a:solidFill>
          <a:ln w="9525">
            <a:solidFill>
              <a:srgbClr val="ED7F0D"/>
            </a:solidFill>
            <a:prstDash val="solid"/>
          </a:ln>
        </p:spPr>
      </p:sp>
      <p:sp>
        <p:nvSpPr>
          <p:cNvPr id="22" name="矩形 21"/>
          <p:cNvSpPr>
            <a:spLocks noGrp="1"/>
          </p:cNvSpPr>
          <p:nvPr/>
        </p:nvSpPr>
        <p:spPr>
          <a:xfrm>
            <a:off x="2190750" y="4705350"/>
            <a:ext cx="7810500" cy="361950"/>
          </a:xfrm>
          <a:prstGeom prst="rect">
            <a:avLst/>
          </a:prstGeom>
          <a:noFill/>
          <a:ln w="0">
            <a:noFill/>
            <a:prstDash val="solid"/>
          </a:ln>
        </p:spPr>
        <p:txBody>
          <a:bodyPr anchor="ctr"/>
          <a:lstStyle/>
          <a:p>
            <a:pPr algn="ctr">
              <a:defRPr sz="1875" b="1">
                <a:solidFill>
                  <a:srgbClr val="ED7F0D"/>
                </a:solidFill>
              </a:defRPr>
            </a:pPr>
            <a:r>
              <a:rPr sz="1875" b="1">
                <a:solidFill>
                  <a:srgbClr val="ED7F0D"/>
                </a:solidFill>
              </a:rPr>
              <a:t>Retained posterior support ≠ capture guarantee</a:t>
            </a:r>
            <a:endParaRPr sz="1875" b="1">
              <a:solidFill>
                <a:srgbClr val="ED7F0D"/>
              </a:solidFill>
            </a:endParaRPr>
          </a:p>
        </p:txBody>
      </p:sp>
      <p:sp>
        <p:nvSpPr>
          <p:cNvPr id="23" name="矩形 22"/>
          <p:cNvSpPr>
            <a:spLocks noGrp="1"/>
          </p:cNvSpPr>
          <p:nvPr/>
        </p:nvSpPr>
        <p:spPr>
          <a:xfrm>
            <a:off x="647700" y="5943600"/>
            <a:ext cx="10839450" cy="400050"/>
          </a:xfrm>
          <a:prstGeom prst="rect">
            <a:avLst/>
          </a:prstGeom>
          <a:solidFill>
            <a:srgbClr val="FFF0E2"/>
          </a:solidFill>
          <a:ln w="0">
            <a:noFill/>
            <a:prstDash val="solid"/>
          </a:ln>
        </p:spPr>
      </p:sp>
      <p:sp>
        <p:nvSpPr>
          <p:cNvPr id="24" name="矩形 23"/>
          <p:cNvSpPr>
            <a:spLocks noGrp="1"/>
          </p:cNvSpPr>
          <p:nvPr/>
        </p:nvSpPr>
        <p:spPr>
          <a:xfrm>
            <a:off x="647700" y="5943600"/>
            <a:ext cx="57150" cy="400050"/>
          </a:xfrm>
          <a:prstGeom prst="rect">
            <a:avLst/>
          </a:prstGeom>
          <a:solidFill>
            <a:srgbClr val="ED7F0D"/>
          </a:solidFill>
          <a:ln w="0">
            <a:noFill/>
            <a:prstDash val="solid"/>
          </a:ln>
        </p:spPr>
      </p:sp>
      <p:sp>
        <p:nvSpPr>
          <p:cNvPr id="25" name="矩形 24"/>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proof constrains allocated support. It does not prove the executed path captures the socket.</a:t>
            </a:r>
            <a:endParaRPr sz="1275" b="1">
              <a:solidFill>
                <a:srgbClr val="152538"/>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45</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A07 · PGS-G utility, switching and geometric coverage</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III-C · Eqs. (23)–(25)</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45</a:t>
            </a:r>
            <a:endParaRPr sz="825" b="1">
              <a:solidFill>
                <a:srgbClr val="004282"/>
              </a:solidFill>
            </a:endParaRPr>
          </a:p>
        </p:txBody>
      </p:sp>
      <p:sp>
        <p:nvSpPr>
          <p:cNvPr id="10" name="圆角矩形 9"/>
          <p:cNvSpPr>
            <a:spLocks noGrp="1"/>
          </p:cNvSpPr>
          <p:nvPr/>
        </p:nvSpPr>
        <p:spPr>
          <a:xfrm>
            <a:off x="704850" y="1428750"/>
            <a:ext cx="10725150" cy="4457700"/>
          </a:xfrm>
          <a:prstGeom prst="roundRect">
            <a:avLst>
              <a:gd name="adj" fmla="val 1709"/>
            </a:avLst>
          </a:prstGeom>
          <a:solidFill>
            <a:srgbClr val="FFFFFF"/>
          </a:solidFill>
          <a:ln w="9525">
            <a:solidFill>
              <a:srgbClr val="D9E0E6"/>
            </a:solidFill>
            <a:prstDash val="solid"/>
          </a:ln>
        </p:spPr>
      </p:sp>
      <p:pic>
        <p:nvPicPr>
          <p:cNvPr id="23" name="图片 22"/>
          <p:cNvPicPr>
            <a:picLocks noChangeAspect="1"/>
          </p:cNvPicPr>
          <p:nvPr/>
        </p:nvPicPr>
        <p:blipFill>
          <a:blip r:embed="rId1"/>
          <a:stretch>
            <a:fillRect/>
          </a:stretch>
        </p:blipFill>
        <p:spPr>
          <a:xfrm>
            <a:off x="1223963" y="1504950"/>
            <a:ext cx="9686925" cy="4305300"/>
          </a:xfrm>
          <a:prstGeom prst="roundRect">
            <a:avLst>
              <a:gd name="adj" fmla="val 1770"/>
            </a:avLst>
          </a:prstGeom>
        </p:spPr>
      </p:pic>
      <p:sp>
        <p:nvSpPr>
          <p:cNvPr id="11" name="矩形 10"/>
          <p:cNvSpPr>
            <a:spLocks noGrp="1"/>
          </p:cNvSpPr>
          <p:nvPr/>
        </p:nvSpPr>
        <p:spPr>
          <a:xfrm>
            <a:off x="647700" y="5943600"/>
            <a:ext cx="10839450" cy="400050"/>
          </a:xfrm>
          <a:prstGeom prst="rect">
            <a:avLst/>
          </a:prstGeom>
          <a:solidFill>
            <a:srgbClr val="FFF0E2"/>
          </a:solidFill>
          <a:ln w="0">
            <a:noFill/>
            <a:prstDash val="solid"/>
          </a:ln>
        </p:spPr>
      </p:sp>
      <p:sp>
        <p:nvSpPr>
          <p:cNvPr id="12" name="矩形 11"/>
          <p:cNvSpPr>
            <a:spLocks noGrp="1"/>
          </p:cNvSpPr>
          <p:nvPr/>
        </p:nvSpPr>
        <p:spPr>
          <a:xfrm>
            <a:off x="647700" y="5943600"/>
            <a:ext cx="57150" cy="400050"/>
          </a:xfrm>
          <a:prstGeom prst="rect">
            <a:avLst/>
          </a:prstGeom>
          <a:solidFill>
            <a:srgbClr val="ED7F0D"/>
          </a:solidFill>
          <a:ln w="0">
            <a:noFill/>
            <a:prstDash val="solid"/>
          </a:ln>
        </p:spPr>
      </p:sp>
      <p:sp>
        <p:nvSpPr>
          <p:cNvPr id="13" name="矩形 1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finite-domain grid satisfies its geometric spacing condition under ideal tracking; contact execution, time budget and engagement are separate.</a:t>
            </a:r>
            <a:endParaRPr sz="1275" b="1">
              <a:solidFill>
                <a:srgbClr val="152538"/>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46</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A08 · Full M8 outcomes and conditional metrics</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IV-B–C · Table II</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46</a:t>
            </a:r>
            <a:endParaRPr sz="825" b="1">
              <a:solidFill>
                <a:srgbClr val="004282"/>
              </a:solidFill>
            </a:endParaRPr>
          </a:p>
        </p:txBody>
      </p:sp>
      <p:sp>
        <p:nvSpPr>
          <p:cNvPr id="10" name="矩形 9"/>
          <p:cNvSpPr>
            <a:spLocks noGrp="1"/>
          </p:cNvSpPr>
          <p:nvPr/>
        </p:nvSpPr>
        <p:spPr>
          <a:xfrm>
            <a:off x="781050" y="1752600"/>
            <a:ext cx="2381250" cy="742950"/>
          </a:xfrm>
          <a:prstGeom prst="rect">
            <a:avLst/>
          </a:prstGeom>
          <a:solidFill>
            <a:srgbClr val="004282"/>
          </a:solidFill>
          <a:ln w="9525">
            <a:solidFill>
              <a:srgbClr val="D9E0E6"/>
            </a:solidFill>
            <a:prstDash val="solid"/>
          </a:ln>
        </p:spPr>
      </p:sp>
      <p:sp>
        <p:nvSpPr>
          <p:cNvPr id="11" name="矩形 10"/>
          <p:cNvSpPr>
            <a:spLocks noGrp="1"/>
          </p:cNvSpPr>
          <p:nvPr/>
        </p:nvSpPr>
        <p:spPr>
          <a:xfrm>
            <a:off x="876300" y="1790700"/>
            <a:ext cx="2190750" cy="66675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Method</a:t>
            </a:r>
            <a:endParaRPr sz="1200" b="1">
              <a:solidFill>
                <a:srgbClr val="FFFFFF"/>
              </a:solidFill>
            </a:endParaRPr>
          </a:p>
        </p:txBody>
      </p:sp>
      <p:sp>
        <p:nvSpPr>
          <p:cNvPr id="12" name="矩形 11"/>
          <p:cNvSpPr>
            <a:spLocks noGrp="1"/>
          </p:cNvSpPr>
          <p:nvPr/>
        </p:nvSpPr>
        <p:spPr>
          <a:xfrm>
            <a:off x="3162300" y="1752600"/>
            <a:ext cx="4762500" cy="742950"/>
          </a:xfrm>
          <a:prstGeom prst="rect">
            <a:avLst/>
          </a:prstGeom>
          <a:solidFill>
            <a:srgbClr val="004282"/>
          </a:solidFill>
          <a:ln w="9525">
            <a:solidFill>
              <a:srgbClr val="D9E0E6"/>
            </a:solidFill>
            <a:prstDash val="solid"/>
          </a:ln>
        </p:spPr>
      </p:sp>
      <p:sp>
        <p:nvSpPr>
          <p:cNvPr id="13" name="矩形 12"/>
          <p:cNvSpPr>
            <a:spLocks noGrp="1"/>
          </p:cNvSpPr>
          <p:nvPr/>
        </p:nvSpPr>
        <p:spPr>
          <a:xfrm>
            <a:off x="3257550" y="1790700"/>
            <a:ext cx="4572000" cy="66675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Verified / 24</a:t>
            </a:r>
            <a:endParaRPr sz="1200" b="1">
              <a:solidFill>
                <a:srgbClr val="FFFFFF"/>
              </a:solidFill>
            </a:endParaRPr>
          </a:p>
        </p:txBody>
      </p:sp>
      <p:sp>
        <p:nvSpPr>
          <p:cNvPr id="14" name="矩形 13"/>
          <p:cNvSpPr>
            <a:spLocks noGrp="1"/>
          </p:cNvSpPr>
          <p:nvPr/>
        </p:nvSpPr>
        <p:spPr>
          <a:xfrm>
            <a:off x="7924800" y="1752600"/>
            <a:ext cx="3429000" cy="742950"/>
          </a:xfrm>
          <a:prstGeom prst="rect">
            <a:avLst/>
          </a:prstGeom>
          <a:solidFill>
            <a:srgbClr val="004282"/>
          </a:solidFill>
          <a:ln w="9525">
            <a:solidFill>
              <a:srgbClr val="D9E0E6"/>
            </a:solidFill>
            <a:prstDash val="solid"/>
          </a:ln>
        </p:spPr>
      </p:sp>
      <p:sp>
        <p:nvSpPr>
          <p:cNvPr id="15" name="矩形 14"/>
          <p:cNvSpPr>
            <a:spLocks noGrp="1"/>
          </p:cNvSpPr>
          <p:nvPr/>
        </p:nvSpPr>
        <p:spPr>
          <a:xfrm>
            <a:off x="8020050" y="1790700"/>
            <a:ext cx="3238500" cy="66675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Interpretation</a:t>
            </a:r>
            <a:endParaRPr sz="1200" b="1">
              <a:solidFill>
                <a:srgbClr val="FFFFFF"/>
              </a:solidFill>
            </a:endParaRPr>
          </a:p>
        </p:txBody>
      </p:sp>
      <p:sp>
        <p:nvSpPr>
          <p:cNvPr id="16" name="矩形 15"/>
          <p:cNvSpPr>
            <a:spLocks noGrp="1"/>
          </p:cNvSpPr>
          <p:nvPr/>
        </p:nvSpPr>
        <p:spPr>
          <a:xfrm>
            <a:off x="781050" y="2495550"/>
            <a:ext cx="2381250" cy="742950"/>
          </a:xfrm>
          <a:prstGeom prst="rect">
            <a:avLst/>
          </a:prstGeom>
          <a:solidFill>
            <a:srgbClr val="FFFFFF"/>
          </a:solidFill>
          <a:ln w="9525">
            <a:solidFill>
              <a:srgbClr val="D9E0E6"/>
            </a:solidFill>
            <a:prstDash val="solid"/>
          </a:ln>
        </p:spPr>
      </p:sp>
      <p:sp>
        <p:nvSpPr>
          <p:cNvPr id="17" name="矩形 16"/>
          <p:cNvSpPr>
            <a:spLocks noGrp="1"/>
          </p:cNvSpPr>
          <p:nvPr/>
        </p:nvSpPr>
        <p:spPr>
          <a:xfrm>
            <a:off x="876300" y="2533650"/>
            <a:ext cx="219075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PGS-O</a:t>
            </a:r>
            <a:endParaRPr sz="1125" b="0">
              <a:solidFill>
                <a:srgbClr val="152538"/>
              </a:solidFill>
            </a:endParaRPr>
          </a:p>
        </p:txBody>
      </p:sp>
      <p:sp>
        <p:nvSpPr>
          <p:cNvPr id="18" name="矩形 17"/>
          <p:cNvSpPr>
            <a:spLocks noGrp="1"/>
          </p:cNvSpPr>
          <p:nvPr/>
        </p:nvSpPr>
        <p:spPr>
          <a:xfrm>
            <a:off x="3162300" y="2495550"/>
            <a:ext cx="4762500" cy="742950"/>
          </a:xfrm>
          <a:prstGeom prst="rect">
            <a:avLst/>
          </a:prstGeom>
          <a:solidFill>
            <a:srgbClr val="FFFFFF"/>
          </a:solidFill>
          <a:ln w="9525">
            <a:solidFill>
              <a:srgbClr val="D9E0E6"/>
            </a:solidFill>
            <a:prstDash val="solid"/>
          </a:ln>
        </p:spPr>
      </p:sp>
      <p:sp>
        <p:nvSpPr>
          <p:cNvPr id="19" name="矩形 18"/>
          <p:cNvSpPr>
            <a:spLocks noGrp="1"/>
          </p:cNvSpPr>
          <p:nvPr/>
        </p:nvSpPr>
        <p:spPr>
          <a:xfrm>
            <a:off x="3257550" y="2533650"/>
            <a:ext cx="45720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20</a:t>
            </a:r>
            <a:endParaRPr sz="1125" b="0">
              <a:solidFill>
                <a:srgbClr val="152538"/>
              </a:solidFill>
            </a:endParaRPr>
          </a:p>
        </p:txBody>
      </p:sp>
      <p:sp>
        <p:nvSpPr>
          <p:cNvPr id="20" name="矩形 19"/>
          <p:cNvSpPr>
            <a:spLocks noGrp="1"/>
          </p:cNvSpPr>
          <p:nvPr/>
        </p:nvSpPr>
        <p:spPr>
          <a:xfrm>
            <a:off x="7924800" y="2495550"/>
            <a:ext cx="3429000" cy="742950"/>
          </a:xfrm>
          <a:prstGeom prst="rect">
            <a:avLst/>
          </a:prstGeom>
          <a:solidFill>
            <a:srgbClr val="FFFFFF"/>
          </a:solidFill>
          <a:ln w="9525">
            <a:solidFill>
              <a:srgbClr val="D9E0E6"/>
            </a:solidFill>
            <a:prstDash val="solid"/>
          </a:ln>
        </p:spPr>
      </p:sp>
      <p:sp>
        <p:nvSpPr>
          <p:cNvPr id="21" name="矩形 20"/>
          <p:cNvSpPr>
            <a:spLocks noGrp="1"/>
          </p:cNvSpPr>
          <p:nvPr/>
        </p:nvSpPr>
        <p:spPr>
          <a:xfrm>
            <a:off x="8020050" y="2533650"/>
            <a:ext cx="32385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primary posterior-guided variant</a:t>
            </a:r>
            <a:endParaRPr sz="1125" b="0">
              <a:solidFill>
                <a:srgbClr val="152538"/>
              </a:solidFill>
            </a:endParaRPr>
          </a:p>
        </p:txBody>
      </p:sp>
      <p:sp>
        <p:nvSpPr>
          <p:cNvPr id="22" name="矩形 21"/>
          <p:cNvSpPr>
            <a:spLocks noGrp="1"/>
          </p:cNvSpPr>
          <p:nvPr/>
        </p:nvSpPr>
        <p:spPr>
          <a:xfrm>
            <a:off x="781050" y="3238500"/>
            <a:ext cx="2381250" cy="742950"/>
          </a:xfrm>
          <a:prstGeom prst="rect">
            <a:avLst/>
          </a:prstGeom>
          <a:solidFill>
            <a:srgbClr val="E8F1F8"/>
          </a:solidFill>
          <a:ln w="9525">
            <a:solidFill>
              <a:srgbClr val="D9E0E6"/>
            </a:solidFill>
            <a:prstDash val="solid"/>
          </a:ln>
        </p:spPr>
      </p:sp>
      <p:sp>
        <p:nvSpPr>
          <p:cNvPr id="23" name="矩形 22"/>
          <p:cNvSpPr>
            <a:spLocks noGrp="1"/>
          </p:cNvSpPr>
          <p:nvPr/>
        </p:nvSpPr>
        <p:spPr>
          <a:xfrm>
            <a:off x="876300" y="3276600"/>
            <a:ext cx="219075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PGS-G</a:t>
            </a:r>
            <a:endParaRPr sz="1125" b="0">
              <a:solidFill>
                <a:srgbClr val="152538"/>
              </a:solidFill>
            </a:endParaRPr>
          </a:p>
        </p:txBody>
      </p:sp>
      <p:sp>
        <p:nvSpPr>
          <p:cNvPr id="24" name="矩形 23"/>
          <p:cNvSpPr>
            <a:spLocks noGrp="1"/>
          </p:cNvSpPr>
          <p:nvPr/>
        </p:nvSpPr>
        <p:spPr>
          <a:xfrm>
            <a:off x="3162300" y="3238500"/>
            <a:ext cx="4762500" cy="742950"/>
          </a:xfrm>
          <a:prstGeom prst="rect">
            <a:avLst/>
          </a:prstGeom>
          <a:solidFill>
            <a:srgbClr val="E8F1F8"/>
          </a:solidFill>
          <a:ln w="9525">
            <a:solidFill>
              <a:srgbClr val="D9E0E6"/>
            </a:solidFill>
            <a:prstDash val="solid"/>
          </a:ln>
        </p:spPr>
      </p:sp>
      <p:sp>
        <p:nvSpPr>
          <p:cNvPr id="25" name="矩形 24"/>
          <p:cNvSpPr>
            <a:spLocks noGrp="1"/>
          </p:cNvSpPr>
          <p:nvPr/>
        </p:nvSpPr>
        <p:spPr>
          <a:xfrm>
            <a:off x="3257550" y="3276600"/>
            <a:ext cx="45720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19</a:t>
            </a:r>
            <a:endParaRPr sz="1125" b="0">
              <a:solidFill>
                <a:srgbClr val="152538"/>
              </a:solidFill>
            </a:endParaRPr>
          </a:p>
        </p:txBody>
      </p:sp>
      <p:sp>
        <p:nvSpPr>
          <p:cNvPr id="26" name="矩形 25"/>
          <p:cNvSpPr>
            <a:spLocks noGrp="1"/>
          </p:cNvSpPr>
          <p:nvPr/>
        </p:nvSpPr>
        <p:spPr>
          <a:xfrm>
            <a:off x="7924800" y="3238500"/>
            <a:ext cx="3429000" cy="742950"/>
          </a:xfrm>
          <a:prstGeom prst="rect">
            <a:avLst/>
          </a:prstGeom>
          <a:solidFill>
            <a:srgbClr val="E8F1F8"/>
          </a:solidFill>
          <a:ln w="9525">
            <a:solidFill>
              <a:srgbClr val="D9E0E6"/>
            </a:solidFill>
            <a:prstDash val="solid"/>
          </a:ln>
        </p:spPr>
      </p:sp>
      <p:sp>
        <p:nvSpPr>
          <p:cNvPr id="27" name="矩形 26"/>
          <p:cNvSpPr>
            <a:spLocks noGrp="1"/>
          </p:cNvSpPr>
          <p:nvPr/>
        </p:nvSpPr>
        <p:spPr>
          <a:xfrm>
            <a:off x="8020050" y="3276600"/>
            <a:ext cx="32385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entropy-grid residual variant</a:t>
            </a:r>
            <a:endParaRPr sz="1125" b="0">
              <a:solidFill>
                <a:srgbClr val="152538"/>
              </a:solidFill>
            </a:endParaRPr>
          </a:p>
        </p:txBody>
      </p:sp>
      <p:sp>
        <p:nvSpPr>
          <p:cNvPr id="28" name="矩形 27"/>
          <p:cNvSpPr>
            <a:spLocks noGrp="1"/>
          </p:cNvSpPr>
          <p:nvPr/>
        </p:nvSpPr>
        <p:spPr>
          <a:xfrm>
            <a:off x="781050" y="3981450"/>
            <a:ext cx="2381250" cy="742950"/>
          </a:xfrm>
          <a:prstGeom prst="rect">
            <a:avLst/>
          </a:prstGeom>
          <a:solidFill>
            <a:srgbClr val="FFFFFF"/>
          </a:solidFill>
          <a:ln w="9525">
            <a:solidFill>
              <a:srgbClr val="D9E0E6"/>
            </a:solidFill>
            <a:prstDash val="solid"/>
          </a:ln>
        </p:spPr>
      </p:sp>
      <p:sp>
        <p:nvSpPr>
          <p:cNvPr id="29" name="矩形 28"/>
          <p:cNvSpPr>
            <a:spLocks noGrp="1"/>
          </p:cNvSpPr>
          <p:nvPr/>
        </p:nvSpPr>
        <p:spPr>
          <a:xfrm>
            <a:off x="876300" y="4019550"/>
            <a:ext cx="219075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Outward</a:t>
            </a:r>
            <a:endParaRPr sz="1125" b="0">
              <a:solidFill>
                <a:srgbClr val="152538"/>
              </a:solidFill>
            </a:endParaRPr>
          </a:p>
        </p:txBody>
      </p:sp>
      <p:sp>
        <p:nvSpPr>
          <p:cNvPr id="30" name="矩形 29"/>
          <p:cNvSpPr>
            <a:spLocks noGrp="1"/>
          </p:cNvSpPr>
          <p:nvPr/>
        </p:nvSpPr>
        <p:spPr>
          <a:xfrm>
            <a:off x="3162300" y="3981450"/>
            <a:ext cx="4762500" cy="742950"/>
          </a:xfrm>
          <a:prstGeom prst="rect">
            <a:avLst/>
          </a:prstGeom>
          <a:solidFill>
            <a:srgbClr val="FFFFFF"/>
          </a:solidFill>
          <a:ln w="9525">
            <a:solidFill>
              <a:srgbClr val="D9E0E6"/>
            </a:solidFill>
            <a:prstDash val="solid"/>
          </a:ln>
        </p:spPr>
      </p:sp>
      <p:sp>
        <p:nvSpPr>
          <p:cNvPr id="31" name="矩形 30"/>
          <p:cNvSpPr>
            <a:spLocks noGrp="1"/>
          </p:cNvSpPr>
          <p:nvPr/>
        </p:nvSpPr>
        <p:spPr>
          <a:xfrm>
            <a:off x="3257550" y="4019550"/>
            <a:ext cx="45720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19</a:t>
            </a:r>
            <a:endParaRPr sz="1125" b="0">
              <a:solidFill>
                <a:srgbClr val="152538"/>
              </a:solidFill>
            </a:endParaRPr>
          </a:p>
        </p:txBody>
      </p:sp>
      <p:sp>
        <p:nvSpPr>
          <p:cNvPr id="32" name="矩形 31"/>
          <p:cNvSpPr>
            <a:spLocks noGrp="1"/>
          </p:cNvSpPr>
          <p:nvPr/>
        </p:nvSpPr>
        <p:spPr>
          <a:xfrm>
            <a:off x="7924800" y="3981450"/>
            <a:ext cx="3429000" cy="742950"/>
          </a:xfrm>
          <a:prstGeom prst="rect">
            <a:avLst/>
          </a:prstGeom>
          <a:solidFill>
            <a:srgbClr val="FFFFFF"/>
          </a:solidFill>
          <a:ln w="9525">
            <a:solidFill>
              <a:srgbClr val="D9E0E6"/>
            </a:solidFill>
            <a:prstDash val="solid"/>
          </a:ln>
        </p:spPr>
      </p:sp>
      <p:sp>
        <p:nvSpPr>
          <p:cNvPr id="33" name="矩形 32"/>
          <p:cNvSpPr>
            <a:spLocks noGrp="1"/>
          </p:cNvSpPr>
          <p:nvPr/>
        </p:nvSpPr>
        <p:spPr>
          <a:xfrm>
            <a:off x="8020050" y="4019550"/>
            <a:ext cx="32385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global Archimedean spiral</a:t>
            </a:r>
            <a:endParaRPr sz="1125" b="0">
              <a:solidFill>
                <a:srgbClr val="152538"/>
              </a:solidFill>
            </a:endParaRPr>
          </a:p>
        </p:txBody>
      </p:sp>
      <p:sp>
        <p:nvSpPr>
          <p:cNvPr id="34" name="矩形 33"/>
          <p:cNvSpPr>
            <a:spLocks noGrp="1"/>
          </p:cNvSpPr>
          <p:nvPr/>
        </p:nvSpPr>
        <p:spPr>
          <a:xfrm>
            <a:off x="781050" y="4724400"/>
            <a:ext cx="2381250" cy="742950"/>
          </a:xfrm>
          <a:prstGeom prst="rect">
            <a:avLst/>
          </a:prstGeom>
          <a:solidFill>
            <a:srgbClr val="E8F1F8"/>
          </a:solidFill>
          <a:ln w="9525">
            <a:solidFill>
              <a:srgbClr val="D9E0E6"/>
            </a:solidFill>
            <a:prstDash val="solid"/>
          </a:ln>
        </p:spPr>
      </p:sp>
      <p:sp>
        <p:nvSpPr>
          <p:cNvPr id="35" name="矩形 34"/>
          <p:cNvSpPr>
            <a:spLocks noGrp="1"/>
          </p:cNvSpPr>
          <p:nvPr/>
        </p:nvSpPr>
        <p:spPr>
          <a:xfrm>
            <a:off x="876300" y="4762500"/>
            <a:ext cx="219075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Direct-4C</a:t>
            </a:r>
            <a:endParaRPr sz="1125" b="0">
              <a:solidFill>
                <a:srgbClr val="152538"/>
              </a:solidFill>
            </a:endParaRPr>
          </a:p>
        </p:txBody>
      </p:sp>
      <p:sp>
        <p:nvSpPr>
          <p:cNvPr id="36" name="矩形 35"/>
          <p:cNvSpPr>
            <a:spLocks noGrp="1"/>
          </p:cNvSpPr>
          <p:nvPr/>
        </p:nvSpPr>
        <p:spPr>
          <a:xfrm>
            <a:off x="3162300" y="4724400"/>
            <a:ext cx="4762500" cy="742950"/>
          </a:xfrm>
          <a:prstGeom prst="rect">
            <a:avLst/>
          </a:prstGeom>
          <a:solidFill>
            <a:srgbClr val="E8F1F8"/>
          </a:solidFill>
          <a:ln w="9525">
            <a:solidFill>
              <a:srgbClr val="D9E0E6"/>
            </a:solidFill>
            <a:prstDash val="solid"/>
          </a:ln>
        </p:spPr>
      </p:sp>
      <p:sp>
        <p:nvSpPr>
          <p:cNvPr id="37" name="矩形 36"/>
          <p:cNvSpPr>
            <a:spLocks noGrp="1"/>
          </p:cNvSpPr>
          <p:nvPr/>
        </p:nvSpPr>
        <p:spPr>
          <a:xfrm>
            <a:off x="3257550" y="4762500"/>
            <a:ext cx="45720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17</a:t>
            </a:r>
            <a:endParaRPr sz="1125" b="0">
              <a:solidFill>
                <a:srgbClr val="152538"/>
              </a:solidFill>
            </a:endParaRPr>
          </a:p>
        </p:txBody>
      </p:sp>
      <p:sp>
        <p:nvSpPr>
          <p:cNvPr id="38" name="矩形 37"/>
          <p:cNvSpPr>
            <a:spLocks noGrp="1"/>
          </p:cNvSpPr>
          <p:nvPr/>
        </p:nvSpPr>
        <p:spPr>
          <a:xfrm>
            <a:off x="7924800" y="4724400"/>
            <a:ext cx="3429000" cy="742950"/>
          </a:xfrm>
          <a:prstGeom prst="rect">
            <a:avLst/>
          </a:prstGeom>
          <a:solidFill>
            <a:srgbClr val="E8F1F8"/>
          </a:solidFill>
          <a:ln w="9525">
            <a:solidFill>
              <a:srgbClr val="D9E0E6"/>
            </a:solidFill>
            <a:prstDash val="solid"/>
          </a:ln>
        </p:spPr>
      </p:sp>
      <p:sp>
        <p:nvSpPr>
          <p:cNvPr id="39" name="矩形 38"/>
          <p:cNvSpPr>
            <a:spLocks noGrp="1"/>
          </p:cNvSpPr>
          <p:nvPr/>
        </p:nvSpPr>
        <p:spPr>
          <a:xfrm>
            <a:off x="8020050" y="4762500"/>
            <a:ext cx="32385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bounded-ray baseline</a:t>
            </a:r>
            <a:endParaRPr sz="1125" b="0">
              <a:solidFill>
                <a:srgbClr val="152538"/>
              </a:solidFill>
            </a:endParaRPr>
          </a:p>
        </p:txBody>
      </p:sp>
      <p:sp>
        <p:nvSpPr>
          <p:cNvPr id="40" name="矩形 39"/>
          <p:cNvSpPr>
            <a:spLocks noGrp="1"/>
          </p:cNvSpPr>
          <p:nvPr/>
        </p:nvSpPr>
        <p:spPr>
          <a:xfrm>
            <a:off x="647700" y="5943600"/>
            <a:ext cx="10839450" cy="400050"/>
          </a:xfrm>
          <a:prstGeom prst="rect">
            <a:avLst/>
          </a:prstGeom>
          <a:solidFill>
            <a:srgbClr val="FFF0E2"/>
          </a:solidFill>
          <a:ln w="0">
            <a:noFill/>
            <a:prstDash val="solid"/>
          </a:ln>
        </p:spPr>
      </p:sp>
      <p:sp>
        <p:nvSpPr>
          <p:cNvPr id="41" name="矩形 40"/>
          <p:cNvSpPr>
            <a:spLocks noGrp="1"/>
          </p:cNvSpPr>
          <p:nvPr/>
        </p:nvSpPr>
        <p:spPr>
          <a:xfrm>
            <a:off x="647700" y="5943600"/>
            <a:ext cx="57150" cy="400050"/>
          </a:xfrm>
          <a:prstGeom prst="rect">
            <a:avLst/>
          </a:prstGeom>
          <a:solidFill>
            <a:srgbClr val="ED7F0D"/>
          </a:solidFill>
          <a:ln w="0">
            <a:noFill/>
            <a:prstDash val="solid"/>
          </a:ln>
        </p:spPr>
      </p:sp>
      <p:sp>
        <p:nvSpPr>
          <p:cNvPr id="42" name="矩形 41"/>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Counts alone do not establish superiority; conditional efficiency and paired denominators are reported separately.</a:t>
            </a:r>
            <a:endParaRPr sz="1275" b="1">
              <a:solidFill>
                <a:srgbClr val="152538"/>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47</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A09 · Paired-statistics denominators and exact tests</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IV-C</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47</a:t>
            </a:r>
            <a:endParaRPr sz="825" b="1">
              <a:solidFill>
                <a:srgbClr val="004282"/>
              </a:solidFill>
            </a:endParaRPr>
          </a:p>
        </p:txBody>
      </p:sp>
      <p:sp>
        <p:nvSpPr>
          <p:cNvPr id="10" name="矩形 9"/>
          <p:cNvSpPr>
            <a:spLocks noGrp="1"/>
          </p:cNvSpPr>
          <p:nvPr/>
        </p:nvSpPr>
        <p:spPr>
          <a:xfrm>
            <a:off x="781050" y="1752600"/>
            <a:ext cx="2381250" cy="742950"/>
          </a:xfrm>
          <a:prstGeom prst="rect">
            <a:avLst/>
          </a:prstGeom>
          <a:solidFill>
            <a:srgbClr val="004282"/>
          </a:solidFill>
          <a:ln w="9525">
            <a:solidFill>
              <a:srgbClr val="D9E0E6"/>
            </a:solidFill>
            <a:prstDash val="solid"/>
          </a:ln>
        </p:spPr>
      </p:sp>
      <p:sp>
        <p:nvSpPr>
          <p:cNvPr id="11" name="矩形 10"/>
          <p:cNvSpPr>
            <a:spLocks noGrp="1"/>
          </p:cNvSpPr>
          <p:nvPr/>
        </p:nvSpPr>
        <p:spPr>
          <a:xfrm>
            <a:off x="876300" y="1790700"/>
            <a:ext cx="2190750" cy="66675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Comparison</a:t>
            </a:r>
            <a:endParaRPr sz="1200" b="1">
              <a:solidFill>
                <a:srgbClr val="FFFFFF"/>
              </a:solidFill>
            </a:endParaRPr>
          </a:p>
        </p:txBody>
      </p:sp>
      <p:sp>
        <p:nvSpPr>
          <p:cNvPr id="12" name="矩形 11"/>
          <p:cNvSpPr>
            <a:spLocks noGrp="1"/>
          </p:cNvSpPr>
          <p:nvPr/>
        </p:nvSpPr>
        <p:spPr>
          <a:xfrm>
            <a:off x="3162300" y="1752600"/>
            <a:ext cx="4762500" cy="742950"/>
          </a:xfrm>
          <a:prstGeom prst="rect">
            <a:avLst/>
          </a:prstGeom>
          <a:solidFill>
            <a:srgbClr val="004282"/>
          </a:solidFill>
          <a:ln w="9525">
            <a:solidFill>
              <a:srgbClr val="D9E0E6"/>
            </a:solidFill>
            <a:prstDash val="solid"/>
          </a:ln>
        </p:spPr>
      </p:sp>
      <p:sp>
        <p:nvSpPr>
          <p:cNvPr id="13" name="矩形 12"/>
          <p:cNvSpPr>
            <a:spLocks noGrp="1"/>
          </p:cNvSpPr>
          <p:nvPr/>
        </p:nvSpPr>
        <p:spPr>
          <a:xfrm>
            <a:off x="3257550" y="1790700"/>
            <a:ext cx="4572000" cy="66675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Denominator</a:t>
            </a:r>
            <a:endParaRPr sz="1200" b="1">
              <a:solidFill>
                <a:srgbClr val="FFFFFF"/>
              </a:solidFill>
            </a:endParaRPr>
          </a:p>
        </p:txBody>
      </p:sp>
      <p:sp>
        <p:nvSpPr>
          <p:cNvPr id="14" name="矩形 13"/>
          <p:cNvSpPr>
            <a:spLocks noGrp="1"/>
          </p:cNvSpPr>
          <p:nvPr/>
        </p:nvSpPr>
        <p:spPr>
          <a:xfrm>
            <a:off x="7924800" y="1752600"/>
            <a:ext cx="3429000" cy="742950"/>
          </a:xfrm>
          <a:prstGeom prst="rect">
            <a:avLst/>
          </a:prstGeom>
          <a:solidFill>
            <a:srgbClr val="004282"/>
          </a:solidFill>
          <a:ln w="9525">
            <a:solidFill>
              <a:srgbClr val="D9E0E6"/>
            </a:solidFill>
            <a:prstDash val="solid"/>
          </a:ln>
        </p:spPr>
      </p:sp>
      <p:sp>
        <p:nvSpPr>
          <p:cNvPr id="15" name="矩形 14"/>
          <p:cNvSpPr>
            <a:spLocks noGrp="1"/>
          </p:cNvSpPr>
          <p:nvPr/>
        </p:nvSpPr>
        <p:spPr>
          <a:xfrm>
            <a:off x="8020050" y="1790700"/>
            <a:ext cx="3238500" cy="66675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Statistic</a:t>
            </a:r>
            <a:endParaRPr sz="1200" b="1">
              <a:solidFill>
                <a:srgbClr val="FFFFFF"/>
              </a:solidFill>
            </a:endParaRPr>
          </a:p>
        </p:txBody>
      </p:sp>
      <p:sp>
        <p:nvSpPr>
          <p:cNvPr id="16" name="矩形 15"/>
          <p:cNvSpPr>
            <a:spLocks noGrp="1"/>
          </p:cNvSpPr>
          <p:nvPr/>
        </p:nvSpPr>
        <p:spPr>
          <a:xfrm>
            <a:off x="781050" y="2495550"/>
            <a:ext cx="2381250" cy="742950"/>
          </a:xfrm>
          <a:prstGeom prst="rect">
            <a:avLst/>
          </a:prstGeom>
          <a:solidFill>
            <a:srgbClr val="FFFFFF"/>
          </a:solidFill>
          <a:ln w="9525">
            <a:solidFill>
              <a:srgbClr val="D9E0E6"/>
            </a:solidFill>
            <a:prstDash val="solid"/>
          </a:ln>
        </p:spPr>
      </p:sp>
      <p:sp>
        <p:nvSpPr>
          <p:cNvPr id="17" name="矩形 16"/>
          <p:cNvSpPr>
            <a:spLocks noGrp="1"/>
          </p:cNvSpPr>
          <p:nvPr/>
        </p:nvSpPr>
        <p:spPr>
          <a:xfrm>
            <a:off x="876300" y="2533650"/>
            <a:ext cx="219075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PGS-O − Outward</a:t>
            </a:r>
            <a:endParaRPr sz="1125" b="0">
              <a:solidFill>
                <a:srgbClr val="152538"/>
              </a:solidFill>
            </a:endParaRPr>
          </a:p>
        </p:txBody>
      </p:sp>
      <p:sp>
        <p:nvSpPr>
          <p:cNvPr id="18" name="矩形 17"/>
          <p:cNvSpPr>
            <a:spLocks noGrp="1"/>
          </p:cNvSpPr>
          <p:nvPr/>
        </p:nvSpPr>
        <p:spPr>
          <a:xfrm>
            <a:off x="3162300" y="2495550"/>
            <a:ext cx="4762500" cy="742950"/>
          </a:xfrm>
          <a:prstGeom prst="rect">
            <a:avLst/>
          </a:prstGeom>
          <a:solidFill>
            <a:srgbClr val="FFFFFF"/>
          </a:solidFill>
          <a:ln w="9525">
            <a:solidFill>
              <a:srgbClr val="D9E0E6"/>
            </a:solidFill>
            <a:prstDash val="solid"/>
          </a:ln>
        </p:spPr>
      </p:sp>
      <p:sp>
        <p:nvSpPr>
          <p:cNvPr id="19" name="矩形 18"/>
          <p:cNvSpPr>
            <a:spLocks noGrp="1"/>
          </p:cNvSpPr>
          <p:nvPr/>
        </p:nvSpPr>
        <p:spPr>
          <a:xfrm>
            <a:off x="3257550" y="2533650"/>
            <a:ext cx="45720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19 joint completions</a:t>
            </a:r>
            <a:endParaRPr sz="1125" b="0">
              <a:solidFill>
                <a:srgbClr val="152538"/>
              </a:solidFill>
            </a:endParaRPr>
          </a:p>
        </p:txBody>
      </p:sp>
      <p:sp>
        <p:nvSpPr>
          <p:cNvPr id="20" name="矩形 19"/>
          <p:cNvSpPr>
            <a:spLocks noGrp="1"/>
          </p:cNvSpPr>
          <p:nvPr/>
        </p:nvSpPr>
        <p:spPr>
          <a:xfrm>
            <a:off x="7924800" y="2495550"/>
            <a:ext cx="3429000" cy="742950"/>
          </a:xfrm>
          <a:prstGeom prst="rect">
            <a:avLst/>
          </a:prstGeom>
          <a:solidFill>
            <a:srgbClr val="FFFFFF"/>
          </a:solidFill>
          <a:ln w="9525">
            <a:solidFill>
              <a:srgbClr val="D9E0E6"/>
            </a:solidFill>
            <a:prstDash val="solid"/>
          </a:ln>
        </p:spPr>
      </p:sp>
      <p:sp>
        <p:nvSpPr>
          <p:cNvPr id="21" name="矩形 20"/>
          <p:cNvSpPr>
            <a:spLocks noGrp="1"/>
          </p:cNvSpPr>
          <p:nvPr/>
        </p:nvSpPr>
        <p:spPr>
          <a:xfrm>
            <a:off x="8020050" y="2533650"/>
            <a:ext cx="32385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median path/time gap; exact sign test</a:t>
            </a:r>
            <a:endParaRPr sz="1125" b="0">
              <a:solidFill>
                <a:srgbClr val="152538"/>
              </a:solidFill>
            </a:endParaRPr>
          </a:p>
        </p:txBody>
      </p:sp>
      <p:sp>
        <p:nvSpPr>
          <p:cNvPr id="22" name="矩形 21"/>
          <p:cNvSpPr>
            <a:spLocks noGrp="1"/>
          </p:cNvSpPr>
          <p:nvPr/>
        </p:nvSpPr>
        <p:spPr>
          <a:xfrm>
            <a:off x="781050" y="3238500"/>
            <a:ext cx="2381250" cy="742950"/>
          </a:xfrm>
          <a:prstGeom prst="rect">
            <a:avLst/>
          </a:prstGeom>
          <a:solidFill>
            <a:srgbClr val="E8F1F8"/>
          </a:solidFill>
          <a:ln w="9525">
            <a:solidFill>
              <a:srgbClr val="D9E0E6"/>
            </a:solidFill>
            <a:prstDash val="solid"/>
          </a:ln>
        </p:spPr>
      </p:sp>
      <p:sp>
        <p:nvSpPr>
          <p:cNvPr id="23" name="矩形 22"/>
          <p:cNvSpPr>
            <a:spLocks noGrp="1"/>
          </p:cNvSpPr>
          <p:nvPr/>
        </p:nvSpPr>
        <p:spPr>
          <a:xfrm>
            <a:off x="876300" y="3276600"/>
            <a:ext cx="219075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PGS-G − PGS-O</a:t>
            </a:r>
            <a:endParaRPr sz="1125" b="0">
              <a:solidFill>
                <a:srgbClr val="152538"/>
              </a:solidFill>
            </a:endParaRPr>
          </a:p>
        </p:txBody>
      </p:sp>
      <p:sp>
        <p:nvSpPr>
          <p:cNvPr id="24" name="矩形 23"/>
          <p:cNvSpPr>
            <a:spLocks noGrp="1"/>
          </p:cNvSpPr>
          <p:nvPr/>
        </p:nvSpPr>
        <p:spPr>
          <a:xfrm>
            <a:off x="3162300" y="3238500"/>
            <a:ext cx="4762500" cy="742950"/>
          </a:xfrm>
          <a:prstGeom prst="rect">
            <a:avLst/>
          </a:prstGeom>
          <a:solidFill>
            <a:srgbClr val="E8F1F8"/>
          </a:solidFill>
          <a:ln w="9525">
            <a:solidFill>
              <a:srgbClr val="D9E0E6"/>
            </a:solidFill>
            <a:prstDash val="solid"/>
          </a:ln>
        </p:spPr>
      </p:sp>
      <p:sp>
        <p:nvSpPr>
          <p:cNvPr id="25" name="矩形 24"/>
          <p:cNvSpPr>
            <a:spLocks noGrp="1"/>
          </p:cNvSpPr>
          <p:nvPr/>
        </p:nvSpPr>
        <p:spPr>
          <a:xfrm>
            <a:off x="3257550" y="3276600"/>
            <a:ext cx="45720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19 shared completions</a:t>
            </a:r>
            <a:endParaRPr sz="1125" b="0">
              <a:solidFill>
                <a:srgbClr val="152538"/>
              </a:solidFill>
            </a:endParaRPr>
          </a:p>
        </p:txBody>
      </p:sp>
      <p:sp>
        <p:nvSpPr>
          <p:cNvPr id="26" name="矩形 25"/>
          <p:cNvSpPr>
            <a:spLocks noGrp="1"/>
          </p:cNvSpPr>
          <p:nvPr/>
        </p:nvSpPr>
        <p:spPr>
          <a:xfrm>
            <a:off x="7924800" y="3238500"/>
            <a:ext cx="3429000" cy="742950"/>
          </a:xfrm>
          <a:prstGeom prst="rect">
            <a:avLst/>
          </a:prstGeom>
          <a:solidFill>
            <a:srgbClr val="E8F1F8"/>
          </a:solidFill>
          <a:ln w="9525">
            <a:solidFill>
              <a:srgbClr val="D9E0E6"/>
            </a:solidFill>
            <a:prstDash val="solid"/>
          </a:ln>
        </p:spPr>
      </p:sp>
      <p:sp>
        <p:nvSpPr>
          <p:cNvPr id="27" name="矩形 26"/>
          <p:cNvSpPr>
            <a:spLocks noGrp="1"/>
          </p:cNvSpPr>
          <p:nvPr/>
        </p:nvSpPr>
        <p:spPr>
          <a:xfrm>
            <a:off x="8020050" y="3276600"/>
            <a:ext cx="32385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median path/time gap; exact paired test</a:t>
            </a:r>
            <a:endParaRPr sz="1125" b="0">
              <a:solidFill>
                <a:srgbClr val="152538"/>
              </a:solidFill>
            </a:endParaRPr>
          </a:p>
        </p:txBody>
      </p:sp>
      <p:sp>
        <p:nvSpPr>
          <p:cNvPr id="28" name="矩形 27"/>
          <p:cNvSpPr>
            <a:spLocks noGrp="1"/>
          </p:cNvSpPr>
          <p:nvPr/>
        </p:nvSpPr>
        <p:spPr>
          <a:xfrm>
            <a:off x="781050" y="3981450"/>
            <a:ext cx="2381250" cy="742950"/>
          </a:xfrm>
          <a:prstGeom prst="rect">
            <a:avLst/>
          </a:prstGeom>
          <a:solidFill>
            <a:srgbClr val="FFFFFF"/>
          </a:solidFill>
          <a:ln w="9525">
            <a:solidFill>
              <a:srgbClr val="D9E0E6"/>
            </a:solidFill>
            <a:prstDash val="solid"/>
          </a:ln>
        </p:spPr>
      </p:sp>
      <p:sp>
        <p:nvSpPr>
          <p:cNvPr id="29" name="矩形 28"/>
          <p:cNvSpPr>
            <a:spLocks noGrp="1"/>
          </p:cNvSpPr>
          <p:nvPr/>
        </p:nvSpPr>
        <p:spPr>
          <a:xfrm>
            <a:off x="876300" y="4019550"/>
            <a:ext cx="219075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Recovery R3 − R0</a:t>
            </a:r>
            <a:endParaRPr sz="1125" b="0">
              <a:solidFill>
                <a:srgbClr val="152538"/>
              </a:solidFill>
            </a:endParaRPr>
          </a:p>
        </p:txBody>
      </p:sp>
      <p:sp>
        <p:nvSpPr>
          <p:cNvPr id="30" name="矩形 29"/>
          <p:cNvSpPr>
            <a:spLocks noGrp="1"/>
          </p:cNvSpPr>
          <p:nvPr/>
        </p:nvSpPr>
        <p:spPr>
          <a:xfrm>
            <a:off x="3162300" y="3981450"/>
            <a:ext cx="4762500" cy="742950"/>
          </a:xfrm>
          <a:prstGeom prst="rect">
            <a:avLst/>
          </a:prstGeom>
          <a:solidFill>
            <a:srgbClr val="FFFFFF"/>
          </a:solidFill>
          <a:ln w="9525">
            <a:solidFill>
              <a:srgbClr val="D9E0E6"/>
            </a:solidFill>
            <a:prstDash val="solid"/>
          </a:ln>
        </p:spPr>
      </p:sp>
      <p:sp>
        <p:nvSpPr>
          <p:cNvPr id="31" name="矩形 30"/>
          <p:cNvSpPr>
            <a:spLocks noGrp="1"/>
          </p:cNvSpPr>
          <p:nvPr/>
        </p:nvSpPr>
        <p:spPr>
          <a:xfrm>
            <a:off x="3257550" y="4019550"/>
            <a:ext cx="45720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 fixed stresses</a:t>
            </a:r>
            <a:endParaRPr sz="1125" b="0">
              <a:solidFill>
                <a:srgbClr val="152538"/>
              </a:solidFill>
            </a:endParaRPr>
          </a:p>
        </p:txBody>
      </p:sp>
      <p:sp>
        <p:nvSpPr>
          <p:cNvPr id="32" name="矩形 31"/>
          <p:cNvSpPr>
            <a:spLocks noGrp="1"/>
          </p:cNvSpPr>
          <p:nvPr/>
        </p:nvSpPr>
        <p:spPr>
          <a:xfrm>
            <a:off x="7924800" y="3981450"/>
            <a:ext cx="3429000" cy="742950"/>
          </a:xfrm>
          <a:prstGeom prst="rect">
            <a:avLst/>
          </a:prstGeom>
          <a:solidFill>
            <a:srgbClr val="FFFFFF"/>
          </a:solidFill>
          <a:ln w="9525">
            <a:solidFill>
              <a:srgbClr val="D9E0E6"/>
            </a:solidFill>
            <a:prstDash val="solid"/>
          </a:ln>
        </p:spPr>
      </p:sp>
      <p:sp>
        <p:nvSpPr>
          <p:cNvPr id="33" name="矩形 32"/>
          <p:cNvSpPr>
            <a:spLocks noGrp="1"/>
          </p:cNvSpPr>
          <p:nvPr/>
        </p:nvSpPr>
        <p:spPr>
          <a:xfrm>
            <a:off x="8020050" y="4019550"/>
            <a:ext cx="32385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paired binary exact test</a:t>
            </a:r>
            <a:endParaRPr sz="1125" b="0">
              <a:solidFill>
                <a:srgbClr val="152538"/>
              </a:solidFill>
            </a:endParaRPr>
          </a:p>
        </p:txBody>
      </p:sp>
      <p:sp>
        <p:nvSpPr>
          <p:cNvPr id="34" name="矩形 33"/>
          <p:cNvSpPr>
            <a:spLocks noGrp="1"/>
          </p:cNvSpPr>
          <p:nvPr/>
        </p:nvSpPr>
        <p:spPr>
          <a:xfrm>
            <a:off x="781050" y="4724400"/>
            <a:ext cx="2381250" cy="742950"/>
          </a:xfrm>
          <a:prstGeom prst="rect">
            <a:avLst/>
          </a:prstGeom>
          <a:solidFill>
            <a:srgbClr val="E8F1F8"/>
          </a:solidFill>
          <a:ln w="9525">
            <a:solidFill>
              <a:srgbClr val="D9E0E6"/>
            </a:solidFill>
            <a:prstDash val="solid"/>
          </a:ln>
        </p:spPr>
      </p:sp>
      <p:sp>
        <p:nvSpPr>
          <p:cNvPr id="35" name="矩形 34"/>
          <p:cNvSpPr>
            <a:spLocks noGrp="1"/>
          </p:cNvSpPr>
          <p:nvPr/>
        </p:nvSpPr>
        <p:spPr>
          <a:xfrm>
            <a:off x="876300" y="4762500"/>
            <a:ext cx="219075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Direct-4C − 3C proxy</a:t>
            </a:r>
            <a:endParaRPr sz="1125" b="0">
              <a:solidFill>
                <a:srgbClr val="152538"/>
              </a:solidFill>
            </a:endParaRPr>
          </a:p>
        </p:txBody>
      </p:sp>
      <p:sp>
        <p:nvSpPr>
          <p:cNvPr id="36" name="矩形 35"/>
          <p:cNvSpPr>
            <a:spLocks noGrp="1"/>
          </p:cNvSpPr>
          <p:nvPr/>
        </p:nvSpPr>
        <p:spPr>
          <a:xfrm>
            <a:off x="3162300" y="4724400"/>
            <a:ext cx="4762500" cy="742950"/>
          </a:xfrm>
          <a:prstGeom prst="rect">
            <a:avLst/>
          </a:prstGeom>
          <a:solidFill>
            <a:srgbClr val="E8F1F8"/>
          </a:solidFill>
          <a:ln w="9525">
            <a:solidFill>
              <a:srgbClr val="D9E0E6"/>
            </a:solidFill>
            <a:prstDash val="solid"/>
          </a:ln>
        </p:spPr>
      </p:sp>
      <p:sp>
        <p:nvSpPr>
          <p:cNvPr id="37" name="矩形 36"/>
          <p:cNvSpPr>
            <a:spLocks noGrp="1"/>
          </p:cNvSpPr>
          <p:nvPr/>
        </p:nvSpPr>
        <p:spPr>
          <a:xfrm>
            <a:off x="3257550" y="4762500"/>
            <a:ext cx="45720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24 same probes / starts</a:t>
            </a:r>
            <a:endParaRPr sz="1125" b="0">
              <a:solidFill>
                <a:srgbClr val="152538"/>
              </a:solidFill>
            </a:endParaRPr>
          </a:p>
        </p:txBody>
      </p:sp>
      <p:sp>
        <p:nvSpPr>
          <p:cNvPr id="38" name="矩形 37"/>
          <p:cNvSpPr>
            <a:spLocks noGrp="1"/>
          </p:cNvSpPr>
          <p:nvPr/>
        </p:nvSpPr>
        <p:spPr>
          <a:xfrm>
            <a:off x="7924800" y="4724400"/>
            <a:ext cx="3429000" cy="742950"/>
          </a:xfrm>
          <a:prstGeom prst="rect">
            <a:avLst/>
          </a:prstGeom>
          <a:solidFill>
            <a:srgbClr val="E8F1F8"/>
          </a:solidFill>
          <a:ln w="9525">
            <a:solidFill>
              <a:srgbClr val="D9E0E6"/>
            </a:solidFill>
            <a:prstDash val="solid"/>
          </a:ln>
        </p:spPr>
      </p:sp>
      <p:sp>
        <p:nvSpPr>
          <p:cNvPr id="39" name="矩形 38"/>
          <p:cNvSpPr>
            <a:spLocks noGrp="1"/>
          </p:cNvSpPr>
          <p:nvPr/>
        </p:nvSpPr>
        <p:spPr>
          <a:xfrm>
            <a:off x="8020050" y="4762500"/>
            <a:ext cx="3238500" cy="66675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paired representation analysis</a:t>
            </a:r>
            <a:endParaRPr sz="1125" b="0">
              <a:solidFill>
                <a:srgbClr val="152538"/>
              </a:solidFill>
            </a:endParaRPr>
          </a:p>
        </p:txBody>
      </p:sp>
      <p:sp>
        <p:nvSpPr>
          <p:cNvPr id="40" name="矩形 39"/>
          <p:cNvSpPr>
            <a:spLocks noGrp="1"/>
          </p:cNvSpPr>
          <p:nvPr/>
        </p:nvSpPr>
        <p:spPr>
          <a:xfrm>
            <a:off x="647700" y="5943600"/>
            <a:ext cx="10839450" cy="400050"/>
          </a:xfrm>
          <a:prstGeom prst="rect">
            <a:avLst/>
          </a:prstGeom>
          <a:solidFill>
            <a:srgbClr val="FFF0E2"/>
          </a:solidFill>
          <a:ln w="0">
            <a:noFill/>
            <a:prstDash val="solid"/>
          </a:ln>
        </p:spPr>
      </p:sp>
      <p:sp>
        <p:nvSpPr>
          <p:cNvPr id="41" name="矩形 40"/>
          <p:cNvSpPr>
            <a:spLocks noGrp="1"/>
          </p:cNvSpPr>
          <p:nvPr/>
        </p:nvSpPr>
        <p:spPr>
          <a:xfrm>
            <a:off x="647700" y="5943600"/>
            <a:ext cx="57150" cy="400050"/>
          </a:xfrm>
          <a:prstGeom prst="rect">
            <a:avLst/>
          </a:prstGeom>
          <a:solidFill>
            <a:srgbClr val="ED7F0D"/>
          </a:solidFill>
          <a:ln w="0">
            <a:noFill/>
            <a:prstDash val="solid"/>
          </a:ln>
        </p:spPr>
      </p:sp>
      <p:sp>
        <p:nvSpPr>
          <p:cNvPr id="42" name="矩形 41"/>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Never mix overall engagement counts with joint-completion efficiency subsets.</a:t>
            </a:r>
            <a:endParaRPr sz="1275" b="1">
              <a:solidFill>
                <a:srgbClr val="152538"/>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48</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A10 · Recovery evidence: R3, R0 and no-funnel interpretation</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IV-D</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48</a:t>
            </a:r>
            <a:endParaRPr sz="825" b="1">
              <a:solidFill>
                <a:srgbClr val="004282"/>
              </a:solidFill>
            </a:endParaRPr>
          </a:p>
        </p:txBody>
      </p:sp>
      <p:sp>
        <p:nvSpPr>
          <p:cNvPr id="10" name="圆角矩形 9"/>
          <p:cNvSpPr>
            <a:spLocks noGrp="1"/>
          </p:cNvSpPr>
          <p:nvPr/>
        </p:nvSpPr>
        <p:spPr>
          <a:xfrm>
            <a:off x="704850" y="1428750"/>
            <a:ext cx="10725150" cy="4457700"/>
          </a:xfrm>
          <a:prstGeom prst="roundRect">
            <a:avLst>
              <a:gd name="adj" fmla="val 1709"/>
            </a:avLst>
          </a:prstGeom>
          <a:solidFill>
            <a:srgbClr val="FFFFFF"/>
          </a:solidFill>
          <a:ln w="9525">
            <a:solidFill>
              <a:srgbClr val="D9E0E6"/>
            </a:solidFill>
            <a:prstDash val="solid"/>
          </a:ln>
        </p:spPr>
      </p:sp>
      <p:pic>
        <p:nvPicPr>
          <p:cNvPr id="23" name="图片 22"/>
          <p:cNvPicPr>
            <a:picLocks noChangeAspect="1"/>
          </p:cNvPicPr>
          <p:nvPr/>
        </p:nvPicPr>
        <p:blipFill>
          <a:blip r:embed="rId1"/>
          <a:stretch>
            <a:fillRect/>
          </a:stretch>
        </p:blipFill>
        <p:spPr>
          <a:xfrm>
            <a:off x="2710455" y="1504950"/>
            <a:ext cx="6713941" cy="4305300"/>
          </a:xfrm>
          <a:prstGeom prst="roundRect">
            <a:avLst>
              <a:gd name="adj" fmla="val 1770"/>
            </a:avLst>
          </a:prstGeom>
        </p:spPr>
      </p:pic>
      <p:sp>
        <p:nvSpPr>
          <p:cNvPr id="11" name="矩形 10"/>
          <p:cNvSpPr>
            <a:spLocks noGrp="1"/>
          </p:cNvSpPr>
          <p:nvPr/>
        </p:nvSpPr>
        <p:spPr>
          <a:xfrm>
            <a:off x="647700" y="5943600"/>
            <a:ext cx="10839450" cy="400050"/>
          </a:xfrm>
          <a:prstGeom prst="rect">
            <a:avLst/>
          </a:prstGeom>
          <a:solidFill>
            <a:srgbClr val="FFF0E2"/>
          </a:solidFill>
          <a:ln w="0">
            <a:noFill/>
            <a:prstDash val="solid"/>
          </a:ln>
        </p:spPr>
      </p:sp>
      <p:sp>
        <p:nvSpPr>
          <p:cNvPr id="12" name="矩形 11"/>
          <p:cNvSpPr>
            <a:spLocks noGrp="1"/>
          </p:cNvSpPr>
          <p:nvPr/>
        </p:nvSpPr>
        <p:spPr>
          <a:xfrm>
            <a:off x="647700" y="5943600"/>
            <a:ext cx="57150" cy="400050"/>
          </a:xfrm>
          <a:prstGeom prst="rect">
            <a:avLst/>
          </a:prstGeom>
          <a:solidFill>
            <a:srgbClr val="ED7F0D"/>
          </a:solidFill>
          <a:ln w="0">
            <a:noFill/>
            <a:prstDash val="solid"/>
          </a:ln>
        </p:spPr>
      </p:sp>
      <p:sp>
        <p:nvSpPr>
          <p:cNvPr id="13" name="矩形 1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clean causal contrast is R3 versus no recovery with the same RCC and guards: +9 / −0, p = .00390625.</a:t>
            </a:r>
            <a:endParaRPr sz="1275" b="1">
              <a:solidFill>
                <a:srgbClr val="152538"/>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49</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A11 · Cross-size adapter, abstention and one-use test lineage</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IV-E · Table III</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49</a:t>
            </a:r>
            <a:endParaRPr sz="825" b="1">
              <a:solidFill>
                <a:srgbClr val="004282"/>
              </a:solidFill>
            </a:endParaRPr>
          </a:p>
        </p:txBody>
      </p:sp>
      <p:sp>
        <p:nvSpPr>
          <p:cNvPr id="10" name="矩形 9"/>
          <p:cNvSpPr>
            <a:spLocks noGrp="1"/>
          </p:cNvSpPr>
          <p:nvPr/>
        </p:nvSpPr>
        <p:spPr>
          <a:xfrm>
            <a:off x="723900" y="1790700"/>
            <a:ext cx="2714625" cy="605790"/>
          </a:xfrm>
          <a:prstGeom prst="rect">
            <a:avLst/>
          </a:prstGeom>
          <a:solidFill>
            <a:srgbClr val="004282"/>
          </a:solidFill>
          <a:ln w="9525">
            <a:solidFill>
              <a:srgbClr val="D9E0E6"/>
            </a:solidFill>
            <a:prstDash val="solid"/>
          </a:ln>
        </p:spPr>
      </p:sp>
      <p:sp>
        <p:nvSpPr>
          <p:cNvPr id="11" name="矩形 10"/>
          <p:cNvSpPr>
            <a:spLocks noGrp="1"/>
          </p:cNvSpPr>
          <p:nvPr/>
        </p:nvSpPr>
        <p:spPr>
          <a:xfrm>
            <a:off x="819150" y="1828800"/>
            <a:ext cx="2524125" cy="52959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Interface</a:t>
            </a:r>
            <a:endParaRPr sz="1200" b="1">
              <a:solidFill>
                <a:srgbClr val="FFFFFF"/>
              </a:solidFill>
            </a:endParaRPr>
          </a:p>
        </p:txBody>
      </p:sp>
      <p:sp>
        <p:nvSpPr>
          <p:cNvPr id="12" name="矩形 11"/>
          <p:cNvSpPr>
            <a:spLocks noGrp="1"/>
          </p:cNvSpPr>
          <p:nvPr/>
        </p:nvSpPr>
        <p:spPr>
          <a:xfrm>
            <a:off x="3438525" y="1790700"/>
            <a:ext cx="2000250" cy="605790"/>
          </a:xfrm>
          <a:prstGeom prst="rect">
            <a:avLst/>
          </a:prstGeom>
          <a:solidFill>
            <a:srgbClr val="004282"/>
          </a:solidFill>
          <a:ln w="9525">
            <a:solidFill>
              <a:srgbClr val="D9E0E6"/>
            </a:solidFill>
            <a:prstDash val="solid"/>
          </a:ln>
        </p:spPr>
      </p:sp>
      <p:sp>
        <p:nvSpPr>
          <p:cNvPr id="13" name="矩形 12"/>
          <p:cNvSpPr>
            <a:spLocks noGrp="1"/>
          </p:cNvSpPr>
          <p:nvPr/>
        </p:nvSpPr>
        <p:spPr>
          <a:xfrm>
            <a:off x="3533775" y="1828800"/>
            <a:ext cx="1809750" cy="52959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Dev M10</a:t>
            </a:r>
            <a:endParaRPr sz="1200" b="1">
              <a:solidFill>
                <a:srgbClr val="FFFFFF"/>
              </a:solidFill>
            </a:endParaRPr>
          </a:p>
        </p:txBody>
      </p:sp>
      <p:sp>
        <p:nvSpPr>
          <p:cNvPr id="14" name="矩形 13"/>
          <p:cNvSpPr>
            <a:spLocks noGrp="1"/>
          </p:cNvSpPr>
          <p:nvPr/>
        </p:nvSpPr>
        <p:spPr>
          <a:xfrm>
            <a:off x="5438775" y="1790700"/>
            <a:ext cx="2000250" cy="605790"/>
          </a:xfrm>
          <a:prstGeom prst="rect">
            <a:avLst/>
          </a:prstGeom>
          <a:solidFill>
            <a:srgbClr val="004282"/>
          </a:solidFill>
          <a:ln w="9525">
            <a:solidFill>
              <a:srgbClr val="D9E0E6"/>
            </a:solidFill>
            <a:prstDash val="solid"/>
          </a:ln>
        </p:spPr>
      </p:sp>
      <p:sp>
        <p:nvSpPr>
          <p:cNvPr id="15" name="矩形 14"/>
          <p:cNvSpPr>
            <a:spLocks noGrp="1"/>
          </p:cNvSpPr>
          <p:nvPr/>
        </p:nvSpPr>
        <p:spPr>
          <a:xfrm>
            <a:off x="5534025" y="1828800"/>
            <a:ext cx="1809750" cy="52959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Dev M12</a:t>
            </a:r>
            <a:endParaRPr sz="1200" b="1">
              <a:solidFill>
                <a:srgbClr val="FFFFFF"/>
              </a:solidFill>
            </a:endParaRPr>
          </a:p>
        </p:txBody>
      </p:sp>
      <p:sp>
        <p:nvSpPr>
          <p:cNvPr id="16" name="矩形 15"/>
          <p:cNvSpPr>
            <a:spLocks noGrp="1"/>
          </p:cNvSpPr>
          <p:nvPr/>
        </p:nvSpPr>
        <p:spPr>
          <a:xfrm>
            <a:off x="7439025" y="1790700"/>
            <a:ext cx="2000250" cy="605790"/>
          </a:xfrm>
          <a:prstGeom prst="rect">
            <a:avLst/>
          </a:prstGeom>
          <a:solidFill>
            <a:srgbClr val="004282"/>
          </a:solidFill>
          <a:ln w="9525">
            <a:solidFill>
              <a:srgbClr val="D9E0E6"/>
            </a:solidFill>
            <a:prstDash val="solid"/>
          </a:ln>
        </p:spPr>
      </p:sp>
      <p:sp>
        <p:nvSpPr>
          <p:cNvPr id="17" name="矩形 16"/>
          <p:cNvSpPr>
            <a:spLocks noGrp="1"/>
          </p:cNvSpPr>
          <p:nvPr/>
        </p:nvSpPr>
        <p:spPr>
          <a:xfrm>
            <a:off x="7534275" y="1828800"/>
            <a:ext cx="1809750" cy="52959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Test M10</a:t>
            </a:r>
            <a:endParaRPr sz="1200" b="1">
              <a:solidFill>
                <a:srgbClr val="FFFFFF"/>
              </a:solidFill>
            </a:endParaRPr>
          </a:p>
        </p:txBody>
      </p:sp>
      <p:sp>
        <p:nvSpPr>
          <p:cNvPr id="18" name="矩形 17"/>
          <p:cNvSpPr>
            <a:spLocks noGrp="1"/>
          </p:cNvSpPr>
          <p:nvPr/>
        </p:nvSpPr>
        <p:spPr>
          <a:xfrm>
            <a:off x="9439275" y="1790700"/>
            <a:ext cx="2000250" cy="605790"/>
          </a:xfrm>
          <a:prstGeom prst="rect">
            <a:avLst/>
          </a:prstGeom>
          <a:solidFill>
            <a:srgbClr val="004282"/>
          </a:solidFill>
          <a:ln w="9525">
            <a:solidFill>
              <a:srgbClr val="D9E0E6"/>
            </a:solidFill>
            <a:prstDash val="solid"/>
          </a:ln>
        </p:spPr>
      </p:sp>
      <p:sp>
        <p:nvSpPr>
          <p:cNvPr id="19" name="矩形 18"/>
          <p:cNvSpPr>
            <a:spLocks noGrp="1"/>
          </p:cNvSpPr>
          <p:nvPr/>
        </p:nvSpPr>
        <p:spPr>
          <a:xfrm>
            <a:off x="9534525" y="1828800"/>
            <a:ext cx="1809750" cy="52959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Test M12</a:t>
            </a:r>
            <a:endParaRPr sz="1200" b="1">
              <a:solidFill>
                <a:srgbClr val="FFFFFF"/>
              </a:solidFill>
            </a:endParaRPr>
          </a:p>
        </p:txBody>
      </p:sp>
      <p:sp>
        <p:nvSpPr>
          <p:cNvPr id="20" name="矩形 19"/>
          <p:cNvSpPr>
            <a:spLocks noGrp="1"/>
          </p:cNvSpPr>
          <p:nvPr/>
        </p:nvSpPr>
        <p:spPr>
          <a:xfrm>
            <a:off x="723900" y="2396490"/>
            <a:ext cx="2714625" cy="605790"/>
          </a:xfrm>
          <a:prstGeom prst="rect">
            <a:avLst/>
          </a:prstGeom>
          <a:solidFill>
            <a:srgbClr val="FFFFFF"/>
          </a:solidFill>
          <a:ln w="9525">
            <a:solidFill>
              <a:srgbClr val="D9E0E6"/>
            </a:solidFill>
            <a:prstDash val="solid"/>
          </a:ln>
        </p:spPr>
      </p:sp>
      <p:sp>
        <p:nvSpPr>
          <p:cNvPr id="21" name="矩形 20"/>
          <p:cNvSpPr>
            <a:spLocks noGrp="1"/>
          </p:cNvSpPr>
          <p:nvPr/>
        </p:nvSpPr>
        <p:spPr>
          <a:xfrm>
            <a:off x="819150" y="2434590"/>
            <a:ext cx="2524125"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M8 zero-shot</a:t>
            </a:r>
            <a:endParaRPr sz="1125" b="0">
              <a:solidFill>
                <a:srgbClr val="152538"/>
              </a:solidFill>
            </a:endParaRPr>
          </a:p>
        </p:txBody>
      </p:sp>
      <p:sp>
        <p:nvSpPr>
          <p:cNvPr id="22" name="矩形 21"/>
          <p:cNvSpPr>
            <a:spLocks noGrp="1"/>
          </p:cNvSpPr>
          <p:nvPr/>
        </p:nvSpPr>
        <p:spPr>
          <a:xfrm>
            <a:off x="3438525" y="2396490"/>
            <a:ext cx="2000250" cy="605790"/>
          </a:xfrm>
          <a:prstGeom prst="rect">
            <a:avLst/>
          </a:prstGeom>
          <a:solidFill>
            <a:srgbClr val="FFFFFF"/>
          </a:solidFill>
          <a:ln w="9525">
            <a:solidFill>
              <a:srgbClr val="D9E0E6"/>
            </a:solidFill>
            <a:prstDash val="solid"/>
          </a:ln>
        </p:spPr>
      </p:sp>
      <p:sp>
        <p:nvSpPr>
          <p:cNvPr id="23" name="矩形 22"/>
          <p:cNvSpPr>
            <a:spLocks noGrp="1"/>
          </p:cNvSpPr>
          <p:nvPr/>
        </p:nvSpPr>
        <p:spPr>
          <a:xfrm>
            <a:off x="3533775" y="243459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24" name="矩形 23"/>
          <p:cNvSpPr>
            <a:spLocks noGrp="1"/>
          </p:cNvSpPr>
          <p:nvPr/>
        </p:nvSpPr>
        <p:spPr>
          <a:xfrm>
            <a:off x="5438775" y="2396490"/>
            <a:ext cx="2000250" cy="605790"/>
          </a:xfrm>
          <a:prstGeom prst="rect">
            <a:avLst/>
          </a:prstGeom>
          <a:solidFill>
            <a:srgbClr val="FFFFFF"/>
          </a:solidFill>
          <a:ln w="9525">
            <a:solidFill>
              <a:srgbClr val="D9E0E6"/>
            </a:solidFill>
            <a:prstDash val="solid"/>
          </a:ln>
        </p:spPr>
      </p:sp>
      <p:sp>
        <p:nvSpPr>
          <p:cNvPr id="25" name="矩形 24"/>
          <p:cNvSpPr>
            <a:spLocks noGrp="1"/>
          </p:cNvSpPr>
          <p:nvPr/>
        </p:nvSpPr>
        <p:spPr>
          <a:xfrm>
            <a:off x="5534025" y="243459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10/1/1</a:t>
            </a:r>
            <a:endParaRPr sz="1125" b="0">
              <a:solidFill>
                <a:srgbClr val="152538"/>
              </a:solidFill>
            </a:endParaRPr>
          </a:p>
        </p:txBody>
      </p:sp>
      <p:sp>
        <p:nvSpPr>
          <p:cNvPr id="26" name="矩形 25"/>
          <p:cNvSpPr>
            <a:spLocks noGrp="1"/>
          </p:cNvSpPr>
          <p:nvPr/>
        </p:nvSpPr>
        <p:spPr>
          <a:xfrm>
            <a:off x="7439025" y="2396490"/>
            <a:ext cx="2000250" cy="605790"/>
          </a:xfrm>
          <a:prstGeom prst="rect">
            <a:avLst/>
          </a:prstGeom>
          <a:solidFill>
            <a:srgbClr val="FFFFFF"/>
          </a:solidFill>
          <a:ln w="9525">
            <a:solidFill>
              <a:srgbClr val="D9E0E6"/>
            </a:solidFill>
            <a:prstDash val="solid"/>
          </a:ln>
        </p:spPr>
      </p:sp>
      <p:sp>
        <p:nvSpPr>
          <p:cNvPr id="27" name="矩形 26"/>
          <p:cNvSpPr>
            <a:spLocks noGrp="1"/>
          </p:cNvSpPr>
          <p:nvPr/>
        </p:nvSpPr>
        <p:spPr>
          <a:xfrm>
            <a:off x="7534275" y="243459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28" name="矩形 27"/>
          <p:cNvSpPr>
            <a:spLocks noGrp="1"/>
          </p:cNvSpPr>
          <p:nvPr/>
        </p:nvSpPr>
        <p:spPr>
          <a:xfrm>
            <a:off x="9439275" y="2396490"/>
            <a:ext cx="2000250" cy="605790"/>
          </a:xfrm>
          <a:prstGeom prst="rect">
            <a:avLst/>
          </a:prstGeom>
          <a:solidFill>
            <a:srgbClr val="FFFFFF"/>
          </a:solidFill>
          <a:ln w="9525">
            <a:solidFill>
              <a:srgbClr val="D9E0E6"/>
            </a:solidFill>
            <a:prstDash val="solid"/>
          </a:ln>
        </p:spPr>
      </p:sp>
      <p:sp>
        <p:nvSpPr>
          <p:cNvPr id="29" name="矩形 28"/>
          <p:cNvSpPr>
            <a:spLocks noGrp="1"/>
          </p:cNvSpPr>
          <p:nvPr/>
        </p:nvSpPr>
        <p:spPr>
          <a:xfrm>
            <a:off x="9534525" y="243459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10/0/1</a:t>
            </a:r>
            <a:endParaRPr sz="1125" b="0">
              <a:solidFill>
                <a:srgbClr val="152538"/>
              </a:solidFill>
            </a:endParaRPr>
          </a:p>
        </p:txBody>
      </p:sp>
      <p:sp>
        <p:nvSpPr>
          <p:cNvPr id="30" name="矩形 29"/>
          <p:cNvSpPr>
            <a:spLocks noGrp="1"/>
          </p:cNvSpPr>
          <p:nvPr/>
        </p:nvSpPr>
        <p:spPr>
          <a:xfrm>
            <a:off x="723900" y="3002280"/>
            <a:ext cx="2714625" cy="605790"/>
          </a:xfrm>
          <a:prstGeom prst="rect">
            <a:avLst/>
          </a:prstGeom>
          <a:solidFill>
            <a:srgbClr val="E8F1F8"/>
          </a:solidFill>
          <a:ln w="9525">
            <a:solidFill>
              <a:srgbClr val="D9E0E6"/>
            </a:solidFill>
            <a:prstDash val="solid"/>
          </a:ln>
        </p:spPr>
      </p:sp>
      <p:sp>
        <p:nvSpPr>
          <p:cNvPr id="31" name="矩形 30"/>
          <p:cNvSpPr>
            <a:spLocks noGrp="1"/>
          </p:cNvSpPr>
          <p:nvPr/>
        </p:nvSpPr>
        <p:spPr>
          <a:xfrm>
            <a:off x="819150" y="3040380"/>
            <a:ext cx="2524125"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Calibration only</a:t>
            </a:r>
            <a:endParaRPr sz="1125" b="0">
              <a:solidFill>
                <a:srgbClr val="152538"/>
              </a:solidFill>
            </a:endParaRPr>
          </a:p>
        </p:txBody>
      </p:sp>
      <p:sp>
        <p:nvSpPr>
          <p:cNvPr id="32" name="矩形 31"/>
          <p:cNvSpPr>
            <a:spLocks noGrp="1"/>
          </p:cNvSpPr>
          <p:nvPr/>
        </p:nvSpPr>
        <p:spPr>
          <a:xfrm>
            <a:off x="3438525" y="3002280"/>
            <a:ext cx="2000250" cy="605790"/>
          </a:xfrm>
          <a:prstGeom prst="rect">
            <a:avLst/>
          </a:prstGeom>
          <a:solidFill>
            <a:srgbClr val="E8F1F8"/>
          </a:solidFill>
          <a:ln w="9525">
            <a:solidFill>
              <a:srgbClr val="D9E0E6"/>
            </a:solidFill>
            <a:prstDash val="solid"/>
          </a:ln>
        </p:spPr>
      </p:sp>
      <p:sp>
        <p:nvSpPr>
          <p:cNvPr id="33" name="矩形 32"/>
          <p:cNvSpPr>
            <a:spLocks noGrp="1"/>
          </p:cNvSpPr>
          <p:nvPr/>
        </p:nvSpPr>
        <p:spPr>
          <a:xfrm>
            <a:off x="3533775" y="304038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34" name="矩形 33"/>
          <p:cNvSpPr>
            <a:spLocks noGrp="1"/>
          </p:cNvSpPr>
          <p:nvPr/>
        </p:nvSpPr>
        <p:spPr>
          <a:xfrm>
            <a:off x="5438775" y="3002280"/>
            <a:ext cx="2000250" cy="605790"/>
          </a:xfrm>
          <a:prstGeom prst="rect">
            <a:avLst/>
          </a:prstGeom>
          <a:solidFill>
            <a:srgbClr val="E8F1F8"/>
          </a:solidFill>
          <a:ln w="9525">
            <a:solidFill>
              <a:srgbClr val="D9E0E6"/>
            </a:solidFill>
            <a:prstDash val="solid"/>
          </a:ln>
        </p:spPr>
      </p:sp>
      <p:sp>
        <p:nvSpPr>
          <p:cNvPr id="35" name="矩形 34"/>
          <p:cNvSpPr>
            <a:spLocks noGrp="1"/>
          </p:cNvSpPr>
          <p:nvPr/>
        </p:nvSpPr>
        <p:spPr>
          <a:xfrm>
            <a:off x="5534025" y="304038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10/0/1</a:t>
            </a:r>
            <a:endParaRPr sz="1125" b="0">
              <a:solidFill>
                <a:srgbClr val="152538"/>
              </a:solidFill>
            </a:endParaRPr>
          </a:p>
        </p:txBody>
      </p:sp>
      <p:sp>
        <p:nvSpPr>
          <p:cNvPr id="36" name="矩形 35"/>
          <p:cNvSpPr>
            <a:spLocks noGrp="1"/>
          </p:cNvSpPr>
          <p:nvPr/>
        </p:nvSpPr>
        <p:spPr>
          <a:xfrm>
            <a:off x="7439025" y="3002280"/>
            <a:ext cx="2000250" cy="605790"/>
          </a:xfrm>
          <a:prstGeom prst="rect">
            <a:avLst/>
          </a:prstGeom>
          <a:solidFill>
            <a:srgbClr val="E8F1F8"/>
          </a:solidFill>
          <a:ln w="9525">
            <a:solidFill>
              <a:srgbClr val="D9E0E6"/>
            </a:solidFill>
            <a:prstDash val="solid"/>
          </a:ln>
        </p:spPr>
      </p:sp>
      <p:sp>
        <p:nvSpPr>
          <p:cNvPr id="37" name="矩形 36"/>
          <p:cNvSpPr>
            <a:spLocks noGrp="1"/>
          </p:cNvSpPr>
          <p:nvPr/>
        </p:nvSpPr>
        <p:spPr>
          <a:xfrm>
            <a:off x="7534275" y="304038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38" name="矩形 37"/>
          <p:cNvSpPr>
            <a:spLocks noGrp="1"/>
          </p:cNvSpPr>
          <p:nvPr/>
        </p:nvSpPr>
        <p:spPr>
          <a:xfrm>
            <a:off x="9439275" y="3002280"/>
            <a:ext cx="2000250" cy="605790"/>
          </a:xfrm>
          <a:prstGeom prst="rect">
            <a:avLst/>
          </a:prstGeom>
          <a:solidFill>
            <a:srgbClr val="E8F1F8"/>
          </a:solidFill>
          <a:ln w="9525">
            <a:solidFill>
              <a:srgbClr val="D9E0E6"/>
            </a:solidFill>
            <a:prstDash val="solid"/>
          </a:ln>
        </p:spPr>
      </p:sp>
      <p:sp>
        <p:nvSpPr>
          <p:cNvPr id="39" name="矩形 38"/>
          <p:cNvSpPr>
            <a:spLocks noGrp="1"/>
          </p:cNvSpPr>
          <p:nvPr/>
        </p:nvSpPr>
        <p:spPr>
          <a:xfrm>
            <a:off x="9534525" y="304038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11/0/0</a:t>
            </a:r>
            <a:endParaRPr sz="1125" b="0">
              <a:solidFill>
                <a:srgbClr val="152538"/>
              </a:solidFill>
            </a:endParaRPr>
          </a:p>
        </p:txBody>
      </p:sp>
      <p:sp>
        <p:nvSpPr>
          <p:cNvPr id="40" name="矩形 39"/>
          <p:cNvSpPr>
            <a:spLocks noGrp="1"/>
          </p:cNvSpPr>
          <p:nvPr/>
        </p:nvSpPr>
        <p:spPr>
          <a:xfrm>
            <a:off x="723900" y="3608070"/>
            <a:ext cx="2714625" cy="605790"/>
          </a:xfrm>
          <a:prstGeom prst="rect">
            <a:avLst/>
          </a:prstGeom>
          <a:solidFill>
            <a:srgbClr val="FFFFFF"/>
          </a:solidFill>
          <a:ln w="9525">
            <a:solidFill>
              <a:srgbClr val="D9E0E6"/>
            </a:solidFill>
            <a:prstDash val="solid"/>
          </a:ln>
        </p:spPr>
      </p:sp>
      <p:sp>
        <p:nvSpPr>
          <p:cNvPr id="41" name="矩形 40"/>
          <p:cNvSpPr>
            <a:spLocks noGrp="1"/>
          </p:cNvSpPr>
          <p:nvPr/>
        </p:nvSpPr>
        <p:spPr>
          <a:xfrm>
            <a:off x="819150" y="3646170"/>
            <a:ext cx="2524125"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Anchored fine-tuning</a:t>
            </a:r>
            <a:endParaRPr sz="1125" b="0">
              <a:solidFill>
                <a:srgbClr val="152538"/>
              </a:solidFill>
            </a:endParaRPr>
          </a:p>
        </p:txBody>
      </p:sp>
      <p:sp>
        <p:nvSpPr>
          <p:cNvPr id="42" name="矩形 41"/>
          <p:cNvSpPr>
            <a:spLocks noGrp="1"/>
          </p:cNvSpPr>
          <p:nvPr/>
        </p:nvSpPr>
        <p:spPr>
          <a:xfrm>
            <a:off x="3438525" y="3608070"/>
            <a:ext cx="2000250" cy="605790"/>
          </a:xfrm>
          <a:prstGeom prst="rect">
            <a:avLst/>
          </a:prstGeom>
          <a:solidFill>
            <a:srgbClr val="FFFFFF"/>
          </a:solidFill>
          <a:ln w="9525">
            <a:solidFill>
              <a:srgbClr val="D9E0E6"/>
            </a:solidFill>
            <a:prstDash val="solid"/>
          </a:ln>
        </p:spPr>
      </p:sp>
      <p:sp>
        <p:nvSpPr>
          <p:cNvPr id="43" name="矩形 42"/>
          <p:cNvSpPr>
            <a:spLocks noGrp="1"/>
          </p:cNvSpPr>
          <p:nvPr/>
        </p:nvSpPr>
        <p:spPr>
          <a:xfrm>
            <a:off x="3533775" y="364617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44" name="矩形 43"/>
          <p:cNvSpPr>
            <a:spLocks noGrp="1"/>
          </p:cNvSpPr>
          <p:nvPr/>
        </p:nvSpPr>
        <p:spPr>
          <a:xfrm>
            <a:off x="5438775" y="3608070"/>
            <a:ext cx="2000250" cy="605790"/>
          </a:xfrm>
          <a:prstGeom prst="rect">
            <a:avLst/>
          </a:prstGeom>
          <a:solidFill>
            <a:srgbClr val="FFFFFF"/>
          </a:solidFill>
          <a:ln w="9525">
            <a:solidFill>
              <a:srgbClr val="D9E0E6"/>
            </a:solidFill>
            <a:prstDash val="solid"/>
          </a:ln>
        </p:spPr>
      </p:sp>
      <p:sp>
        <p:nvSpPr>
          <p:cNvPr id="45" name="矩形 44"/>
          <p:cNvSpPr>
            <a:spLocks noGrp="1"/>
          </p:cNvSpPr>
          <p:nvPr/>
        </p:nvSpPr>
        <p:spPr>
          <a:xfrm>
            <a:off x="5534025" y="364617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10/0/2</a:t>
            </a:r>
            <a:endParaRPr sz="1125" b="0">
              <a:solidFill>
                <a:srgbClr val="152538"/>
              </a:solidFill>
            </a:endParaRPr>
          </a:p>
        </p:txBody>
      </p:sp>
      <p:sp>
        <p:nvSpPr>
          <p:cNvPr id="46" name="矩形 45"/>
          <p:cNvSpPr>
            <a:spLocks noGrp="1"/>
          </p:cNvSpPr>
          <p:nvPr/>
        </p:nvSpPr>
        <p:spPr>
          <a:xfrm>
            <a:off x="7439025" y="3608070"/>
            <a:ext cx="2000250" cy="605790"/>
          </a:xfrm>
          <a:prstGeom prst="rect">
            <a:avLst/>
          </a:prstGeom>
          <a:solidFill>
            <a:srgbClr val="FFFFFF"/>
          </a:solidFill>
          <a:ln w="9525">
            <a:solidFill>
              <a:srgbClr val="D9E0E6"/>
            </a:solidFill>
            <a:prstDash val="solid"/>
          </a:ln>
        </p:spPr>
      </p:sp>
      <p:sp>
        <p:nvSpPr>
          <p:cNvPr id="47" name="矩形 46"/>
          <p:cNvSpPr>
            <a:spLocks noGrp="1"/>
          </p:cNvSpPr>
          <p:nvPr/>
        </p:nvSpPr>
        <p:spPr>
          <a:xfrm>
            <a:off x="7534275" y="364617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10/1/1</a:t>
            </a:r>
            <a:endParaRPr sz="1125" b="0">
              <a:solidFill>
                <a:srgbClr val="152538"/>
              </a:solidFill>
            </a:endParaRPr>
          </a:p>
        </p:txBody>
      </p:sp>
      <p:sp>
        <p:nvSpPr>
          <p:cNvPr id="48" name="矩形 47"/>
          <p:cNvSpPr>
            <a:spLocks noGrp="1"/>
          </p:cNvSpPr>
          <p:nvPr/>
        </p:nvSpPr>
        <p:spPr>
          <a:xfrm>
            <a:off x="9439275" y="3608070"/>
            <a:ext cx="2000250" cy="605790"/>
          </a:xfrm>
          <a:prstGeom prst="rect">
            <a:avLst/>
          </a:prstGeom>
          <a:solidFill>
            <a:srgbClr val="FFFFFF"/>
          </a:solidFill>
          <a:ln w="9525">
            <a:solidFill>
              <a:srgbClr val="D9E0E6"/>
            </a:solidFill>
            <a:prstDash val="solid"/>
          </a:ln>
        </p:spPr>
      </p:sp>
      <p:sp>
        <p:nvSpPr>
          <p:cNvPr id="49" name="矩形 48"/>
          <p:cNvSpPr>
            <a:spLocks noGrp="1"/>
          </p:cNvSpPr>
          <p:nvPr/>
        </p:nvSpPr>
        <p:spPr>
          <a:xfrm>
            <a:off x="9534525" y="364617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10/0/2</a:t>
            </a:r>
            <a:endParaRPr sz="1125" b="0">
              <a:solidFill>
                <a:srgbClr val="152538"/>
              </a:solidFill>
            </a:endParaRPr>
          </a:p>
        </p:txBody>
      </p:sp>
      <p:sp>
        <p:nvSpPr>
          <p:cNvPr id="50" name="矩形 49"/>
          <p:cNvSpPr>
            <a:spLocks noGrp="1"/>
          </p:cNvSpPr>
          <p:nvPr/>
        </p:nvSpPr>
        <p:spPr>
          <a:xfrm>
            <a:off x="723900" y="4213860"/>
            <a:ext cx="2714625" cy="605790"/>
          </a:xfrm>
          <a:prstGeom prst="rect">
            <a:avLst/>
          </a:prstGeom>
          <a:solidFill>
            <a:srgbClr val="E8F1F8"/>
          </a:solidFill>
          <a:ln w="9525">
            <a:solidFill>
              <a:srgbClr val="D9E0E6"/>
            </a:solidFill>
            <a:prstDash val="solid"/>
          </a:ln>
        </p:spPr>
      </p:sp>
      <p:sp>
        <p:nvSpPr>
          <p:cNvPr id="51" name="矩形 50"/>
          <p:cNvSpPr>
            <a:spLocks noGrp="1"/>
          </p:cNvSpPr>
          <p:nvPr/>
        </p:nvSpPr>
        <p:spPr>
          <a:xfrm>
            <a:off x="819150" y="4251960"/>
            <a:ext cx="2524125"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Privileged center</a:t>
            </a:r>
            <a:endParaRPr sz="1125" b="0">
              <a:solidFill>
                <a:srgbClr val="152538"/>
              </a:solidFill>
            </a:endParaRPr>
          </a:p>
        </p:txBody>
      </p:sp>
      <p:sp>
        <p:nvSpPr>
          <p:cNvPr id="52" name="矩形 51"/>
          <p:cNvSpPr>
            <a:spLocks noGrp="1"/>
          </p:cNvSpPr>
          <p:nvPr/>
        </p:nvSpPr>
        <p:spPr>
          <a:xfrm>
            <a:off x="3438525" y="4213860"/>
            <a:ext cx="2000250" cy="605790"/>
          </a:xfrm>
          <a:prstGeom prst="rect">
            <a:avLst/>
          </a:prstGeom>
          <a:solidFill>
            <a:srgbClr val="E8F1F8"/>
          </a:solidFill>
          <a:ln w="9525">
            <a:solidFill>
              <a:srgbClr val="D9E0E6"/>
            </a:solidFill>
            <a:prstDash val="solid"/>
          </a:ln>
        </p:spPr>
      </p:sp>
      <p:sp>
        <p:nvSpPr>
          <p:cNvPr id="53" name="矩形 52"/>
          <p:cNvSpPr>
            <a:spLocks noGrp="1"/>
          </p:cNvSpPr>
          <p:nvPr/>
        </p:nvSpPr>
        <p:spPr>
          <a:xfrm>
            <a:off x="3533775" y="425196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54" name="矩形 53"/>
          <p:cNvSpPr>
            <a:spLocks noGrp="1"/>
          </p:cNvSpPr>
          <p:nvPr/>
        </p:nvSpPr>
        <p:spPr>
          <a:xfrm>
            <a:off x="5438775" y="4213860"/>
            <a:ext cx="2000250" cy="605790"/>
          </a:xfrm>
          <a:prstGeom prst="rect">
            <a:avLst/>
          </a:prstGeom>
          <a:solidFill>
            <a:srgbClr val="E8F1F8"/>
          </a:solidFill>
          <a:ln w="9525">
            <a:solidFill>
              <a:srgbClr val="D9E0E6"/>
            </a:solidFill>
            <a:prstDash val="solid"/>
          </a:ln>
        </p:spPr>
      </p:sp>
      <p:sp>
        <p:nvSpPr>
          <p:cNvPr id="55" name="矩形 54"/>
          <p:cNvSpPr>
            <a:spLocks noGrp="1"/>
          </p:cNvSpPr>
          <p:nvPr/>
        </p:nvSpPr>
        <p:spPr>
          <a:xfrm>
            <a:off x="5534025" y="425196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11/0/1</a:t>
            </a:r>
            <a:endParaRPr sz="1125" b="0">
              <a:solidFill>
                <a:srgbClr val="152538"/>
              </a:solidFill>
            </a:endParaRPr>
          </a:p>
        </p:txBody>
      </p:sp>
      <p:sp>
        <p:nvSpPr>
          <p:cNvPr id="56" name="矩形 55"/>
          <p:cNvSpPr>
            <a:spLocks noGrp="1"/>
          </p:cNvSpPr>
          <p:nvPr/>
        </p:nvSpPr>
        <p:spPr>
          <a:xfrm>
            <a:off x="7439025" y="4213860"/>
            <a:ext cx="2000250" cy="605790"/>
          </a:xfrm>
          <a:prstGeom prst="rect">
            <a:avLst/>
          </a:prstGeom>
          <a:solidFill>
            <a:srgbClr val="E8F1F8"/>
          </a:solidFill>
          <a:ln w="9525">
            <a:solidFill>
              <a:srgbClr val="D9E0E6"/>
            </a:solidFill>
            <a:prstDash val="solid"/>
          </a:ln>
        </p:spPr>
      </p:sp>
      <p:sp>
        <p:nvSpPr>
          <p:cNvPr id="57" name="矩形 56"/>
          <p:cNvSpPr>
            <a:spLocks noGrp="1"/>
          </p:cNvSpPr>
          <p:nvPr/>
        </p:nvSpPr>
        <p:spPr>
          <a:xfrm>
            <a:off x="7534275" y="425196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58" name="矩形 57"/>
          <p:cNvSpPr>
            <a:spLocks noGrp="1"/>
          </p:cNvSpPr>
          <p:nvPr/>
        </p:nvSpPr>
        <p:spPr>
          <a:xfrm>
            <a:off x="9439275" y="4213860"/>
            <a:ext cx="2000250" cy="605790"/>
          </a:xfrm>
          <a:prstGeom prst="rect">
            <a:avLst/>
          </a:prstGeom>
          <a:solidFill>
            <a:srgbClr val="E8F1F8"/>
          </a:solidFill>
          <a:ln w="9525">
            <a:solidFill>
              <a:srgbClr val="D9E0E6"/>
            </a:solidFill>
            <a:prstDash val="solid"/>
          </a:ln>
        </p:spPr>
      </p:sp>
      <p:sp>
        <p:nvSpPr>
          <p:cNvPr id="59" name="矩形 58"/>
          <p:cNvSpPr>
            <a:spLocks noGrp="1"/>
          </p:cNvSpPr>
          <p:nvPr/>
        </p:nvSpPr>
        <p:spPr>
          <a:xfrm>
            <a:off x="9534525" y="4251960"/>
            <a:ext cx="1809750" cy="52959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12/0/0</a:t>
            </a:r>
            <a:endParaRPr sz="1125" b="0">
              <a:solidFill>
                <a:srgbClr val="152538"/>
              </a:solidFill>
            </a:endParaRPr>
          </a:p>
        </p:txBody>
      </p:sp>
      <p:sp>
        <p:nvSpPr>
          <p:cNvPr id="60" name="矩形 59"/>
          <p:cNvSpPr>
            <a:spLocks noGrp="1"/>
          </p:cNvSpPr>
          <p:nvPr/>
        </p:nvSpPr>
        <p:spPr>
          <a:xfrm>
            <a:off x="1047750" y="5010150"/>
            <a:ext cx="10096500" cy="323850"/>
          </a:xfrm>
          <a:prstGeom prst="rect">
            <a:avLst/>
          </a:prstGeom>
          <a:noFill/>
          <a:ln w="0">
            <a:noFill/>
            <a:prstDash val="solid"/>
          </a:ln>
        </p:spPr>
        <p:txBody>
          <a:bodyPr anchor="ctr"/>
          <a:lstStyle/>
          <a:p>
            <a:pPr algn="ctr">
              <a:defRPr sz="1350" b="0">
                <a:solidFill>
                  <a:srgbClr val="6B7580"/>
                </a:solidFill>
              </a:defRPr>
            </a:pPr>
            <a:r>
              <a:rPr sz="1350" b="0">
                <a:solidFill>
                  <a:srgbClr val="6B7580"/>
                </a:solidFill>
              </a:rPr>
              <a:t>Each cell: verified / force-limit / protected termination · n = 12</a:t>
            </a:r>
            <a:endParaRPr sz="1350" b="0">
              <a:solidFill>
                <a:srgbClr val="6B7580"/>
              </a:solidFill>
            </a:endParaRPr>
          </a:p>
        </p:txBody>
      </p:sp>
      <p:sp>
        <p:nvSpPr>
          <p:cNvPr id="61" name="矩形 60"/>
          <p:cNvSpPr>
            <a:spLocks noGrp="1"/>
          </p:cNvSpPr>
          <p:nvPr/>
        </p:nvSpPr>
        <p:spPr>
          <a:xfrm>
            <a:off x="647700" y="5943600"/>
            <a:ext cx="10839450" cy="400050"/>
          </a:xfrm>
          <a:prstGeom prst="rect">
            <a:avLst/>
          </a:prstGeom>
          <a:solidFill>
            <a:srgbClr val="FFF0E2"/>
          </a:solidFill>
          <a:ln w="0">
            <a:noFill/>
            <a:prstDash val="solid"/>
          </a:ln>
        </p:spPr>
      </p:sp>
      <p:sp>
        <p:nvSpPr>
          <p:cNvPr id="62" name="矩形 61"/>
          <p:cNvSpPr>
            <a:spLocks noGrp="1"/>
          </p:cNvSpPr>
          <p:nvPr/>
        </p:nvSpPr>
        <p:spPr>
          <a:xfrm>
            <a:off x="647700" y="5943600"/>
            <a:ext cx="57150" cy="400050"/>
          </a:xfrm>
          <a:prstGeom prst="rect">
            <a:avLst/>
          </a:prstGeom>
          <a:solidFill>
            <a:srgbClr val="ED7F0D"/>
          </a:solidFill>
          <a:ln w="0">
            <a:noFill/>
            <a:prstDash val="solid"/>
          </a:ln>
        </p:spPr>
      </p:sp>
      <p:sp>
        <p:nvSpPr>
          <p:cNvPr id="63" name="矩形 62"/>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encoder stays fixed; only contact-state and direction heads adapt with an M8 anchor. Uncertainty gates can abstain from shortcutting.</a:t>
            </a:r>
            <a:endParaRPr sz="1275" b="1">
              <a:solidFill>
                <a:srgbClr val="152538"/>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50</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550" b="1">
                <a:solidFill>
                  <a:srgbClr val="004282"/>
                </a:solidFill>
              </a:defRPr>
            </a:pPr>
            <a:r>
              <a:rPr sz="2550" b="1">
                <a:solidFill>
                  <a:srgbClr val="004282"/>
                </a:solidFill>
              </a:rPr>
              <a:t>A12 · Hardware acquisition partition and named-run registry</a:t>
            </a:r>
            <a:endParaRPr sz="2550"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Sec. IV-F · Table IV · Figs. 8–10</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50</a:t>
            </a:r>
            <a:endParaRPr sz="825" b="1">
              <a:solidFill>
                <a:srgbClr val="004282"/>
              </a:solidFill>
            </a:endParaRPr>
          </a:p>
        </p:txBody>
      </p:sp>
      <p:sp>
        <p:nvSpPr>
          <p:cNvPr id="10" name="矩形 9"/>
          <p:cNvSpPr>
            <a:spLocks noGrp="1"/>
          </p:cNvSpPr>
          <p:nvPr/>
        </p:nvSpPr>
        <p:spPr>
          <a:xfrm>
            <a:off x="742950" y="1752600"/>
            <a:ext cx="1790700" cy="809625"/>
          </a:xfrm>
          <a:prstGeom prst="rect">
            <a:avLst/>
          </a:prstGeom>
          <a:solidFill>
            <a:srgbClr val="004282"/>
          </a:solidFill>
          <a:ln w="9525">
            <a:solidFill>
              <a:srgbClr val="D9E0E6"/>
            </a:solidFill>
            <a:prstDash val="solid"/>
          </a:ln>
        </p:spPr>
      </p:sp>
      <p:sp>
        <p:nvSpPr>
          <p:cNvPr id="11" name="矩形 10"/>
          <p:cNvSpPr>
            <a:spLocks noGrp="1"/>
          </p:cNvSpPr>
          <p:nvPr/>
        </p:nvSpPr>
        <p:spPr>
          <a:xfrm>
            <a:off x="838200" y="1790700"/>
            <a:ext cx="1600200" cy="733425"/>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Hardware record</a:t>
            </a:r>
            <a:endParaRPr sz="1200" b="1">
              <a:solidFill>
                <a:srgbClr val="FFFFFF"/>
              </a:solidFill>
            </a:endParaRPr>
          </a:p>
        </p:txBody>
      </p:sp>
      <p:sp>
        <p:nvSpPr>
          <p:cNvPr id="12" name="矩形 11"/>
          <p:cNvSpPr>
            <a:spLocks noGrp="1"/>
          </p:cNvSpPr>
          <p:nvPr/>
        </p:nvSpPr>
        <p:spPr>
          <a:xfrm>
            <a:off x="2533650" y="1752600"/>
            <a:ext cx="2381250" cy="809625"/>
          </a:xfrm>
          <a:prstGeom prst="rect">
            <a:avLst/>
          </a:prstGeom>
          <a:solidFill>
            <a:srgbClr val="004282"/>
          </a:solidFill>
          <a:ln w="9525">
            <a:solidFill>
              <a:srgbClr val="D9E0E6"/>
            </a:solidFill>
            <a:prstDash val="solid"/>
          </a:ln>
        </p:spPr>
      </p:sp>
      <p:sp>
        <p:nvSpPr>
          <p:cNvPr id="13" name="矩形 12"/>
          <p:cNvSpPr>
            <a:spLocks noGrp="1"/>
          </p:cNvSpPr>
          <p:nvPr/>
        </p:nvSpPr>
        <p:spPr>
          <a:xfrm>
            <a:off x="2628900" y="1790700"/>
            <a:ext cx="2190750" cy="733425"/>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Method(s)</a:t>
            </a:r>
            <a:endParaRPr sz="1200" b="1">
              <a:solidFill>
                <a:srgbClr val="FFFFFF"/>
              </a:solidFill>
            </a:endParaRPr>
          </a:p>
        </p:txBody>
      </p:sp>
      <p:sp>
        <p:nvSpPr>
          <p:cNvPr id="14" name="矩形 13"/>
          <p:cNvSpPr>
            <a:spLocks noGrp="1"/>
          </p:cNvSpPr>
          <p:nvPr/>
        </p:nvSpPr>
        <p:spPr>
          <a:xfrm>
            <a:off x="4914900" y="1752600"/>
            <a:ext cx="952500" cy="809625"/>
          </a:xfrm>
          <a:prstGeom prst="rect">
            <a:avLst/>
          </a:prstGeom>
          <a:solidFill>
            <a:srgbClr val="004282"/>
          </a:solidFill>
          <a:ln w="9525">
            <a:solidFill>
              <a:srgbClr val="D9E0E6"/>
            </a:solidFill>
            <a:prstDash val="solid"/>
          </a:ln>
        </p:spPr>
      </p:sp>
      <p:sp>
        <p:nvSpPr>
          <p:cNvPr id="15" name="矩形 14"/>
          <p:cNvSpPr>
            <a:spLocks noGrp="1"/>
          </p:cNvSpPr>
          <p:nvPr/>
        </p:nvSpPr>
        <p:spPr>
          <a:xfrm>
            <a:off x="5010150" y="1790700"/>
            <a:ext cx="762000" cy="733425"/>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Runs</a:t>
            </a:r>
            <a:endParaRPr sz="1200" b="1">
              <a:solidFill>
                <a:srgbClr val="FFFFFF"/>
              </a:solidFill>
            </a:endParaRPr>
          </a:p>
        </p:txBody>
      </p:sp>
      <p:sp>
        <p:nvSpPr>
          <p:cNvPr id="16" name="矩形 15"/>
          <p:cNvSpPr>
            <a:spLocks noGrp="1"/>
          </p:cNvSpPr>
          <p:nvPr/>
        </p:nvSpPr>
        <p:spPr>
          <a:xfrm>
            <a:off x="5867400" y="1752600"/>
            <a:ext cx="1885950" cy="809625"/>
          </a:xfrm>
          <a:prstGeom prst="rect">
            <a:avLst/>
          </a:prstGeom>
          <a:solidFill>
            <a:srgbClr val="004282"/>
          </a:solidFill>
          <a:ln w="9525">
            <a:solidFill>
              <a:srgbClr val="D9E0E6"/>
            </a:solidFill>
            <a:prstDash val="solid"/>
          </a:ln>
        </p:spPr>
      </p:sp>
      <p:sp>
        <p:nvSpPr>
          <p:cNvPr id="17" name="矩形 16"/>
          <p:cNvSpPr>
            <a:spLocks noGrp="1"/>
          </p:cNvSpPr>
          <p:nvPr/>
        </p:nvSpPr>
        <p:spPr>
          <a:xfrm>
            <a:off x="5962650" y="1790700"/>
            <a:ext cx="1695450" cy="733425"/>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Recorded outcome</a:t>
            </a:r>
            <a:endParaRPr sz="1200" b="1">
              <a:solidFill>
                <a:srgbClr val="FFFFFF"/>
              </a:solidFill>
            </a:endParaRPr>
          </a:p>
        </p:txBody>
      </p:sp>
      <p:sp>
        <p:nvSpPr>
          <p:cNvPr id="18" name="矩形 17"/>
          <p:cNvSpPr>
            <a:spLocks noGrp="1"/>
          </p:cNvSpPr>
          <p:nvPr/>
        </p:nvSpPr>
        <p:spPr>
          <a:xfrm>
            <a:off x="742950" y="2562225"/>
            <a:ext cx="1790700" cy="809625"/>
          </a:xfrm>
          <a:prstGeom prst="rect">
            <a:avLst/>
          </a:prstGeom>
          <a:solidFill>
            <a:srgbClr val="FFFFFF"/>
          </a:solidFill>
          <a:ln w="9525">
            <a:solidFill>
              <a:srgbClr val="D9E0E6"/>
            </a:solidFill>
            <a:prstDash val="solid"/>
          </a:ln>
        </p:spPr>
      </p:sp>
      <p:sp>
        <p:nvSpPr>
          <p:cNvPr id="19" name="矩形 18"/>
          <p:cNvSpPr>
            <a:spLocks noGrp="1"/>
          </p:cNvSpPr>
          <p:nvPr/>
        </p:nvSpPr>
        <p:spPr>
          <a:xfrm>
            <a:off x="838200" y="2600325"/>
            <a:ext cx="1600200" cy="7334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Registered conical scans</a:t>
            </a:r>
            <a:endParaRPr sz="1125" b="0">
              <a:solidFill>
                <a:srgbClr val="152538"/>
              </a:solidFill>
            </a:endParaRPr>
          </a:p>
        </p:txBody>
      </p:sp>
      <p:sp>
        <p:nvSpPr>
          <p:cNvPr id="20" name="矩形 19"/>
          <p:cNvSpPr>
            <a:spLocks noGrp="1"/>
          </p:cNvSpPr>
          <p:nvPr/>
        </p:nvSpPr>
        <p:spPr>
          <a:xfrm>
            <a:off x="2533650" y="2562225"/>
            <a:ext cx="2381250" cy="809625"/>
          </a:xfrm>
          <a:prstGeom prst="rect">
            <a:avLst/>
          </a:prstGeom>
          <a:solidFill>
            <a:srgbClr val="FFFFFF"/>
          </a:solidFill>
          <a:ln w="9525">
            <a:solidFill>
              <a:srgbClr val="D9E0E6"/>
            </a:solidFill>
            <a:prstDash val="solid"/>
          </a:ln>
        </p:spPr>
      </p:sp>
      <p:sp>
        <p:nvSpPr>
          <p:cNvPr id="21" name="矩形 20"/>
          <p:cNvSpPr>
            <a:spLocks noGrp="1"/>
          </p:cNvSpPr>
          <p:nvPr/>
        </p:nvSpPr>
        <p:spPr>
          <a:xfrm>
            <a:off x="2628900" y="2600325"/>
            <a:ext cx="2190750" cy="7334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acquisition</a:t>
            </a:r>
            <a:endParaRPr sz="1125" b="0">
              <a:solidFill>
                <a:srgbClr val="152538"/>
              </a:solidFill>
            </a:endParaRPr>
          </a:p>
        </p:txBody>
      </p:sp>
      <p:sp>
        <p:nvSpPr>
          <p:cNvPr id="22" name="矩形 21"/>
          <p:cNvSpPr>
            <a:spLocks noGrp="1"/>
          </p:cNvSpPr>
          <p:nvPr/>
        </p:nvSpPr>
        <p:spPr>
          <a:xfrm>
            <a:off x="4914900" y="2562225"/>
            <a:ext cx="952500" cy="809625"/>
          </a:xfrm>
          <a:prstGeom prst="rect">
            <a:avLst/>
          </a:prstGeom>
          <a:solidFill>
            <a:srgbClr val="FFFFFF"/>
          </a:solidFill>
          <a:ln w="9525">
            <a:solidFill>
              <a:srgbClr val="D9E0E6"/>
            </a:solidFill>
            <a:prstDash val="solid"/>
          </a:ln>
        </p:spPr>
      </p:sp>
      <p:sp>
        <p:nvSpPr>
          <p:cNvPr id="23" name="矩形 22"/>
          <p:cNvSpPr>
            <a:spLocks noGrp="1"/>
          </p:cNvSpPr>
          <p:nvPr/>
        </p:nvSpPr>
        <p:spPr>
          <a:xfrm>
            <a:off x="5010150" y="2600325"/>
            <a:ext cx="762000" cy="7334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26 / size</a:t>
            </a:r>
            <a:endParaRPr sz="1125" b="0">
              <a:solidFill>
                <a:srgbClr val="152538"/>
              </a:solidFill>
            </a:endParaRPr>
          </a:p>
        </p:txBody>
      </p:sp>
      <p:sp>
        <p:nvSpPr>
          <p:cNvPr id="24" name="矩形 23"/>
          <p:cNvSpPr>
            <a:spLocks noGrp="1"/>
          </p:cNvSpPr>
          <p:nvPr/>
        </p:nvSpPr>
        <p:spPr>
          <a:xfrm>
            <a:off x="5867400" y="2562225"/>
            <a:ext cx="1885950" cy="809625"/>
          </a:xfrm>
          <a:prstGeom prst="rect">
            <a:avLst/>
          </a:prstGeom>
          <a:solidFill>
            <a:srgbClr val="FFFFFF"/>
          </a:solidFill>
          <a:ln w="9525">
            <a:solidFill>
              <a:srgbClr val="D9E0E6"/>
            </a:solidFill>
            <a:prstDash val="solid"/>
          </a:ln>
        </p:spPr>
      </p:sp>
      <p:sp>
        <p:nvSpPr>
          <p:cNvPr id="25" name="矩形 24"/>
          <p:cNvSpPr>
            <a:spLocks noGrp="1"/>
          </p:cNvSpPr>
          <p:nvPr/>
        </p:nvSpPr>
        <p:spPr>
          <a:xfrm>
            <a:off x="5962650" y="2600325"/>
            <a:ext cx="1695450" cy="7334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78 / 78 valid traces</a:t>
            </a:r>
            <a:endParaRPr sz="1125" b="0">
              <a:solidFill>
                <a:srgbClr val="152538"/>
              </a:solidFill>
            </a:endParaRPr>
          </a:p>
        </p:txBody>
      </p:sp>
      <p:sp>
        <p:nvSpPr>
          <p:cNvPr id="26" name="矩形 25"/>
          <p:cNvSpPr>
            <a:spLocks noGrp="1"/>
          </p:cNvSpPr>
          <p:nvPr/>
        </p:nvSpPr>
        <p:spPr>
          <a:xfrm>
            <a:off x="742950" y="3371850"/>
            <a:ext cx="1790700" cy="809625"/>
          </a:xfrm>
          <a:prstGeom prst="rect">
            <a:avLst/>
          </a:prstGeom>
          <a:solidFill>
            <a:srgbClr val="E8F1F8"/>
          </a:solidFill>
          <a:ln w="9525">
            <a:solidFill>
              <a:srgbClr val="D9E0E6"/>
            </a:solidFill>
            <a:prstDash val="solid"/>
          </a:ln>
        </p:spPr>
      </p:sp>
      <p:sp>
        <p:nvSpPr>
          <p:cNvPr id="27" name="矩形 26"/>
          <p:cNvSpPr>
            <a:spLocks noGrp="1"/>
          </p:cNvSpPr>
          <p:nvPr/>
        </p:nvSpPr>
        <p:spPr>
          <a:xfrm>
            <a:off x="838200" y="3409950"/>
            <a:ext cx="1600200" cy="7334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M12 fixed-seed</a:t>
            </a:r>
            <a:endParaRPr sz="1125" b="0">
              <a:solidFill>
                <a:srgbClr val="152538"/>
              </a:solidFill>
            </a:endParaRPr>
          </a:p>
        </p:txBody>
      </p:sp>
      <p:sp>
        <p:nvSpPr>
          <p:cNvPr id="28" name="矩形 27"/>
          <p:cNvSpPr>
            <a:spLocks noGrp="1"/>
          </p:cNvSpPr>
          <p:nvPr/>
        </p:nvSpPr>
        <p:spPr>
          <a:xfrm>
            <a:off x="2533650" y="3371850"/>
            <a:ext cx="2381250" cy="809625"/>
          </a:xfrm>
          <a:prstGeom prst="rect">
            <a:avLst/>
          </a:prstGeom>
          <a:solidFill>
            <a:srgbClr val="E8F1F8"/>
          </a:solidFill>
          <a:ln w="9525">
            <a:solidFill>
              <a:srgbClr val="D9E0E6"/>
            </a:solidFill>
            <a:prstDash val="solid"/>
          </a:ln>
        </p:spPr>
      </p:sp>
      <p:sp>
        <p:nvSpPr>
          <p:cNvPr id="29" name="矩形 28"/>
          <p:cNvSpPr>
            <a:spLocks noGrp="1"/>
          </p:cNvSpPr>
          <p:nvPr/>
        </p:nvSpPr>
        <p:spPr>
          <a:xfrm>
            <a:off x="2628900" y="3409950"/>
            <a:ext cx="2190750" cy="7334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PGS-O, PGS-G, Outward, Direct-4C</a:t>
            </a:r>
            <a:endParaRPr sz="1125" b="0">
              <a:solidFill>
                <a:srgbClr val="152538"/>
              </a:solidFill>
            </a:endParaRPr>
          </a:p>
        </p:txBody>
      </p:sp>
      <p:sp>
        <p:nvSpPr>
          <p:cNvPr id="30" name="矩形 29"/>
          <p:cNvSpPr>
            <a:spLocks noGrp="1"/>
          </p:cNvSpPr>
          <p:nvPr/>
        </p:nvSpPr>
        <p:spPr>
          <a:xfrm>
            <a:off x="4914900" y="3371850"/>
            <a:ext cx="952500" cy="809625"/>
          </a:xfrm>
          <a:prstGeom prst="rect">
            <a:avLst/>
          </a:prstGeom>
          <a:solidFill>
            <a:srgbClr val="E8F1F8"/>
          </a:solidFill>
          <a:ln w="9525">
            <a:solidFill>
              <a:srgbClr val="D9E0E6"/>
            </a:solidFill>
            <a:prstDash val="solid"/>
          </a:ln>
        </p:spPr>
      </p:sp>
      <p:sp>
        <p:nvSpPr>
          <p:cNvPr id="31" name="矩形 30"/>
          <p:cNvSpPr>
            <a:spLocks noGrp="1"/>
          </p:cNvSpPr>
          <p:nvPr/>
        </p:nvSpPr>
        <p:spPr>
          <a:xfrm>
            <a:off x="5010150" y="3409950"/>
            <a:ext cx="762000" cy="7334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1 / method</a:t>
            </a:r>
            <a:endParaRPr sz="1125" b="0">
              <a:solidFill>
                <a:srgbClr val="152538"/>
              </a:solidFill>
            </a:endParaRPr>
          </a:p>
        </p:txBody>
      </p:sp>
      <p:sp>
        <p:nvSpPr>
          <p:cNvPr id="32" name="矩形 31"/>
          <p:cNvSpPr>
            <a:spLocks noGrp="1"/>
          </p:cNvSpPr>
          <p:nvPr/>
        </p:nvSpPr>
        <p:spPr>
          <a:xfrm>
            <a:off x="5867400" y="3371850"/>
            <a:ext cx="1885950" cy="809625"/>
          </a:xfrm>
          <a:prstGeom prst="rect">
            <a:avLst/>
          </a:prstGeom>
          <a:solidFill>
            <a:srgbClr val="E8F1F8"/>
          </a:solidFill>
          <a:ln w="9525">
            <a:solidFill>
              <a:srgbClr val="D9E0E6"/>
            </a:solidFill>
            <a:prstDash val="solid"/>
          </a:ln>
        </p:spPr>
      </p:sp>
      <p:sp>
        <p:nvSpPr>
          <p:cNvPr id="33" name="矩形 32"/>
          <p:cNvSpPr>
            <a:spLocks noGrp="1"/>
          </p:cNvSpPr>
          <p:nvPr/>
        </p:nvSpPr>
        <p:spPr>
          <a:xfrm>
            <a:off x="5962650" y="3409950"/>
            <a:ext cx="1695450" cy="7334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three terminal; Outward after extension</a:t>
            </a:r>
            <a:endParaRPr sz="1125" b="0">
              <a:solidFill>
                <a:srgbClr val="152538"/>
              </a:solidFill>
            </a:endParaRPr>
          </a:p>
        </p:txBody>
      </p:sp>
      <p:sp>
        <p:nvSpPr>
          <p:cNvPr id="34" name="矩形 33"/>
          <p:cNvSpPr>
            <a:spLocks noGrp="1"/>
          </p:cNvSpPr>
          <p:nvPr/>
        </p:nvSpPr>
        <p:spPr>
          <a:xfrm>
            <a:off x="742950" y="4181475"/>
            <a:ext cx="1790700" cy="809625"/>
          </a:xfrm>
          <a:prstGeom prst="rect">
            <a:avLst/>
          </a:prstGeom>
          <a:solidFill>
            <a:srgbClr val="FFFFFF"/>
          </a:solidFill>
          <a:ln w="9525">
            <a:solidFill>
              <a:srgbClr val="D9E0E6"/>
            </a:solidFill>
            <a:prstDash val="solid"/>
          </a:ln>
        </p:spPr>
      </p:sp>
      <p:sp>
        <p:nvSpPr>
          <p:cNvPr id="35" name="矩形 34"/>
          <p:cNvSpPr>
            <a:spLocks noGrp="1"/>
          </p:cNvSpPr>
          <p:nvPr/>
        </p:nvSpPr>
        <p:spPr>
          <a:xfrm>
            <a:off x="838200" y="4219575"/>
            <a:ext cx="1600200" cy="7334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M10 fixed-start</a:t>
            </a:r>
            <a:endParaRPr sz="1125" b="0">
              <a:solidFill>
                <a:srgbClr val="152538"/>
              </a:solidFill>
            </a:endParaRPr>
          </a:p>
        </p:txBody>
      </p:sp>
      <p:sp>
        <p:nvSpPr>
          <p:cNvPr id="36" name="矩形 35"/>
          <p:cNvSpPr>
            <a:spLocks noGrp="1"/>
          </p:cNvSpPr>
          <p:nvPr/>
        </p:nvSpPr>
        <p:spPr>
          <a:xfrm>
            <a:off x="2533650" y="4181475"/>
            <a:ext cx="2381250" cy="809625"/>
          </a:xfrm>
          <a:prstGeom prst="rect">
            <a:avLst/>
          </a:prstGeom>
          <a:solidFill>
            <a:srgbClr val="FFFFFF"/>
          </a:solidFill>
          <a:ln w="9525">
            <a:solidFill>
              <a:srgbClr val="D9E0E6"/>
            </a:solidFill>
            <a:prstDash val="solid"/>
          </a:ln>
        </p:spPr>
      </p:sp>
      <p:sp>
        <p:nvSpPr>
          <p:cNvPr id="37" name="矩形 36"/>
          <p:cNvSpPr>
            <a:spLocks noGrp="1"/>
          </p:cNvSpPr>
          <p:nvPr/>
        </p:nvSpPr>
        <p:spPr>
          <a:xfrm>
            <a:off x="2628900" y="4219575"/>
            <a:ext cx="2190750" cy="7334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PGS-G</a:t>
            </a:r>
            <a:endParaRPr sz="1125" b="0">
              <a:solidFill>
                <a:srgbClr val="152538"/>
              </a:solidFill>
            </a:endParaRPr>
          </a:p>
        </p:txBody>
      </p:sp>
      <p:sp>
        <p:nvSpPr>
          <p:cNvPr id="38" name="矩形 37"/>
          <p:cNvSpPr>
            <a:spLocks noGrp="1"/>
          </p:cNvSpPr>
          <p:nvPr/>
        </p:nvSpPr>
        <p:spPr>
          <a:xfrm>
            <a:off x="4914900" y="4181475"/>
            <a:ext cx="952500" cy="809625"/>
          </a:xfrm>
          <a:prstGeom prst="rect">
            <a:avLst/>
          </a:prstGeom>
          <a:solidFill>
            <a:srgbClr val="FFFFFF"/>
          </a:solidFill>
          <a:ln w="9525">
            <a:solidFill>
              <a:srgbClr val="D9E0E6"/>
            </a:solidFill>
            <a:prstDash val="solid"/>
          </a:ln>
        </p:spPr>
      </p:sp>
      <p:sp>
        <p:nvSpPr>
          <p:cNvPr id="39" name="矩形 38"/>
          <p:cNvSpPr>
            <a:spLocks noGrp="1"/>
          </p:cNvSpPr>
          <p:nvPr/>
        </p:nvSpPr>
        <p:spPr>
          <a:xfrm>
            <a:off x="5010150" y="4219575"/>
            <a:ext cx="762000" cy="7334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2</a:t>
            </a:r>
            <a:endParaRPr sz="1125" b="0">
              <a:solidFill>
                <a:srgbClr val="152538"/>
              </a:solidFill>
            </a:endParaRPr>
          </a:p>
        </p:txBody>
      </p:sp>
      <p:sp>
        <p:nvSpPr>
          <p:cNvPr id="40" name="矩形 39"/>
          <p:cNvSpPr>
            <a:spLocks noGrp="1"/>
          </p:cNvSpPr>
          <p:nvPr/>
        </p:nvSpPr>
        <p:spPr>
          <a:xfrm>
            <a:off x="5867400" y="4181475"/>
            <a:ext cx="1885950" cy="809625"/>
          </a:xfrm>
          <a:prstGeom prst="rect">
            <a:avLst/>
          </a:prstGeom>
          <a:solidFill>
            <a:srgbClr val="FFFFFF"/>
          </a:solidFill>
          <a:ln w="9525">
            <a:solidFill>
              <a:srgbClr val="D9E0E6"/>
            </a:solidFill>
            <a:prstDash val="solid"/>
          </a:ln>
        </p:spPr>
      </p:sp>
      <p:sp>
        <p:nvSpPr>
          <p:cNvPr id="41" name="矩形 40"/>
          <p:cNvSpPr>
            <a:spLocks noGrp="1"/>
          </p:cNvSpPr>
          <p:nvPr/>
        </p:nvSpPr>
        <p:spPr>
          <a:xfrm>
            <a:off x="5962650" y="4219575"/>
            <a:ext cx="1695450" cy="733425"/>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both reached terminal depth</a:t>
            </a:r>
            <a:endParaRPr sz="1125" b="0">
              <a:solidFill>
                <a:srgbClr val="152538"/>
              </a:solidFill>
            </a:endParaRPr>
          </a:p>
        </p:txBody>
      </p:sp>
      <p:sp>
        <p:nvSpPr>
          <p:cNvPr id="42" name="圆角矩形 41"/>
          <p:cNvSpPr>
            <a:spLocks noGrp="1"/>
          </p:cNvSpPr>
          <p:nvPr/>
        </p:nvSpPr>
        <p:spPr>
          <a:xfrm>
            <a:off x="7981950" y="1676400"/>
            <a:ext cx="3352800" cy="3390900"/>
          </a:xfrm>
          <a:prstGeom prst="roundRect">
            <a:avLst>
              <a:gd name="adj" fmla="val 2273"/>
            </a:avLst>
          </a:prstGeom>
          <a:solidFill>
            <a:srgbClr val="FFFFFF"/>
          </a:solidFill>
          <a:ln w="9525">
            <a:solidFill>
              <a:srgbClr val="D9E0E6"/>
            </a:solidFill>
            <a:prstDash val="solid"/>
          </a:ln>
        </p:spPr>
      </p:sp>
      <p:pic>
        <p:nvPicPr>
          <p:cNvPr id="88" name="图片 87"/>
          <p:cNvPicPr>
            <a:picLocks noChangeAspect="1"/>
          </p:cNvPicPr>
          <p:nvPr/>
        </p:nvPicPr>
        <p:blipFill>
          <a:blip r:embed="rId1"/>
          <a:stretch>
            <a:fillRect/>
          </a:stretch>
        </p:blipFill>
        <p:spPr>
          <a:xfrm>
            <a:off x="8080563" y="1752600"/>
            <a:ext cx="3155573" cy="3238500"/>
          </a:xfrm>
          <a:prstGeom prst="roundRect">
            <a:avLst>
              <a:gd name="adj" fmla="val 2381"/>
            </a:avLst>
          </a:prstGeom>
        </p:spPr>
      </p:pic>
      <p:sp>
        <p:nvSpPr>
          <p:cNvPr id="43" name="矩形 42"/>
          <p:cNvSpPr>
            <a:spLocks noGrp="1"/>
          </p:cNvSpPr>
          <p:nvPr/>
        </p:nvSpPr>
        <p:spPr>
          <a:xfrm>
            <a:off x="1428750" y="5295900"/>
            <a:ext cx="9334500" cy="285750"/>
          </a:xfrm>
          <a:prstGeom prst="rect">
            <a:avLst/>
          </a:prstGeom>
          <a:noFill/>
          <a:ln w="0">
            <a:noFill/>
            <a:prstDash val="solid"/>
          </a:ln>
        </p:spPr>
        <p:txBody>
          <a:bodyPr anchor="ctr"/>
          <a:lstStyle/>
          <a:p>
            <a:pPr algn="ctr">
              <a:defRPr sz="1275" b="1">
                <a:solidFill>
                  <a:srgbClr val="C74A4A"/>
                </a:solidFill>
              </a:defRPr>
            </a:pPr>
            <a:r>
              <a:rPr sz="1275" b="1">
                <a:solidFill>
                  <a:srgbClr val="C74A4A"/>
                </a:solidFill>
              </a:rPr>
              <a:t>Named / fixed-start mechanism evidence · no randomized hardware denominator</a:t>
            </a:r>
            <a:endParaRPr sz="1275" b="1">
              <a:solidFill>
                <a:srgbClr val="C74A4A"/>
              </a:solidFill>
            </a:endParaRPr>
          </a:p>
        </p:txBody>
      </p:sp>
      <p:sp>
        <p:nvSpPr>
          <p:cNvPr id="44" name="矩形 43"/>
          <p:cNvSpPr>
            <a:spLocks noGrp="1"/>
          </p:cNvSpPr>
          <p:nvPr/>
        </p:nvSpPr>
        <p:spPr>
          <a:xfrm>
            <a:off x="647700" y="5943600"/>
            <a:ext cx="10839450" cy="400050"/>
          </a:xfrm>
          <a:prstGeom prst="rect">
            <a:avLst/>
          </a:prstGeom>
          <a:solidFill>
            <a:srgbClr val="FFF0E2"/>
          </a:solidFill>
          <a:ln w="0">
            <a:noFill/>
            <a:prstDash val="solid"/>
          </a:ln>
        </p:spPr>
      </p:sp>
      <p:sp>
        <p:nvSpPr>
          <p:cNvPr id="45" name="矩形 44"/>
          <p:cNvSpPr>
            <a:spLocks noGrp="1"/>
          </p:cNvSpPr>
          <p:nvPr/>
        </p:nvSpPr>
        <p:spPr>
          <a:xfrm>
            <a:off x="647700" y="5943600"/>
            <a:ext cx="57150" cy="400050"/>
          </a:xfrm>
          <a:prstGeom prst="rect">
            <a:avLst/>
          </a:prstGeom>
          <a:solidFill>
            <a:srgbClr val="ED7F0D"/>
          </a:solidFill>
          <a:ln w="0">
            <a:noFill/>
            <a:prstDash val="solid"/>
          </a:ln>
        </p:spPr>
      </p:sp>
      <p:sp>
        <p:nvSpPr>
          <p:cNvPr id="46" name="矩形 45"/>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26 scans per size = 16 clean + 4 development holdout + 4 quarantine + 2 sentinels; named and fixed-start runs are mechanism checks.</a:t>
            </a:r>
            <a:endParaRPr sz="1275" b="1">
              <a:solidFill>
                <a:srgbClr val="152538"/>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51</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A13 · Evidence-version audit</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Paper manuscript · project artifacts</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51</a:t>
            </a:r>
            <a:endParaRPr sz="825" b="1">
              <a:solidFill>
                <a:srgbClr val="004282"/>
              </a:solidFill>
            </a:endParaRPr>
          </a:p>
        </p:txBody>
      </p:sp>
      <p:sp>
        <p:nvSpPr>
          <p:cNvPr id="10" name="矩形 9"/>
          <p:cNvSpPr>
            <a:spLocks noGrp="1"/>
          </p:cNvSpPr>
          <p:nvPr/>
        </p:nvSpPr>
        <p:spPr>
          <a:xfrm>
            <a:off x="876300" y="1752600"/>
            <a:ext cx="2952750" cy="571500"/>
          </a:xfrm>
          <a:prstGeom prst="rect">
            <a:avLst/>
          </a:prstGeom>
          <a:solidFill>
            <a:srgbClr val="004282"/>
          </a:solidFill>
          <a:ln w="9525">
            <a:solidFill>
              <a:srgbClr val="D9E0E6"/>
            </a:solidFill>
            <a:prstDash val="solid"/>
          </a:ln>
        </p:spPr>
      </p:sp>
      <p:sp>
        <p:nvSpPr>
          <p:cNvPr id="11" name="矩形 10"/>
          <p:cNvSpPr>
            <a:spLocks noGrp="1"/>
          </p:cNvSpPr>
          <p:nvPr/>
        </p:nvSpPr>
        <p:spPr>
          <a:xfrm>
            <a:off x="971550" y="1790700"/>
            <a:ext cx="2762250" cy="49530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Potential drift</a:t>
            </a:r>
            <a:endParaRPr sz="1200" b="1">
              <a:solidFill>
                <a:srgbClr val="FFFFFF"/>
              </a:solidFill>
            </a:endParaRPr>
          </a:p>
        </p:txBody>
      </p:sp>
      <p:sp>
        <p:nvSpPr>
          <p:cNvPr id="12" name="矩形 11"/>
          <p:cNvSpPr>
            <a:spLocks noGrp="1"/>
          </p:cNvSpPr>
          <p:nvPr/>
        </p:nvSpPr>
        <p:spPr>
          <a:xfrm>
            <a:off x="3829050" y="1752600"/>
            <a:ext cx="7486650" cy="571500"/>
          </a:xfrm>
          <a:prstGeom prst="rect">
            <a:avLst/>
          </a:prstGeom>
          <a:solidFill>
            <a:srgbClr val="004282"/>
          </a:solidFill>
          <a:ln w="9525">
            <a:solidFill>
              <a:srgbClr val="D9E0E6"/>
            </a:solidFill>
            <a:prstDash val="solid"/>
          </a:ln>
        </p:spPr>
      </p:sp>
      <p:sp>
        <p:nvSpPr>
          <p:cNvPr id="13" name="矩形 12"/>
          <p:cNvSpPr>
            <a:spLocks noGrp="1"/>
          </p:cNvSpPr>
          <p:nvPr/>
        </p:nvSpPr>
        <p:spPr>
          <a:xfrm>
            <a:off x="3924300" y="1790700"/>
            <a:ext cx="7296150" cy="49530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Final paper-aligned wording</a:t>
            </a:r>
            <a:endParaRPr sz="1200" b="1">
              <a:solidFill>
                <a:srgbClr val="FFFFFF"/>
              </a:solidFill>
            </a:endParaRPr>
          </a:p>
        </p:txBody>
      </p:sp>
      <p:sp>
        <p:nvSpPr>
          <p:cNvPr id="14" name="矩形 13"/>
          <p:cNvSpPr>
            <a:spLocks noGrp="1"/>
          </p:cNvSpPr>
          <p:nvPr/>
        </p:nvSpPr>
        <p:spPr>
          <a:xfrm>
            <a:off x="876300" y="2324100"/>
            <a:ext cx="2952750" cy="571500"/>
          </a:xfrm>
          <a:prstGeom prst="rect">
            <a:avLst/>
          </a:prstGeom>
          <a:solidFill>
            <a:srgbClr val="FFFFFF"/>
          </a:solidFill>
          <a:ln w="9525">
            <a:solidFill>
              <a:srgbClr val="D9E0E6"/>
            </a:solidFill>
            <a:prstDash val="solid"/>
          </a:ln>
        </p:spPr>
      </p:sp>
      <p:sp>
        <p:nvSpPr>
          <p:cNvPr id="15" name="矩形 14"/>
          <p:cNvSpPr>
            <a:spLocks noGrp="1"/>
          </p:cNvSpPr>
          <p:nvPr/>
        </p:nvSpPr>
        <p:spPr>
          <a:xfrm>
            <a:off x="971550" y="2362200"/>
            <a:ext cx="2762250" cy="49530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Search / Control</a:t>
            </a:r>
            <a:endParaRPr sz="1125" b="0">
              <a:solidFill>
                <a:srgbClr val="152538"/>
              </a:solidFill>
            </a:endParaRPr>
          </a:p>
        </p:txBody>
      </p:sp>
      <p:sp>
        <p:nvSpPr>
          <p:cNvPr id="16" name="矩形 15"/>
          <p:cNvSpPr>
            <a:spLocks noGrp="1"/>
          </p:cNvSpPr>
          <p:nvPr/>
        </p:nvSpPr>
        <p:spPr>
          <a:xfrm>
            <a:off x="3829050" y="2324100"/>
            <a:ext cx="7486650" cy="571500"/>
          </a:xfrm>
          <a:prstGeom prst="rect">
            <a:avLst/>
          </a:prstGeom>
          <a:solidFill>
            <a:srgbClr val="FFFFFF"/>
          </a:solidFill>
          <a:ln w="9525">
            <a:solidFill>
              <a:srgbClr val="D9E0E6"/>
            </a:solidFill>
            <a:prstDash val="solid"/>
          </a:ln>
        </p:spPr>
      </p:sp>
      <p:sp>
        <p:nvSpPr>
          <p:cNvPr id="17" name="矩形 16"/>
          <p:cNvSpPr>
            <a:spLocks noGrp="1"/>
          </p:cNvSpPr>
          <p:nvPr/>
        </p:nvSpPr>
        <p:spPr>
          <a:xfrm>
            <a:off x="3924300" y="2362200"/>
            <a:ext cx="7296150" cy="49530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Search in title; control framework in method</a:t>
            </a:r>
            <a:endParaRPr sz="1125" b="0">
              <a:solidFill>
                <a:srgbClr val="152538"/>
              </a:solidFill>
            </a:endParaRPr>
          </a:p>
        </p:txBody>
      </p:sp>
      <p:sp>
        <p:nvSpPr>
          <p:cNvPr id="18" name="矩形 17"/>
          <p:cNvSpPr>
            <a:spLocks noGrp="1"/>
          </p:cNvSpPr>
          <p:nvPr/>
        </p:nvSpPr>
        <p:spPr>
          <a:xfrm>
            <a:off x="876300" y="2895600"/>
            <a:ext cx="2952750" cy="571500"/>
          </a:xfrm>
          <a:prstGeom prst="rect">
            <a:avLst/>
          </a:prstGeom>
          <a:solidFill>
            <a:srgbClr val="E8F1F8"/>
          </a:solidFill>
          <a:ln w="9525">
            <a:solidFill>
              <a:srgbClr val="D9E0E6"/>
            </a:solidFill>
            <a:prstDash val="solid"/>
          </a:ln>
        </p:spPr>
      </p:sp>
      <p:sp>
        <p:nvSpPr>
          <p:cNvPr id="19" name="矩形 18"/>
          <p:cNvSpPr>
            <a:spLocks noGrp="1"/>
          </p:cNvSpPr>
          <p:nvPr/>
        </p:nvSpPr>
        <p:spPr>
          <a:xfrm>
            <a:off x="971550" y="2933700"/>
            <a:ext cx="2762250" cy="49530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240 / 360</a:t>
            </a:r>
            <a:endParaRPr sz="1125" b="0">
              <a:solidFill>
                <a:srgbClr val="152538"/>
              </a:solidFill>
            </a:endParaRPr>
          </a:p>
        </p:txBody>
      </p:sp>
      <p:sp>
        <p:nvSpPr>
          <p:cNvPr id="20" name="矩形 19"/>
          <p:cNvSpPr>
            <a:spLocks noGrp="1"/>
          </p:cNvSpPr>
          <p:nvPr/>
        </p:nvSpPr>
        <p:spPr>
          <a:xfrm>
            <a:off x="3829050" y="2895600"/>
            <a:ext cx="7486650" cy="571500"/>
          </a:xfrm>
          <a:prstGeom prst="rect">
            <a:avLst/>
          </a:prstGeom>
          <a:solidFill>
            <a:srgbClr val="E8F1F8"/>
          </a:solidFill>
          <a:ln w="9525">
            <a:solidFill>
              <a:srgbClr val="D9E0E6"/>
            </a:solidFill>
            <a:prstDash val="solid"/>
          </a:ln>
        </p:spPr>
      </p:sp>
      <p:sp>
        <p:nvSpPr>
          <p:cNvPr id="21" name="矩形 20"/>
          <p:cNvSpPr>
            <a:spLocks noGrp="1"/>
          </p:cNvSpPr>
          <p:nvPr/>
        </p:nvSpPr>
        <p:spPr>
          <a:xfrm>
            <a:off x="3924300" y="2933700"/>
            <a:ext cx="7296150" cy="49530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240 raw hardware samples; 4×360 periodic input</a:t>
            </a:r>
            <a:endParaRPr sz="1125" b="0">
              <a:solidFill>
                <a:srgbClr val="152538"/>
              </a:solidFill>
            </a:endParaRPr>
          </a:p>
        </p:txBody>
      </p:sp>
      <p:sp>
        <p:nvSpPr>
          <p:cNvPr id="22" name="矩形 21"/>
          <p:cNvSpPr>
            <a:spLocks noGrp="1"/>
          </p:cNvSpPr>
          <p:nvPr/>
        </p:nvSpPr>
        <p:spPr>
          <a:xfrm>
            <a:off x="876300" y="3467100"/>
            <a:ext cx="2952750" cy="571500"/>
          </a:xfrm>
          <a:prstGeom prst="rect">
            <a:avLst/>
          </a:prstGeom>
          <a:solidFill>
            <a:srgbClr val="FFFFFF"/>
          </a:solidFill>
          <a:ln w="9525">
            <a:solidFill>
              <a:srgbClr val="D9E0E6"/>
            </a:solidFill>
            <a:prstDash val="solid"/>
          </a:ln>
        </p:spPr>
      </p:sp>
      <p:sp>
        <p:nvSpPr>
          <p:cNvPr id="23" name="矩形 22"/>
          <p:cNvSpPr>
            <a:spLocks noGrp="1"/>
          </p:cNvSpPr>
          <p:nvPr/>
        </p:nvSpPr>
        <p:spPr>
          <a:xfrm>
            <a:off x="971550" y="3505200"/>
            <a:ext cx="2762250" cy="49530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Interpolation</a:t>
            </a:r>
            <a:endParaRPr sz="1125" b="0">
              <a:solidFill>
                <a:srgbClr val="152538"/>
              </a:solidFill>
            </a:endParaRPr>
          </a:p>
        </p:txBody>
      </p:sp>
      <p:sp>
        <p:nvSpPr>
          <p:cNvPr id="24" name="矩形 23"/>
          <p:cNvSpPr>
            <a:spLocks noGrp="1"/>
          </p:cNvSpPr>
          <p:nvPr/>
        </p:nvSpPr>
        <p:spPr>
          <a:xfrm>
            <a:off x="3829050" y="3467100"/>
            <a:ext cx="7486650" cy="571500"/>
          </a:xfrm>
          <a:prstGeom prst="rect">
            <a:avLst/>
          </a:prstGeom>
          <a:solidFill>
            <a:srgbClr val="FFFFFF"/>
          </a:solidFill>
          <a:ln w="9525">
            <a:solidFill>
              <a:srgbClr val="D9E0E6"/>
            </a:solidFill>
            <a:prstDash val="solid"/>
          </a:ln>
        </p:spPr>
      </p:sp>
      <p:sp>
        <p:nvSpPr>
          <p:cNvPr id="25" name="矩形 24"/>
          <p:cNvSpPr>
            <a:spLocks noGrp="1"/>
          </p:cNvSpPr>
          <p:nvPr/>
        </p:nvSpPr>
        <p:spPr>
          <a:xfrm>
            <a:off x="3924300" y="3505200"/>
            <a:ext cx="7296150" cy="49530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phase standardization; no raw-signal smoothing</a:t>
            </a:r>
            <a:endParaRPr sz="1125" b="0">
              <a:solidFill>
                <a:srgbClr val="152538"/>
              </a:solidFill>
            </a:endParaRPr>
          </a:p>
        </p:txBody>
      </p:sp>
      <p:sp>
        <p:nvSpPr>
          <p:cNvPr id="26" name="矩形 25"/>
          <p:cNvSpPr>
            <a:spLocks noGrp="1"/>
          </p:cNvSpPr>
          <p:nvPr/>
        </p:nvSpPr>
        <p:spPr>
          <a:xfrm>
            <a:off x="876300" y="4038600"/>
            <a:ext cx="2952750" cy="571500"/>
          </a:xfrm>
          <a:prstGeom prst="rect">
            <a:avLst/>
          </a:prstGeom>
          <a:solidFill>
            <a:srgbClr val="E8F1F8"/>
          </a:solidFill>
          <a:ln w="9525">
            <a:solidFill>
              <a:srgbClr val="D9E0E6"/>
            </a:solidFill>
            <a:prstDash val="solid"/>
          </a:ln>
        </p:spPr>
      </p:sp>
      <p:sp>
        <p:nvSpPr>
          <p:cNvPr id="27" name="矩形 26"/>
          <p:cNvSpPr>
            <a:spLocks noGrp="1"/>
          </p:cNvSpPr>
          <p:nvPr/>
        </p:nvSpPr>
        <p:spPr>
          <a:xfrm>
            <a:off x="971550" y="4076700"/>
            <a:ext cx="2762250" cy="49530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July 29 / July 30</a:t>
            </a:r>
            <a:endParaRPr sz="1125" b="0">
              <a:solidFill>
                <a:srgbClr val="152538"/>
              </a:solidFill>
            </a:endParaRPr>
          </a:p>
        </p:txBody>
      </p:sp>
      <p:sp>
        <p:nvSpPr>
          <p:cNvPr id="28" name="矩形 27"/>
          <p:cNvSpPr>
            <a:spLocks noGrp="1"/>
          </p:cNvSpPr>
          <p:nvPr/>
        </p:nvSpPr>
        <p:spPr>
          <a:xfrm>
            <a:off x="3829050" y="4038600"/>
            <a:ext cx="7486650" cy="571500"/>
          </a:xfrm>
          <a:prstGeom prst="rect">
            <a:avLst/>
          </a:prstGeom>
          <a:solidFill>
            <a:srgbClr val="E8F1F8"/>
          </a:solidFill>
          <a:ln w="9525">
            <a:solidFill>
              <a:srgbClr val="D9E0E6"/>
            </a:solidFill>
            <a:prstDash val="solid"/>
          </a:ln>
        </p:spPr>
      </p:sp>
      <p:sp>
        <p:nvSpPr>
          <p:cNvPr id="29" name="矩形 28"/>
          <p:cNvSpPr>
            <a:spLocks noGrp="1"/>
          </p:cNvSpPr>
          <p:nvPr/>
        </p:nvSpPr>
        <p:spPr>
          <a:xfrm>
            <a:off x="3924300" y="4076700"/>
            <a:ext cx="7296150" cy="49530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use manuscript evidence state, not old-slide status</a:t>
            </a:r>
            <a:endParaRPr sz="1125" b="0">
              <a:solidFill>
                <a:srgbClr val="152538"/>
              </a:solidFill>
            </a:endParaRPr>
          </a:p>
        </p:txBody>
      </p:sp>
      <p:sp>
        <p:nvSpPr>
          <p:cNvPr id="30" name="矩形 29"/>
          <p:cNvSpPr>
            <a:spLocks noGrp="1"/>
          </p:cNvSpPr>
          <p:nvPr/>
        </p:nvSpPr>
        <p:spPr>
          <a:xfrm>
            <a:off x="876300" y="4610100"/>
            <a:ext cx="2952750" cy="571500"/>
          </a:xfrm>
          <a:prstGeom prst="rect">
            <a:avLst/>
          </a:prstGeom>
          <a:solidFill>
            <a:srgbClr val="FFFFFF"/>
          </a:solidFill>
          <a:ln w="9525">
            <a:solidFill>
              <a:srgbClr val="D9E0E6"/>
            </a:solidFill>
            <a:prstDash val="solid"/>
          </a:ln>
        </p:spPr>
      </p:sp>
      <p:sp>
        <p:nvSpPr>
          <p:cNvPr id="31" name="矩形 30"/>
          <p:cNvSpPr>
            <a:spLocks noGrp="1"/>
          </p:cNvSpPr>
          <p:nvPr/>
        </p:nvSpPr>
        <p:spPr>
          <a:xfrm>
            <a:off x="971550" y="4648200"/>
            <a:ext cx="2762250" cy="49530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Hardware wrench</a:t>
            </a:r>
            <a:endParaRPr sz="1125" b="0">
              <a:solidFill>
                <a:srgbClr val="152538"/>
              </a:solidFill>
            </a:endParaRPr>
          </a:p>
        </p:txBody>
      </p:sp>
      <p:sp>
        <p:nvSpPr>
          <p:cNvPr id="32" name="矩形 31"/>
          <p:cNvSpPr>
            <a:spLocks noGrp="1"/>
          </p:cNvSpPr>
          <p:nvPr/>
        </p:nvSpPr>
        <p:spPr>
          <a:xfrm>
            <a:off x="3829050" y="4610100"/>
            <a:ext cx="7486650" cy="571500"/>
          </a:xfrm>
          <a:prstGeom prst="rect">
            <a:avLst/>
          </a:prstGeom>
          <a:solidFill>
            <a:srgbClr val="FFFFFF"/>
          </a:solidFill>
          <a:ln w="9525">
            <a:solidFill>
              <a:srgbClr val="D9E0E6"/>
            </a:solidFill>
            <a:prstDash val="solid"/>
          </a:ln>
        </p:spPr>
      </p:sp>
      <p:sp>
        <p:nvSpPr>
          <p:cNvPr id="33" name="矩形 32"/>
          <p:cNvSpPr>
            <a:spLocks noGrp="1"/>
          </p:cNvSpPr>
          <p:nvPr/>
        </p:nvSpPr>
        <p:spPr>
          <a:xfrm>
            <a:off x="3924300" y="4648200"/>
            <a:ext cx="7296150" cy="495300"/>
          </a:xfrm>
          <a:prstGeom prst="rect">
            <a:avLst/>
          </a:prstGeom>
          <a:noFill/>
          <a:ln w="0">
            <a:noFill/>
            <a:prstDash val="solid"/>
          </a:ln>
        </p:spPr>
        <p:txBody>
          <a:bodyPr anchor="ctr"/>
          <a:lstStyle/>
          <a:p>
            <a:pPr algn="l">
              <a:defRPr sz="1125" b="0">
                <a:solidFill>
                  <a:srgbClr val="152538"/>
                </a:solidFill>
              </a:defRPr>
            </a:pPr>
            <a:r>
              <a:rPr sz="1125" b="0">
                <a:solidFill>
                  <a:srgbClr val="152538"/>
                </a:solidFill>
              </a:rPr>
              <a:t>same-run baseline at Bota origin; no certified tip shift</a:t>
            </a:r>
            <a:endParaRPr sz="1125" b="0">
              <a:solidFill>
                <a:srgbClr val="152538"/>
              </a:solidFill>
            </a:endParaRPr>
          </a:p>
        </p:txBody>
      </p:sp>
      <p:sp>
        <p:nvSpPr>
          <p:cNvPr id="34" name="矩形 33"/>
          <p:cNvSpPr>
            <a:spLocks noGrp="1"/>
          </p:cNvSpPr>
          <p:nvPr/>
        </p:nvSpPr>
        <p:spPr>
          <a:xfrm>
            <a:off x="647700" y="5943600"/>
            <a:ext cx="10839450" cy="400050"/>
          </a:xfrm>
          <a:prstGeom prst="rect">
            <a:avLst/>
          </a:prstGeom>
          <a:solidFill>
            <a:srgbClr val="FFF0E2"/>
          </a:solidFill>
          <a:ln w="0">
            <a:noFill/>
            <a:prstDash val="solid"/>
          </a:ln>
        </p:spPr>
      </p:sp>
      <p:sp>
        <p:nvSpPr>
          <p:cNvPr id="35" name="矩形 34"/>
          <p:cNvSpPr>
            <a:spLocks noGrp="1"/>
          </p:cNvSpPr>
          <p:nvPr/>
        </p:nvSpPr>
        <p:spPr>
          <a:xfrm>
            <a:off x="647700" y="5943600"/>
            <a:ext cx="57150" cy="400050"/>
          </a:xfrm>
          <a:prstGeom prst="rect">
            <a:avLst/>
          </a:prstGeom>
          <a:solidFill>
            <a:srgbClr val="ED7F0D"/>
          </a:solidFill>
          <a:ln w="0">
            <a:noFill/>
            <a:prstDash val="solid"/>
          </a:ln>
        </p:spPr>
      </p:sp>
      <p:sp>
        <p:nvSpPr>
          <p:cNvPr id="36" name="矩形 35"/>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When old PPT wording conflicts with the manuscript, the manuscript controls.</a:t>
            </a:r>
            <a:endParaRPr sz="1275" b="1">
              <a:solidFill>
                <a:srgbClr val="152538"/>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52</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A14 · Prioritized next experiments and decision criteria</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Derived from Discussion</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52</a:t>
            </a:r>
            <a:endParaRPr sz="825" b="1">
              <a:solidFill>
                <a:srgbClr val="004282"/>
              </a:solidFill>
            </a:endParaRPr>
          </a:p>
        </p:txBody>
      </p:sp>
      <p:sp>
        <p:nvSpPr>
          <p:cNvPr id="10" name="矩形 9"/>
          <p:cNvSpPr>
            <a:spLocks noGrp="1"/>
          </p:cNvSpPr>
          <p:nvPr/>
        </p:nvSpPr>
        <p:spPr>
          <a:xfrm>
            <a:off x="838200" y="1676400"/>
            <a:ext cx="114300" cy="742950"/>
          </a:xfrm>
          <a:prstGeom prst="rect">
            <a:avLst/>
          </a:prstGeom>
          <a:solidFill>
            <a:srgbClr val="C74A4A"/>
          </a:solidFill>
          <a:ln w="0">
            <a:noFill/>
            <a:prstDash val="solid"/>
          </a:ln>
        </p:spPr>
      </p:sp>
      <p:sp>
        <p:nvSpPr>
          <p:cNvPr id="11" name="矩形 10"/>
          <p:cNvSpPr>
            <a:spLocks noGrp="1"/>
          </p:cNvSpPr>
          <p:nvPr/>
        </p:nvSpPr>
        <p:spPr>
          <a:xfrm>
            <a:off x="1143000" y="1676400"/>
            <a:ext cx="9906000" cy="742950"/>
          </a:xfrm>
          <a:prstGeom prst="rect">
            <a:avLst/>
          </a:prstGeom>
          <a:noFill/>
          <a:ln w="0">
            <a:noFill/>
            <a:prstDash val="solid"/>
          </a:ln>
        </p:spPr>
        <p:txBody>
          <a:bodyPr anchor="ctr"/>
          <a:lstStyle/>
          <a:p>
            <a:pPr algn="l">
              <a:defRPr sz="1575" b="1">
                <a:solidFill>
                  <a:srgbClr val="152538"/>
                </a:solidFill>
              </a:defRPr>
            </a:pPr>
            <a:r>
              <a:rPr sz="1575" b="1">
                <a:solidFill>
                  <a:srgbClr val="152538"/>
                </a:solidFill>
              </a:rPr>
              <a:t>P0  Randomized hardware repetitions</a:t>
            </a:r>
            <a:endParaRPr sz="1575" b="1">
              <a:solidFill>
                <a:srgbClr val="152538"/>
              </a:solidFill>
            </a:endParaRPr>
          </a:p>
          <a:p>
            <a:pPr algn="l">
              <a:defRPr sz="1575" b="1">
                <a:solidFill>
                  <a:srgbClr val="152538"/>
                </a:solidFill>
              </a:defRPr>
            </a:pPr>
            <a:r>
              <a:rPr sz="1575" b="1">
                <a:solidFill>
                  <a:srgbClr val="152538"/>
                </a:solidFill>
              </a:rPr>
              <a:t>Pre-register starts, denominators and terminal rule</a:t>
            </a:r>
            <a:endParaRPr sz="1575" b="1">
              <a:solidFill>
                <a:srgbClr val="152538"/>
              </a:solidFill>
            </a:endParaRPr>
          </a:p>
        </p:txBody>
      </p:sp>
      <p:sp>
        <p:nvSpPr>
          <p:cNvPr id="12" name="矩形 11"/>
          <p:cNvSpPr>
            <a:spLocks noGrp="1"/>
          </p:cNvSpPr>
          <p:nvPr/>
        </p:nvSpPr>
        <p:spPr>
          <a:xfrm>
            <a:off x="838200" y="2647950"/>
            <a:ext cx="114300" cy="742950"/>
          </a:xfrm>
          <a:prstGeom prst="rect">
            <a:avLst/>
          </a:prstGeom>
          <a:solidFill>
            <a:srgbClr val="ED7F0D"/>
          </a:solidFill>
          <a:ln w="0">
            <a:noFill/>
            <a:prstDash val="solid"/>
          </a:ln>
        </p:spPr>
      </p:sp>
      <p:sp>
        <p:nvSpPr>
          <p:cNvPr id="13" name="矩形 12"/>
          <p:cNvSpPr>
            <a:spLocks noGrp="1"/>
          </p:cNvSpPr>
          <p:nvPr/>
        </p:nvSpPr>
        <p:spPr>
          <a:xfrm>
            <a:off x="1143000" y="2647950"/>
            <a:ext cx="9906000" cy="742950"/>
          </a:xfrm>
          <a:prstGeom prst="rect">
            <a:avLst/>
          </a:prstGeom>
          <a:noFill/>
          <a:ln w="0">
            <a:noFill/>
            <a:prstDash val="solid"/>
          </a:ln>
        </p:spPr>
        <p:txBody>
          <a:bodyPr anchor="ctr"/>
          <a:lstStyle/>
          <a:p>
            <a:pPr algn="l">
              <a:defRPr sz="1575" b="0">
                <a:solidFill>
                  <a:srgbClr val="152538"/>
                </a:solidFill>
              </a:defRPr>
            </a:pPr>
            <a:r>
              <a:rPr sz="1575" b="0">
                <a:solidFill>
                  <a:srgbClr val="152538"/>
                </a:solidFill>
              </a:rPr>
              <a:t>P1  First-turn coupling study</a:t>
            </a:r>
            <a:endParaRPr sz="1575" b="0">
              <a:solidFill>
                <a:srgbClr val="152538"/>
              </a:solidFill>
            </a:endParaRPr>
          </a:p>
          <a:p>
            <a:pPr algn="l">
              <a:defRPr sz="1575" b="0">
                <a:solidFill>
                  <a:srgbClr val="152538"/>
                </a:solidFill>
              </a:defRPr>
            </a:pPr>
            <a:r>
              <a:rPr sz="1575" b="0">
                <a:solidFill>
                  <a:srgbClr val="152538"/>
                </a:solidFill>
              </a:rPr>
              <a:t>Separate engagement from torque-transfer success</a:t>
            </a:r>
            <a:endParaRPr sz="1575" b="0">
              <a:solidFill>
                <a:srgbClr val="152538"/>
              </a:solidFill>
            </a:endParaRPr>
          </a:p>
        </p:txBody>
      </p:sp>
      <p:sp>
        <p:nvSpPr>
          <p:cNvPr id="14" name="矩形 13"/>
          <p:cNvSpPr>
            <a:spLocks noGrp="1"/>
          </p:cNvSpPr>
          <p:nvPr/>
        </p:nvSpPr>
        <p:spPr>
          <a:xfrm>
            <a:off x="838200" y="3619500"/>
            <a:ext cx="114300" cy="742950"/>
          </a:xfrm>
          <a:prstGeom prst="rect">
            <a:avLst/>
          </a:prstGeom>
          <a:solidFill>
            <a:srgbClr val="004282"/>
          </a:solidFill>
          <a:ln w="0">
            <a:noFill/>
            <a:prstDash val="solid"/>
          </a:ln>
        </p:spPr>
      </p:sp>
      <p:sp>
        <p:nvSpPr>
          <p:cNvPr id="15" name="矩形 14"/>
          <p:cNvSpPr>
            <a:spLocks noGrp="1"/>
          </p:cNvSpPr>
          <p:nvPr/>
        </p:nvSpPr>
        <p:spPr>
          <a:xfrm>
            <a:off x="1143000" y="3619500"/>
            <a:ext cx="9906000" cy="742950"/>
          </a:xfrm>
          <a:prstGeom prst="rect">
            <a:avLst/>
          </a:prstGeom>
          <a:noFill/>
          <a:ln w="0">
            <a:noFill/>
            <a:prstDash val="solid"/>
          </a:ln>
        </p:spPr>
        <p:txBody>
          <a:bodyPr anchor="ctr"/>
          <a:lstStyle/>
          <a:p>
            <a:pPr algn="l">
              <a:defRPr sz="1575" b="0">
                <a:solidFill>
                  <a:srgbClr val="152538"/>
                </a:solidFill>
              </a:defRPr>
            </a:pPr>
            <a:r>
              <a:rPr sz="1575" b="0">
                <a:solidFill>
                  <a:srgbClr val="152538"/>
                </a:solidFill>
              </a:rPr>
              <a:t>P2  Observation robustness</a:t>
            </a:r>
            <a:endParaRPr sz="1575" b="0">
              <a:solidFill>
                <a:srgbClr val="152538"/>
              </a:solidFill>
            </a:endParaRPr>
          </a:p>
          <a:p>
            <a:pPr algn="l">
              <a:defRPr sz="1575" b="0">
                <a:solidFill>
                  <a:srgbClr val="152538"/>
                </a:solidFill>
              </a:defRPr>
            </a:pPr>
            <a:r>
              <a:rPr sz="1575" b="0">
                <a:solidFill>
                  <a:srgbClr val="152538"/>
                </a:solidFill>
              </a:rPr>
              <a:t>Session drift, wear, temperature and socket-size shift</a:t>
            </a:r>
            <a:endParaRPr sz="1575" b="0">
              <a:solidFill>
                <a:srgbClr val="152538"/>
              </a:solidFill>
            </a:endParaRPr>
          </a:p>
        </p:txBody>
      </p:sp>
      <p:sp>
        <p:nvSpPr>
          <p:cNvPr id="16" name="矩形 15"/>
          <p:cNvSpPr>
            <a:spLocks noGrp="1"/>
          </p:cNvSpPr>
          <p:nvPr/>
        </p:nvSpPr>
        <p:spPr>
          <a:xfrm>
            <a:off x="838200" y="4591050"/>
            <a:ext cx="114300" cy="742950"/>
          </a:xfrm>
          <a:prstGeom prst="rect">
            <a:avLst/>
          </a:prstGeom>
          <a:solidFill>
            <a:srgbClr val="009E73"/>
          </a:solidFill>
          <a:ln w="0">
            <a:noFill/>
            <a:prstDash val="solid"/>
          </a:ln>
        </p:spPr>
      </p:sp>
      <p:sp>
        <p:nvSpPr>
          <p:cNvPr id="17" name="矩形 16"/>
          <p:cNvSpPr>
            <a:spLocks noGrp="1"/>
          </p:cNvSpPr>
          <p:nvPr/>
        </p:nvSpPr>
        <p:spPr>
          <a:xfrm>
            <a:off x="1143000" y="4591050"/>
            <a:ext cx="9906000" cy="742950"/>
          </a:xfrm>
          <a:prstGeom prst="rect">
            <a:avLst/>
          </a:prstGeom>
          <a:noFill/>
          <a:ln w="0">
            <a:noFill/>
            <a:prstDash val="solid"/>
          </a:ln>
        </p:spPr>
        <p:txBody>
          <a:bodyPr anchor="ctr"/>
          <a:lstStyle/>
          <a:p>
            <a:pPr algn="l">
              <a:defRPr sz="1575" b="0">
                <a:solidFill>
                  <a:srgbClr val="152538"/>
                </a:solidFill>
              </a:defRPr>
            </a:pPr>
            <a:r>
              <a:rPr sz="1575" b="0">
                <a:solidFill>
                  <a:srgbClr val="152538"/>
                </a:solidFill>
              </a:rPr>
              <a:t>P3  Larger residual regions</a:t>
            </a:r>
            <a:endParaRPr sz="1575" b="0">
              <a:solidFill>
                <a:srgbClr val="152538"/>
              </a:solidFill>
            </a:endParaRPr>
          </a:p>
          <a:p>
            <a:pPr algn="l">
              <a:defRPr sz="1575" b="0">
                <a:solidFill>
                  <a:srgbClr val="152538"/>
                </a:solidFill>
              </a:defRPr>
            </a:pPr>
            <a:r>
              <a:rPr sz="1575" b="0">
                <a:solidFill>
                  <a:srgbClr val="152538"/>
                </a:solidFill>
              </a:rPr>
              <a:t>Test whether information planning earns its cost</a:t>
            </a:r>
            <a:endParaRPr sz="1575" b="0">
              <a:solidFill>
                <a:srgbClr val="152538"/>
              </a:solidFill>
            </a:endParaRPr>
          </a:p>
        </p:txBody>
      </p:sp>
      <p:sp>
        <p:nvSpPr>
          <p:cNvPr id="18" name="矩形 17"/>
          <p:cNvSpPr>
            <a:spLocks noGrp="1"/>
          </p:cNvSpPr>
          <p:nvPr/>
        </p:nvSpPr>
        <p:spPr>
          <a:xfrm>
            <a:off x="647700" y="5943600"/>
            <a:ext cx="10839450" cy="400050"/>
          </a:xfrm>
          <a:prstGeom prst="rect">
            <a:avLst/>
          </a:prstGeom>
          <a:solidFill>
            <a:srgbClr val="FFF0E2"/>
          </a:solidFill>
          <a:ln w="0">
            <a:noFill/>
            <a:prstDash val="solid"/>
          </a:ln>
        </p:spPr>
      </p:sp>
      <p:sp>
        <p:nvSpPr>
          <p:cNvPr id="19" name="矩形 18"/>
          <p:cNvSpPr>
            <a:spLocks noGrp="1"/>
          </p:cNvSpPr>
          <p:nvPr/>
        </p:nvSpPr>
        <p:spPr>
          <a:xfrm>
            <a:off x="647700" y="5943600"/>
            <a:ext cx="57150" cy="400050"/>
          </a:xfrm>
          <a:prstGeom prst="rect">
            <a:avLst/>
          </a:prstGeom>
          <a:solidFill>
            <a:srgbClr val="ED7F0D"/>
          </a:solidFill>
          <a:ln w="0">
            <a:noFill/>
            <a:prstDash val="solid"/>
          </a:ln>
        </p:spPr>
      </p:sp>
      <p:sp>
        <p:nvSpPr>
          <p:cNvPr id="20" name="矩形 19"/>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Each extension closes one named validity gap rather than broadening the headline claim prematurely.</a:t>
            </a:r>
            <a:endParaRPr sz="1275" b="1">
              <a:solidFill>
                <a:srgbClr val="152538"/>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矩形 1"/>
          <p:cNvSpPr>
            <a:spLocks noGrp="1"/>
          </p:cNvSpPr>
          <p:nvPr/>
        </p:nvSpPr>
        <p:spPr>
          <a:xfrm>
            <a:off x="647700" y="228600"/>
            <a:ext cx="438150" cy="228600"/>
          </a:xfrm>
          <a:prstGeom prst="rect">
            <a:avLst/>
          </a:prstGeom>
          <a:noFill/>
          <a:ln w="0">
            <a:noFill/>
            <a:prstDash val="solid"/>
          </a:ln>
        </p:spPr>
        <p:txBody>
          <a:bodyPr anchor="ctr"/>
          <a:lstStyle/>
          <a:p>
            <a:pPr algn="l">
              <a:defRPr sz="1050" b="1">
                <a:solidFill>
                  <a:srgbClr val="ED7F0D"/>
                </a:solidFill>
              </a:defRPr>
            </a:pPr>
            <a:r>
              <a:rPr sz="1050" b="1">
                <a:solidFill>
                  <a:srgbClr val="ED7F0D"/>
                </a:solidFill>
              </a:rPr>
              <a:t>53</a:t>
            </a:r>
            <a:endParaRPr sz="1050" b="1">
              <a:solidFill>
                <a:srgbClr val="ED7F0D"/>
              </a:solidFill>
            </a:endParaRPr>
          </a:p>
        </p:txBody>
      </p:sp>
      <p:sp>
        <p:nvSpPr>
          <p:cNvPr id="3" name="矩形 2"/>
          <p:cNvSpPr>
            <a:spLocks noGrp="1"/>
          </p:cNvSpPr>
          <p:nvPr/>
        </p:nvSpPr>
        <p:spPr>
          <a:xfrm>
            <a:off x="1104900" y="228600"/>
            <a:ext cx="2000250" cy="228600"/>
          </a:xfrm>
          <a:prstGeom prst="rect">
            <a:avLst/>
          </a:prstGeom>
          <a:noFill/>
          <a:ln w="0">
            <a:noFill/>
            <a:prstDash val="solid"/>
          </a:ln>
        </p:spPr>
        <p:txBody>
          <a:bodyPr anchor="ctr"/>
          <a:lstStyle/>
          <a:p>
            <a:pPr algn="l">
              <a:defRPr sz="975" b="1">
                <a:solidFill>
                  <a:srgbClr val="6B7580"/>
                </a:solidFill>
              </a:defRPr>
            </a:pPr>
            <a:r>
              <a:rPr sz="975" b="1">
                <a:solidFill>
                  <a:srgbClr val="6B7580"/>
                </a:solidFill>
              </a:rPr>
              <a:t>APPENDIX</a:t>
            </a:r>
            <a:endParaRPr sz="975" b="1">
              <a:solidFill>
                <a:srgbClr val="6B7580"/>
              </a:solidFill>
            </a:endParaRPr>
          </a:p>
        </p:txBody>
      </p:sp>
      <p:sp>
        <p:nvSpPr>
          <p:cNvPr id="4" name="矩形 3"/>
          <p:cNvSpPr>
            <a:spLocks noGrp="1"/>
          </p:cNvSpPr>
          <p:nvPr/>
        </p:nvSpPr>
        <p:spPr>
          <a:xfrm>
            <a:off x="6191250" y="228600"/>
            <a:ext cx="5353050" cy="2286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Problem   Task   Framework   Simulation   Hardware   Discussion</a:t>
            </a:r>
            <a:endParaRPr sz="825" b="0">
              <a:solidFill>
                <a:srgbClr val="6B7580"/>
              </a:solidFill>
            </a:endParaRPr>
          </a:p>
        </p:txBody>
      </p:sp>
      <p:sp>
        <p:nvSpPr>
          <p:cNvPr id="5" name="矩形 4"/>
          <p:cNvSpPr>
            <a:spLocks noGrp="1"/>
          </p:cNvSpPr>
          <p:nvPr/>
        </p:nvSpPr>
        <p:spPr>
          <a:xfrm>
            <a:off x="647700" y="533400"/>
            <a:ext cx="10839450" cy="723900"/>
          </a:xfrm>
          <a:prstGeom prst="rect">
            <a:avLst/>
          </a:prstGeom>
          <a:noFill/>
          <a:ln w="0">
            <a:noFill/>
            <a:prstDash val="solid"/>
          </a:ln>
        </p:spPr>
        <p:txBody>
          <a:bodyPr anchor="t"/>
          <a:lstStyle/>
          <a:p>
            <a:pPr algn="l">
              <a:defRPr sz="2775" b="1">
                <a:solidFill>
                  <a:srgbClr val="004282"/>
                </a:solidFill>
              </a:defRPr>
            </a:pPr>
            <a:r>
              <a:rPr sz="2775" b="1">
                <a:solidFill>
                  <a:srgbClr val="004282"/>
                </a:solidFill>
              </a:rPr>
              <a:t>A15 · Selected references and Direct-3C proxy disclaimer</a:t>
            </a:r>
            <a:endParaRPr sz="2775" b="1">
              <a:solidFill>
                <a:srgbClr val="004282"/>
              </a:solidFill>
            </a:endParaRPr>
          </a:p>
        </p:txBody>
      </p:sp>
      <p:sp>
        <p:nvSpPr>
          <p:cNvPr id="6" name="矩形 5"/>
          <p:cNvSpPr>
            <a:spLocks noGrp="1"/>
          </p:cNvSpPr>
          <p:nvPr/>
        </p:nvSpPr>
        <p:spPr>
          <a:xfrm>
            <a:off x="647700" y="1257300"/>
            <a:ext cx="609600" cy="47625"/>
          </a:xfrm>
          <a:prstGeom prst="rect">
            <a:avLst/>
          </a:prstGeom>
          <a:solidFill>
            <a:srgbClr val="ED7F0D"/>
          </a:solidFill>
          <a:ln w="0">
            <a:noFill/>
            <a:prstDash val="solid"/>
          </a:ln>
        </p:spPr>
      </p:sp>
      <p:sp>
        <p:nvSpPr>
          <p:cNvPr id="7" name="矩形 6"/>
          <p:cNvSpPr>
            <a:spLocks noGrp="1"/>
          </p:cNvSpPr>
          <p:nvPr/>
        </p:nvSpPr>
        <p:spPr>
          <a:xfrm>
            <a:off x="647700" y="6486525"/>
            <a:ext cx="4000500" cy="190500"/>
          </a:xfrm>
          <a:prstGeom prst="rect">
            <a:avLst/>
          </a:prstGeom>
          <a:noFill/>
          <a:ln w="0">
            <a:noFill/>
            <a:prstDash val="solid"/>
          </a:ln>
        </p:spPr>
        <p:txBody>
          <a:bodyPr anchor="ctr"/>
          <a:lstStyle/>
          <a:p>
            <a:pPr algn="l">
              <a:defRPr sz="825" b="0">
                <a:solidFill>
                  <a:srgbClr val="6B7580"/>
                </a:solidFill>
              </a:defRPr>
            </a:pPr>
            <a:r>
              <a:rPr sz="825" b="0">
                <a:solidFill>
                  <a:srgbClr val="6B7580"/>
                </a:solidFill>
              </a:rPr>
              <a:t>Nan Jinyao · Paper-aligned group review</a:t>
            </a:r>
            <a:endParaRPr sz="825" b="0">
              <a:solidFill>
                <a:srgbClr val="6B7580"/>
              </a:solidFill>
            </a:endParaRPr>
          </a:p>
        </p:txBody>
      </p:sp>
      <p:sp>
        <p:nvSpPr>
          <p:cNvPr id="8" name="矩形 7"/>
          <p:cNvSpPr>
            <a:spLocks noGrp="1"/>
          </p:cNvSpPr>
          <p:nvPr/>
        </p:nvSpPr>
        <p:spPr>
          <a:xfrm>
            <a:off x="4476750" y="6486525"/>
            <a:ext cx="6191250" cy="190500"/>
          </a:xfrm>
          <a:prstGeom prst="rect">
            <a:avLst/>
          </a:prstGeom>
          <a:noFill/>
          <a:ln w="0">
            <a:noFill/>
            <a:prstDash val="solid"/>
          </a:ln>
        </p:spPr>
        <p:txBody>
          <a:bodyPr anchor="ctr"/>
          <a:lstStyle/>
          <a:p>
            <a:pPr algn="r">
              <a:defRPr sz="825" b="0">
                <a:solidFill>
                  <a:srgbClr val="6B7580"/>
                </a:solidFill>
              </a:defRPr>
            </a:pPr>
            <a:r>
              <a:rPr sz="825" b="0">
                <a:solidFill>
                  <a:srgbClr val="6B7580"/>
                </a:solidFill>
              </a:rPr>
              <a:t>References [2]–[33]</a:t>
            </a:r>
            <a:endParaRPr sz="825" b="0">
              <a:solidFill>
                <a:srgbClr val="6B7580"/>
              </a:solidFill>
            </a:endParaRPr>
          </a:p>
        </p:txBody>
      </p:sp>
      <p:sp>
        <p:nvSpPr>
          <p:cNvPr id="9" name="矩形 8"/>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53</a:t>
            </a:r>
            <a:endParaRPr sz="825" b="1">
              <a:solidFill>
                <a:srgbClr val="004282"/>
              </a:solidFill>
            </a:endParaRPr>
          </a:p>
        </p:txBody>
      </p:sp>
      <p:sp>
        <p:nvSpPr>
          <p:cNvPr id="10" name="椭圆 9"/>
          <p:cNvSpPr>
            <a:spLocks noGrp="1"/>
          </p:cNvSpPr>
          <p:nvPr/>
        </p:nvSpPr>
        <p:spPr>
          <a:xfrm>
            <a:off x="990600" y="1885950"/>
            <a:ext cx="76200" cy="76200"/>
          </a:xfrm>
          <a:prstGeom prst="ellipse">
            <a:avLst/>
          </a:prstGeom>
          <a:solidFill>
            <a:srgbClr val="004282"/>
          </a:solidFill>
          <a:ln w="9525">
            <a:solidFill>
              <a:srgbClr val="004282"/>
            </a:solidFill>
            <a:prstDash val="solid"/>
          </a:ln>
        </p:spPr>
      </p:sp>
      <p:sp>
        <p:nvSpPr>
          <p:cNvPr id="11" name="矩形 10"/>
          <p:cNvSpPr>
            <a:spLocks noGrp="1"/>
          </p:cNvSpPr>
          <p:nvPr/>
        </p:nvSpPr>
        <p:spPr>
          <a:xfrm>
            <a:off x="1200150" y="1790700"/>
            <a:ext cx="9791700" cy="685800"/>
          </a:xfrm>
          <a:prstGeom prst="rect">
            <a:avLst/>
          </a:prstGeom>
          <a:noFill/>
          <a:ln w="0">
            <a:noFill/>
            <a:prstDash val="solid"/>
          </a:ln>
        </p:spPr>
        <p:txBody>
          <a:bodyPr anchor="t"/>
          <a:lstStyle/>
          <a:p>
            <a:pPr algn="l">
              <a:defRPr sz="1575" b="0">
                <a:solidFill>
                  <a:srgbClr val="152538"/>
                </a:solidFill>
              </a:defRPr>
            </a:pPr>
            <a:r>
              <a:rPr sz="1575" b="0">
                <a:solidFill>
                  <a:srgbClr val="152538"/>
                </a:solidFill>
              </a:rPr>
              <a:t>Compliance and part mating: classic RCC / impedance and contact-rich assembly.</a:t>
            </a:r>
            <a:endParaRPr sz="1575" b="0">
              <a:solidFill>
                <a:srgbClr val="152538"/>
              </a:solidFill>
            </a:endParaRPr>
          </a:p>
        </p:txBody>
      </p:sp>
      <p:sp>
        <p:nvSpPr>
          <p:cNvPr id="12" name="椭圆 11"/>
          <p:cNvSpPr>
            <a:spLocks noGrp="1"/>
          </p:cNvSpPr>
          <p:nvPr/>
        </p:nvSpPr>
        <p:spPr>
          <a:xfrm>
            <a:off x="990600" y="2705100"/>
            <a:ext cx="76200" cy="76200"/>
          </a:xfrm>
          <a:prstGeom prst="ellipse">
            <a:avLst/>
          </a:prstGeom>
          <a:solidFill>
            <a:srgbClr val="004282"/>
          </a:solidFill>
          <a:ln w="9525">
            <a:solidFill>
              <a:srgbClr val="004282"/>
            </a:solidFill>
            <a:prstDash val="solid"/>
          </a:ln>
        </p:spPr>
      </p:sp>
      <p:sp>
        <p:nvSpPr>
          <p:cNvPr id="13" name="矩形 12"/>
          <p:cNvSpPr>
            <a:spLocks noGrp="1"/>
          </p:cNvSpPr>
          <p:nvPr/>
        </p:nvSpPr>
        <p:spPr>
          <a:xfrm>
            <a:off x="1200150" y="2609850"/>
            <a:ext cx="9791700" cy="685800"/>
          </a:xfrm>
          <a:prstGeom prst="rect">
            <a:avLst/>
          </a:prstGeom>
          <a:noFill/>
          <a:ln w="0">
            <a:noFill/>
            <a:prstDash val="solid"/>
          </a:ln>
        </p:spPr>
        <p:txBody>
          <a:bodyPr anchor="t"/>
          <a:lstStyle/>
          <a:p>
            <a:pPr algn="l">
              <a:defRPr sz="1575" b="0">
                <a:solidFill>
                  <a:srgbClr val="152538"/>
                </a:solidFill>
              </a:defRPr>
            </a:pPr>
            <a:r>
              <a:rPr sz="1575" b="0">
                <a:solidFill>
                  <a:srgbClr val="152538"/>
                </a:solidFill>
              </a:rPr>
              <a:t>Belief/contact planning: action selection under uncertain contact geometry.</a:t>
            </a:r>
            <a:endParaRPr sz="1575" b="0">
              <a:solidFill>
                <a:srgbClr val="152538"/>
              </a:solidFill>
            </a:endParaRPr>
          </a:p>
        </p:txBody>
      </p:sp>
      <p:sp>
        <p:nvSpPr>
          <p:cNvPr id="14" name="椭圆 13"/>
          <p:cNvSpPr>
            <a:spLocks noGrp="1"/>
          </p:cNvSpPr>
          <p:nvPr/>
        </p:nvSpPr>
        <p:spPr>
          <a:xfrm>
            <a:off x="990600" y="3524250"/>
            <a:ext cx="76200" cy="76200"/>
          </a:xfrm>
          <a:prstGeom prst="ellipse">
            <a:avLst/>
          </a:prstGeom>
          <a:solidFill>
            <a:srgbClr val="004282"/>
          </a:solidFill>
          <a:ln w="9525">
            <a:solidFill>
              <a:srgbClr val="004282"/>
            </a:solidFill>
            <a:prstDash val="solid"/>
          </a:ln>
        </p:spPr>
      </p:sp>
      <p:sp>
        <p:nvSpPr>
          <p:cNvPr id="15" name="矩形 14"/>
          <p:cNvSpPr>
            <a:spLocks noGrp="1"/>
          </p:cNvSpPr>
          <p:nvPr/>
        </p:nvSpPr>
        <p:spPr>
          <a:xfrm>
            <a:off x="1200150" y="3429000"/>
            <a:ext cx="9791700" cy="685800"/>
          </a:xfrm>
          <a:prstGeom prst="rect">
            <a:avLst/>
          </a:prstGeom>
          <a:noFill/>
          <a:ln w="0">
            <a:noFill/>
            <a:prstDash val="solid"/>
          </a:ln>
        </p:spPr>
        <p:txBody>
          <a:bodyPr anchor="t"/>
          <a:lstStyle/>
          <a:p>
            <a:pPr algn="l">
              <a:defRPr sz="1575" b="0">
                <a:solidFill>
                  <a:srgbClr val="152538"/>
                </a:solidFill>
              </a:defRPr>
            </a:pPr>
            <a:r>
              <a:rPr sz="1575" b="0">
                <a:solidFill>
                  <a:srgbClr val="152538"/>
                </a:solidFill>
              </a:rPr>
              <a:t>Active and learned tactile sensing: compact state evidence from prescribed touch.</a:t>
            </a:r>
            <a:endParaRPr sz="1575" b="0">
              <a:solidFill>
                <a:srgbClr val="152538"/>
              </a:solidFill>
            </a:endParaRPr>
          </a:p>
        </p:txBody>
      </p:sp>
      <p:sp>
        <p:nvSpPr>
          <p:cNvPr id="16" name="椭圆 15"/>
          <p:cNvSpPr>
            <a:spLocks noGrp="1"/>
          </p:cNvSpPr>
          <p:nvPr/>
        </p:nvSpPr>
        <p:spPr>
          <a:xfrm>
            <a:off x="990600" y="4343400"/>
            <a:ext cx="76200" cy="76200"/>
          </a:xfrm>
          <a:prstGeom prst="ellipse">
            <a:avLst/>
          </a:prstGeom>
          <a:solidFill>
            <a:srgbClr val="004282"/>
          </a:solidFill>
          <a:ln w="9525">
            <a:solidFill>
              <a:srgbClr val="004282"/>
            </a:solidFill>
            <a:prstDash val="solid"/>
          </a:ln>
        </p:spPr>
      </p:sp>
      <p:sp>
        <p:nvSpPr>
          <p:cNvPr id="17" name="矩形 16"/>
          <p:cNvSpPr>
            <a:spLocks noGrp="1"/>
          </p:cNvSpPr>
          <p:nvPr/>
        </p:nvSpPr>
        <p:spPr>
          <a:xfrm>
            <a:off x="1200150" y="4248150"/>
            <a:ext cx="9791700" cy="685800"/>
          </a:xfrm>
          <a:prstGeom prst="rect">
            <a:avLst/>
          </a:prstGeom>
          <a:noFill/>
          <a:ln w="0">
            <a:noFill/>
            <a:prstDash val="solid"/>
          </a:ln>
        </p:spPr>
        <p:txBody>
          <a:bodyPr anchor="t"/>
          <a:lstStyle/>
          <a:p>
            <a:pPr algn="l">
              <a:defRPr sz="1575" b="0">
                <a:solidFill>
                  <a:srgbClr val="152538"/>
                </a:solidFill>
              </a:defRPr>
            </a:pPr>
            <a:r>
              <a:rPr sz="1575" b="0">
                <a:solidFill>
                  <a:srgbClr val="152538"/>
                </a:solidFill>
              </a:rPr>
              <a:t>Direct-3C is a task-specific engineering proxy used for representation ablation; it is not a reproduction of the complete method in Jin et al.</a:t>
            </a:r>
            <a:endParaRPr sz="1575" b="0">
              <a:solidFill>
                <a:srgbClr val="152538"/>
              </a:solidFill>
            </a:endParaRPr>
          </a:p>
        </p:txBody>
      </p:sp>
      <p:sp>
        <p:nvSpPr>
          <p:cNvPr id="18" name="圆角矩形 17"/>
          <p:cNvSpPr>
            <a:spLocks noGrp="1"/>
          </p:cNvSpPr>
          <p:nvPr/>
        </p:nvSpPr>
        <p:spPr>
          <a:xfrm>
            <a:off x="1333500" y="5048250"/>
            <a:ext cx="9525000" cy="514350"/>
          </a:xfrm>
          <a:prstGeom prst="roundRect">
            <a:avLst>
              <a:gd name="adj" fmla="val 14815"/>
            </a:avLst>
          </a:prstGeom>
          <a:solidFill>
            <a:srgbClr val="FFF0E2"/>
          </a:solidFill>
          <a:ln w="9525">
            <a:solidFill>
              <a:srgbClr val="ED7F0D"/>
            </a:solidFill>
            <a:prstDash val="solid"/>
          </a:ln>
        </p:spPr>
      </p:sp>
      <p:sp>
        <p:nvSpPr>
          <p:cNvPr id="19" name="矩形 18"/>
          <p:cNvSpPr>
            <a:spLocks noGrp="1"/>
          </p:cNvSpPr>
          <p:nvPr/>
        </p:nvSpPr>
        <p:spPr>
          <a:xfrm>
            <a:off x="1714500" y="5143500"/>
            <a:ext cx="8763000" cy="323850"/>
          </a:xfrm>
          <a:prstGeom prst="rect">
            <a:avLst/>
          </a:prstGeom>
          <a:noFill/>
          <a:ln w="0">
            <a:noFill/>
            <a:prstDash val="solid"/>
          </a:ln>
        </p:spPr>
        <p:txBody>
          <a:bodyPr anchor="ctr"/>
          <a:lstStyle/>
          <a:p>
            <a:pPr algn="ctr">
              <a:defRPr sz="1725" b="1">
                <a:solidFill>
                  <a:srgbClr val="ED7F0D"/>
                </a:solidFill>
              </a:defRPr>
            </a:pPr>
            <a:r>
              <a:rPr sz="1725" b="1">
                <a:solidFill>
                  <a:srgbClr val="ED7F0D"/>
                </a:solidFill>
              </a:rPr>
              <a:t>Representation ablation ≠ external-method reproduction</a:t>
            </a:r>
            <a:endParaRPr sz="1725" b="1">
              <a:solidFill>
                <a:srgbClr val="ED7F0D"/>
              </a:solidFill>
            </a:endParaRPr>
          </a:p>
        </p:txBody>
      </p:sp>
      <p:sp>
        <p:nvSpPr>
          <p:cNvPr id="20" name="矩形 19"/>
          <p:cNvSpPr>
            <a:spLocks noGrp="1"/>
          </p:cNvSpPr>
          <p:nvPr/>
        </p:nvSpPr>
        <p:spPr>
          <a:xfrm>
            <a:off x="647700" y="5943600"/>
            <a:ext cx="10839450" cy="400050"/>
          </a:xfrm>
          <a:prstGeom prst="rect">
            <a:avLst/>
          </a:prstGeom>
          <a:solidFill>
            <a:srgbClr val="FFF0E2"/>
          </a:solidFill>
          <a:ln w="0">
            <a:noFill/>
            <a:prstDash val="solid"/>
          </a:ln>
        </p:spPr>
      </p:sp>
      <p:sp>
        <p:nvSpPr>
          <p:cNvPr id="21" name="矩形 20"/>
          <p:cNvSpPr>
            <a:spLocks noGrp="1"/>
          </p:cNvSpPr>
          <p:nvPr/>
        </p:nvSpPr>
        <p:spPr>
          <a:xfrm>
            <a:off x="647700" y="5943600"/>
            <a:ext cx="57150" cy="400050"/>
          </a:xfrm>
          <a:prstGeom prst="rect">
            <a:avLst/>
          </a:prstGeom>
          <a:solidFill>
            <a:srgbClr val="ED7F0D"/>
          </a:solidFill>
          <a:ln w="0">
            <a:noFill/>
            <a:prstDash val="solid"/>
          </a:ln>
        </p:spPr>
      </p:sp>
      <p:sp>
        <p:nvSpPr>
          <p:cNvPr id="22" name="矩形 21"/>
          <p:cNvSpPr>
            <a:spLocks noGrp="1"/>
          </p:cNvSpPr>
          <p:nvPr/>
        </p:nvSpPr>
        <p:spPr>
          <a:xfrm>
            <a:off x="838200" y="5981700"/>
            <a:ext cx="10458450" cy="304800"/>
          </a:xfrm>
          <a:prstGeom prst="rect">
            <a:avLst/>
          </a:prstGeom>
          <a:noFill/>
          <a:ln w="0">
            <a:noFill/>
            <a:prstDash val="solid"/>
          </a:ln>
        </p:spPr>
        <p:txBody>
          <a:bodyPr anchor="ctr"/>
          <a:lstStyle/>
          <a:p>
            <a:pPr algn="l">
              <a:defRPr sz="1275" b="1">
                <a:solidFill>
                  <a:srgbClr val="152538"/>
                </a:solidFill>
              </a:defRPr>
            </a:pPr>
            <a:r>
              <a:rPr sz="1275" b="1">
                <a:solidFill>
                  <a:srgbClr val="152538"/>
                </a:solidFill>
              </a:rPr>
              <a:t>The comparison supports a representation claim only.</a:t>
            </a:r>
            <a:endParaRPr sz="1275" b="1">
              <a:solidFill>
                <a:srgbClr val="152538"/>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矩形 1"/>
          <p:cNvSpPr>
            <a:spLocks noGrp="1"/>
          </p:cNvSpPr>
          <p:nvPr/>
        </p:nvSpPr>
        <p:spPr>
          <a:xfrm>
            <a:off x="0" y="0"/>
            <a:ext cx="12192000" cy="781050"/>
          </a:xfrm>
          <a:prstGeom prst="rect">
            <a:avLst/>
          </a:prstGeom>
          <a:solidFill>
            <a:srgbClr val="004282"/>
          </a:solidFill>
          <a:ln w="0">
            <a:noFill/>
            <a:prstDash val="solid"/>
          </a:ln>
        </p:spPr>
      </p:sp>
      <p:sp>
        <p:nvSpPr>
          <p:cNvPr id="3" name="矩形 2"/>
          <p:cNvSpPr>
            <a:spLocks noGrp="1"/>
          </p:cNvSpPr>
          <p:nvPr/>
        </p:nvSpPr>
        <p:spPr>
          <a:xfrm>
            <a:off x="0" y="781050"/>
            <a:ext cx="12192000" cy="66675"/>
          </a:xfrm>
          <a:prstGeom prst="rect">
            <a:avLst/>
          </a:prstGeom>
          <a:solidFill>
            <a:srgbClr val="ED7F0D"/>
          </a:solidFill>
          <a:ln w="0">
            <a:noFill/>
            <a:prstDash val="solid"/>
          </a:ln>
        </p:spPr>
      </p:sp>
      <p:sp>
        <p:nvSpPr>
          <p:cNvPr id="4" name="矩形 3"/>
          <p:cNvSpPr>
            <a:spLocks noGrp="1"/>
          </p:cNvSpPr>
          <p:nvPr/>
        </p:nvSpPr>
        <p:spPr>
          <a:xfrm>
            <a:off x="742950" y="190500"/>
            <a:ext cx="4000500" cy="400050"/>
          </a:xfrm>
          <a:prstGeom prst="rect">
            <a:avLst/>
          </a:prstGeom>
          <a:noFill/>
          <a:ln w="0">
            <a:noFill/>
            <a:prstDash val="solid"/>
          </a:ln>
        </p:spPr>
        <p:txBody>
          <a:bodyPr anchor="ctr"/>
          <a:lstStyle/>
          <a:p>
            <a:pPr algn="l">
              <a:defRPr sz="1800" b="1">
                <a:solidFill>
                  <a:srgbClr val="FFFFFF"/>
                </a:solidFill>
              </a:defRPr>
            </a:pPr>
            <a:r>
              <a:rPr sz="1800" b="1">
                <a:solidFill>
                  <a:srgbClr val="FFFFFF"/>
                </a:solidFill>
              </a:rPr>
              <a:t>DECLARATION</a:t>
            </a:r>
            <a:endParaRPr sz="1800" b="1">
              <a:solidFill>
                <a:srgbClr val="FFFFFF"/>
              </a:solidFill>
            </a:endParaRPr>
          </a:p>
        </p:txBody>
      </p:sp>
      <p:sp>
        <p:nvSpPr>
          <p:cNvPr id="5" name="矩形 4"/>
          <p:cNvSpPr>
            <a:spLocks noGrp="1"/>
          </p:cNvSpPr>
          <p:nvPr/>
        </p:nvSpPr>
        <p:spPr>
          <a:xfrm>
            <a:off x="1257300" y="1543050"/>
            <a:ext cx="9677400" cy="1619250"/>
          </a:xfrm>
          <a:prstGeom prst="rect">
            <a:avLst/>
          </a:prstGeom>
          <a:noFill/>
          <a:ln w="0">
            <a:noFill/>
            <a:prstDash val="solid"/>
          </a:ln>
        </p:spPr>
        <p:txBody>
          <a:bodyPr anchor="t"/>
          <a:lstStyle/>
          <a:p>
            <a:pPr algn="l">
              <a:defRPr sz="2025" b="0">
                <a:solidFill>
                  <a:srgbClr val="152538"/>
                </a:solidFill>
              </a:defRPr>
            </a:pPr>
            <a:r>
              <a:rPr sz="2025" b="0">
                <a:solidFill>
                  <a:srgbClr val="152538"/>
                </a:solidFill>
              </a:rPr>
              <a:t>I hereby declare that this work is my original work and it has been written by me in its entirety. I have duly acknowledged all the sources of information which have been used in the work.</a:t>
            </a:r>
            <a:endParaRPr sz="2025" b="0">
              <a:solidFill>
                <a:srgbClr val="152538"/>
              </a:solidFill>
            </a:endParaRPr>
          </a:p>
        </p:txBody>
      </p:sp>
      <p:sp>
        <p:nvSpPr>
          <p:cNvPr id="6" name="矩形 5"/>
          <p:cNvSpPr>
            <a:spLocks noGrp="1"/>
          </p:cNvSpPr>
          <p:nvPr/>
        </p:nvSpPr>
        <p:spPr>
          <a:xfrm>
            <a:off x="1257300" y="3429000"/>
            <a:ext cx="9677400" cy="19050"/>
          </a:xfrm>
          <a:prstGeom prst="rect">
            <a:avLst/>
          </a:prstGeom>
          <a:solidFill>
            <a:srgbClr val="D9E0E6"/>
          </a:solidFill>
          <a:ln w="0">
            <a:noFill/>
            <a:prstDash val="solid"/>
          </a:ln>
        </p:spPr>
      </p:sp>
      <p:sp>
        <p:nvSpPr>
          <p:cNvPr id="7" name="矩形 6"/>
          <p:cNvSpPr>
            <a:spLocks noGrp="1"/>
          </p:cNvSpPr>
          <p:nvPr/>
        </p:nvSpPr>
        <p:spPr>
          <a:xfrm>
            <a:off x="1257300" y="3810000"/>
            <a:ext cx="2857500" cy="400050"/>
          </a:xfrm>
          <a:prstGeom prst="rect">
            <a:avLst/>
          </a:prstGeom>
          <a:noFill/>
          <a:ln w="0">
            <a:noFill/>
            <a:prstDash val="solid"/>
          </a:ln>
        </p:spPr>
        <p:txBody>
          <a:bodyPr anchor="ctr"/>
          <a:lstStyle/>
          <a:p>
            <a:pPr algn="l">
              <a:defRPr sz="1650" b="1">
                <a:solidFill>
                  <a:srgbClr val="004282"/>
                </a:solidFill>
              </a:defRPr>
            </a:pPr>
            <a:r>
              <a:rPr sz="1650" b="1">
                <a:solidFill>
                  <a:srgbClr val="004282"/>
                </a:solidFill>
              </a:rPr>
              <a:t>NAN JINYAO</a:t>
            </a:r>
            <a:endParaRPr sz="1650" b="1">
              <a:solidFill>
                <a:srgbClr val="004282"/>
              </a:solidFill>
            </a:endParaRPr>
          </a:p>
        </p:txBody>
      </p:sp>
      <p:sp>
        <p:nvSpPr>
          <p:cNvPr id="8" name="矩形 7"/>
          <p:cNvSpPr>
            <a:spLocks noGrp="1"/>
          </p:cNvSpPr>
          <p:nvPr/>
        </p:nvSpPr>
        <p:spPr>
          <a:xfrm>
            <a:off x="1257300" y="4514850"/>
            <a:ext cx="1524000" cy="266700"/>
          </a:xfrm>
          <a:prstGeom prst="rect">
            <a:avLst/>
          </a:prstGeom>
          <a:noFill/>
          <a:ln w="0">
            <a:noFill/>
            <a:prstDash val="solid"/>
          </a:ln>
        </p:spPr>
        <p:txBody>
          <a:bodyPr anchor="ctr"/>
          <a:lstStyle/>
          <a:p>
            <a:pPr algn="l">
              <a:defRPr sz="1125" b="0">
                <a:solidFill>
                  <a:srgbClr val="6B7580"/>
                </a:solidFill>
              </a:defRPr>
            </a:pPr>
            <a:r>
              <a:rPr sz="1125" b="0">
                <a:solidFill>
                  <a:srgbClr val="6B7580"/>
                </a:solidFill>
              </a:rPr>
              <a:t>Signature</a:t>
            </a:r>
            <a:endParaRPr sz="1125" b="0">
              <a:solidFill>
                <a:srgbClr val="6B7580"/>
              </a:solidFill>
            </a:endParaRPr>
          </a:p>
        </p:txBody>
      </p:sp>
      <p:sp>
        <p:nvSpPr>
          <p:cNvPr id="9" name="矩形 8"/>
          <p:cNvSpPr>
            <a:spLocks noGrp="1"/>
          </p:cNvSpPr>
          <p:nvPr/>
        </p:nvSpPr>
        <p:spPr>
          <a:xfrm>
            <a:off x="1257300" y="4857750"/>
            <a:ext cx="4000500" cy="628650"/>
          </a:xfrm>
          <a:prstGeom prst="rect">
            <a:avLst/>
          </a:prstGeom>
          <a:solidFill>
            <a:srgbClr val="F7F9FC"/>
          </a:solidFill>
          <a:ln w="9525">
            <a:solidFill>
              <a:srgbClr val="D9E0E6"/>
            </a:solidFill>
            <a:prstDash val="solid"/>
          </a:ln>
        </p:spPr>
      </p:sp>
      <p:sp>
        <p:nvSpPr>
          <p:cNvPr id="10" name="矩形 9"/>
          <p:cNvSpPr>
            <a:spLocks noGrp="1"/>
          </p:cNvSpPr>
          <p:nvPr/>
        </p:nvSpPr>
        <p:spPr>
          <a:xfrm>
            <a:off x="1447800" y="5010150"/>
            <a:ext cx="3619500" cy="323850"/>
          </a:xfrm>
          <a:prstGeom prst="rect">
            <a:avLst/>
          </a:prstGeom>
          <a:noFill/>
          <a:ln w="0">
            <a:noFill/>
            <a:prstDash val="solid"/>
          </a:ln>
        </p:spPr>
        <p:txBody>
          <a:bodyPr anchor="ctr"/>
          <a:lstStyle/>
          <a:p>
            <a:pPr algn="ctr">
              <a:defRPr sz="1350" b="0">
                <a:solidFill>
                  <a:srgbClr val="6B7580"/>
                </a:solidFill>
              </a:defRPr>
            </a:pPr>
            <a:r>
              <a:rPr sz="1350" b="0">
                <a:solidFill>
                  <a:srgbClr val="6B7580"/>
                </a:solidFill>
              </a:rPr>
              <a:t>[Insert real signature here]</a:t>
            </a:r>
            <a:endParaRPr sz="1350" b="0">
              <a:solidFill>
                <a:srgbClr val="6B7580"/>
              </a:solidFill>
            </a:endParaRPr>
          </a:p>
        </p:txBody>
      </p:sp>
      <p:sp>
        <p:nvSpPr>
          <p:cNvPr id="11" name="矩形 10"/>
          <p:cNvSpPr>
            <a:spLocks noGrp="1"/>
          </p:cNvSpPr>
          <p:nvPr/>
        </p:nvSpPr>
        <p:spPr>
          <a:xfrm>
            <a:off x="7124700" y="4514850"/>
            <a:ext cx="952500" cy="266700"/>
          </a:xfrm>
          <a:prstGeom prst="rect">
            <a:avLst/>
          </a:prstGeom>
          <a:noFill/>
          <a:ln w="0">
            <a:noFill/>
            <a:prstDash val="solid"/>
          </a:ln>
        </p:spPr>
        <p:txBody>
          <a:bodyPr anchor="ctr"/>
          <a:lstStyle/>
          <a:p>
            <a:pPr algn="l">
              <a:defRPr sz="1125" b="0">
                <a:solidFill>
                  <a:srgbClr val="6B7580"/>
                </a:solidFill>
              </a:defRPr>
            </a:pPr>
            <a:r>
              <a:rPr sz="1125" b="0">
                <a:solidFill>
                  <a:srgbClr val="6B7580"/>
                </a:solidFill>
              </a:rPr>
              <a:t>Date</a:t>
            </a:r>
            <a:endParaRPr sz="1125" b="0">
              <a:solidFill>
                <a:srgbClr val="6B7580"/>
              </a:solidFill>
            </a:endParaRPr>
          </a:p>
        </p:txBody>
      </p:sp>
      <p:sp>
        <p:nvSpPr>
          <p:cNvPr id="12" name="矩形 11"/>
          <p:cNvSpPr>
            <a:spLocks noGrp="1"/>
          </p:cNvSpPr>
          <p:nvPr/>
        </p:nvSpPr>
        <p:spPr>
          <a:xfrm>
            <a:off x="7124700" y="4857750"/>
            <a:ext cx="3143250" cy="514350"/>
          </a:xfrm>
          <a:prstGeom prst="rect">
            <a:avLst/>
          </a:prstGeom>
          <a:noFill/>
          <a:ln w="0">
            <a:noFill/>
            <a:prstDash val="solid"/>
          </a:ln>
        </p:spPr>
        <p:txBody>
          <a:bodyPr anchor="ctr"/>
          <a:lstStyle/>
          <a:p>
            <a:pPr algn="l">
              <a:defRPr sz="1650" b="1">
                <a:solidFill>
                  <a:srgbClr val="152538"/>
                </a:solidFill>
              </a:defRPr>
            </a:pPr>
            <a:r>
              <a:rPr sz="1650" b="1">
                <a:solidFill>
                  <a:srgbClr val="152538"/>
                </a:solidFill>
              </a:rPr>
              <a:t>29 August 2026</a:t>
            </a:r>
            <a:endParaRPr sz="1650" b="1">
              <a:solidFill>
                <a:srgbClr val="152538"/>
              </a:solidFill>
            </a:endParaRPr>
          </a:p>
        </p:txBody>
      </p:sp>
      <p:sp>
        <p:nvSpPr>
          <p:cNvPr id="13" name="矩形 12"/>
          <p:cNvSpPr>
            <a:spLocks noGrp="1"/>
          </p:cNvSpPr>
          <p:nvPr/>
        </p:nvSpPr>
        <p:spPr>
          <a:xfrm>
            <a:off x="1257300" y="5857875"/>
            <a:ext cx="4000500" cy="228600"/>
          </a:xfrm>
          <a:prstGeom prst="rect">
            <a:avLst/>
          </a:prstGeom>
          <a:noFill/>
          <a:ln w="0">
            <a:noFill/>
            <a:prstDash val="solid"/>
          </a:ln>
        </p:spPr>
        <p:txBody>
          <a:bodyPr anchor="ctr"/>
          <a:lstStyle/>
          <a:p>
            <a:pPr algn="l">
              <a:defRPr sz="975" b="0">
                <a:solidFill>
                  <a:srgbClr val="C74A4A"/>
                </a:solidFill>
              </a:defRPr>
            </a:pPr>
            <a:r>
              <a:rPr sz="975" b="0">
                <a:solidFill>
                  <a:srgbClr val="C74A4A"/>
                </a:solidFill>
              </a:rPr>
              <a:t>No signature was synthesized.</a:t>
            </a:r>
            <a:endParaRPr sz="975" b="0">
              <a:solidFill>
                <a:srgbClr val="C74A4A"/>
              </a:solidFill>
            </a:endParaRPr>
          </a:p>
        </p:txBody>
      </p:sp>
      <p:sp>
        <p:nvSpPr>
          <p:cNvPr id="14" name="矩形 13"/>
          <p:cNvSpPr>
            <a:spLocks noGrp="1"/>
          </p:cNvSpPr>
          <p:nvPr/>
        </p:nvSpPr>
        <p:spPr>
          <a:xfrm>
            <a:off x="11049000" y="6486525"/>
            <a:ext cx="457200" cy="190500"/>
          </a:xfrm>
          <a:prstGeom prst="rect">
            <a:avLst/>
          </a:prstGeom>
          <a:noFill/>
          <a:ln w="0">
            <a:noFill/>
            <a:prstDash val="solid"/>
          </a:ln>
        </p:spPr>
        <p:txBody>
          <a:bodyPr anchor="ctr"/>
          <a:lstStyle/>
          <a:p>
            <a:pPr algn="r">
              <a:defRPr sz="825" b="1">
                <a:solidFill>
                  <a:srgbClr val="004282"/>
                </a:solidFill>
              </a:defRPr>
            </a:pPr>
            <a:r>
              <a:rPr sz="825" b="1">
                <a:solidFill>
                  <a:srgbClr val="004282"/>
                </a:solidFill>
              </a:rPr>
              <a:t>54</a:t>
            </a:r>
            <a:endParaRPr sz="825" b="1">
              <a:solidFill>
                <a:srgbClr val="004282"/>
              </a:solidFill>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24384</Words>
  <Application>WPS 演示</Application>
  <PresentationFormat>Converted Presentation</PresentationFormat>
  <Paragraphs>1666</Paragraphs>
  <Slides>54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54</vt:i4>
      </vt:variant>
    </vt:vector>
  </HeadingPairs>
  <TitlesOfParts>
    <vt:vector size="62" baseType="lpstr">
      <vt:lpstr>Arial</vt:lpstr>
      <vt:lpstr>宋体</vt:lpstr>
      <vt:lpstr>Wingdings</vt:lpstr>
      <vt:lpstr>Calibri</vt:lpstr>
      <vt:lpstr>微软雅黑</vt:lpstr>
      <vt:lpstr>Arial Unicode MS</vt:lpstr>
      <vt:lpstr>MS PGothic</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南锦瑶</cp:lastModifiedBy>
  <cp:revision>1</cp:revision>
  <dcterms:created xsi:type="dcterms:W3CDTF">2026-08-30T06:58:57Z</dcterms:created>
  <dcterms:modified xsi:type="dcterms:W3CDTF">2026-08-30T06:58:57Z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ies>
</file>
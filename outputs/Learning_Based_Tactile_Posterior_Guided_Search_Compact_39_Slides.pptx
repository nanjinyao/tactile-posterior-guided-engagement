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2c08f8ab5934390" /><Relationship Type="http://schemas.openxmlformats.org/officeDocument/2006/relationships/extended-properties" Target="/docProps/app.xml" Id="Rc943022822824c11" /><Relationship Type="http://schemas.openxmlformats.org/officeDocument/2006/relationships/officeDocument" Target="/ppt/presentation.xml" Id="R51295586fc664f59" /></Relationships>
</file>

<file path=ppt/presentation.xml><?xml version="1.0" encoding="utf-8"?>
<p:presentation xmlns:p="http://schemas.openxmlformats.org/presentationml/2006/main">
  <p:sldMasterIdLst>
    <p:sldMasterId xmlns:r="http://schemas.openxmlformats.org/officeDocument/2006/relationships" id="2147483648" r:id="R3092b165e6f347bd"/>
  </p:sldMasterIdLst>
  <p:notesMasterIdLst>
    <p:notesMasterId xmlns:r="http://schemas.openxmlformats.org/officeDocument/2006/relationships" r:id="R32115fb4c7e04d32"/>
  </p:notesMasterIdLst>
  <p:sldIdLst>
    <p:sldId xmlns:r="http://schemas.openxmlformats.org/officeDocument/2006/relationships" id="256" r:id="R133aaeed98da44b5"/>
    <p:sldId xmlns:r="http://schemas.openxmlformats.org/officeDocument/2006/relationships" id="257" r:id="Rd636c09721c044f1"/>
    <p:sldId xmlns:r="http://schemas.openxmlformats.org/officeDocument/2006/relationships" id="258" r:id="R027327f133b845a4"/>
    <p:sldId xmlns:r="http://schemas.openxmlformats.org/officeDocument/2006/relationships" id="259" r:id="Recc613300f8a427f"/>
    <p:sldId xmlns:r="http://schemas.openxmlformats.org/officeDocument/2006/relationships" id="260" r:id="R13b7dfa35d034181"/>
    <p:sldId xmlns:r="http://schemas.openxmlformats.org/officeDocument/2006/relationships" id="261" r:id="Ra53d89bb7a954337"/>
    <p:sldId xmlns:r="http://schemas.openxmlformats.org/officeDocument/2006/relationships" id="262" r:id="R4c3977396789421a"/>
    <p:sldId xmlns:r="http://schemas.openxmlformats.org/officeDocument/2006/relationships" id="263" r:id="R911bfaaaad974469"/>
    <p:sldId xmlns:r="http://schemas.openxmlformats.org/officeDocument/2006/relationships" id="264" r:id="R3adff94e35eb48b3"/>
    <p:sldId xmlns:r="http://schemas.openxmlformats.org/officeDocument/2006/relationships" id="265" r:id="Rd405694388544c42"/>
    <p:sldId xmlns:r="http://schemas.openxmlformats.org/officeDocument/2006/relationships" id="266" r:id="R1354596cb7024748"/>
    <p:sldId xmlns:r="http://schemas.openxmlformats.org/officeDocument/2006/relationships" id="267" r:id="Re85ec0dd970c41bf"/>
    <p:sldId xmlns:r="http://schemas.openxmlformats.org/officeDocument/2006/relationships" id="268" r:id="R7d3792f6e0d34b56"/>
    <p:sldId xmlns:r="http://schemas.openxmlformats.org/officeDocument/2006/relationships" id="269" r:id="R736f99e7a7a6487b"/>
    <p:sldId xmlns:r="http://schemas.openxmlformats.org/officeDocument/2006/relationships" id="270" r:id="R0b0de537f2b9478b"/>
    <p:sldId xmlns:r="http://schemas.openxmlformats.org/officeDocument/2006/relationships" id="271" r:id="Rf09832e08c614ad5"/>
    <p:sldId xmlns:r="http://schemas.openxmlformats.org/officeDocument/2006/relationships" id="272" r:id="R717e4fbefa9344dd"/>
    <p:sldId xmlns:r="http://schemas.openxmlformats.org/officeDocument/2006/relationships" id="273" r:id="R184e982127744df4"/>
    <p:sldId xmlns:r="http://schemas.openxmlformats.org/officeDocument/2006/relationships" id="274" r:id="R3c0de5ff2a5c4570"/>
    <p:sldId xmlns:r="http://schemas.openxmlformats.org/officeDocument/2006/relationships" id="275" r:id="Rfa1f361ced1c45fd"/>
    <p:sldId xmlns:r="http://schemas.openxmlformats.org/officeDocument/2006/relationships" id="276" r:id="R269560f8f18c4c44"/>
    <p:sldId xmlns:r="http://schemas.openxmlformats.org/officeDocument/2006/relationships" id="277" r:id="R5f6af4299a7c4887"/>
    <p:sldId xmlns:r="http://schemas.openxmlformats.org/officeDocument/2006/relationships" id="278" r:id="Rea5194afe3434a9d"/>
    <p:sldId xmlns:r="http://schemas.openxmlformats.org/officeDocument/2006/relationships" id="279" r:id="Rb6b3479505a64402"/>
    <p:sldId xmlns:r="http://schemas.openxmlformats.org/officeDocument/2006/relationships" id="280" r:id="R30fdacefe0264763"/>
    <p:sldId xmlns:r="http://schemas.openxmlformats.org/officeDocument/2006/relationships" id="281" r:id="R5b1c5941386c47db"/>
    <p:sldId xmlns:r="http://schemas.openxmlformats.org/officeDocument/2006/relationships" id="282" r:id="R323c728ebb3147ec"/>
    <p:sldId xmlns:r="http://schemas.openxmlformats.org/officeDocument/2006/relationships" id="283" r:id="Rfbf056953afa4ec4"/>
    <p:sldId xmlns:r="http://schemas.openxmlformats.org/officeDocument/2006/relationships" id="284" r:id="Ra57c897c307a4a4a"/>
    <p:sldId xmlns:r="http://schemas.openxmlformats.org/officeDocument/2006/relationships" id="285" r:id="R30158697d82c4085"/>
    <p:sldId xmlns:r="http://schemas.openxmlformats.org/officeDocument/2006/relationships" id="286" r:id="R5439c7ce104c4357"/>
    <p:sldId xmlns:r="http://schemas.openxmlformats.org/officeDocument/2006/relationships" id="287" r:id="Ra4c6e46810e549ff"/>
    <p:sldId xmlns:r="http://schemas.openxmlformats.org/officeDocument/2006/relationships" id="288" r:id="R81edd70b6ada4466"/>
    <p:sldId xmlns:r="http://schemas.openxmlformats.org/officeDocument/2006/relationships" id="289" r:id="Ra1859fefb1db4446"/>
    <p:sldId xmlns:r="http://schemas.openxmlformats.org/officeDocument/2006/relationships" id="290" r:id="R841faba6ccc5448c"/>
    <p:sldId xmlns:r="http://schemas.openxmlformats.org/officeDocument/2006/relationships" id="291" r:id="Re95bc090fa244419"/>
    <p:sldId xmlns:r="http://schemas.openxmlformats.org/officeDocument/2006/relationships" id="292" r:id="R59ceeac35cca4355"/>
    <p:sldId xmlns:r="http://schemas.openxmlformats.org/officeDocument/2006/relationships" id="293" r:id="R04e29a241a5944d9"/>
    <p:sldId xmlns:r="http://schemas.openxmlformats.org/officeDocument/2006/relationships" id="294" r:id="Rcd2da752a9af4b4b"/>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64fd0665fea4e1f" /><Relationship Type="http://schemas.openxmlformats.org/officeDocument/2006/relationships/slideMaster" Target="/ppt/slideMasters/slideMaster1.xml" Id="R3092b165e6f347bd" /><Relationship Type="http://schemas.openxmlformats.org/officeDocument/2006/relationships/notesMaster" Target="/ppt/notesMasters/notesMaster1.xml" Id="R32115fb4c7e04d32" /><Relationship Type="http://schemas.openxmlformats.org/officeDocument/2006/relationships/presProps" Target="/ppt/presProps.xml" Id="Rfb1d294f578949c1" /><Relationship Type="http://schemas.openxmlformats.org/officeDocument/2006/relationships/tableStyles" Target="/ppt/tableStyles.xml" Id="R6a2b5cb6c38b4a5c" /><Relationship Type="http://schemas.openxmlformats.org/officeDocument/2006/relationships/slide" Target="/ppt/slides/slide1.xml" Id="R133aaeed98da44b5" /><Relationship Type="http://schemas.openxmlformats.org/officeDocument/2006/relationships/slide" Target="/ppt/slides/slide2.xml" Id="Rd636c09721c044f1" /><Relationship Type="http://schemas.openxmlformats.org/officeDocument/2006/relationships/slide" Target="/ppt/slides/slide3.xml" Id="R027327f133b845a4" /><Relationship Type="http://schemas.openxmlformats.org/officeDocument/2006/relationships/slide" Target="/ppt/slides/slide4.xml" Id="Recc613300f8a427f" /><Relationship Type="http://schemas.openxmlformats.org/officeDocument/2006/relationships/slide" Target="/ppt/slides/slide5.xml" Id="R13b7dfa35d034181" /><Relationship Type="http://schemas.openxmlformats.org/officeDocument/2006/relationships/slide" Target="/ppt/slides/slide6.xml" Id="Ra53d89bb7a954337" /><Relationship Type="http://schemas.openxmlformats.org/officeDocument/2006/relationships/slide" Target="/ppt/slides/slide7.xml" Id="R4c3977396789421a" /><Relationship Type="http://schemas.openxmlformats.org/officeDocument/2006/relationships/slide" Target="/ppt/slides/slide8.xml" Id="R911bfaaaad974469" /><Relationship Type="http://schemas.openxmlformats.org/officeDocument/2006/relationships/slide" Target="/ppt/slides/slide9.xml" Id="R3adff94e35eb48b3" /><Relationship Type="http://schemas.openxmlformats.org/officeDocument/2006/relationships/slide" Target="/ppt/slides/slide10.xml" Id="Rd405694388544c42" /><Relationship Type="http://schemas.openxmlformats.org/officeDocument/2006/relationships/slide" Target="/ppt/slides/slide11.xml" Id="R1354596cb7024748" /><Relationship Type="http://schemas.openxmlformats.org/officeDocument/2006/relationships/slide" Target="/ppt/slides/slide12.xml" Id="Re85ec0dd970c41bf" /><Relationship Type="http://schemas.openxmlformats.org/officeDocument/2006/relationships/slide" Target="/ppt/slides/slide13.xml" Id="R7d3792f6e0d34b56" /><Relationship Type="http://schemas.openxmlformats.org/officeDocument/2006/relationships/slide" Target="/ppt/slides/slide14.xml" Id="R736f99e7a7a6487b" /><Relationship Type="http://schemas.openxmlformats.org/officeDocument/2006/relationships/slide" Target="/ppt/slides/slide15.xml" Id="R0b0de537f2b9478b" /><Relationship Type="http://schemas.openxmlformats.org/officeDocument/2006/relationships/slide" Target="/ppt/slides/slide16.xml" Id="Rf09832e08c614ad5" /><Relationship Type="http://schemas.openxmlformats.org/officeDocument/2006/relationships/slide" Target="/ppt/slides/slide17.xml" Id="R717e4fbefa9344dd" /><Relationship Type="http://schemas.openxmlformats.org/officeDocument/2006/relationships/slide" Target="/ppt/slides/slide18.xml" Id="R184e982127744df4" /><Relationship Type="http://schemas.openxmlformats.org/officeDocument/2006/relationships/slide" Target="/ppt/slides/slide19.xml" Id="R3c0de5ff2a5c4570" /><Relationship Type="http://schemas.openxmlformats.org/officeDocument/2006/relationships/slide" Target="/ppt/slides/slide20.xml" Id="Rfa1f361ced1c45fd" /><Relationship Type="http://schemas.openxmlformats.org/officeDocument/2006/relationships/slide" Target="/ppt/slides/slide21.xml" Id="R269560f8f18c4c44" /><Relationship Type="http://schemas.openxmlformats.org/officeDocument/2006/relationships/slide" Target="/ppt/slides/slide22.xml" Id="R5f6af4299a7c4887" /><Relationship Type="http://schemas.openxmlformats.org/officeDocument/2006/relationships/slide" Target="/ppt/slides/slide23.xml" Id="Rea5194afe3434a9d" /><Relationship Type="http://schemas.openxmlformats.org/officeDocument/2006/relationships/slide" Target="/ppt/slides/slide24.xml" Id="Rb6b3479505a64402" /><Relationship Type="http://schemas.openxmlformats.org/officeDocument/2006/relationships/slide" Target="/ppt/slides/slide25.xml" Id="R30fdacefe0264763" /><Relationship Type="http://schemas.openxmlformats.org/officeDocument/2006/relationships/slide" Target="/ppt/slides/slide26.xml" Id="R5b1c5941386c47db" /><Relationship Type="http://schemas.openxmlformats.org/officeDocument/2006/relationships/slide" Target="/ppt/slides/slide27.xml" Id="R323c728ebb3147ec" /><Relationship Type="http://schemas.openxmlformats.org/officeDocument/2006/relationships/slide" Target="/ppt/slides/slide28.xml" Id="Rfbf056953afa4ec4" /><Relationship Type="http://schemas.openxmlformats.org/officeDocument/2006/relationships/slide" Target="/ppt/slides/slide29.xml" Id="Ra57c897c307a4a4a" /><Relationship Type="http://schemas.openxmlformats.org/officeDocument/2006/relationships/slide" Target="/ppt/slides/slide30.xml" Id="R30158697d82c4085" /><Relationship Type="http://schemas.openxmlformats.org/officeDocument/2006/relationships/slide" Target="/ppt/slides/slide31.xml" Id="R5439c7ce104c4357" /><Relationship Type="http://schemas.openxmlformats.org/officeDocument/2006/relationships/slide" Target="/ppt/slides/slide32.xml" Id="Ra4c6e46810e549ff" /><Relationship Type="http://schemas.openxmlformats.org/officeDocument/2006/relationships/slide" Target="/ppt/slides/slide33.xml" Id="R81edd70b6ada4466" /><Relationship Type="http://schemas.openxmlformats.org/officeDocument/2006/relationships/slide" Target="/ppt/slides/slide34.xml" Id="Ra1859fefb1db4446" /><Relationship Type="http://schemas.openxmlformats.org/officeDocument/2006/relationships/slide" Target="/ppt/slides/slide35.xml" Id="R841faba6ccc5448c" /><Relationship Type="http://schemas.openxmlformats.org/officeDocument/2006/relationships/slide" Target="/ppt/slides/slide36.xml" Id="Re95bc090fa244419" /><Relationship Type="http://schemas.openxmlformats.org/officeDocument/2006/relationships/slide" Target="/ppt/slides/slide37.xml" Id="R59ceeac35cca4355" /><Relationship Type="http://schemas.openxmlformats.org/officeDocument/2006/relationships/slide" Target="/ppt/slides/slide38.xml" Id="R04e29a241a5944d9" /><Relationship Type="http://schemas.openxmlformats.org/officeDocument/2006/relationships/slide" Target="/ppt/slides/slide39.xml" Id="Rcd2da752a9af4b4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b1debd1490b4d0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efbf8ddffc7438b" /><Relationship Type="http://schemas.openxmlformats.org/officeDocument/2006/relationships/notesMaster" Target="/ppt/notesMasters/notesMaster1.xml" Id="R112ca94908eb4124" /></Relationships>
</file>

<file path=ppt/notesSlides/_rels/notesSlide2.xml.rels>&#65279;<?xml version="1.0" encoding="utf-8"?><Relationships xmlns="http://schemas.openxmlformats.org/package/2006/relationships"><Relationship Type="http://schemas.openxmlformats.org/officeDocument/2006/relationships/slide" Target="/ppt/slides/slide2.xml" Id="R5ea43d18cbd845ca" /><Relationship Type="http://schemas.openxmlformats.org/officeDocument/2006/relationships/notesMaster" Target="/ppt/notesMasters/notesMaster1.xml" Id="R4ec8851bc5954467" /></Relationships>
</file>

<file path=ppt/notesSlides/_rels/notesSlide3.xml.rels>&#65279;<?xml version="1.0" encoding="utf-8"?><Relationships xmlns="http://schemas.openxmlformats.org/package/2006/relationships"><Relationship Type="http://schemas.openxmlformats.org/officeDocument/2006/relationships/slide" Target="/ppt/slides/slide3.xml" Id="R9e69fc21a799450a" /><Relationship Type="http://schemas.openxmlformats.org/officeDocument/2006/relationships/notesMaster" Target="/ppt/notesMasters/notesMaster1.xml" Id="Rd933176cb0f24595" /></Relationships>
</file>

<file path=ppt/notesSlides/_rels/notesSlide4.xml.rels>&#65279;<?xml version="1.0" encoding="utf-8"?><Relationships xmlns="http://schemas.openxmlformats.org/package/2006/relationships"><Relationship Type="http://schemas.openxmlformats.org/officeDocument/2006/relationships/slide" Target="/ppt/slides/slide4.xml" Id="Redc6c8006801495d" /><Relationship Type="http://schemas.openxmlformats.org/officeDocument/2006/relationships/notesMaster" Target="/ppt/notesMasters/notesMaster1.xml" Id="R6ef7e42c48c04ddc" /></Relationships>
</file>

<file path=ppt/notesSlides/_rels/notesSlide5.xml.rels>&#65279;<?xml version="1.0" encoding="utf-8"?><Relationships xmlns="http://schemas.openxmlformats.org/package/2006/relationships"><Relationship Type="http://schemas.openxmlformats.org/officeDocument/2006/relationships/slide" Target="/ppt/slides/slide5.xml" Id="R5248d251a305414d" /><Relationship Type="http://schemas.openxmlformats.org/officeDocument/2006/relationships/notesMaster" Target="/ppt/notesMasters/notesMaster1.xml" Id="Re6538876dca74897" /></Relationships>
</file>

<file path=ppt/notesSlides/_rels/notesSlide6.xml.rels>&#65279;<?xml version="1.0" encoding="utf-8"?><Relationships xmlns="http://schemas.openxmlformats.org/package/2006/relationships"><Relationship Type="http://schemas.openxmlformats.org/officeDocument/2006/relationships/slide" Target="/ppt/slides/slide6.xml" Id="Ra44794ce984b41a2" /><Relationship Type="http://schemas.openxmlformats.org/officeDocument/2006/relationships/notesMaster" Target="/ppt/notesMasters/notesMaster1.xml" Id="R998844113d184526" /></Relationships>
</file>

<file path=ppt/notesSlides/_rels/notesSlide7.xml.rels>&#65279;<?xml version="1.0" encoding="utf-8"?><Relationships xmlns="http://schemas.openxmlformats.org/package/2006/relationships"><Relationship Type="http://schemas.openxmlformats.org/officeDocument/2006/relationships/slide" Target="/ppt/slides/slide7.xml" Id="R916416d635344c1b" /><Relationship Type="http://schemas.openxmlformats.org/officeDocument/2006/relationships/notesMaster" Target="/ppt/notesMasters/notesMaster1.xml" Id="Rab7ea53058e54115" /></Relationships>
</file>

<file path=ppt/notesSlides/_rels/notesSlide8.xml.rels>&#65279;<?xml version="1.0" encoding="utf-8"?><Relationships xmlns="http://schemas.openxmlformats.org/package/2006/relationships"><Relationship Type="http://schemas.openxmlformats.org/officeDocument/2006/relationships/slide" Target="/ppt/slides/slide8.xml" Id="R60277797b6144161" /><Relationship Type="http://schemas.openxmlformats.org/officeDocument/2006/relationships/notesMaster" Target="/ppt/notesMasters/notesMaster1.xml" Id="Rc166c71288444b9d" /></Relationships>
</file>

<file path=ppt/notesSlides/_rels/notesSlide9.xml.rels>&#65279;<?xml version="1.0" encoding="utf-8"?><Relationships xmlns="http://schemas.openxmlformats.org/package/2006/relationships"><Relationship Type="http://schemas.openxmlformats.org/officeDocument/2006/relationships/slide" Target="/ppt/slides/slide9.xml" Id="R762c80c9ddd64b29" /><Relationship Type="http://schemas.openxmlformats.org/officeDocument/2006/relationships/notesMaster" Target="/ppt/notesMasters/notesMaster1.xml" Id="Rb96d4066a0434f4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3447efdf1a74586" /><Relationship Type="http://schemas.openxmlformats.org/officeDocument/2006/relationships/notesMaster" Target="/ppt/notesMasters/notesMaster1.xml" Id="R649921920f9f417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67b6f09692948d2" /><Relationship Type="http://schemas.openxmlformats.org/officeDocument/2006/relationships/notesMaster" Target="/ppt/notesMasters/notesMaster1.xml" Id="R7443ced74c524cf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7c6440bce474cc3" /><Relationship Type="http://schemas.openxmlformats.org/officeDocument/2006/relationships/notesMaster" Target="/ppt/notesMasters/notesMaster1.xml" Id="R93541a98aede4a2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b317b94cb204855" /><Relationship Type="http://schemas.openxmlformats.org/officeDocument/2006/relationships/notesMaster" Target="/ppt/notesMasters/notesMaster1.xml" Id="Rd040c6d917624f9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a179683c4b44e03" /><Relationship Type="http://schemas.openxmlformats.org/officeDocument/2006/relationships/notesMaster" Target="/ppt/notesMasters/notesMaster1.xml" Id="Rb359cff8fe0c4ce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0cf460ec40e45cc" /><Relationship Type="http://schemas.openxmlformats.org/officeDocument/2006/relationships/notesMaster" Target="/ppt/notesMasters/notesMaster1.xml" Id="R073346b09b83496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12efa28f21f4fee" /><Relationship Type="http://schemas.openxmlformats.org/officeDocument/2006/relationships/notesMaster" Target="/ppt/notesMasters/notesMaster1.xml" Id="R8b0ced36cb5f4b7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e46fed0d3754e52" /><Relationship Type="http://schemas.openxmlformats.org/officeDocument/2006/relationships/notesMaster" Target="/ppt/notesMasters/notesMaster1.xml" Id="Rc4dd68ff02a642b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8e9195cfeb045f9" /><Relationship Type="http://schemas.openxmlformats.org/officeDocument/2006/relationships/notesMaster" Target="/ppt/notesMasters/notesMaster1.xml" Id="Rbc0cf079a3f548d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b654cb77656047b6" /><Relationship Type="http://schemas.openxmlformats.org/officeDocument/2006/relationships/notesMaster" Target="/ppt/notesMasters/notesMaster1.xml" Id="Rd5bcba5dcfdf4ee3"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d3afec69d0d4d39" /><Relationship Type="http://schemas.openxmlformats.org/officeDocument/2006/relationships/notesMaster" Target="/ppt/notesMasters/notesMaster1.xml" Id="R72689851d39b4c19"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e4f61df33623443c" /><Relationship Type="http://schemas.openxmlformats.org/officeDocument/2006/relationships/notesMaster" Target="/ppt/notesMasters/notesMaster1.xml" Id="Rb0118c4571a74bbb"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5f42055a45d04f2f" /><Relationship Type="http://schemas.openxmlformats.org/officeDocument/2006/relationships/notesMaster" Target="/ppt/notesMasters/notesMaster1.xml" Id="R9ba430c544624bc6"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5012d579a93143e5" /><Relationship Type="http://schemas.openxmlformats.org/officeDocument/2006/relationships/notesMaster" Target="/ppt/notesMasters/notesMaster1.xml" Id="R2480841f358149a1"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82522477eb3c4ab1" /><Relationship Type="http://schemas.openxmlformats.org/officeDocument/2006/relationships/notesMaster" Target="/ppt/notesMasters/notesMaster1.xml" Id="R6a931010e3c94eb9"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bd80f102fce94534" /><Relationship Type="http://schemas.openxmlformats.org/officeDocument/2006/relationships/notesMaster" Target="/ppt/notesMasters/notesMaster1.xml" Id="Rafa28a6863594b70"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86842b0c72154fda" /><Relationship Type="http://schemas.openxmlformats.org/officeDocument/2006/relationships/notesMaster" Target="/ppt/notesMasters/notesMaster1.xml" Id="R2266cd886ecd4f6f"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68b5a2c168804507" /><Relationship Type="http://schemas.openxmlformats.org/officeDocument/2006/relationships/notesMaster" Target="/ppt/notesMasters/notesMaster1.xml" Id="Rba4d48caf2c34a33"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5e29b4a73aa74f8a" /><Relationship Type="http://schemas.openxmlformats.org/officeDocument/2006/relationships/notesMaster" Target="/ppt/notesMasters/notesMaster1.xml" Id="R40818cd3583a4b37"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7b0143e76aad43b1" /><Relationship Type="http://schemas.openxmlformats.org/officeDocument/2006/relationships/notesMaster" Target="/ppt/notesMasters/notesMaster1.xml" Id="Rbc9d7f1fc86545f1"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f3834db843634ee5" /><Relationship Type="http://schemas.openxmlformats.org/officeDocument/2006/relationships/notesMaster" Target="/ppt/notesMasters/notesMaster1.xml" Id="Rbd22573fd05945dc"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819334455bd44c43" /><Relationship Type="http://schemas.openxmlformats.org/officeDocument/2006/relationships/notesMaster" Target="/ppt/notesMasters/notesMaster1.xml" Id="Rac1a2cceee3143d1"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58e6d665415f4e59" /><Relationship Type="http://schemas.openxmlformats.org/officeDocument/2006/relationships/notesMaster" Target="/ppt/notesMasters/notesMaster1.xml" Id="R8d90fddaedc24b2a"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5249a986989f45e6" /><Relationship Type="http://schemas.openxmlformats.org/officeDocument/2006/relationships/notesMaster" Target="/ppt/notesMasters/notesMaster1.xml" Id="R4c67b207daa742f0"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b06f6ef063c541fa" /><Relationship Type="http://schemas.openxmlformats.org/officeDocument/2006/relationships/notesMaster" Target="/ppt/notesMasters/notesMaster1.xml" Id="R2b4c93db6c7242e8"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59bb6b2c03ab4cf9" /><Relationship Type="http://schemas.openxmlformats.org/officeDocument/2006/relationships/notesMaster" Target="/ppt/notesMasters/notesMaster1.xml" Id="R59f39aea3a8e4b55"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61828eaba0ee4022" /><Relationship Type="http://schemas.openxmlformats.org/officeDocument/2006/relationships/notesMaster" Target="/ppt/notesMasters/notesMaster1.xml" Id="R3ba3f314fd424c0f"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164a8b9a7ef446dc" /><Relationship Type="http://schemas.openxmlformats.org/officeDocument/2006/relationships/notesMaster" Target="/ppt/notesMasters/notesMaster1.xml" Id="R5142a2a256954d8e"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49554c11781b4d9e" /><Relationship Type="http://schemas.openxmlformats.org/officeDocument/2006/relationships/notesMaster" Target="/ppt/notesMasters/notesMaster1.xml" Id="Re73fc6cf51e14a3d"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29fef79308e34b99" /><Relationship Type="http://schemas.openxmlformats.org/officeDocument/2006/relationships/notesMaster" Target="/ppt/notesMasters/notesMaster1.xml" Id="Rf7424b30307049c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Good morning. This work studies how a robot can find and enter a hex socket after visual alignment has brought the driver close to the screw head. We use one low-force tactile scan to guide the remaining search. The learned model provides partial directional evidence, not a final answer. It can shorten the route, but capture, recovery, force limits and the terminal engagement check remain in the physical control loop. I will begin with the wider unscrewing task that motivates this problem.</a:t>
            </a:r>
          </a:p>
          <a:p xmlns:a="http://schemas.openxmlformats.org/drawingml/2006/main">
            <a:r>
              <a:t/>
            </a:r>
          </a:p>
          <a:p xmlns:a="http://schemas.openxmlformats.org/drawingml/2006/main">
            <a:r>
              <a:t>Source: Paper title, Abstract, and Introduction, p.1; control architecture, Fig. 2, p.4.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wider task is robotic hex-socket unscrewing, which appears in automated disassembly and maintenance. A robot must locate the fastener, bring the correct driver to the screw head, enter the recessed socket, establish torque coupling, turn until the thread is released, and finally extract the screw. Each stage depends on the previous one. If the driver never enters the socket, even a good torque controller cannot act. This paper focuses on one early stage within that larger physical sequence.</a:t>
            </a:r>
          </a:p>
          <a:p xmlns:a="http://schemas.openxmlformats.org/drawingml/2006/main">
            <a:r>
              <a:t/>
            </a:r>
          </a:p>
          <a:p xmlns:a="http://schemas.openxmlformats.org/drawingml/2006/main">
            <a:r>
              <a:t>Source: Introduction and automated-unscrewing context, p.1; reference [1]; scope statement, p.1.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stage studied here is geometric engagement. The driver has reached the screw head, but it still has to find the recess, enter it and settle at the required depth. Only after that can the robot test first-turn coupling and apply useful torque. Our experiments stop at a verified geometric dwell. They do not show that the screw turns, that the thread releases or that extraction succeeds. Keeping this boundary clear lets us examine the search problem without mixing in later torque-related failures.</a:t>
            </a:r>
          </a:p>
          <a:p xmlns:a="http://schemas.openxmlformats.org/drawingml/2006/main">
            <a:r>
              <a:t/>
            </a:r>
          </a:p>
          <a:p xmlns:a="http://schemas.openxmlformats.org/drawingml/2006/main">
            <a:r>
              <a:t>Source: Introduction and explicit task boundary, p.1; verified-engagement definition, Sec. II-A, p.2; Discussion, p.13.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Vision and CAD can bring the driver near the socket, but the remaining error can still be large compared with the capture region of the chamfer. At stable top contact, the tool position is known while the true socket center is not. In the M8 study, we represent this uncertainty with a truncated planar prior using a two-millimetre standard deviation and a 4.895-millimetre radius. These are the paper's M8 settings, not general camera specifications. A physical search is still needed after visual alignment.</a:t>
            </a:r>
          </a:p>
          <a:p xmlns:a="http://schemas.openxmlformats.org/drawingml/2006/main">
            <a:r>
              <a:t/>
            </a:r>
          </a:p>
          <a:p xmlns:a="http://schemas.openxmlformats.org/drawingml/2006/main">
            <a:r>
              <a:t>Source: Introduction, pp.1-2; task variables, Sec. II-A, p.2; M8 prior, Eq. (13), p.3.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Compliance is the usual first safeguard in part mating. It lets the contact geometry correct a small offset and reduces the chance of jamming or excessive load. But if the driver is outside the capture region, compliance does not tell the robot where to touch next. A search route is still required. In this work, learning does not replace admittance or remote-center compliance. It only proposes where to spend early search motion, while the same compliant controller executes the contact and checks the result.</a:t>
            </a:r>
          </a:p>
          <a:p xmlns:a="http://schemas.openxmlformats.org/drawingml/2006/main">
            <a:r>
              <a:t/>
            </a:r>
          </a:p>
          <a:p xmlns:a="http://schemas.openxmlformats.org/drawingml/2006/main">
            <a:r>
              <a:t>Source: Introduction and related work, p.1; shared admittance and RCC controller, Sec. III-D, Eqs. (26)-(30), pp.5-6.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global outward spiral is a reasonable baseline because it covers the uncertain region without trusting a learned estimate. The cost is repeated work. It expands from the original contact even when the first tactile observation has made some directions much less likely than others. The robot therefore spends path length and time checking places that touch has already weakened. Our aim is not to remove the spiral's physical safeguards. It is to use tactile evidence to begin the remaining search in a more useful part of the prior.</a:t>
            </a:r>
          </a:p>
          <a:p xmlns:a="http://schemas.openxmlformats.org/drawingml/2006/main">
            <a:r>
              <a:t/>
            </a:r>
          </a:p>
          <a:p xmlns:a="http://schemas.openxmlformats.org/drawingml/2006/main">
            <a:r>
              <a:t>Source: Abstract and Introduction, p.1; Outward baseline definition, Sec. IV-A, p.6.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conical scan often gives a useful bearing toward the socket, but it is less certain about the radial distance. This difference matters. The same angular error may still cross the capture disk when the center is nearby, yet miss it completely when the center is farther away. The scan does not directly observe that distance. So the best angular bin should not be treated as a full socket pose, and the model should not turn one direction estimate into an exact center point.</a:t>
            </a:r>
          </a:p>
          <a:p xmlns:a="http://schemas.openxmlformats.org/drawingml/2006/main">
            <a:r>
              <a:t/>
            </a:r>
          </a:p>
          <a:p xmlns:a="http://schemas.openxmlformats.org/drawingml/2006/main">
            <a:r>
              <a:t>Source: Introduction direction-distance gap, p.1; Direction-distance ambiguity, Sec. II-B, Eqs. (6)-(7), p.3.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leaves a practical decision. If we ignore the cue, we pay for a full search. If we trust it as a complete pose estimate, we may move too far or pass beside the socket. The paper takes a middle position. Directional evidence is combined with the existing planar prior, and only a supported part of that belief becomes direct travel. The rest remains inside a finite residual search. The main question is therefore how much motion this incomplete tactile observation should be allowed to command.</a:t>
            </a:r>
          </a:p>
          <a:p xmlns:a="http://schemas.openxmlformats.org/drawingml/2006/main">
            <a:r>
              <a:t/>
            </a:r>
          </a:p>
          <a:p xmlns:a="http://schemas.openxmlformats.org/drawingml/2006/main">
            <a:r>
              <a:t>Source: Introduction, pp.1 and 3; belief update and shortcut rule, Sec. III-B and III-C, Eqs. (13)-(19), pp.3-5.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answer is to keep learning on the routing side of the system. One low-force scan produces a circular direction posterior and rough contact support. This evidence reweights the CAD prior, supports a short capped move, and leaves unresolved uncertainty to local search. Learning stops there. Measured contact decides capture, the compliant controller manages insertion and recovery, guards enforce wrench and tilt limits, and a separate depth dwell decides the terminal event. A prediction can change where the robot searches, but it cannot certify engagement.</a:t>
            </a:r>
          </a:p>
          <a:p xmlns:a="http://schemas.openxmlformats.org/drawingml/2006/main">
            <a:r>
              <a:t/>
            </a:r>
          </a:p>
          <a:p xmlns:a="http://schemas.openxmlformats.org/drawingml/2006/main">
            <a:r>
              <a:t>Source: Abstract, p.1; framework and Fig. 2, pp.3-4; physical verification, Sec. III-D, pp.5-6.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contribution is the observation: one phase-indexed conical touch gives a circular direction posterior and contact support while keeping distance uncertainty visible. The second is the action rule: this posterior becomes a bounded shortcut followed by finite residual search through one compliant controller. The third is the evaluation: paired M8 studies examine representation, task effort and recovery, followed by cross-size simulation and selected hardware runs. Those hardware runs show mechanism and feasibility, but they do not provide a randomized policy success rate.</a:t>
            </a:r>
          </a:p>
          <a:p xmlns:a="http://schemas.openxmlformats.org/drawingml/2006/main">
            <a:r>
              <a:t/>
            </a:r>
          </a:p>
          <a:p xmlns:a="http://schemas.openxmlformats.org/drawingml/2006/main">
            <a:r>
              <a:t>Source: Introduction contribution list and scope statement, p.1; Experiments, Sec. IV-A to IV-F, pp.6-12.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trial begins when the driver reaches stable top contact on the screw head. The paper defines the robot-base frame, fixture frame and force-sensing tool frame, with planar search written in the fixture frame. The known starting position is x-zero, and the socket center C is unknown. From there, the robot probes, searches, detects a capture cue and attempts insertion. The endpoint is a verified geometric dwell at the required depth. Upstream visual approach and downstream screw turning are not part of this trial.</a:t>
            </a:r>
          </a:p>
          <a:p xmlns:a="http://schemas.openxmlformats.org/drawingml/2006/main">
            <a:r>
              <a:t/>
            </a:r>
          </a:p>
          <a:p xmlns:a="http://schemas.openxmlformats.org/drawingml/2006/main">
            <a:r>
              <a:t>Source: Experimental platform and frames, Fig. 1, pp.1-2; Task and observations, Sec. II-A, p.2.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During a trial, the controller reads robot pose, the six-axis wrench, probe phase and the registered CAD prior. It also records the four channels used by the tactile model. The true socket center and simulator contact labels are held back for offline grading. So center markers and capture disks shown in the figures are explanatory; the policy never sees them. The height channel is also not used as a learned insertion detector. Physical capture and terminal engagement are checked separately from the model output.</a:t>
            </a:r>
          </a:p>
          <a:p xmlns:a="http://schemas.openxmlformats.org/drawingml/2006/main">
            <a:r>
              <a:t/>
            </a:r>
          </a:p>
          <a:p xmlns:a="http://schemas.openxmlformats.org/drawingml/2006/main">
            <a:r>
              <a:t>Source: Online observations and withheld variables, Sec. II-A, Eqs. (1)-(3), p.2; Fig. 4 caption, p.5.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trial is not successful at the first apparent drop. A measured capture cue must occur first. The driver must then make enough axial progress and remain in bottom mode for the required dwell, with the safety condition true throughout. This terminal event must happen before the 130-second limit. Only then is the trial counted as verified engagement. Completion time, planar path and the contact-work proxy are interpreted under this definition. Force-limit, protected-stop and exhausted-budget exits remain failures, even if part of the insertion looked promising.</a:t>
            </a:r>
          </a:p>
          <a:p xmlns:a="http://schemas.openxmlformats.org/drawingml/2006/main">
            <a:r>
              <a:t/>
            </a:r>
          </a:p>
          <a:p xmlns:a="http://schemas.openxmlformats.org/drawingml/2006/main">
            <a:r>
              <a:t>Source: Verified-engagement predicate and measures, Sec. II-A, Eqs. (4)-(5), p.2; experiment measures, Sec. IV-A, p.6.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architecture has three clear parts. First, learned tactile inference turns the conical scan into a direction posterior and contact support. Second, the prior and planning path build a center belief, choose a bounded shortcut and plan the remaining search. Third, the physical loops execute contact, recover from rejected attempts, enforce limits and check the terminal dwell. The dashed line in the framework is the authority boundary. Learning proposes a route above it, while measured physics owns capture and completion below it.</a:t>
            </a:r>
          </a:p>
          <a:p xmlns:a="http://schemas.openxmlformats.org/drawingml/2006/main">
            <a:r>
              <a:t/>
            </a:r>
          </a:p>
          <a:p xmlns:a="http://schemas.openxmlformats.org/drawingml/2006/main">
            <a:r>
              <a:t>Source: Framework overview, Sec. III, p.3; control architecture, Fig. 2 and caption, p.4.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After stable top contact, the tool performs a low-force conical motion with a 15-degree angle. Because the motion is prescribed, changes in force, bending torque and height can be indexed by scan phase. That phase is not the direction from the tool to the socket center; it only says where the tool is within the cone. This is an active sensing action, not an insertion attempt. Wrench and tilt guards remain active while the fingerprint is collected, and route planning starts after the observation is formed.</a:t>
            </a:r>
          </a:p>
          <a:p xmlns:a="http://schemas.openxmlformats.org/drawingml/2006/main">
            <a:r>
              <a:t/>
            </a:r>
          </a:p>
          <a:p xmlns:a="http://schemas.openxmlformats.org/drawingml/2006/main">
            <a:r>
              <a:t>Source: Conical observation, Sec. II-A, Eq. (2), p.2; closed-loop tactile-guided search, Fig. 3 and caption, p.4.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model receives axial force F-z, bending torques tau-x and tau-y, and tip height z-tip. Samples are ordered around the circular probe phase and mapped to 360 phase locations with periodic linear interpolation, giving a four-by-360 input. This standardizes the input shape; it does not smooth the raw signal. In the highlighted hardware run, the scan contains 240 raw timestamped samples. Those remain the measured record, while interpolation produces the fixed model input. The height channel adds context but is not the terminal detector.</a:t>
            </a:r>
          </a:p>
          <a:p xmlns:a="http://schemas.openxmlformats.org/drawingml/2006/main">
            <a:r>
              <a:t/>
            </a:r>
          </a:p>
          <a:p xmlns:a="http://schemas.openxmlformats.org/drawingml/2006/main">
            <a:r>
              <a:t>Source: Observation tensor and interpolation, Sec. II-A, Eqs. (2)-(3), p.2; 240-sample hardware trace, Sec. IV-F and Fig. 8, pp.8-10.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Three separately trained models map the four-by-360 signal to 48 angular bins. Each model is temperature calibrated, and their probability distributions are averaged. From this circular posterior, we compute a mean direction and concentration. A separate head gives rough contact support, and differences between the members show ensemble disagreement. The output is still only a description of the tactile observation. It is not a two-dimensional center estimate, and neither the highest bin nor the contact-support score counts as physical capture or task success.</a:t>
            </a:r>
          </a:p>
          <a:p xmlns:a="http://schemas.openxmlformats.org/drawingml/2006/main">
            <a:r>
              <a:t/>
            </a:r>
          </a:p>
          <a:p xmlns:a="http://schemas.openxmlformats.org/drawingml/2006/main">
            <a:r>
              <a:t>Source: Circular tactile posterior, Sec. III-A, Eqs. (8)-(12), p.3; Fig. 3, p.4.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CAD prior is represented by 4,096 possible socket-center particles. For each particle, the tactile posterior supplies the probability of its direction, and contact support supplies a rough radial likelihood. These terms update the particle weights. A small uniform component prevents one uncertain scan from erasing the geometric prior. The result is often an extended region along a likely bearing, not a single point. Touch narrows where the center may be, but the remaining distance uncertainty stays visible and is passed to the planner.</a:t>
            </a:r>
          </a:p>
          <a:p xmlns:a="http://schemas.openxmlformats.org/drawingml/2006/main">
            <a:r>
              <a:t/>
            </a:r>
          </a:p>
          <a:p xmlns:a="http://schemas.openxmlformats.org/drawingml/2006/main">
            <a:r>
              <a:t>Source: Center-belief update and weighted quantiles, Sec. III-B, Eqs. (13)-(15), p.3.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 choose the move, the weighted particles are projected onto the estimated direction. A quality score combines posterior concentration, disagreement between ensemble members and the amount of belief behind the current contact. This changes the supported projection quantile and the allowed fraction of radial support. The shortcut is the smallest of the projection budget, radial budget and an optional command cap, with a capture-radius margin. If reverse mass reaches 0.20, the shortcut is zero. The endpoint is a conservative search command, not a predicted center or guaranteed capture point.</a:t>
            </a:r>
          </a:p>
          <a:p xmlns:a="http://schemas.openxmlformats.org/drawingml/2006/main">
            <a:r>
              <a:t/>
            </a:r>
          </a:p>
          <a:p xmlns:a="http://schemas.openxmlformats.org/drawingml/2006/main">
            <a:r>
              <a:t>Source: Quality-adaptive shortcut and residual radius, Sec. III-C, Eqs. (16)-(19), pp.3-5; Fig. 4, p.5.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the controller turns observation quality into a motion budget. A clear, concentrated posterior with good ensemble agreement can support a longer shortcut. If the posterior is broad or the models disagree, the shortcut becomes smaller. Mass pointing behind the current contact reduces it further. Once that reverse mass reaches 0.20, the shortcut is set to zero and the system falls back to residual search. These quantities change how far the robot may move. They do not change the capture rule or the terminal decision.</a:t>
            </a:r>
          </a:p>
          <a:p xmlns:a="http://schemas.openxmlformats.org/drawingml/2006/main">
            <a:r>
              <a:t/>
            </a:r>
          </a:p>
          <a:p xmlns:a="http://schemas.openxmlformats.org/drawingml/2006/main">
            <a:r>
              <a:t>Source: Paper Sec. III-C, Eqs. (16)-(19), Fig. 4, pp. 3-5.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After a shortcut is executed, the robot checks what actually happened. If the endpoint is valid, guarded contact is maintained, and capture is rejected, the travelled segment becomes negative evidence. Center particles that should probably have produced capture along that segment are downweighted. The remaining belief is then rebuilt around the measured endpoint, not the ideal command. No such update is made when the endpoint is invalid or unobserved. This lets the system learn from a physical miss without claiming that it knows the true center.</a:t>
            </a:r>
          </a:p>
          <a:p xmlns:a="http://schemas.openxmlformats.org/drawingml/2006/main">
            <a:r>
              <a:t/>
            </a:r>
          </a:p>
          <a:p xmlns:a="http://schemas.openxmlformats.org/drawingml/2006/main">
            <a:r>
              <a:t>Source: Paper Sec. III-C, Eqs. (20)-(21), p.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PGS-O and PGS-G share the same probe, posterior, bounded shortcut, belief update, controller, recovery, and verifier. Only the residual search changes. PGS-O uses a finite local Archimedean spiral. PGS-G selects grid contacts using expected information, likely capture coverage, switching cost, and travel cost. If more contact is no longer informative, the grid falls back to coverage. The comparison therefore asks whether the extra planning is worthwhile in these small residual regions. It does not give either variant more authority over capture or success.</a:t>
            </a:r>
          </a:p>
          <a:p xmlns:a="http://schemas.openxmlformats.org/drawingml/2006/main">
            <a:r>
              <a:t/>
            </a:r>
          </a:p>
          <a:p xmlns:a="http://schemas.openxmlformats.org/drawingml/2006/main">
            <a:r>
              <a:t>Source: Paper Sec. III-C, Eqs. (22)-(25), pp. 5-6; Sec. IV-A, p. 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Every proposed route is executed through the same task-frame admittance and RCC controller. A capture cue only hands control to an insertion attempt; it does not certify success. If depth progress stalls or tilt becomes too large, recovery unloads, retracts, returns upright, and retouches from the measured state. At most three post-capture recoveries are allowed, and safety limits can still end the trial. Engagement is accepted only after measured depth reaches the registered tolerance and the bottom-mode dwell holds. The network proposes motion, while physical interaction controls capture, recovery, and termination.</a:t>
            </a:r>
          </a:p>
          <a:p xmlns:a="http://schemas.openxmlformats.org/drawingml/2006/main">
            <a:r>
              <a:t/>
            </a:r>
          </a:p>
          <a:p xmlns:a="http://schemas.openxmlformats.org/drawingml/2006/main">
            <a:r>
              <a:t>Source: Paper Sec. III-D, Eqs. (26)-(30), pp. 5-6.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main simulation benchmark uses 24 M8 task tuples fixed before any method comparison. Each tuple varies offset, socket phase, friction, contact dynamics, target force, sensing delay, and the model and noise seeds. Every policy receives the same tuple, the same 130-second budget, the same physical controller, the same safety limits, and the same terminal check. The four policies are PGS-O, PGS-G, global Outward search, and Direct-4C with up to three physical rays. There is no simulator reset or budget extension, so route choice is the main controlled difference.</a:t>
            </a:r>
          </a:p>
          <a:p xmlns:a="http://schemas.openxmlformats.org/drawingml/2006/main">
            <a:r>
              <a:t/>
            </a:r>
          </a:p>
          <a:p xmlns:a="http://schemas.openxmlformats.org/drawingml/2006/main">
            <a:r>
              <a:t>Source: Paper Sec. IV-A, p. 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ablation holds the first probe, task, noise, ray budget, and post-capture controller fixed. Direct-4C reduces the median executed-direction error from 7.41 to 4.75 degrees. Its tail is worse, however: the 90th-percentile error is 31.45 degrees, compared with 13.79 for the Direct-3C proxy. Any-ray capture ties at 19 of 24, and verified terminal counts are 17 versus 16. So the result is mixed. We keep the four-channel representation because it supports the circular posterior and routing interface, not because it is uniformly more accurate.</a:t>
            </a:r>
          </a:p>
          <a:p xmlns:a="http://schemas.openxmlformats.org/drawingml/2006/main">
            <a:r>
              <a:t/>
            </a:r>
          </a:p>
          <a:p xmlns:a="http://schemas.openxmlformats.org/drawingml/2006/main">
            <a:r>
              <a:t>Source: Paper Sec. IV-B, Table I, p. 6; Fig. 5, p.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Across the 24 paired M8 tasks, PGS-O reaches verified engagement in 20 cases. PGS-G and Outward each reach 19, while Direct-4C reaches 17. These counts are close, and the paper does not claim that the one-case difference proves a success-rate advantage. The medians among successful trials in Table II are also descriptive because each method succeeds on a different subset. The cleaner efficiency comparison therefore uses the same 19 tasks completed by both PGS-O and Outward. Keeping that denominator fixed is essential for the next result.</a:t>
            </a:r>
          </a:p>
          <a:p xmlns:a="http://schemas.openxmlformats.org/drawingml/2006/main">
            <a:r>
              <a:t/>
            </a:r>
          </a:p>
          <a:p xmlns:a="http://schemas.openxmlformats.org/drawingml/2006/main">
            <a:r>
              <a:t>Source: Paper Sec. IV-C, Table II, p. 7; Fig. 7, p. 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strongest quantitative result in the paper. PGS-O completed 20 of 24 tasks overall, while Outward completed 19 of 24. The same 19 tasks were completed by both, so those runs form the paired subset. PGS-O has a shorter measured planar path in all 19 pairs. The median paired gap is minus 41.14 millimeters, with an exact sign-test value of 3.8 times 10 to the minus 6. Time is lower in 18 of 19 pairs, with a median gap of minus 16.79 seconds and p equal to 7.6 times 10 to the minus 5. These are paired medians, not percentages or means.</a:t>
            </a:r>
          </a:p>
          <a:p xmlns:a="http://schemas.openxmlformats.org/drawingml/2006/main">
            <a:r>
              <a:t/>
            </a:r>
          </a:p>
          <a:p xmlns:a="http://schemas.openxmlformats.org/drawingml/2006/main">
            <a:r>
              <a:t>Source: Paper Sec. IV-D, pp. 6-7; Table II, p. 7; paired-efficiency figure.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PGS-G and PGS-O share 19 completed tasks, allowing a paired comparison of their residual searches. The median path gap, PGS-G minus PGS-O, is minus 0.061 millimeters, with p equal to 0.465. The median time gap is plus 0.536 seconds, with p equal to 0.196. Neither result supports an advantage for the entropy grid. In this benchmark the residual regions are only a few millimeters wide, so a local spiral already covers them with little waste. Larger regions might behave differently, but these 24 starts do not show that benefit.</a:t>
            </a:r>
          </a:p>
          <a:p xmlns:a="http://schemas.openxmlformats.org/drawingml/2006/main">
            <a:r>
              <a:t/>
            </a:r>
          </a:p>
          <a:p xmlns:a="http://schemas.openxmlformats.org/drawingml/2006/main">
            <a:r>
              <a:t>Source: Paper Sec. IV-D, p. 7; Discussion, p. 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Recovery is tested on a separate fixed set of 12 difficult post-capture cases. The RCC and wrench guards stay the same; only the recovery allowance changes. With recovery disabled, none of the 12 cases reaches verified engagement. Allowing up to three recoveries produces nine verified engagements, with an exact paired p value of 0.00390625. Two force-limit exits and one protected exit remain. Recovery therefore changes which states are reachable after a rejected insertion, but it is not a guarantee. It also tests a different mechanism from the search-policy comparison.</a:t>
            </a:r>
          </a:p>
          <a:p xmlns:a="http://schemas.openxmlformats.org/drawingml/2006/main">
            <a:r>
              <a:t/>
            </a:r>
          </a:p>
          <a:p xmlns:a="http://schemas.openxmlformats.org/drawingml/2006/main">
            <a:r>
              <a:t>Source: Paper Sec. IV-D, p. 7; recovery ablation; Eq. (29), p.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cross-size simulation study, not a sim-to-real result. The M8 observation model is evaluated on M10 and M12 using zero-shot transfer, calibration-only transfer, and anchored fine-tuning of the narrow heads. Table III shows no steady held-out improvement from anchored fine-tuning. Some force-limit and protected exits also remain. The useful conclusion is therefore modest: this batch does not show that fine-tuning is necessary or better. The residual search, contact controller, safety guards, and terminal check remain fixed outside the transferred observation model.</a:t>
            </a:r>
          </a:p>
          <a:p xmlns:a="http://schemas.openxmlformats.org/drawingml/2006/main">
            <a:r>
              <a:t/>
            </a:r>
          </a:p>
          <a:p xmlns:a="http://schemas.openxmlformats.org/drawingml/2006/main">
            <a:r>
              <a:t>Source: Paper Sec. IV-E and Table III, pp. 7-8.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Real contact signals differ from simulation because the installed stack adds friction, stiction, printed-part deformation, sensor bias, registration error, and gravity moment at the Bota sensor. The campaign records 26 conical scans for each of M8, M10, and M12. All 78 scheduled traces pass the acquisition checks. That is an acquisition result, not 78 engagement successes. The circular observation model used on the robot is therefore fitted again on installed-stack signals. This addresses the immediate observation mismatch, but not session drift, wear, temperature change, or every shift across socket size.</a:t>
            </a:r>
          </a:p>
          <a:p xmlns:a="http://schemas.openxmlformats.org/drawingml/2006/main">
            <a:r>
              <a:t/>
            </a:r>
          </a:p>
          <a:p xmlns:a="http://schemas.openxmlformats.org/drawingml/2006/main">
            <a:r>
              <a:t>Source: Paper Sec. IV-F, p. 8; Table IV, p. 10; Discussion, p. 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named M12 PGS-G run is shown from touchdown to the terminal event without mixing trials. The hardware records 240 raw scan samples, which periodic interpolation maps to the 4-by-360 model input without smoothing. The controller commands a 3.00-millimeter shortcut. The measured endpoint differs by only 0.054 millimeters, but capture is rejected. That valid miss updates the belief, and the residual route captures at 42.45 seconds. A terminal candidate is logged at 116.63 seconds with 5.792 millimeters of measured insertion depth. The run demonstrates the full mechanism, not a general rate.</a:t>
            </a:r>
          </a:p>
          <a:p xmlns:a="http://schemas.openxmlformats.org/drawingml/2006/main">
            <a:r>
              <a:t/>
            </a:r>
          </a:p>
          <a:p xmlns:a="http://schemas.openxmlformats.org/drawingml/2006/main">
            <a:r>
              <a:t>Source: Paper Sec. IV-F, pp. 8-9; Fig. 8, p.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hardware evidence has three parts: the 78 acquisition-valid scans, one fixed-seed M12 run for each policy, and two fixed-start M10 pilots. Selected M12 PGS-O, PGS-G, and Direct-4C runs reach terminal events. Outward exceeds the 130-second budget and reaches engagement only after extension. The two M10 pilots reach terminal depth. These records let us inspect routes, loads, capture, and termination on the real system. They do not estimate a randomized success rate or policy-level speed. The Bota wrench is also baseline-relative at the sensor origin, not a certified absolute tool-tip wrench.</a:t>
            </a:r>
          </a:p>
          <a:p xmlns:a="http://schemas.openxmlformats.org/drawingml/2006/main">
            <a:r>
              <a:t/>
            </a:r>
          </a:p>
          <a:p xmlns:a="http://schemas.openxmlformats.org/drawingml/2006/main">
            <a:r>
              <a:t>Source: Paper Sec. IV-F, Figs. 8-10, pp. 8-12; Table IV, p.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evidence supports a limited set of claims. A conical touch can update direction and contact support without estimating the full socket pose. That belief can allocate a capped shortcut while leaving unresolved uncertainty to residual search. On 19 joint M8 completions, PGS-O reduces path and time relative to Outward. Recovery changes outcomes on a fixed stress set, and selected hardware runs show feasibility. The evidence does not establish PGS-G superiority, a fine-tuning benefit, a randomized hardware rate, a capture theorem, certified tool-tip wrench, or successful screw turning and extraction.</a:t>
            </a:r>
          </a:p>
          <a:p xmlns:a="http://schemas.openxmlformats.org/drawingml/2006/main">
            <a:r>
              <a:t/>
            </a:r>
          </a:p>
          <a:p xmlns:a="http://schemas.openxmlformats.org/drawingml/2006/main">
            <a:r>
              <a:t>Source: Paper Discussion and Conclusion, p. 13; Proposition 1, p. 4; Table IV, p.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opening question was whether one tactile touch can shorten search without being allowed to declare success. The paired M8 result says yes for PGS-O against global Outward search. The method works by treating direction as partial evidence: only a supported distance becomes direct travel, and the remaining uncertainty stays inside bounded search. Capture, recovery, safety, and the final dwell remain physical decisions. That separation also keeps the conclusion honest. This study ends at verified geometric engagement. First-turn coupling, slip, thread release, and extraction still require their own evidence and control rules.</a:t>
            </a:r>
          </a:p>
          <a:p xmlns:a="http://schemas.openxmlformats.org/drawingml/2006/main">
            <a:r>
              <a:t/>
            </a:r>
          </a:p>
          <a:p xmlns:a="http://schemas.openxmlformats.org/drawingml/2006/main">
            <a:r>
              <a:t>Source: Paper Abstract and Contributions, p. 1; Discussion and Conclusion, p. 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Proposition 1 is an action-allocation bound, not a performance guarantee. It assumes a fixed weighted-particle set, reverse mass below 0.20, a positive shortcut, and exact execution of the commanded endpoint. Under those conditions, the shortcut retains at least one minus alpha of the empirical projected mass and remains capped by the radial quantile. The result does not say that the true center follows this empirical belief or that the path reaches the capture region. Distribution shift, tracking error, boundary truncation, contact dynamics, and an exhausted search budget all remain outside the bound.</a:t>
            </a:r>
          </a:p>
          <a:p xmlns:a="http://schemas.openxmlformats.org/drawingml/2006/main">
            <a:r>
              <a:t/>
            </a:r>
          </a:p>
          <a:p xmlns:a="http://schemas.openxmlformats.org/drawingml/2006/main">
            <a:r>
              <a:t>Source: Paper Sec. III-C, Proposition 1 and Eqs. (18)-(19), p. 4; Discussion, p. 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denominators need to stay separate. Overall verified counts are reported out of 24 starts: 20 for PGS-O, 19 for PGS-G, 19 for Outward, and 17 for Direct-4C. The PGS-O versus Outward efficiency result uses only their 19 joint completions. The PGS-G versus PGS-O comparison also uses 19 shared completions. The representation ablation uses 24 matched probes and starts, while recovery uses a different set of 12 fixed stresses. Medians among successful trials are descriptive. Mixing these groups would create comparisons that the experiment did not support.</a:t>
            </a:r>
          </a:p>
          <a:p xmlns:a="http://schemas.openxmlformats.org/drawingml/2006/main">
            <a:r>
              <a:t/>
            </a:r>
          </a:p>
          <a:p xmlns:a="http://schemas.openxmlformats.org/drawingml/2006/main">
            <a:r>
              <a:t>Source: Paper Table I, p. 6; Table II and Sec. IV-D, p. 7; recovery study, p.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main remaining evidence gap is a randomized hardware study. The next experiment should register starts across several offsets and socket sizes, keep the same time budget and terminal rule, and report every start with the full failure taxonomy. Repeated paired runs would support both a hardware engagement rate and a fair efficiency comparison. The observation model should also be checked across sessions, wear, and temperature changes. First-turn torque coupling can be studied separately if the intended claim expands beyond geometric engagement. Until those studies are complete, the present hardware claim should remain feasibility and mechanism.</a:t>
            </a:r>
          </a:p>
          <a:p xmlns:a="http://schemas.openxmlformats.org/drawingml/2006/main">
            <a:r>
              <a:t/>
            </a:r>
          </a:p>
          <a:p xmlns:a="http://schemas.openxmlformats.org/drawingml/2006/main">
            <a:r>
              <a:t>Source: Derived from the limitations in Paper Discussion, p. 13, and the hardware evidence boundary in Table IV, p.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final slide contains the declaration requested for the review. The wording should remain unchanged in the delivered presentation. Nan Jinyao's name and the final document date are included, while the signature area remains a placeholder until the author supplies a real signature asset. No signature has been generated, copied, or inferred here. The page records authorship and acknowledgment of the sources used in the work. It does not add scientific evidence, and nothing should follow it in the final slide file.</a:t>
            </a:r>
          </a:p>
          <a:p xmlns:a="http://schemas.openxmlformats.org/drawingml/2006/main">
            <a:r>
              <a:t/>
            </a:r>
          </a:p>
          <a:p xmlns:a="http://schemas.openxmlformats.org/drawingml/2006/main">
            <a:r>
              <a:t>Source: Required author declaration supplied with the meeting request; real signature asset 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8f11788a52b456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e2ba9cfd55b4adf" /><Relationship Type="http://schemas.openxmlformats.org/officeDocument/2006/relationships/slideLayout" Target="/ppt/slideLayouts/slideLayout1.xml" Id="Rd0e30c9ff2534df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0e30c9ff2534df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c3d67a32f9043fd" /><Relationship Type="http://schemas.openxmlformats.org/officeDocument/2006/relationships/image" Target="/ppt/media/image.png" Id="R662fe91869064d8b" /><Relationship Type="http://schemas.openxmlformats.org/officeDocument/2006/relationships/notesSlide" Target="/ppt/notesSlides/notesSlide1.xml" Id="Ra04455bd4fd247d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1a86bf6c5bd4b26" /><Relationship Type="http://schemas.openxmlformats.org/officeDocument/2006/relationships/image" Target="/ppt/media/image2.png" Id="Rb5818f3cbe794ba7" /><Relationship Type="http://schemas.openxmlformats.org/officeDocument/2006/relationships/notesSlide" Target="/ppt/notesSlides/notesSlide2.xml" Id="Ra17c3cadaad64e6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59f97a69ec94c86" /><Relationship Type="http://schemas.openxmlformats.org/officeDocument/2006/relationships/notesSlide" Target="/ppt/notesSlides/notesSlide3.xml" Id="Rb80a493bcaf24ea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c645095804c451e" /><Relationship Type="http://schemas.openxmlformats.org/officeDocument/2006/relationships/notesSlide" Target="/ppt/notesSlides/notesSlide4.xml" Id="R86ada09e85b5436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33b5b8c9e5744f2" /><Relationship Type="http://schemas.openxmlformats.org/officeDocument/2006/relationships/image" Target="/ppt/media/image3.png" Id="R75b2116b61794be2" /><Relationship Type="http://schemas.openxmlformats.org/officeDocument/2006/relationships/notesSlide" Target="/ppt/notesSlides/notesSlide5.xml" Id="R1d2b0e6bb18541c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61db84b0c3942e2" /><Relationship Type="http://schemas.openxmlformats.org/officeDocument/2006/relationships/image" Target="/ppt/media/image4.png" Id="R218e80af7ab74239" /><Relationship Type="http://schemas.openxmlformats.org/officeDocument/2006/relationships/notesSlide" Target="/ppt/notesSlides/notesSlide6.xml" Id="Rf1811a939dd9497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d4c1a6597b840da" /><Relationship Type="http://schemas.openxmlformats.org/officeDocument/2006/relationships/notesSlide" Target="/ppt/notesSlides/notesSlide7.xml" Id="Rffd9d176eb7347f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64f8b6c823948dc" /><Relationship Type="http://schemas.openxmlformats.org/officeDocument/2006/relationships/notesSlide" Target="/ppt/notesSlides/notesSlide8.xml" Id="R7ecff5eee122475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9bd8024323f42c7" /><Relationship Type="http://schemas.openxmlformats.org/officeDocument/2006/relationships/notesSlide" Target="/ppt/notesSlides/notesSlide9.xml" Id="Rd86e359191c8402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78feefc189e43e3" /><Relationship Type="http://schemas.openxmlformats.org/officeDocument/2006/relationships/notesSlide" Target="/ppt/notesSlides/notesSlide10.xml" Id="Ra41a929f3f7241c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782f7523a214ace" /><Relationship Type="http://schemas.openxmlformats.org/officeDocument/2006/relationships/image" Target="/ppt/media/image5.png" Id="R110d0f1c61454ef4" /><Relationship Type="http://schemas.openxmlformats.org/officeDocument/2006/relationships/notesSlide" Target="/ppt/notesSlides/notesSlide11.xml" Id="R5bca18a752c94b1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2eee54f636434137" /><Relationship Type="http://schemas.openxmlformats.org/officeDocument/2006/relationships/notesSlide" Target="/ppt/notesSlides/notesSlide12.xml" Id="Rf2860fe446ea4d0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1f9d2addf55e4178" /><Relationship Type="http://schemas.openxmlformats.org/officeDocument/2006/relationships/notesSlide" Target="/ppt/notesSlides/notesSlide13.xml" Id="Rdf6a4ee70c98419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f092ed8030114989" /><Relationship Type="http://schemas.openxmlformats.org/officeDocument/2006/relationships/image" Target="/ppt/media/image6.png" Id="R26fbd450b18f417d" /><Relationship Type="http://schemas.openxmlformats.org/officeDocument/2006/relationships/notesSlide" Target="/ppt/notesSlides/notesSlide14.xml" Id="R5e97a737a61d408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709054409c9644c2" /><Relationship Type="http://schemas.openxmlformats.org/officeDocument/2006/relationships/image" Target="/ppt/media/image7.png" Id="R71b9e241db864c13" /><Relationship Type="http://schemas.openxmlformats.org/officeDocument/2006/relationships/notesSlide" Target="/ppt/notesSlides/notesSlide15.xml" Id="R45c799d984ef45b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07653997a6ff4568" /><Relationship Type="http://schemas.openxmlformats.org/officeDocument/2006/relationships/image" Target="/ppt/media/image8.png" Id="R0653b63a1f774cd5" /><Relationship Type="http://schemas.openxmlformats.org/officeDocument/2006/relationships/notesSlide" Target="/ppt/notesSlides/notesSlide16.xml" Id="Rc6a50159688e459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82275e57ec3248b2" /><Relationship Type="http://schemas.openxmlformats.org/officeDocument/2006/relationships/image" Target="/ppt/media/image9.png" Id="Ra7f0f71c20fb4647" /><Relationship Type="http://schemas.openxmlformats.org/officeDocument/2006/relationships/notesSlide" Target="/ppt/notesSlides/notesSlide17.xml" Id="Rdd7bde7a61c14be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66d638b0ba4f488c" /><Relationship Type="http://schemas.openxmlformats.org/officeDocument/2006/relationships/notesSlide" Target="/ppt/notesSlides/notesSlide18.xml" Id="R06f89b9c642142e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36bf9a572fed4369" /><Relationship Type="http://schemas.openxmlformats.org/officeDocument/2006/relationships/image" Target="/ppt/media/image10.png" Id="R04d2d10df4124592" /><Relationship Type="http://schemas.openxmlformats.org/officeDocument/2006/relationships/notesSlide" Target="/ppt/notesSlides/notesSlide19.xml" Id="R594a37fd573d4e47"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9700e73098a44571" /><Relationship Type="http://schemas.openxmlformats.org/officeDocument/2006/relationships/image" Target="/ppt/media/image11.png" Id="Rdbf0c56f226c4b2d" /><Relationship Type="http://schemas.openxmlformats.org/officeDocument/2006/relationships/notesSlide" Target="/ppt/notesSlides/notesSlide20.xml" Id="Rdfff9fdeef4c4f07"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5094048710784418" /><Relationship Type="http://schemas.openxmlformats.org/officeDocument/2006/relationships/image" Target="/ppt/media/image12.png" Id="Re7dfcf14990441d0" /><Relationship Type="http://schemas.openxmlformats.org/officeDocument/2006/relationships/notesSlide" Target="/ppt/notesSlides/notesSlide21.xml" Id="Rf1044dc83c8d428f"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06f49af8a6b848d9" /><Relationship Type="http://schemas.openxmlformats.org/officeDocument/2006/relationships/notesSlide" Target="/ppt/notesSlides/notesSlide22.xml" Id="R8f2c027488da4edb"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211749ff4ef640e8" /><Relationship Type="http://schemas.openxmlformats.org/officeDocument/2006/relationships/image" Target="/ppt/media/image13.png" Id="Rffbf05ffcd514578" /><Relationship Type="http://schemas.openxmlformats.org/officeDocument/2006/relationships/notesSlide" Target="/ppt/notesSlides/notesSlide23.xml" Id="Rbd71bce212f84dc2"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0ecb9259a5484833" /><Relationship Type="http://schemas.openxmlformats.org/officeDocument/2006/relationships/notesSlide" Target="/ppt/notesSlides/notesSlide24.xml" Id="Raad797712eaf4b77"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90f6b2675ddb44eb" /><Relationship Type="http://schemas.openxmlformats.org/officeDocument/2006/relationships/image" Target="/ppt/media/image14.png" Id="R531234a4c86347f3" /><Relationship Type="http://schemas.openxmlformats.org/officeDocument/2006/relationships/notesSlide" Target="/ppt/notesSlides/notesSlide25.xml" Id="R11587a7755aa41b1"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e6f0b390ea9b4012" /><Relationship Type="http://schemas.openxmlformats.org/officeDocument/2006/relationships/image" Target="/ppt/media/image15.png" Id="R4c417dcfbdb54434" /><Relationship Type="http://schemas.openxmlformats.org/officeDocument/2006/relationships/notesSlide" Target="/ppt/notesSlides/notesSlide26.xml" Id="R9cbe308e2f7f4d80"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534a99d6c0a647b0" /><Relationship Type="http://schemas.openxmlformats.org/officeDocument/2006/relationships/image" Target="/ppt/media/image16.png" Id="R6be9700e7b3a40c7" /><Relationship Type="http://schemas.openxmlformats.org/officeDocument/2006/relationships/notesSlide" Target="/ppt/notesSlides/notesSlide27.xml" Id="R6d9bb239a0074ba2"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698ed9207c7a431c" /><Relationship Type="http://schemas.openxmlformats.org/officeDocument/2006/relationships/notesSlide" Target="/ppt/notesSlides/notesSlide28.xml" Id="R54860534755b444e"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2be2032c7b3c444e" /><Relationship Type="http://schemas.openxmlformats.org/officeDocument/2006/relationships/image" Target="/ppt/media/image17.png" Id="Rdcca8a77c49f4c06" /><Relationship Type="http://schemas.openxmlformats.org/officeDocument/2006/relationships/notesSlide" Target="/ppt/notesSlides/notesSlide29.xml" Id="Raad082355de34f34"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41c7539f7b904543" /><Relationship Type="http://schemas.openxmlformats.org/officeDocument/2006/relationships/notesSlide" Target="/ppt/notesSlides/notesSlide30.xml" Id="R20108b8361994cce"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73f6d69a74144f55" /><Relationship Type="http://schemas.openxmlformats.org/officeDocument/2006/relationships/image" Target="/ppt/media/image18.png" Id="Ra152e6c95d4b4246" /><Relationship Type="http://schemas.openxmlformats.org/officeDocument/2006/relationships/notesSlide" Target="/ppt/notesSlides/notesSlide31.xml" Id="Rf14c7f350ece4088"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603c77835f00455b" /><Relationship Type="http://schemas.openxmlformats.org/officeDocument/2006/relationships/image" Target="/ppt/media/image19.png" Id="Rf67f8d7e03bd493d" /><Relationship Type="http://schemas.openxmlformats.org/officeDocument/2006/relationships/image" Target="/ppt/media/image20.png" Id="R5b6fa87574d241b7" /><Relationship Type="http://schemas.openxmlformats.org/officeDocument/2006/relationships/notesSlide" Target="/ppt/notesSlides/notesSlide32.xml" Id="Rd93317a812fa4809"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69f26acf883e463a" /><Relationship Type="http://schemas.openxmlformats.org/officeDocument/2006/relationships/image" Target="/ppt/media/image21.png" Id="R26a21eaafc404c8b" /><Relationship Type="http://schemas.openxmlformats.org/officeDocument/2006/relationships/notesSlide" Target="/ppt/notesSlides/notesSlide33.xml" Id="R4d3bbd8220814e70"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1306906fa576485f" /><Relationship Type="http://schemas.openxmlformats.org/officeDocument/2006/relationships/notesSlide" Target="/ppt/notesSlides/notesSlide34.xml" Id="Rc2e792ad755042ea"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ac66c9076d2e486e" /><Relationship Type="http://schemas.openxmlformats.org/officeDocument/2006/relationships/notesSlide" Target="/ppt/notesSlides/notesSlide35.xml" Id="Rb812fa165c3e4761"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3c326ac5ef8a44e6" /><Relationship Type="http://schemas.openxmlformats.org/officeDocument/2006/relationships/notesSlide" Target="/ppt/notesSlides/notesSlide36.xml" Id="R714aef01b4c54049"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77443f29aa5644d3" /><Relationship Type="http://schemas.openxmlformats.org/officeDocument/2006/relationships/notesSlide" Target="/ppt/notesSlides/notesSlide37.xml" Id="Rb37db9a75eb94a2f"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5b8f4bbd8e904c6d" /><Relationship Type="http://schemas.openxmlformats.org/officeDocument/2006/relationships/notesSlide" Target="/ppt/notesSlides/notesSlide38.xml" Id="Re741c49251c0442c"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5ce6b70c4299479f" /><Relationship Type="http://schemas.openxmlformats.org/officeDocument/2006/relationships/notesSlide" Target="/ppt/notesSlides/notesSlide39.xml" Id="R7aa1dd43bce8432d" /></Relationships>
</file>

<file path=ppt/slides/slide1.xml><?xml version="1.0" encoding="utf-8"?>
<p:sld xmlns:p="http://schemas.openxmlformats.org/presentationml/2006/main">
  <p:cSld>
    <p:bg>
      <p:bgPr>
        <a:solidFill xmlns:a="http://schemas.openxmlformats.org/drawingml/2006/main">
          <a:srgbClr val="004282"/>
        </a:solidFill>
      </p:bgPr>
    </p:bg>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662fe91869064d8b"/>
          <a:srcRect xmlns:a="http://schemas.openxmlformats.org/drawingml/2006/main" l="25391" t="0" r="25391" b="0"/>
          <a:stretch xmlns:a="http://schemas.openxmlformats.org/drawingml/2006/main">
            <a:fillRect l="0" t="0" r="0" b="0"/>
          </a:stretch>
        </p:blipFill>
        <p:spPr>
          <a:xfrm xmlns:a="http://schemas.openxmlformats.org/drawingml/2006/main">
            <a:off x="6191250" y="0"/>
            <a:ext cx="6000750" cy="6858000"/>
          </a:xfrm>
          <a:prstGeom xmlns:a="http://schemas.openxmlformats.org/drawingml/2006/main" prst="roundRect">
            <a:avLst>
              <a:gd name="adj" fmla="val 1270"/>
            </a:avLst>
          </a:prstGeom>
        </p:spPr>
      </p:pic>
      <p:sp>
        <p:nvSpPr>
          <p:cNvPr id="2" name="">
            <a:extLst xmlns:a="http://schemas.openxmlformats.org/drawingml/2006/main">
              <a:ext uri="{FF2B5EF4-FFF2-40B4-BE49-F238E27FC236}">
                <a16:creationId xmlns:a16="http://schemas.microsoft.com/office/drawing/2014/main" id="{E352164F-696A-491B-8562-D7FD12C314E6}"/>
              </a:ext>
            </a:extLst>
          </p:cNvPr>
          <p:cNvSpPr>
            <a:spLocks xmlns:a="http://schemas.openxmlformats.org/drawingml/2006/main" noGrp="1"/>
          </p:cNvSpPr>
          <p:nvPr/>
        </p:nvSpPr>
        <p:spPr>
          <a:xfrm xmlns:a="http://schemas.openxmlformats.org/drawingml/2006/main">
            <a:off x="0" y="0"/>
            <a:ext cx="6572250" cy="6858000"/>
          </a:xfrm>
          <a:prstGeom xmlns:a="http://schemas.openxmlformats.org/drawingml/2006/main" prst="rect">
            <a:avLst/>
          </a:prstGeom>
          <a:solidFill xmlns:a="http://schemas.openxmlformats.org/drawingml/2006/main">
            <a:srgbClr val="004282"/>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7EF353D9-95F5-409C-A664-D7923264DC78}"/>
              </a:ext>
            </a:extLst>
          </p:cNvPr>
          <p:cNvSpPr>
            <a:spLocks xmlns:a="http://schemas.openxmlformats.org/drawingml/2006/main" noGrp="1"/>
          </p:cNvSpPr>
          <p:nvPr/>
        </p:nvSpPr>
        <p:spPr>
          <a:xfrm xmlns:a="http://schemas.openxmlformats.org/drawingml/2006/main">
            <a:off x="666750" y="876300"/>
            <a:ext cx="781050" cy="76200"/>
          </a:xfrm>
          <a:prstGeom xmlns:a="http://schemas.openxmlformats.org/drawingml/2006/main" prst="rect">
            <a:avLst/>
          </a:prstGeom>
          <a:solidFill xmlns:a="http://schemas.openxmlformats.org/drawingml/2006/main">
            <a:srgbClr val="ED7F0D"/>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01A01BA-141F-4669-9B54-11AAF255DD79}"/>
              </a:ext>
            </a:extLst>
          </p:cNvPr>
          <p:cNvSpPr>
            <a:spLocks xmlns:a="http://schemas.openxmlformats.org/drawingml/2006/main" noGrp="1"/>
          </p:cNvSpPr>
          <p:nvPr/>
        </p:nvSpPr>
        <p:spPr>
          <a:xfrm xmlns:a="http://schemas.openxmlformats.org/drawingml/2006/main">
            <a:off x="666750" y="1162050"/>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FFF0E2"/>
                </a:solidFill>
              </a:defRPr>
            </a:pPr>
            <a:r>
              <a:rPr sz="1125" b="1">
                <a:solidFill>
                  <a:srgbClr val="FFF0E2"/>
                </a:solidFill>
              </a:rPr>
              <a:t>PAPER-ALIGNED GROUP REVIEW</a:t>
            </a:r>
          </a:p>
        </p:txBody>
      </p:sp>
      <p:sp>
        <p:nvSpPr>
          <p:cNvPr id="5" name="">
            <a:extLst xmlns:a="http://schemas.openxmlformats.org/drawingml/2006/main">
              <a:ext uri="{FF2B5EF4-FFF2-40B4-BE49-F238E27FC236}">
                <a16:creationId xmlns:a16="http://schemas.microsoft.com/office/drawing/2014/main" id="{E4D30273-5BDD-48D6-839B-0FCE8FD58A01}"/>
              </a:ext>
            </a:extLst>
          </p:cNvPr>
          <p:cNvSpPr>
            <a:spLocks xmlns:a="http://schemas.openxmlformats.org/drawingml/2006/main" noGrp="1"/>
          </p:cNvSpPr>
          <p:nvPr/>
        </p:nvSpPr>
        <p:spPr>
          <a:xfrm xmlns:a="http://schemas.openxmlformats.org/drawingml/2006/main">
            <a:off x="666750" y="1676400"/>
            <a:ext cx="5095875" cy="2571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600" b="1">
                <a:solidFill>
                  <a:srgbClr val="FFFFFF"/>
                </a:solidFill>
              </a:defRPr>
            </a:pPr>
            <a:r>
              <a:rPr sz="3600" b="1">
                <a:solidFill>
                  <a:srgbClr val="FFFFFF"/>
                </a:solidFill>
              </a:rPr>
              <a:t>Learning-Based Tactile Posterior-Guided Search for Robotic Hex-Socket Engagement</a:t>
            </a:r>
          </a:p>
        </p:txBody>
      </p:sp>
      <p:sp>
        <p:nvSpPr>
          <p:cNvPr id="6" name="">
            <a:extLst xmlns:a="http://schemas.openxmlformats.org/drawingml/2006/main">
              <a:ext uri="{FF2B5EF4-FFF2-40B4-BE49-F238E27FC236}">
                <a16:creationId xmlns:a16="http://schemas.microsoft.com/office/drawing/2014/main" id="{5F987EB9-9D1A-4906-9D76-35FFEA399197}"/>
              </a:ext>
            </a:extLst>
          </p:cNvPr>
          <p:cNvSpPr>
            <a:spLocks xmlns:a="http://schemas.openxmlformats.org/drawingml/2006/main" noGrp="1"/>
          </p:cNvSpPr>
          <p:nvPr/>
        </p:nvSpPr>
        <p:spPr>
          <a:xfrm xmlns:a="http://schemas.openxmlformats.org/drawingml/2006/main">
            <a:off x="666750" y="445770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0">
                <a:solidFill>
                  <a:srgbClr val="E8F1F8"/>
                </a:solidFill>
              </a:defRPr>
            </a:pPr>
            <a:r>
              <a:rPr sz="1725" b="0">
                <a:solidFill>
                  <a:srgbClr val="E8F1F8"/>
                </a:solidFill>
              </a:rPr>
              <a:t>Paper-aligned group review</a:t>
            </a:r>
          </a:p>
        </p:txBody>
      </p:sp>
      <p:sp>
        <p:nvSpPr>
          <p:cNvPr id="7" name="">
            <a:extLst xmlns:a="http://schemas.openxmlformats.org/drawingml/2006/main">
              <a:ext uri="{FF2B5EF4-FFF2-40B4-BE49-F238E27FC236}">
                <a16:creationId xmlns:a16="http://schemas.microsoft.com/office/drawing/2014/main" id="{D7F41D1B-7AFD-4F27-B02A-A3138172025E}"/>
              </a:ext>
            </a:extLst>
          </p:cNvPr>
          <p:cNvSpPr>
            <a:spLocks xmlns:a="http://schemas.openxmlformats.org/drawingml/2006/main" noGrp="1"/>
          </p:cNvSpPr>
          <p:nvPr/>
        </p:nvSpPr>
        <p:spPr>
          <a:xfrm xmlns:a="http://schemas.openxmlformats.org/drawingml/2006/main">
            <a:off x="666750" y="5305425"/>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FFFFFF"/>
                </a:solidFill>
              </a:defRPr>
            </a:pPr>
            <a:r>
              <a:rPr sz="1500" b="1">
                <a:solidFill>
                  <a:srgbClr val="FFFFFF"/>
                </a:solidFill>
              </a:rPr>
              <a:t>Nan Jinyao</a:t>
            </a:r>
          </a:p>
        </p:txBody>
      </p:sp>
      <p:sp>
        <p:nvSpPr>
          <p:cNvPr id="8" name="">
            <a:extLst xmlns:a="http://schemas.openxmlformats.org/drawingml/2006/main">
              <a:ext uri="{FF2B5EF4-FFF2-40B4-BE49-F238E27FC236}">
                <a16:creationId xmlns:a16="http://schemas.microsoft.com/office/drawing/2014/main" id="{CEB9B9F5-3E96-43D9-AE63-D98BFDFC66BF}"/>
              </a:ext>
            </a:extLst>
          </p:cNvPr>
          <p:cNvSpPr>
            <a:spLocks xmlns:a="http://schemas.openxmlformats.org/drawingml/2006/main" noGrp="1"/>
          </p:cNvSpPr>
          <p:nvPr/>
        </p:nvSpPr>
        <p:spPr>
          <a:xfrm xmlns:a="http://schemas.openxmlformats.org/drawingml/2006/main">
            <a:off x="666750" y="563880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E8F1F8"/>
                </a:solidFill>
              </a:defRPr>
            </a:pPr>
            <a:r>
              <a:rPr sz="1200" b="0">
                <a:solidFill>
                  <a:srgbClr val="E8F1F8"/>
                </a:solidFill>
              </a:rPr>
              <a:t>30 August 2026</a:t>
            </a:r>
          </a:p>
        </p:txBody>
      </p:sp>
      <p:sp>
        <p:nvSpPr>
          <p:cNvPr id="9" name="">
            <a:extLst xmlns:a="http://schemas.openxmlformats.org/drawingml/2006/main">
              <a:ext uri="{FF2B5EF4-FFF2-40B4-BE49-F238E27FC236}">
                <a16:creationId xmlns:a16="http://schemas.microsoft.com/office/drawing/2014/main" id="{1763E1BF-811B-43A5-8E1F-3390F24321C2}"/>
              </a:ext>
            </a:extLst>
          </p:cNvPr>
          <p:cNvSpPr>
            <a:spLocks xmlns:a="http://schemas.openxmlformats.org/drawingml/2006/main" noGrp="1"/>
          </p:cNvSpPr>
          <p:nvPr/>
        </p:nvSpPr>
        <p:spPr>
          <a:xfrm xmlns:a="http://schemas.openxmlformats.org/drawingml/2006/main">
            <a:off x="666750" y="6153150"/>
            <a:ext cx="4857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FFF0E2"/>
                </a:solidFill>
              </a:defRPr>
            </a:pPr>
            <a:r>
              <a:rPr sz="1125" b="1">
                <a:solidFill>
                  <a:srgbClr val="FFF0E2"/>
                </a:solidFill>
              </a:rPr>
              <a:t>Learning guides where to search. Measured contact decides engagement.</a:t>
            </a:r>
          </a:p>
        </p:txBody>
      </p:sp>
    </p:spTree>
    <p:extLst>
      <p:ext uri="{BB962C8B-B14F-4D97-AF65-F5344CB8AC3E}">
        <p14:creationId xmlns:p14="http://schemas.microsoft.com/office/powerpoint/2010/main" val="840655068"/>
      </p:ext>
    </p:extLst>
  </p:cSld>
</p:sld>
</file>

<file path=ppt/slides/slide2.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6063421-50A1-4E35-A0EE-6320E9B3226D}"/>
              </a:ext>
            </a:extLst>
          </p:cNvPr>
          <p:cNvSpPr>
            <a:spLocks xmlns:a="http://schemas.openxmlformats.org/drawingml/2006/main" noGrp="1"/>
          </p:cNvSpPr>
          <p:nvPr/>
        </p:nvSpPr>
        <p:spPr>
          <a:xfrm xmlns:a="http://schemas.openxmlformats.org/drawingml/2006/main">
            <a:off x="647700" y="2286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ED7F0D"/>
                </a:solidFill>
              </a:defRPr>
            </a:pPr>
            <a:r>
              <a:rPr sz="1050" b="1">
                <a:solidFill>
                  <a:srgbClr val="ED7F0D"/>
                </a:solidFill>
              </a:rPr>
              <a:t>02</a:t>
            </a:r>
          </a:p>
        </p:txBody>
      </p:sp>
      <p:sp>
        <p:nvSpPr>
          <p:cNvPr id="2" name="">
            <a:extLst xmlns:a="http://schemas.openxmlformats.org/drawingml/2006/main">
              <a:ext uri="{FF2B5EF4-FFF2-40B4-BE49-F238E27FC236}">
                <a16:creationId xmlns:a16="http://schemas.microsoft.com/office/drawing/2014/main" id="{2C69D7C5-2A82-45BC-9AC6-44C223E11BD6}"/>
              </a:ext>
            </a:extLst>
          </p:cNvPr>
          <p:cNvSpPr>
            <a:spLocks xmlns:a="http://schemas.openxmlformats.org/drawingml/2006/main" noGrp="1"/>
          </p:cNvSpPr>
          <p:nvPr/>
        </p:nvSpPr>
        <p:spPr>
          <a:xfrm xmlns:a="http://schemas.openxmlformats.org/drawingml/2006/main">
            <a:off x="1104900" y="22860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6B7580"/>
                </a:solidFill>
              </a:defRPr>
            </a:pPr>
            <a:r>
              <a:rPr sz="975" b="1">
                <a:solidFill>
                  <a:srgbClr val="6B7580"/>
                </a:solidFill>
              </a:rPr>
              <a:t>PROBLEM</a:t>
            </a:r>
          </a:p>
        </p:txBody>
      </p:sp>
      <p:sp>
        <p:nvSpPr>
          <p:cNvPr id="3" name="">
            <a:extLst xmlns:a="http://schemas.openxmlformats.org/drawingml/2006/main">
              <a:ext uri="{FF2B5EF4-FFF2-40B4-BE49-F238E27FC236}">
                <a16:creationId xmlns:a16="http://schemas.microsoft.com/office/drawing/2014/main" id="{A3B45AB1-6A38-40E9-BD94-14E6B3AA2533}"/>
              </a:ext>
            </a:extLst>
          </p:cNvPr>
          <p:cNvSpPr>
            <a:spLocks xmlns:a="http://schemas.openxmlformats.org/drawingml/2006/main" noGrp="1"/>
          </p:cNvSpPr>
          <p:nvPr/>
        </p:nvSpPr>
        <p:spPr>
          <a:xfrm xmlns:a="http://schemas.openxmlformats.org/drawingml/2006/main">
            <a:off x="6191250" y="228600"/>
            <a:ext cx="5353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0">
                <a:solidFill>
                  <a:srgbClr val="6B7580"/>
                </a:solidFill>
              </a:defRPr>
            </a:pPr>
            <a:r>
              <a:rPr sz="825" b="0">
                <a:solidFill>
                  <a:srgbClr val="6B7580"/>
                </a:solidFill>
              </a:rPr>
              <a:t>● Problem   Task   Framework   Simulation   Hardware   Discussion</a:t>
            </a:r>
          </a:p>
        </p:txBody>
      </p:sp>
      <p:sp>
        <p:nvSpPr>
          <p:cNvPr id="4" name="">
            <a:extLst xmlns:a="http://schemas.openxmlformats.org/drawingml/2006/main">
              <a:ext uri="{FF2B5EF4-FFF2-40B4-BE49-F238E27FC236}">
                <a16:creationId xmlns:a16="http://schemas.microsoft.com/office/drawing/2014/main" id="{F84A75D3-08D8-40E5-BC69-143AC65B2697}"/>
              </a:ext>
            </a:extLst>
          </p:cNvPr>
          <p:cNvSpPr>
            <a:spLocks xmlns:a="http://schemas.openxmlformats.org/drawingml/2006/main" noGrp="1"/>
          </p:cNvSpPr>
          <p:nvPr/>
        </p:nvSpPr>
        <p:spPr>
          <a:xfrm xmlns:a="http://schemas.openxmlformats.org/drawingml/2006/main">
            <a:off x="647700" y="533400"/>
            <a:ext cx="108394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004282"/>
                </a:solidFill>
              </a:defRPr>
            </a:pPr>
            <a:r>
              <a:rPr sz="2850" b="1">
                <a:solidFill>
                  <a:srgbClr val="004282"/>
                </a:solidFill>
              </a:rPr>
              <a:t>The background task is robotic hex-socket unscrewing</a:t>
            </a:r>
          </a:p>
        </p:txBody>
      </p:sp>
      <p:sp>
        <p:nvSpPr>
          <p:cNvPr id="5" name="">
            <a:extLst xmlns:a="http://schemas.openxmlformats.org/drawingml/2006/main">
              <a:ext uri="{FF2B5EF4-FFF2-40B4-BE49-F238E27FC236}">
                <a16:creationId xmlns:a16="http://schemas.microsoft.com/office/drawing/2014/main" id="{F3ED9792-E650-4FF9-8687-1A30EDAD8FB8}"/>
              </a:ext>
            </a:extLst>
          </p:cNvPr>
          <p:cNvSpPr>
            <a:spLocks xmlns:a="http://schemas.openxmlformats.org/drawingml/2006/main" noGrp="1"/>
          </p:cNvSpPr>
          <p:nvPr/>
        </p:nvSpPr>
        <p:spPr>
          <a:xfrm xmlns:a="http://schemas.openxmlformats.org/drawingml/2006/main">
            <a:off x="647700" y="1257300"/>
            <a:ext cx="609600" cy="47625"/>
          </a:xfrm>
          <a:prstGeom xmlns:a="http://schemas.openxmlformats.org/drawingml/2006/main" prst="rect">
            <a:avLst/>
          </a:prstGeom>
          <a:solidFill xmlns:a="http://schemas.openxmlformats.org/drawingml/2006/main">
            <a:srgbClr val="ED7F0D"/>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C1264CD6-C914-4E31-9C6C-1266DB2E2B8C}"/>
              </a:ext>
            </a:extLst>
          </p:cNvPr>
          <p:cNvSpPr>
            <a:spLocks xmlns:a="http://schemas.openxmlformats.org/drawingml/2006/main" noGrp="1"/>
          </p:cNvSpPr>
          <p:nvPr/>
        </p:nvSpPr>
        <p:spPr>
          <a:xfrm xmlns:a="http://schemas.openxmlformats.org/drawingml/2006/main">
            <a:off x="647700" y="6486525"/>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6B7580"/>
                </a:solidFill>
              </a:defRPr>
            </a:pPr>
            <a:r>
              <a:rPr sz="825" b="0">
                <a:solidFill>
                  <a:srgbClr val="6B7580"/>
                </a:solidFill>
              </a:rPr>
              <a:t>Nan Jinyao · Paper-aligned group review</a:t>
            </a:r>
          </a:p>
        </p:txBody>
      </p:sp>
      <p:sp>
        <p:nvSpPr>
          <p:cNvPr id="7" name="">
            <a:extLst xmlns:a="http://schemas.openxmlformats.org/drawingml/2006/main">
              <a:ext uri="{FF2B5EF4-FFF2-40B4-BE49-F238E27FC236}">
                <a16:creationId xmlns:a16="http://schemas.microsoft.com/office/drawing/2014/main" id="{A2A5BA44-FA1B-43FA-9199-1B11A58C039F}"/>
              </a:ext>
            </a:extLst>
          </p:cNvPr>
          <p:cNvSpPr>
            <a:spLocks xmlns:a="http://schemas.openxmlformats.org/drawingml/2006/main" noGrp="1"/>
          </p:cNvSpPr>
          <p:nvPr/>
        </p:nvSpPr>
        <p:spPr>
          <a:xfrm xmlns:a="http://schemas.openxmlformats.org/drawingml/2006/main">
            <a:off x="4476750" y="6486525"/>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0">
                <a:solidFill>
                  <a:srgbClr val="6B7580"/>
                </a:solidFill>
              </a:defRPr>
            </a:pPr>
            <a:r>
              <a:rPr sz="825" b="0">
                <a:solidFill>
                  <a:srgbClr val="6B7580"/>
                </a:solidFill>
              </a:rPr>
              <a:t>Introduction · hardware setup</a:t>
            </a:r>
          </a:p>
        </p:txBody>
      </p:sp>
      <p:sp>
        <p:nvSpPr>
          <p:cNvPr id="8" name="">
            <a:extLst xmlns:a="http://schemas.openxmlformats.org/drawingml/2006/main">
              <a:ext uri="{FF2B5EF4-FFF2-40B4-BE49-F238E27FC236}">
                <a16:creationId xmlns:a16="http://schemas.microsoft.com/office/drawing/2014/main" id="{CB80D8D5-853E-4D9C-8EE0-DC322C3DF009}"/>
              </a:ext>
            </a:extLst>
          </p:cNvPr>
          <p:cNvSpPr>
            <a:spLocks xmlns:a="http://schemas.openxmlformats.org/drawingml/2006/main" noGrp="1"/>
          </p:cNvSpPr>
          <p:nvPr/>
        </p:nvSpPr>
        <p:spPr>
          <a:xfrm xmlns:a="http://schemas.openxmlformats.org/drawingml/2006/main">
            <a:off x="11049000" y="648652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004282"/>
                </a:solidFill>
              </a:defRPr>
            </a:pPr>
            <a:r>
              <a:rPr sz="825" b="1">
                <a:solidFill>
                  <a:srgbClr val="004282"/>
                </a:solidFill>
              </a:rPr>
              <a:t>2</a:t>
            </a:r>
          </a:p>
        </p:txBody>
      </p:sp>
      <p:sp>
        <p:nvSpPr>
          <p:cNvPr id="9" name="">
            <a:extLst xmlns:a="http://schemas.openxmlformats.org/drawingml/2006/main">
              <a:ext uri="{FF2B5EF4-FFF2-40B4-BE49-F238E27FC236}">
                <a16:creationId xmlns:a16="http://schemas.microsoft.com/office/drawing/2014/main" id="{74021126-A255-482F-BD29-579396B46C1C}"/>
              </a:ext>
            </a:extLst>
          </p:cNvPr>
          <p:cNvSpPr>
            <a:spLocks xmlns:a="http://schemas.openxmlformats.org/drawingml/2006/main" noGrp="1"/>
          </p:cNvSpPr>
          <p:nvPr/>
        </p:nvSpPr>
        <p:spPr>
          <a:xfrm xmlns:a="http://schemas.openxmlformats.org/drawingml/2006/main">
            <a:off x="781050" y="1866900"/>
            <a:ext cx="76200" cy="76200"/>
          </a:xfrm>
          <a:prstGeom xmlns:a="http://schemas.openxmlformats.org/drawingml/2006/main" prst="ellipse">
            <a:avLst/>
          </a:prstGeom>
          <a:solidFill xmlns:a="http://schemas.openxmlformats.org/drawingml/2006/main">
            <a:srgbClr val="ED7F0D"/>
          </a:solidFill>
          <a:ln xmlns:a="http://schemas.openxmlformats.org/drawingml/2006/main" w="9525">
            <a:solidFill>
              <a:srgbClr val="ED7F0D"/>
            </a:solidFill>
            <a:prstDash val="solid"/>
          </a:ln>
        </p:spPr>
      </p:sp>
      <p:sp>
        <p:nvSpPr>
          <p:cNvPr id="10" name="">
            <a:extLst xmlns:a="http://schemas.openxmlformats.org/drawingml/2006/main">
              <a:ext uri="{FF2B5EF4-FFF2-40B4-BE49-F238E27FC236}">
                <a16:creationId xmlns:a16="http://schemas.microsoft.com/office/drawing/2014/main" id="{C3CA7CC0-0F53-429D-B043-9005586DA7A5}"/>
              </a:ext>
            </a:extLst>
          </p:cNvPr>
          <p:cNvSpPr>
            <a:spLocks xmlns:a="http://schemas.openxmlformats.org/drawingml/2006/main" noGrp="1"/>
          </p:cNvSpPr>
          <p:nvPr/>
        </p:nvSpPr>
        <p:spPr>
          <a:xfrm xmlns:a="http://schemas.openxmlformats.org/drawingml/2006/main">
            <a:off x="990600" y="1771650"/>
            <a:ext cx="35052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152538"/>
                </a:solidFill>
              </a:defRPr>
            </a:pPr>
            <a:r>
              <a:rPr sz="1500" b="0">
                <a:solidFill>
                  <a:srgbClr val="152538"/>
                </a:solidFill>
              </a:rPr>
              <a:t>Vision and CAD first bring the driver above the screw head.</a:t>
            </a:r>
          </a:p>
        </p:txBody>
      </p:sp>
      <p:sp>
        <p:nvSpPr>
          <p:cNvPr id="11" name="">
            <a:extLst xmlns:a="http://schemas.openxmlformats.org/drawingml/2006/main">
              <a:ext uri="{FF2B5EF4-FFF2-40B4-BE49-F238E27FC236}">
                <a16:creationId xmlns:a16="http://schemas.microsoft.com/office/drawing/2014/main" id="{3D367514-8CAA-466C-AFA4-3765725F57DE}"/>
              </a:ext>
            </a:extLst>
          </p:cNvPr>
          <p:cNvSpPr>
            <a:spLocks xmlns:a="http://schemas.openxmlformats.org/drawingml/2006/main" noGrp="1"/>
          </p:cNvSpPr>
          <p:nvPr/>
        </p:nvSpPr>
        <p:spPr>
          <a:xfrm xmlns:a="http://schemas.openxmlformats.org/drawingml/2006/main">
            <a:off x="781050" y="2876550"/>
            <a:ext cx="76200" cy="76200"/>
          </a:xfrm>
          <a:prstGeom xmlns:a="http://schemas.openxmlformats.org/drawingml/2006/main" prst="ellipse">
            <a:avLst/>
          </a:prstGeom>
          <a:solidFill xmlns:a="http://schemas.openxmlformats.org/drawingml/2006/main">
            <a:srgbClr val="ED7F0D"/>
          </a:solidFill>
          <a:ln xmlns:a="http://schemas.openxmlformats.org/drawingml/2006/main" w="9525">
            <a:solidFill>
              <a:srgbClr val="ED7F0D"/>
            </a:solidFill>
            <a:prstDash val="solid"/>
          </a:ln>
        </p:spPr>
      </p:sp>
      <p:sp>
        <p:nvSpPr>
          <p:cNvPr id="12" name="">
            <a:extLst xmlns:a="http://schemas.openxmlformats.org/drawingml/2006/main">
              <a:ext uri="{FF2B5EF4-FFF2-40B4-BE49-F238E27FC236}">
                <a16:creationId xmlns:a16="http://schemas.microsoft.com/office/drawing/2014/main" id="{466F1CE7-DD25-4CB0-B510-DA3F4907A0F3}"/>
              </a:ext>
            </a:extLst>
          </p:cNvPr>
          <p:cNvSpPr>
            <a:spLocks xmlns:a="http://schemas.openxmlformats.org/drawingml/2006/main" noGrp="1"/>
          </p:cNvSpPr>
          <p:nvPr/>
        </p:nvSpPr>
        <p:spPr>
          <a:xfrm xmlns:a="http://schemas.openxmlformats.org/drawingml/2006/main">
            <a:off x="990600" y="2781300"/>
            <a:ext cx="35052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152538"/>
                </a:solidFill>
              </a:defRPr>
            </a:pPr>
            <a:r>
              <a:rPr sz="1500" b="0">
                <a:solidFill>
                  <a:srgbClr val="152538"/>
                </a:solidFill>
              </a:rPr>
              <a:t>The driver must enter the recessed hex socket before torque can be applied.</a:t>
            </a:r>
          </a:p>
        </p:txBody>
      </p:sp>
      <p:sp>
        <p:nvSpPr>
          <p:cNvPr id="13" name="">
            <a:extLst xmlns:a="http://schemas.openxmlformats.org/drawingml/2006/main">
              <a:ext uri="{FF2B5EF4-FFF2-40B4-BE49-F238E27FC236}">
                <a16:creationId xmlns:a16="http://schemas.microsoft.com/office/drawing/2014/main" id="{CF3554CE-B0F5-4445-91B4-35B36C539ED5}"/>
              </a:ext>
            </a:extLst>
          </p:cNvPr>
          <p:cNvSpPr>
            <a:spLocks xmlns:a="http://schemas.openxmlformats.org/drawingml/2006/main" noGrp="1"/>
          </p:cNvSpPr>
          <p:nvPr/>
        </p:nvSpPr>
        <p:spPr>
          <a:xfrm xmlns:a="http://schemas.openxmlformats.org/drawingml/2006/main">
            <a:off x="781050" y="3886200"/>
            <a:ext cx="76200" cy="76200"/>
          </a:xfrm>
          <a:prstGeom xmlns:a="http://schemas.openxmlformats.org/drawingml/2006/main" prst="ellipse">
            <a:avLst/>
          </a:prstGeom>
          <a:solidFill xmlns:a="http://schemas.openxmlformats.org/drawingml/2006/main">
            <a:srgbClr val="ED7F0D"/>
          </a:solidFill>
          <a:ln xmlns:a="http://schemas.openxmlformats.org/drawingml/2006/main" w="9525">
            <a:solidFill>
              <a:srgbClr val="ED7F0D"/>
            </a:solidFill>
            <a:prstDash val="solid"/>
          </a:ln>
        </p:spPr>
      </p:sp>
      <p:sp>
        <p:nvSpPr>
          <p:cNvPr id="14" name="">
            <a:extLst xmlns:a="http://schemas.openxmlformats.org/drawingml/2006/main">
              <a:ext uri="{FF2B5EF4-FFF2-40B4-BE49-F238E27FC236}">
                <a16:creationId xmlns:a16="http://schemas.microsoft.com/office/drawing/2014/main" id="{4D21976C-458A-4465-A17A-E19BF3093C1A}"/>
              </a:ext>
            </a:extLst>
          </p:cNvPr>
          <p:cNvSpPr>
            <a:spLocks xmlns:a="http://schemas.openxmlformats.org/drawingml/2006/main" noGrp="1"/>
          </p:cNvSpPr>
          <p:nvPr/>
        </p:nvSpPr>
        <p:spPr>
          <a:xfrm xmlns:a="http://schemas.openxmlformats.org/drawingml/2006/main">
            <a:off x="990600" y="3790950"/>
            <a:ext cx="35052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152538"/>
                </a:solidFill>
              </a:defRPr>
            </a:pPr>
            <a:r>
              <a:rPr sz="1500" b="0">
                <a:solidFill>
                  <a:srgbClr val="152538"/>
                </a:solidFill>
              </a:rPr>
              <a:t>Only then can the robot turn the screw, release the thread and extract it.</a:t>
            </a:r>
          </a:p>
        </p:txBody>
      </p:sp>
      <p:sp>
        <p:nvSpPr>
          <p:cNvPr id="15" name="">
            <a:extLst xmlns:a="http://schemas.openxmlformats.org/drawingml/2006/main">
              <a:ext uri="{FF2B5EF4-FFF2-40B4-BE49-F238E27FC236}">
                <a16:creationId xmlns:a16="http://schemas.microsoft.com/office/drawing/2014/main" id="{4FEF2DC7-BC87-47EA-BBCE-2163D9F9AA73}"/>
              </a:ext>
            </a:extLst>
          </p:cNvPr>
          <p:cNvSpPr>
            <a:spLocks xmlns:a="http://schemas.openxmlformats.org/drawingml/2006/main" noGrp="1"/>
          </p:cNvSpPr>
          <p:nvPr/>
        </p:nvSpPr>
        <p:spPr>
          <a:xfrm xmlns:a="http://schemas.openxmlformats.org/drawingml/2006/main">
            <a:off x="4686300" y="1485900"/>
            <a:ext cx="6705600" cy="4248150"/>
          </a:xfrm>
          <a:prstGeom xmlns:a="http://schemas.openxmlformats.org/drawingml/2006/main" prst="roundRect">
            <a:avLst>
              <a:gd name="adj" fmla="val 1794"/>
            </a:avLst>
          </a:prstGeom>
          <a:solidFill xmlns:a="http://schemas.openxmlformats.org/drawingml/2006/main">
            <a:srgbClr val="FFFFFF"/>
          </a:solidFill>
          <a:ln xmlns:a="http://schemas.openxmlformats.org/drawingml/2006/main" w="9525">
            <a:solidFill>
              <a:srgbClr val="D9E0E6"/>
            </a:solidFill>
            <a:prstDash val="solid"/>
          </a:ln>
        </p:spPr>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b5818f3cbe794ba7"/>
          <a:stretch xmlns:a="http://schemas.openxmlformats.org/drawingml/2006/main"/>
        </p:blipFill>
        <p:spPr>
          <a:xfrm xmlns:a="http://schemas.openxmlformats.org/drawingml/2006/main">
            <a:off x="4967288" y="1562100"/>
            <a:ext cx="6143625" cy="4095750"/>
          </a:xfrm>
          <a:prstGeom xmlns:a="http://schemas.openxmlformats.org/drawingml/2006/main" prst="roundRect">
            <a:avLst>
              <a:gd name="adj" fmla="val 1860"/>
            </a:avLst>
          </a:prstGeom>
        </p:spPr>
      </p:pic>
      <p:sp>
        <p:nvSpPr>
          <p:cNvPr id="17" name="">
            <a:extLst xmlns:a="http://schemas.openxmlformats.org/drawingml/2006/main">
              <a:ext uri="{FF2B5EF4-FFF2-40B4-BE49-F238E27FC236}">
                <a16:creationId xmlns:a16="http://schemas.microsoft.com/office/drawing/2014/main" id="{82758222-E1CE-445C-9615-4F934B7E003D}"/>
              </a:ext>
            </a:extLst>
          </p:cNvPr>
          <p:cNvSpPr>
            <a:spLocks xmlns:a="http://schemas.openxmlformats.org/drawingml/2006/main" noGrp="1"/>
          </p:cNvSpPr>
          <p:nvPr/>
        </p:nvSpPr>
        <p:spPr>
          <a:xfrm xmlns:a="http://schemas.openxmlformats.org/drawingml/2006/main">
            <a:off x="647700" y="5943600"/>
            <a:ext cx="10839450" cy="400050"/>
          </a:xfrm>
          <a:prstGeom xmlns:a="http://schemas.openxmlformats.org/drawingml/2006/main" prst="rect">
            <a:avLst/>
          </a:prstGeom>
          <a:solidFill xmlns:a="http://schemas.openxmlformats.org/drawingml/2006/main">
            <a:srgbClr val="FFF0E2"/>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B2671326-4E7F-499B-9998-11B2B86FD5EC}"/>
              </a:ext>
            </a:extLst>
          </p:cNvPr>
          <p:cNvSpPr>
            <a:spLocks xmlns:a="http://schemas.openxmlformats.org/drawingml/2006/main" noGrp="1"/>
          </p:cNvSpPr>
          <p:nvPr/>
        </p:nvSpPr>
        <p:spPr>
          <a:xfrm xmlns:a="http://schemas.openxmlformats.org/drawingml/2006/main">
            <a:off x="647700" y="5943600"/>
            <a:ext cx="57150" cy="400050"/>
          </a:xfrm>
          <a:prstGeom xmlns:a="http://schemas.openxmlformats.org/drawingml/2006/main" prst="rect">
            <a:avLst/>
          </a:prstGeom>
          <a:solidFill xmlns:a="http://schemas.openxmlformats.org/drawingml/2006/main">
            <a:srgbClr val="ED7F0D"/>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E29993CF-A7FB-4737-A63C-9561898D531F}"/>
              </a:ext>
            </a:extLst>
          </p:cNvPr>
          <p:cNvSpPr>
            <a:spLocks xmlns:a="http://schemas.openxmlformats.org/drawingml/2006/main" noGrp="1"/>
          </p:cNvSpPr>
          <p:nvPr/>
        </p:nvSpPr>
        <p:spPr>
          <a:xfrm xmlns:a="http://schemas.openxmlformats.org/drawingml/2006/main">
            <a:off x="838200" y="5981700"/>
            <a:ext cx="10458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152538"/>
                </a:solidFill>
              </a:defRPr>
            </a:pPr>
            <a:r>
              <a:rPr sz="1275" b="1">
                <a:solidFill>
                  <a:srgbClr val="152538"/>
                </a:solidFill>
              </a:rPr>
              <a:t>Task context only: complete unscrewing was not evaluated in this paper.</a:t>
            </a:r>
          </a:p>
        </p:txBody>
      </p:sp>
    </p:spTree>
    <p:extLst>
      <p:ext uri="{BB962C8B-B14F-4D97-AF65-F5344CB8AC3E}">
        <p14:creationId xmlns:p14="http://schemas.microsoft.com/office/powerpoint/2010/main" val="1137174721"/>
      </p:ext>
    </p:extLst>
  </p:cSld>
</p:sld>
</file>

<file path=ppt/slides/slide3.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F75E6FB-CF98-4CD0-B157-B62492F4AEAC}"/>
              </a:ext>
            </a:extLst>
          </p:cNvPr>
          <p:cNvSpPr>
            <a:spLocks xmlns:a="http://schemas.openxmlformats.org/drawingml/2006/main" noGrp="1"/>
          </p:cNvSpPr>
          <p:nvPr/>
        </p:nvSpPr>
        <p:spPr>
          <a:xfrm xmlns:a="http://schemas.openxmlformats.org/drawingml/2006/main">
            <a:off x="647700" y="2286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ED7F0D"/>
                </a:solidFill>
              </a:defRPr>
            </a:pPr>
            <a:r>
              <a:rPr sz="1050" b="1">
                <a:solidFill>
                  <a:srgbClr val="ED7F0D"/>
                </a:solidFill>
              </a:rPr>
              <a:t>03</a:t>
            </a:r>
          </a:p>
        </p:txBody>
      </p:sp>
      <p:sp>
        <p:nvSpPr>
          <p:cNvPr id="2" name="">
            <a:extLst xmlns:a="http://schemas.openxmlformats.org/drawingml/2006/main">
              <a:ext uri="{FF2B5EF4-FFF2-40B4-BE49-F238E27FC236}">
                <a16:creationId xmlns:a16="http://schemas.microsoft.com/office/drawing/2014/main" id="{4B8E6826-8A6C-458F-A4F0-32FF5F1C0084}"/>
              </a:ext>
            </a:extLst>
          </p:cNvPr>
          <p:cNvSpPr>
            <a:spLocks xmlns:a="http://schemas.openxmlformats.org/drawingml/2006/main" noGrp="1"/>
          </p:cNvSpPr>
          <p:nvPr/>
        </p:nvSpPr>
        <p:spPr>
          <a:xfrm xmlns:a="http://schemas.openxmlformats.org/drawingml/2006/main">
            <a:off x="1104900" y="22860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6B7580"/>
                </a:solidFill>
              </a:defRPr>
            </a:pPr>
            <a:r>
              <a:rPr sz="975" b="1">
                <a:solidFill>
                  <a:srgbClr val="6B7580"/>
                </a:solidFill>
              </a:rPr>
              <a:t>PROBLEM</a:t>
            </a:r>
          </a:p>
        </p:txBody>
      </p:sp>
      <p:sp>
        <p:nvSpPr>
          <p:cNvPr id="3" name="">
            <a:extLst xmlns:a="http://schemas.openxmlformats.org/drawingml/2006/main">
              <a:ext uri="{FF2B5EF4-FFF2-40B4-BE49-F238E27FC236}">
                <a16:creationId xmlns:a16="http://schemas.microsoft.com/office/drawing/2014/main" id="{5D1CEB2B-E356-4550-9770-1B8AFDD477CA}"/>
              </a:ext>
            </a:extLst>
          </p:cNvPr>
          <p:cNvSpPr>
            <a:spLocks xmlns:a="http://schemas.openxmlformats.org/drawingml/2006/main" noGrp="1"/>
          </p:cNvSpPr>
          <p:nvPr/>
        </p:nvSpPr>
        <p:spPr>
          <a:xfrm xmlns:a="http://schemas.openxmlformats.org/drawingml/2006/main">
            <a:off x="6191250" y="228600"/>
            <a:ext cx="5353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0">
                <a:solidFill>
                  <a:srgbClr val="6B7580"/>
                </a:solidFill>
              </a:defRPr>
            </a:pPr>
            <a:r>
              <a:rPr sz="825" b="0">
                <a:solidFill>
                  <a:srgbClr val="6B7580"/>
                </a:solidFill>
              </a:rPr>
              <a:t>● Problem   Task   Framework   Simulation   Hardware   Discussion</a:t>
            </a:r>
          </a:p>
        </p:txBody>
      </p:sp>
      <p:sp>
        <p:nvSpPr>
          <p:cNvPr id="4" name="">
            <a:extLst xmlns:a="http://schemas.openxmlformats.org/drawingml/2006/main">
              <a:ext uri="{FF2B5EF4-FFF2-40B4-BE49-F238E27FC236}">
                <a16:creationId xmlns:a16="http://schemas.microsoft.com/office/drawing/2014/main" id="{0C3F99DE-5761-4ABD-A8E2-1294F21B1823}"/>
              </a:ext>
            </a:extLst>
          </p:cNvPr>
          <p:cNvSpPr>
            <a:spLocks xmlns:a="http://schemas.openxmlformats.org/drawingml/2006/main" noGrp="1"/>
          </p:cNvSpPr>
          <p:nvPr/>
        </p:nvSpPr>
        <p:spPr>
          <a:xfrm xmlns:a="http://schemas.openxmlformats.org/drawingml/2006/main">
            <a:off x="647700" y="533400"/>
            <a:ext cx="108394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004282"/>
                </a:solidFill>
              </a:defRPr>
            </a:pPr>
            <a:r>
              <a:rPr sz="2850" b="1">
                <a:solidFill>
                  <a:srgbClr val="004282"/>
                </a:solidFill>
              </a:rPr>
              <a:t>Engagement is the gate before torque can begin</a:t>
            </a:r>
          </a:p>
        </p:txBody>
      </p:sp>
      <p:sp>
        <p:nvSpPr>
          <p:cNvPr id="5" name="">
            <a:extLst xmlns:a="http://schemas.openxmlformats.org/drawingml/2006/main">
              <a:ext uri="{FF2B5EF4-FFF2-40B4-BE49-F238E27FC236}">
                <a16:creationId xmlns:a16="http://schemas.microsoft.com/office/drawing/2014/main" id="{B146FAAA-5911-4EEB-9D1D-E7CDD439D8CF}"/>
              </a:ext>
            </a:extLst>
          </p:cNvPr>
          <p:cNvSpPr>
            <a:spLocks xmlns:a="http://schemas.openxmlformats.org/drawingml/2006/main" noGrp="1"/>
          </p:cNvSpPr>
          <p:nvPr/>
        </p:nvSpPr>
        <p:spPr>
          <a:xfrm xmlns:a="http://schemas.openxmlformats.org/drawingml/2006/main">
            <a:off x="647700" y="1257300"/>
            <a:ext cx="609600" cy="47625"/>
          </a:xfrm>
          <a:prstGeom xmlns:a="http://schemas.openxmlformats.org/drawingml/2006/main" prst="rect">
            <a:avLst/>
          </a:prstGeom>
          <a:solidFill xmlns:a="http://schemas.openxmlformats.org/drawingml/2006/main">
            <a:srgbClr val="ED7F0D"/>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63927FF3-0E3E-47DE-A9E3-93AA610F4DD5}"/>
              </a:ext>
            </a:extLst>
          </p:cNvPr>
          <p:cNvSpPr>
            <a:spLocks xmlns:a="http://schemas.openxmlformats.org/drawingml/2006/main" noGrp="1"/>
          </p:cNvSpPr>
          <p:nvPr/>
        </p:nvSpPr>
        <p:spPr>
          <a:xfrm xmlns:a="http://schemas.openxmlformats.org/drawingml/2006/main">
            <a:off x="647700" y="6486525"/>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6B7580"/>
                </a:solidFill>
              </a:defRPr>
            </a:pPr>
            <a:r>
              <a:rPr sz="825" b="0">
                <a:solidFill>
                  <a:srgbClr val="6B7580"/>
                </a:solidFill>
              </a:rPr>
              <a:t>Nan Jinyao · Paper-aligned group review</a:t>
            </a:r>
          </a:p>
        </p:txBody>
      </p:sp>
      <p:sp>
        <p:nvSpPr>
          <p:cNvPr id="7" name="">
            <a:extLst xmlns:a="http://schemas.openxmlformats.org/drawingml/2006/main">
              <a:ext uri="{FF2B5EF4-FFF2-40B4-BE49-F238E27FC236}">
                <a16:creationId xmlns:a16="http://schemas.microsoft.com/office/drawing/2014/main" id="{9722D055-3FEA-40D1-A572-87EB0DB97412}"/>
              </a:ext>
            </a:extLst>
          </p:cNvPr>
          <p:cNvSpPr>
            <a:spLocks xmlns:a="http://schemas.openxmlformats.org/drawingml/2006/main" noGrp="1"/>
          </p:cNvSpPr>
          <p:nvPr/>
        </p:nvSpPr>
        <p:spPr>
          <a:xfrm xmlns:a="http://schemas.openxmlformats.org/drawingml/2006/main">
            <a:off x="4476750" y="6486525"/>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0">
                <a:solidFill>
                  <a:srgbClr val="6B7580"/>
                </a:solidFill>
              </a:defRPr>
            </a:pPr>
            <a:r>
              <a:rPr sz="825" b="0">
                <a:solidFill>
                  <a:srgbClr val="6B7580"/>
                </a:solidFill>
              </a:rPr>
              <a:t>Introduction · Discussion</a:t>
            </a:r>
          </a:p>
        </p:txBody>
      </p:sp>
      <p:sp>
        <p:nvSpPr>
          <p:cNvPr id="8" name="">
            <a:extLst xmlns:a="http://schemas.openxmlformats.org/drawingml/2006/main">
              <a:ext uri="{FF2B5EF4-FFF2-40B4-BE49-F238E27FC236}">
                <a16:creationId xmlns:a16="http://schemas.microsoft.com/office/drawing/2014/main" id="{4F914746-B13A-4497-B5ED-9CE0ECA4553B}"/>
              </a:ext>
            </a:extLst>
          </p:cNvPr>
          <p:cNvSpPr>
            <a:spLocks xmlns:a="http://schemas.openxmlformats.org/drawingml/2006/main" noGrp="1"/>
          </p:cNvSpPr>
          <p:nvPr/>
        </p:nvSpPr>
        <p:spPr>
          <a:xfrm xmlns:a="http://schemas.openxmlformats.org/drawingml/2006/main">
            <a:off x="11049000" y="648652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004282"/>
                </a:solidFill>
              </a:defRPr>
            </a:pPr>
            <a:r>
              <a:rPr sz="825" b="1">
                <a:solidFill>
                  <a:srgbClr val="004282"/>
                </a:solidFill>
              </a:rPr>
              <a:t>3</a:t>
            </a:r>
          </a:p>
        </p:txBody>
      </p:sp>
      <p:sp>
        <p:nvSpPr>
          <p:cNvPr id="9" name="">
            <a:extLst xmlns:a="http://schemas.openxmlformats.org/drawingml/2006/main">
              <a:ext uri="{FF2B5EF4-FFF2-40B4-BE49-F238E27FC236}">
                <a16:creationId xmlns:a16="http://schemas.microsoft.com/office/drawing/2014/main" id="{25636012-BD35-49FB-A8E6-C074722B94AE}"/>
              </a:ext>
            </a:extLst>
          </p:cNvPr>
          <p:cNvSpPr>
            <a:spLocks xmlns:a="http://schemas.openxmlformats.org/drawingml/2006/main" noGrp="1"/>
          </p:cNvSpPr>
          <p:nvPr/>
        </p:nvSpPr>
        <p:spPr>
          <a:xfrm xmlns:a="http://schemas.openxmlformats.org/drawingml/2006/main">
            <a:off x="704850" y="2419350"/>
            <a:ext cx="1952625"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D9E0E6"/>
            </a:solidFill>
            <a:prstDash val="solid"/>
          </a:ln>
        </p:spPr>
      </p:sp>
      <p:sp>
        <p:nvSpPr>
          <p:cNvPr id="10" name="">
            <a:extLst xmlns:a="http://schemas.openxmlformats.org/drawingml/2006/main">
              <a:ext uri="{FF2B5EF4-FFF2-40B4-BE49-F238E27FC236}">
                <a16:creationId xmlns:a16="http://schemas.microsoft.com/office/drawing/2014/main" id="{02475286-3BDD-442A-B6A5-C213626900DF}"/>
              </a:ext>
            </a:extLst>
          </p:cNvPr>
          <p:cNvSpPr>
            <a:spLocks xmlns:a="http://schemas.openxmlformats.org/drawingml/2006/main" noGrp="1"/>
          </p:cNvSpPr>
          <p:nvPr/>
        </p:nvSpPr>
        <p:spPr>
          <a:xfrm xmlns:a="http://schemas.openxmlformats.org/drawingml/2006/main">
            <a:off x="819150" y="2533650"/>
            <a:ext cx="228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6B7580"/>
                </a:solidFill>
              </a:defRPr>
            </a:pPr>
            <a:r>
              <a:rPr sz="1050" b="1">
                <a:solidFill>
                  <a:srgbClr val="6B7580"/>
                </a:solidFill>
              </a:rPr>
              <a:t>1</a:t>
            </a:r>
          </a:p>
        </p:txBody>
      </p:sp>
      <p:sp>
        <p:nvSpPr>
          <p:cNvPr id="11" name="">
            <a:extLst xmlns:a="http://schemas.openxmlformats.org/drawingml/2006/main">
              <a:ext uri="{FF2B5EF4-FFF2-40B4-BE49-F238E27FC236}">
                <a16:creationId xmlns:a16="http://schemas.microsoft.com/office/drawing/2014/main" id="{4E852C0C-638C-4967-B0D8-459DDCAB4DD9}"/>
              </a:ext>
            </a:extLst>
          </p:cNvPr>
          <p:cNvSpPr>
            <a:spLocks xmlns:a="http://schemas.openxmlformats.org/drawingml/2006/main" noGrp="1"/>
          </p:cNvSpPr>
          <p:nvPr/>
        </p:nvSpPr>
        <p:spPr>
          <a:xfrm xmlns:a="http://schemas.openxmlformats.org/drawingml/2006/main">
            <a:off x="876300" y="2819400"/>
            <a:ext cx="16097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1">
                <a:solidFill>
                  <a:srgbClr val="152538"/>
                </a:solidFill>
              </a:defRPr>
            </a:pPr>
            <a:r>
              <a:rPr sz="1425" b="1">
                <a:solidFill>
                  <a:srgbClr val="152538"/>
                </a:solidFill>
              </a:rPr>
              <a:t>Visual alignment</a:t>
            </a:r>
          </a:p>
        </p:txBody>
      </p:sp>
      <p:sp>
        <p:nvSpPr>
          <p:cNvPr id="12" name="">
            <a:extLst xmlns:a="http://schemas.openxmlformats.org/drawingml/2006/main">
              <a:ext uri="{FF2B5EF4-FFF2-40B4-BE49-F238E27FC236}">
                <a16:creationId xmlns:a16="http://schemas.microsoft.com/office/drawing/2014/main" id="{EBEE0572-A336-4E57-B22E-F7B78FA4D728}"/>
              </a:ext>
            </a:extLst>
          </p:cNvPr>
          <p:cNvSpPr>
            <a:spLocks xmlns:a="http://schemas.openxmlformats.org/drawingml/2006/main" noGrp="1"/>
          </p:cNvSpPr>
          <p:nvPr/>
        </p:nvSpPr>
        <p:spPr>
          <a:xfrm xmlns:a="http://schemas.openxmlformats.org/drawingml/2006/main">
            <a:off x="2686050" y="2819400"/>
            <a:ext cx="152400" cy="266700"/>
          </a:xfrm>
          <a:prstGeom xmlns:a="http://schemas.openxmlformats.org/drawingml/2006/main" prst="rightArrow">
            <a:avLst/>
          </a:prstGeom>
          <a:solidFill xmlns:a="http://schemas.openxmlformats.org/drawingml/2006/main">
            <a:srgbClr val="D9E0E6"/>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EF787F39-D645-4D3F-A44B-CC3A304BC9C4}"/>
              </a:ext>
            </a:extLst>
          </p:cNvPr>
          <p:cNvSpPr>
            <a:spLocks xmlns:a="http://schemas.openxmlformats.org/drawingml/2006/main" noGrp="1"/>
          </p:cNvSpPr>
          <p:nvPr/>
        </p:nvSpPr>
        <p:spPr>
          <a:xfrm xmlns:a="http://schemas.openxmlformats.org/drawingml/2006/main">
            <a:off x="2867025" y="2419350"/>
            <a:ext cx="1952625" cy="1066800"/>
          </a:xfrm>
          <a:prstGeom xmlns:a="http://schemas.openxmlformats.org/drawingml/2006/main" prst="roundRect">
            <a:avLst>
              <a:gd name="adj" fmla="val 7143"/>
            </a:avLst>
          </a:prstGeom>
          <a:solidFill xmlns:a="http://schemas.openxmlformats.org/drawingml/2006/main">
            <a:srgbClr val="ED7F0D"/>
          </a:solidFill>
          <a:ln xmlns:a="http://schemas.openxmlformats.org/drawingml/2006/main" w="19050">
            <a:solidFill>
              <a:srgbClr val="ED7F0D"/>
            </a:solidFill>
            <a:prstDash val="solid"/>
          </a:ln>
        </p:spPr>
      </p:sp>
      <p:sp>
        <p:nvSpPr>
          <p:cNvPr id="14" name="">
            <a:extLst xmlns:a="http://schemas.openxmlformats.org/drawingml/2006/main">
              <a:ext uri="{FF2B5EF4-FFF2-40B4-BE49-F238E27FC236}">
                <a16:creationId xmlns:a16="http://schemas.microsoft.com/office/drawing/2014/main" id="{64104108-1418-4542-B7FE-772C061DDCF3}"/>
              </a:ext>
            </a:extLst>
          </p:cNvPr>
          <p:cNvSpPr>
            <a:spLocks xmlns:a="http://schemas.openxmlformats.org/drawingml/2006/main" noGrp="1"/>
          </p:cNvSpPr>
          <p:nvPr/>
        </p:nvSpPr>
        <p:spPr>
          <a:xfrm xmlns:a="http://schemas.openxmlformats.org/drawingml/2006/main">
            <a:off x="2981325" y="2533650"/>
            <a:ext cx="228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FFFFFF"/>
                </a:solidFill>
              </a:defRPr>
            </a:pPr>
            <a:r>
              <a:rPr sz="1050" b="1">
                <a:solidFill>
                  <a:srgbClr val="FFFFFF"/>
                </a:solidFill>
              </a:rPr>
              <a:t>2</a:t>
            </a:r>
          </a:p>
        </p:txBody>
      </p:sp>
      <p:sp>
        <p:nvSpPr>
          <p:cNvPr id="15" name="">
            <a:extLst xmlns:a="http://schemas.openxmlformats.org/drawingml/2006/main">
              <a:ext uri="{FF2B5EF4-FFF2-40B4-BE49-F238E27FC236}">
                <a16:creationId xmlns:a16="http://schemas.microsoft.com/office/drawing/2014/main" id="{2B7CCC41-FAC9-44F0-AD99-8BA6CBD80454}"/>
              </a:ext>
            </a:extLst>
          </p:cNvPr>
          <p:cNvSpPr>
            <a:spLocks xmlns:a="http://schemas.openxmlformats.org/drawingml/2006/main" noGrp="1"/>
          </p:cNvSpPr>
          <p:nvPr/>
        </p:nvSpPr>
        <p:spPr>
          <a:xfrm xmlns:a="http://schemas.openxmlformats.org/drawingml/2006/main">
            <a:off x="3038475" y="2819400"/>
            <a:ext cx="16097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1">
                <a:solidFill>
                  <a:srgbClr val="FFFFFF"/>
                </a:solidFill>
              </a:defRPr>
            </a:pPr>
            <a:r>
              <a:rPr sz="1425" b="1">
                <a:solidFill>
                  <a:srgbClr val="FFFFFF"/>
                </a:solidFill>
              </a:rPr>
              <a:t>Geometric engagement</a:t>
            </a:r>
          </a:p>
        </p:txBody>
      </p:sp>
      <p:sp>
        <p:nvSpPr>
          <p:cNvPr id="16" name="">
            <a:extLst xmlns:a="http://schemas.openxmlformats.org/drawingml/2006/main">
              <a:ext uri="{FF2B5EF4-FFF2-40B4-BE49-F238E27FC236}">
                <a16:creationId xmlns:a16="http://schemas.microsoft.com/office/drawing/2014/main" id="{3112503A-FCC8-4F66-9A9E-94CA8DD87334}"/>
              </a:ext>
            </a:extLst>
          </p:cNvPr>
          <p:cNvSpPr>
            <a:spLocks xmlns:a="http://schemas.openxmlformats.org/drawingml/2006/main" noGrp="1"/>
          </p:cNvSpPr>
          <p:nvPr/>
        </p:nvSpPr>
        <p:spPr>
          <a:xfrm xmlns:a="http://schemas.openxmlformats.org/drawingml/2006/main">
            <a:off x="4848225" y="2819400"/>
            <a:ext cx="152400" cy="266700"/>
          </a:xfrm>
          <a:prstGeom xmlns:a="http://schemas.openxmlformats.org/drawingml/2006/main" prst="rightArrow">
            <a:avLst/>
          </a:prstGeom>
          <a:solidFill xmlns:a="http://schemas.openxmlformats.org/drawingml/2006/main">
            <a:srgbClr val="D9E0E6"/>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9570B40B-D410-4DC9-BBB5-E0F20C0AC1A7}"/>
              </a:ext>
            </a:extLst>
          </p:cNvPr>
          <p:cNvSpPr>
            <a:spLocks xmlns:a="http://schemas.openxmlformats.org/drawingml/2006/main" noGrp="1"/>
          </p:cNvSpPr>
          <p:nvPr/>
        </p:nvSpPr>
        <p:spPr>
          <a:xfrm xmlns:a="http://schemas.openxmlformats.org/drawingml/2006/main">
            <a:off x="5029200" y="2419350"/>
            <a:ext cx="1952625"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D9E0E6"/>
            </a:solidFill>
            <a:prstDash val="solid"/>
          </a:ln>
        </p:spPr>
      </p:sp>
      <p:sp>
        <p:nvSpPr>
          <p:cNvPr id="18" name="">
            <a:extLst xmlns:a="http://schemas.openxmlformats.org/drawingml/2006/main">
              <a:ext uri="{FF2B5EF4-FFF2-40B4-BE49-F238E27FC236}">
                <a16:creationId xmlns:a16="http://schemas.microsoft.com/office/drawing/2014/main" id="{7C1A3EA9-8E3E-4DB5-86DA-E11D23F36A32}"/>
              </a:ext>
            </a:extLst>
          </p:cNvPr>
          <p:cNvSpPr>
            <a:spLocks xmlns:a="http://schemas.openxmlformats.org/drawingml/2006/main" noGrp="1"/>
          </p:cNvSpPr>
          <p:nvPr/>
        </p:nvSpPr>
        <p:spPr>
          <a:xfrm xmlns:a="http://schemas.openxmlformats.org/drawingml/2006/main">
            <a:off x="5143500" y="2533650"/>
            <a:ext cx="228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6B7580"/>
                </a:solidFill>
              </a:defRPr>
            </a:pPr>
            <a:r>
              <a:rPr sz="1050" b="1">
                <a:solidFill>
                  <a:srgbClr val="6B7580"/>
                </a:solidFill>
              </a:rPr>
              <a:t>3</a:t>
            </a:r>
          </a:p>
        </p:txBody>
      </p:sp>
      <p:sp>
        <p:nvSpPr>
          <p:cNvPr id="19" name="">
            <a:extLst xmlns:a="http://schemas.openxmlformats.org/drawingml/2006/main">
              <a:ext uri="{FF2B5EF4-FFF2-40B4-BE49-F238E27FC236}">
                <a16:creationId xmlns:a16="http://schemas.microsoft.com/office/drawing/2014/main" id="{91920C9A-275A-4F23-BFF5-2E52A34DCA84}"/>
              </a:ext>
            </a:extLst>
          </p:cNvPr>
          <p:cNvSpPr>
            <a:spLocks xmlns:a="http://schemas.openxmlformats.org/drawingml/2006/main" noGrp="1"/>
          </p:cNvSpPr>
          <p:nvPr/>
        </p:nvSpPr>
        <p:spPr>
          <a:xfrm xmlns:a="http://schemas.openxmlformats.org/drawingml/2006/main">
            <a:off x="5200650" y="2819400"/>
            <a:ext cx="16097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1">
                <a:solidFill>
                  <a:srgbClr val="152538"/>
                </a:solidFill>
              </a:defRPr>
            </a:pPr>
            <a:r>
              <a:rPr sz="1425" b="1">
                <a:solidFill>
                  <a:srgbClr val="152538"/>
                </a:solidFill>
              </a:rPr>
              <a:t>Torque coupling</a:t>
            </a:r>
          </a:p>
        </p:txBody>
      </p:sp>
      <p:sp>
        <p:nvSpPr>
          <p:cNvPr id="20" name="">
            <a:extLst xmlns:a="http://schemas.openxmlformats.org/drawingml/2006/main">
              <a:ext uri="{FF2B5EF4-FFF2-40B4-BE49-F238E27FC236}">
                <a16:creationId xmlns:a16="http://schemas.microsoft.com/office/drawing/2014/main" id="{7B35841E-7EF8-429F-AAF9-6441550428A3}"/>
              </a:ext>
            </a:extLst>
          </p:cNvPr>
          <p:cNvSpPr>
            <a:spLocks xmlns:a="http://schemas.openxmlformats.org/drawingml/2006/main" noGrp="1"/>
          </p:cNvSpPr>
          <p:nvPr/>
        </p:nvSpPr>
        <p:spPr>
          <a:xfrm xmlns:a="http://schemas.openxmlformats.org/drawingml/2006/main">
            <a:off x="7010400" y="2819400"/>
            <a:ext cx="152400" cy="266700"/>
          </a:xfrm>
          <a:prstGeom xmlns:a="http://schemas.openxmlformats.org/drawingml/2006/main" prst="rightArrow">
            <a:avLst/>
          </a:prstGeom>
          <a:solidFill xmlns:a="http://schemas.openxmlformats.org/drawingml/2006/main">
            <a:srgbClr val="D9E0E6"/>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120B3299-6633-4889-968A-20713D4A353C}"/>
              </a:ext>
            </a:extLst>
          </p:cNvPr>
          <p:cNvSpPr>
            <a:spLocks xmlns:a="http://schemas.openxmlformats.org/drawingml/2006/main" noGrp="1"/>
          </p:cNvSpPr>
          <p:nvPr/>
        </p:nvSpPr>
        <p:spPr>
          <a:xfrm xmlns:a="http://schemas.openxmlformats.org/drawingml/2006/main">
            <a:off x="7191375" y="2419350"/>
            <a:ext cx="1952625"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D9E0E6"/>
            </a:solidFill>
            <a:prstDash val="solid"/>
          </a:ln>
        </p:spPr>
      </p:sp>
      <p:sp>
        <p:nvSpPr>
          <p:cNvPr id="22" name="">
            <a:extLst xmlns:a="http://schemas.openxmlformats.org/drawingml/2006/main">
              <a:ext uri="{FF2B5EF4-FFF2-40B4-BE49-F238E27FC236}">
                <a16:creationId xmlns:a16="http://schemas.microsoft.com/office/drawing/2014/main" id="{E3B2AB84-FF7F-4053-B63E-06710DBC4E47}"/>
              </a:ext>
            </a:extLst>
          </p:cNvPr>
          <p:cNvSpPr>
            <a:spLocks xmlns:a="http://schemas.openxmlformats.org/drawingml/2006/main" noGrp="1"/>
          </p:cNvSpPr>
          <p:nvPr/>
        </p:nvSpPr>
        <p:spPr>
          <a:xfrm xmlns:a="http://schemas.openxmlformats.org/drawingml/2006/main">
            <a:off x="7305675" y="2533650"/>
            <a:ext cx="228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6B7580"/>
                </a:solidFill>
              </a:defRPr>
            </a:pPr>
            <a:r>
              <a:rPr sz="1050" b="1">
                <a:solidFill>
                  <a:srgbClr val="6B7580"/>
                </a:solidFill>
              </a:rPr>
              <a:t>4</a:t>
            </a:r>
          </a:p>
        </p:txBody>
      </p:sp>
      <p:sp>
        <p:nvSpPr>
          <p:cNvPr id="23" name="">
            <a:extLst xmlns:a="http://schemas.openxmlformats.org/drawingml/2006/main">
              <a:ext uri="{FF2B5EF4-FFF2-40B4-BE49-F238E27FC236}">
                <a16:creationId xmlns:a16="http://schemas.microsoft.com/office/drawing/2014/main" id="{CB8D4860-DFF7-4119-8F4F-CED688B98C51}"/>
              </a:ext>
            </a:extLst>
          </p:cNvPr>
          <p:cNvSpPr>
            <a:spLocks xmlns:a="http://schemas.openxmlformats.org/drawingml/2006/main" noGrp="1"/>
          </p:cNvSpPr>
          <p:nvPr/>
        </p:nvSpPr>
        <p:spPr>
          <a:xfrm xmlns:a="http://schemas.openxmlformats.org/drawingml/2006/main">
            <a:off x="7362825" y="2819400"/>
            <a:ext cx="16097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1">
                <a:solidFill>
                  <a:srgbClr val="152538"/>
                </a:solidFill>
              </a:defRPr>
            </a:pPr>
            <a:r>
              <a:rPr sz="1425" b="1">
                <a:solidFill>
                  <a:srgbClr val="152538"/>
                </a:solidFill>
              </a:rPr>
              <a:t>Thread release</a:t>
            </a:r>
          </a:p>
        </p:txBody>
      </p:sp>
      <p:sp>
        <p:nvSpPr>
          <p:cNvPr id="24" name="">
            <a:extLst xmlns:a="http://schemas.openxmlformats.org/drawingml/2006/main">
              <a:ext uri="{FF2B5EF4-FFF2-40B4-BE49-F238E27FC236}">
                <a16:creationId xmlns:a16="http://schemas.microsoft.com/office/drawing/2014/main" id="{3931F1BC-63E6-40BF-8260-4E323EAF4192}"/>
              </a:ext>
            </a:extLst>
          </p:cNvPr>
          <p:cNvSpPr>
            <a:spLocks xmlns:a="http://schemas.openxmlformats.org/drawingml/2006/main" noGrp="1"/>
          </p:cNvSpPr>
          <p:nvPr/>
        </p:nvSpPr>
        <p:spPr>
          <a:xfrm xmlns:a="http://schemas.openxmlformats.org/drawingml/2006/main">
            <a:off x="9172575" y="2819400"/>
            <a:ext cx="152400" cy="266700"/>
          </a:xfrm>
          <a:prstGeom xmlns:a="http://schemas.openxmlformats.org/drawingml/2006/main" prst="rightArrow">
            <a:avLst/>
          </a:prstGeom>
          <a:solidFill xmlns:a="http://schemas.openxmlformats.org/drawingml/2006/main">
            <a:srgbClr val="D9E0E6"/>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B0CC25E7-F56B-4A04-A8F1-9A0EFBFDC36C}"/>
              </a:ext>
            </a:extLst>
          </p:cNvPr>
          <p:cNvSpPr>
            <a:spLocks xmlns:a="http://schemas.openxmlformats.org/drawingml/2006/main" noGrp="1"/>
          </p:cNvSpPr>
          <p:nvPr/>
        </p:nvSpPr>
        <p:spPr>
          <a:xfrm xmlns:a="http://schemas.openxmlformats.org/drawingml/2006/main">
            <a:off x="9353550" y="2419350"/>
            <a:ext cx="1952625"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D9E0E6"/>
            </a:solidFill>
            <a:prstDash val="solid"/>
          </a:ln>
        </p:spPr>
      </p:sp>
      <p:sp>
        <p:nvSpPr>
          <p:cNvPr id="26" name="">
            <a:extLst xmlns:a="http://schemas.openxmlformats.org/drawingml/2006/main">
              <a:ext uri="{FF2B5EF4-FFF2-40B4-BE49-F238E27FC236}">
                <a16:creationId xmlns:a16="http://schemas.microsoft.com/office/drawing/2014/main" id="{702483DC-20E8-44E2-A93A-5E78C9D70B66}"/>
              </a:ext>
            </a:extLst>
          </p:cNvPr>
          <p:cNvSpPr>
            <a:spLocks xmlns:a="http://schemas.openxmlformats.org/drawingml/2006/main" noGrp="1"/>
          </p:cNvSpPr>
          <p:nvPr/>
        </p:nvSpPr>
        <p:spPr>
          <a:xfrm xmlns:a="http://schemas.openxmlformats.org/drawingml/2006/main">
            <a:off x="9467850" y="2533650"/>
            <a:ext cx="228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6B7580"/>
                </a:solidFill>
              </a:defRPr>
            </a:pPr>
            <a:r>
              <a:rPr sz="1050" b="1">
                <a:solidFill>
                  <a:srgbClr val="6B7580"/>
                </a:solidFill>
              </a:rPr>
              <a:t>5</a:t>
            </a:r>
          </a:p>
        </p:txBody>
      </p:sp>
      <p:sp>
        <p:nvSpPr>
          <p:cNvPr id="27" name="">
            <a:extLst xmlns:a="http://schemas.openxmlformats.org/drawingml/2006/main">
              <a:ext uri="{FF2B5EF4-FFF2-40B4-BE49-F238E27FC236}">
                <a16:creationId xmlns:a16="http://schemas.microsoft.com/office/drawing/2014/main" id="{78DD2B3E-F431-4141-9788-A12A05E04F07}"/>
              </a:ext>
            </a:extLst>
          </p:cNvPr>
          <p:cNvSpPr>
            <a:spLocks xmlns:a="http://schemas.openxmlformats.org/drawingml/2006/main" noGrp="1"/>
          </p:cNvSpPr>
          <p:nvPr/>
        </p:nvSpPr>
        <p:spPr>
          <a:xfrm xmlns:a="http://schemas.openxmlformats.org/drawingml/2006/main">
            <a:off x="9525000" y="2819400"/>
            <a:ext cx="16097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1">
                <a:solidFill>
                  <a:srgbClr val="152538"/>
                </a:solidFill>
              </a:defRPr>
            </a:pPr>
            <a:r>
              <a:rPr sz="1425" b="1">
                <a:solidFill>
                  <a:srgbClr val="152538"/>
                </a:solidFill>
              </a:rPr>
              <a:t>Extraction</a:t>
            </a:r>
          </a:p>
        </p:txBody>
      </p:sp>
      <p:sp>
        <p:nvSpPr>
          <p:cNvPr id="28" name="">
            <a:extLst xmlns:a="http://schemas.openxmlformats.org/drawingml/2006/main">
              <a:ext uri="{FF2B5EF4-FFF2-40B4-BE49-F238E27FC236}">
                <a16:creationId xmlns:a16="http://schemas.microsoft.com/office/drawing/2014/main" id="{41B54F43-4F3B-4D2B-BAC9-9FC3D37D011E}"/>
              </a:ext>
            </a:extLst>
          </p:cNvPr>
          <p:cNvSpPr>
            <a:spLocks xmlns:a="http://schemas.openxmlformats.org/drawingml/2006/main" noGrp="1"/>
          </p:cNvSpPr>
          <p:nvPr/>
        </p:nvSpPr>
        <p:spPr>
          <a:xfrm xmlns:a="http://schemas.openxmlformats.org/drawingml/2006/main">
            <a:off x="2857500" y="38481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ED7F0D"/>
                </a:solidFill>
              </a:defRPr>
            </a:pPr>
            <a:r>
              <a:rPr sz="1200" b="1">
                <a:solidFill>
                  <a:srgbClr val="ED7F0D"/>
                </a:solidFill>
              </a:rPr>
              <a:t>SCOPE OF THIS PAPER</a:t>
            </a:r>
          </a:p>
        </p:txBody>
      </p:sp>
      <p:sp>
        <p:nvSpPr>
          <p:cNvPr id="29" name="">
            <a:extLst xmlns:a="http://schemas.openxmlformats.org/drawingml/2006/main">
              <a:ext uri="{FF2B5EF4-FFF2-40B4-BE49-F238E27FC236}">
                <a16:creationId xmlns:a16="http://schemas.microsoft.com/office/drawing/2014/main" id="{1E8250B9-D234-41A7-A427-710E294CD258}"/>
              </a:ext>
            </a:extLst>
          </p:cNvPr>
          <p:cNvSpPr>
            <a:spLocks xmlns:a="http://schemas.openxmlformats.org/drawingml/2006/main" noGrp="1"/>
          </p:cNvSpPr>
          <p:nvPr/>
        </p:nvSpPr>
        <p:spPr>
          <a:xfrm xmlns:a="http://schemas.openxmlformats.org/drawingml/2006/main">
            <a:off x="4067175" y="3543300"/>
            <a:ext cx="438150" cy="381000"/>
          </a:xfrm>
          <a:prstGeom xmlns:a="http://schemas.openxmlformats.org/drawingml/2006/main" prst="downArrow">
            <a:avLst/>
          </a:prstGeom>
          <a:solidFill xmlns:a="http://schemas.openxmlformats.org/drawingml/2006/main">
            <a:srgbClr val="ED7F0D"/>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4D0568CF-3BF9-4509-811A-30F6CC534875}"/>
              </a:ext>
            </a:extLst>
          </p:cNvPr>
          <p:cNvSpPr>
            <a:spLocks xmlns:a="http://schemas.openxmlformats.org/drawingml/2006/main" noGrp="1"/>
          </p:cNvSpPr>
          <p:nvPr/>
        </p:nvSpPr>
        <p:spPr>
          <a:xfrm xmlns:a="http://schemas.openxmlformats.org/drawingml/2006/main">
            <a:off x="2609850" y="4257675"/>
            <a:ext cx="3429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75" b="1">
                <a:solidFill>
                  <a:srgbClr val="004282"/>
                </a:solidFill>
              </a:defRPr>
            </a:pPr>
            <a:r>
              <a:rPr sz="1575" b="1">
                <a:solidFill>
                  <a:srgbClr val="004282"/>
                </a:solidFill>
              </a:rPr>
              <a:t>Geometric engagement is the enabling gate; downstream unscrewing stages are outside the demonstrated claim.</a:t>
            </a:r>
          </a:p>
        </p:txBody>
      </p:sp>
      <p:sp>
        <p:nvSpPr>
          <p:cNvPr id="31" name="">
            <a:extLst xmlns:a="http://schemas.openxmlformats.org/drawingml/2006/main">
              <a:ext uri="{FF2B5EF4-FFF2-40B4-BE49-F238E27FC236}">
                <a16:creationId xmlns:a16="http://schemas.microsoft.com/office/drawing/2014/main" id="{B9E4CCDB-11FA-4C60-B669-82671DBB7587}"/>
              </a:ext>
            </a:extLst>
          </p:cNvPr>
          <p:cNvSpPr>
            <a:spLocks xmlns:a="http://schemas.openxmlformats.org/drawingml/2006/main" noGrp="1"/>
          </p:cNvSpPr>
          <p:nvPr/>
        </p:nvSpPr>
        <p:spPr>
          <a:xfrm xmlns:a="http://schemas.openxmlformats.org/drawingml/2006/main">
            <a:off x="647700" y="5943600"/>
            <a:ext cx="10839450" cy="400050"/>
          </a:xfrm>
          <a:prstGeom xmlns:a="http://schemas.openxmlformats.org/drawingml/2006/main" prst="rect">
            <a:avLst/>
          </a:prstGeom>
          <a:solidFill xmlns:a="http://schemas.openxmlformats.org/drawingml/2006/main">
            <a:srgbClr val="FFF0E2"/>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54A5D684-1537-4CC5-9083-97BFF6D56B42}"/>
              </a:ext>
            </a:extLst>
          </p:cNvPr>
          <p:cNvSpPr>
            <a:spLocks xmlns:a="http://schemas.openxmlformats.org/drawingml/2006/main" noGrp="1"/>
          </p:cNvSpPr>
          <p:nvPr/>
        </p:nvSpPr>
        <p:spPr>
          <a:xfrm xmlns:a="http://schemas.openxmlformats.org/drawingml/2006/main">
            <a:off x="647700" y="5943600"/>
            <a:ext cx="57150" cy="400050"/>
          </a:xfrm>
          <a:prstGeom xmlns:a="http://schemas.openxmlformats.org/drawingml/2006/main" prst="rect">
            <a:avLst/>
          </a:prstGeom>
          <a:solidFill xmlns:a="http://schemas.openxmlformats.org/drawingml/2006/main">
            <a:srgbClr val="ED7F0D"/>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80A351B0-836B-402F-9386-C47D8148F20F}"/>
              </a:ext>
            </a:extLst>
          </p:cNvPr>
          <p:cNvSpPr>
            <a:spLocks xmlns:a="http://schemas.openxmlformats.org/drawingml/2006/main" noGrp="1"/>
          </p:cNvSpPr>
          <p:nvPr/>
        </p:nvSpPr>
        <p:spPr>
          <a:xfrm xmlns:a="http://schemas.openxmlformats.org/drawingml/2006/main">
            <a:off x="838200" y="5981700"/>
            <a:ext cx="10458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152538"/>
                </a:solidFill>
              </a:defRPr>
            </a:pPr>
            <a:r>
              <a:rPr sz="1275" b="1">
                <a:solidFill>
                  <a:srgbClr val="152538"/>
                </a:solidFill>
              </a:rPr>
              <a:t>The paper studies the engagement gate, before the screw is turned.</a:t>
            </a:r>
          </a:p>
        </p:txBody>
      </p:sp>
    </p:spTree>
    <p:extLst>
      <p:ext uri="{BB962C8B-B14F-4D97-AF65-F5344CB8AC3E}">
        <p14:creationId xmlns:p14="http://schemas.microsoft.com/office/powerpoint/2010/main" val="1627748640"/>
      </p:ext>
    </p:extLst>
  </p:cSld>
</p:sld>
</file>

<file path=ppt/slides/slide4.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66A8B37-34F0-46EF-9D18-2658FCA15770}"/>
              </a:ext>
            </a:extLst>
          </p:cNvPr>
          <p:cNvSpPr>
            <a:spLocks xmlns:a="http://schemas.openxmlformats.org/drawingml/2006/main" noGrp="1"/>
          </p:cNvSpPr>
          <p:nvPr/>
        </p:nvSpPr>
        <p:spPr>
          <a:xfrm xmlns:a="http://schemas.openxmlformats.org/drawingml/2006/main">
            <a:off x="647700" y="2286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ED7F0D"/>
                </a:solidFill>
              </a:defRPr>
            </a:pPr>
            <a:r>
              <a:rPr sz="1050" b="1">
                <a:solidFill>
                  <a:srgbClr val="ED7F0D"/>
                </a:solidFill>
              </a:rPr>
              <a:t>04</a:t>
            </a:r>
          </a:p>
        </p:txBody>
      </p:sp>
      <p:sp>
        <p:nvSpPr>
          <p:cNvPr id="2" name="">
            <a:extLst xmlns:a="http://schemas.openxmlformats.org/drawingml/2006/main">
              <a:ext uri="{FF2B5EF4-FFF2-40B4-BE49-F238E27FC236}">
                <a16:creationId xmlns:a16="http://schemas.microsoft.com/office/drawing/2014/main" id="{2C94A674-738B-4D10-B8E0-C7303E352D81}"/>
              </a:ext>
            </a:extLst>
          </p:cNvPr>
          <p:cNvSpPr>
            <a:spLocks xmlns:a="http://schemas.openxmlformats.org/drawingml/2006/main" noGrp="1"/>
          </p:cNvSpPr>
          <p:nvPr/>
        </p:nvSpPr>
        <p:spPr>
          <a:xfrm xmlns:a="http://schemas.openxmlformats.org/drawingml/2006/main">
            <a:off x="1104900" y="22860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6B7580"/>
                </a:solidFill>
              </a:defRPr>
            </a:pPr>
            <a:r>
              <a:rPr sz="975" b="1">
                <a:solidFill>
                  <a:srgbClr val="6B7580"/>
                </a:solidFill>
              </a:rPr>
              <a:t>PROBLEM</a:t>
            </a:r>
          </a:p>
        </p:txBody>
      </p:sp>
      <p:sp>
        <p:nvSpPr>
          <p:cNvPr id="3" name="">
            <a:extLst xmlns:a="http://schemas.openxmlformats.org/drawingml/2006/main">
              <a:ext uri="{FF2B5EF4-FFF2-40B4-BE49-F238E27FC236}">
                <a16:creationId xmlns:a16="http://schemas.microsoft.com/office/drawing/2014/main" id="{A931CAAC-7539-448A-B958-24F457AA81A6}"/>
              </a:ext>
            </a:extLst>
          </p:cNvPr>
          <p:cNvSpPr>
            <a:spLocks xmlns:a="http://schemas.openxmlformats.org/drawingml/2006/main" noGrp="1"/>
          </p:cNvSpPr>
          <p:nvPr/>
        </p:nvSpPr>
        <p:spPr>
          <a:xfrm xmlns:a="http://schemas.openxmlformats.org/drawingml/2006/main">
            <a:off x="6191250" y="228600"/>
            <a:ext cx="5353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0">
                <a:solidFill>
                  <a:srgbClr val="6B7580"/>
                </a:solidFill>
              </a:defRPr>
            </a:pPr>
            <a:r>
              <a:rPr sz="825" b="0">
                <a:solidFill>
                  <a:srgbClr val="6B7580"/>
                </a:solidFill>
              </a:rPr>
              <a:t>● Problem   Task   Framework   Simulation   Hardware   Discussion</a:t>
            </a:r>
          </a:p>
        </p:txBody>
      </p:sp>
      <p:sp>
        <p:nvSpPr>
          <p:cNvPr id="4" name="">
            <a:extLst xmlns:a="http://schemas.openxmlformats.org/drawingml/2006/main">
              <a:ext uri="{FF2B5EF4-FFF2-40B4-BE49-F238E27FC236}">
                <a16:creationId xmlns:a16="http://schemas.microsoft.com/office/drawing/2014/main" id="{33AADF68-A781-4549-B3B0-9ECC03BF75A7}"/>
              </a:ext>
            </a:extLst>
          </p:cNvPr>
          <p:cNvSpPr>
            <a:spLocks xmlns:a="http://schemas.openxmlformats.org/drawingml/2006/main" noGrp="1"/>
          </p:cNvSpPr>
          <p:nvPr/>
        </p:nvSpPr>
        <p:spPr>
          <a:xfrm xmlns:a="http://schemas.openxmlformats.org/drawingml/2006/main">
            <a:off x="647700" y="533400"/>
            <a:ext cx="108394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700" b="1">
                <a:solidFill>
                  <a:srgbClr val="004282"/>
                </a:solidFill>
              </a:defRPr>
            </a:pPr>
            <a:r>
              <a:rPr sz="2700" b="1">
                <a:solidFill>
                  <a:srgbClr val="004282"/>
                </a:solidFill>
              </a:rPr>
              <a:t>Vision gets close, but the last few millimetres remain uncertain</a:t>
            </a:r>
          </a:p>
        </p:txBody>
      </p:sp>
      <p:sp>
        <p:nvSpPr>
          <p:cNvPr id="5" name="">
            <a:extLst xmlns:a="http://schemas.openxmlformats.org/drawingml/2006/main">
              <a:ext uri="{FF2B5EF4-FFF2-40B4-BE49-F238E27FC236}">
                <a16:creationId xmlns:a16="http://schemas.microsoft.com/office/drawing/2014/main" id="{9C1D6B0B-9A39-45AC-84D5-A8909402EA80}"/>
              </a:ext>
            </a:extLst>
          </p:cNvPr>
          <p:cNvSpPr>
            <a:spLocks xmlns:a="http://schemas.openxmlformats.org/drawingml/2006/main" noGrp="1"/>
          </p:cNvSpPr>
          <p:nvPr/>
        </p:nvSpPr>
        <p:spPr>
          <a:xfrm xmlns:a="http://schemas.openxmlformats.org/drawingml/2006/main">
            <a:off x="647700" y="1257300"/>
            <a:ext cx="609600" cy="47625"/>
          </a:xfrm>
          <a:prstGeom xmlns:a="http://schemas.openxmlformats.org/drawingml/2006/main" prst="rect">
            <a:avLst/>
          </a:prstGeom>
          <a:solidFill xmlns:a="http://schemas.openxmlformats.org/drawingml/2006/main">
            <a:srgbClr val="ED7F0D"/>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3911FE70-DC20-427A-9F6D-44CA5701D654}"/>
              </a:ext>
            </a:extLst>
          </p:cNvPr>
          <p:cNvSpPr>
            <a:spLocks xmlns:a="http://schemas.openxmlformats.org/drawingml/2006/main" noGrp="1"/>
          </p:cNvSpPr>
          <p:nvPr/>
        </p:nvSpPr>
        <p:spPr>
          <a:xfrm xmlns:a="http://schemas.openxmlformats.org/drawingml/2006/main">
            <a:off x="647700" y="6486525"/>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6B7580"/>
                </a:solidFill>
              </a:defRPr>
            </a:pPr>
            <a:r>
              <a:rPr sz="825" b="0">
                <a:solidFill>
                  <a:srgbClr val="6B7580"/>
                </a:solidFill>
              </a:rPr>
              <a:t>Nan Jinyao · Paper-aligned group review</a:t>
            </a:r>
          </a:p>
        </p:txBody>
      </p:sp>
      <p:sp>
        <p:nvSpPr>
          <p:cNvPr id="7" name="">
            <a:extLst xmlns:a="http://schemas.openxmlformats.org/drawingml/2006/main">
              <a:ext uri="{FF2B5EF4-FFF2-40B4-BE49-F238E27FC236}">
                <a16:creationId xmlns:a16="http://schemas.microsoft.com/office/drawing/2014/main" id="{4BA48E4D-FB3A-46F6-A327-47DEE6202CDD}"/>
              </a:ext>
            </a:extLst>
          </p:cNvPr>
          <p:cNvSpPr>
            <a:spLocks xmlns:a="http://schemas.openxmlformats.org/drawingml/2006/main" noGrp="1"/>
          </p:cNvSpPr>
          <p:nvPr/>
        </p:nvSpPr>
        <p:spPr>
          <a:xfrm xmlns:a="http://schemas.openxmlformats.org/drawingml/2006/main">
            <a:off x="4476750" y="6486525"/>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0">
                <a:solidFill>
                  <a:srgbClr val="6B7580"/>
                </a:solidFill>
              </a:defRPr>
            </a:pPr>
            <a:r>
              <a:rPr sz="825" b="0">
                <a:solidFill>
                  <a:srgbClr val="6B7580"/>
                </a:solidFill>
              </a:rPr>
              <a:t>Sec. I–II · M8 prior</a:t>
            </a:r>
          </a:p>
        </p:txBody>
      </p:sp>
      <p:sp>
        <p:nvSpPr>
          <p:cNvPr id="8" name="">
            <a:extLst xmlns:a="http://schemas.openxmlformats.org/drawingml/2006/main">
              <a:ext uri="{FF2B5EF4-FFF2-40B4-BE49-F238E27FC236}">
                <a16:creationId xmlns:a16="http://schemas.microsoft.com/office/drawing/2014/main" id="{1FF9E646-53DB-4D13-B1DE-6AAD78FF134C}"/>
              </a:ext>
            </a:extLst>
          </p:cNvPr>
          <p:cNvSpPr>
            <a:spLocks xmlns:a="http://schemas.openxmlformats.org/drawingml/2006/main" noGrp="1"/>
          </p:cNvSpPr>
          <p:nvPr/>
        </p:nvSpPr>
        <p:spPr>
          <a:xfrm xmlns:a="http://schemas.openxmlformats.org/drawingml/2006/main">
            <a:off x="11049000" y="648652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004282"/>
                </a:solidFill>
              </a:defRPr>
            </a:pPr>
            <a:r>
              <a:rPr sz="825" b="1">
                <a:solidFill>
                  <a:srgbClr val="004282"/>
                </a:solidFill>
              </a:rPr>
              <a:t>4</a:t>
            </a:r>
          </a:p>
        </p:txBody>
      </p:sp>
      <p:sp>
        <p:nvSpPr>
          <p:cNvPr id="9" name="">
            <a:extLst xmlns:a="http://schemas.openxmlformats.org/drawingml/2006/main">
              <a:ext uri="{FF2B5EF4-FFF2-40B4-BE49-F238E27FC236}">
                <a16:creationId xmlns:a16="http://schemas.microsoft.com/office/drawing/2014/main" id="{9878C903-372F-4763-A379-5F913F01BCB2}"/>
              </a:ext>
            </a:extLst>
          </p:cNvPr>
          <p:cNvSpPr>
            <a:spLocks xmlns:a="http://schemas.openxmlformats.org/drawingml/2006/main" noGrp="1"/>
          </p:cNvSpPr>
          <p:nvPr/>
        </p:nvSpPr>
        <p:spPr>
          <a:xfrm xmlns:a="http://schemas.openxmlformats.org/drawingml/2006/main">
            <a:off x="857250" y="1809750"/>
            <a:ext cx="4476750" cy="3429000"/>
          </a:xfrm>
          <a:prstGeom xmlns:a="http://schemas.openxmlformats.org/drawingml/2006/main" prst="ellipse">
            <a:avLst/>
          </a:prstGeom>
          <a:solidFill xmlns:a="http://schemas.openxmlformats.org/drawingml/2006/main">
            <a:srgbClr val="E8F1F8"/>
          </a:solidFill>
          <a:ln xmlns:a="http://schemas.openxmlformats.org/drawingml/2006/main" w="19050">
            <a:solidFill>
              <a:srgbClr val="004282"/>
            </a:solidFill>
            <a:prstDash val="solid"/>
          </a:ln>
        </p:spPr>
      </p:sp>
      <p:sp>
        <p:nvSpPr>
          <p:cNvPr id="10" name="">
            <a:extLst xmlns:a="http://schemas.openxmlformats.org/drawingml/2006/main">
              <a:ext uri="{FF2B5EF4-FFF2-40B4-BE49-F238E27FC236}">
                <a16:creationId xmlns:a16="http://schemas.microsoft.com/office/drawing/2014/main" id="{DC4C902A-A114-43E5-B70C-B441E11D3E7E}"/>
              </a:ext>
            </a:extLst>
          </p:cNvPr>
          <p:cNvSpPr>
            <a:spLocks xmlns:a="http://schemas.openxmlformats.org/drawingml/2006/main" noGrp="1"/>
          </p:cNvSpPr>
          <p:nvPr/>
        </p:nvSpPr>
        <p:spPr>
          <a:xfrm xmlns:a="http://schemas.openxmlformats.org/drawingml/2006/main">
            <a:off x="2857500" y="3124200"/>
            <a:ext cx="666750" cy="666750"/>
          </a:xfrm>
          <a:prstGeom xmlns:a="http://schemas.openxmlformats.org/drawingml/2006/main" prst="ellipse">
            <a:avLst/>
          </a:prstGeom>
          <a:noFill xmlns:a="http://schemas.openxmlformats.org/drawingml/2006/main"/>
          <a:ln xmlns:a="http://schemas.openxmlformats.org/drawingml/2006/main" w="28575">
            <a:solidFill>
              <a:srgbClr val="009E73"/>
            </a:solidFill>
            <a:prstDash val="solid"/>
          </a:ln>
        </p:spPr>
      </p:sp>
      <p:sp>
        <p:nvSpPr>
          <p:cNvPr id="11" name="">
            <a:extLst xmlns:a="http://schemas.openxmlformats.org/drawingml/2006/main">
              <a:ext uri="{FF2B5EF4-FFF2-40B4-BE49-F238E27FC236}">
                <a16:creationId xmlns:a16="http://schemas.microsoft.com/office/drawing/2014/main" id="{788709A8-7699-40F2-90EB-B2D25C5BF577}"/>
              </a:ext>
            </a:extLst>
          </p:cNvPr>
          <p:cNvSpPr>
            <a:spLocks xmlns:a="http://schemas.openxmlformats.org/drawingml/2006/main" noGrp="1"/>
          </p:cNvSpPr>
          <p:nvPr/>
        </p:nvSpPr>
        <p:spPr>
          <a:xfrm xmlns:a="http://schemas.openxmlformats.org/drawingml/2006/main">
            <a:off x="3114675" y="3381375"/>
            <a:ext cx="152400" cy="152400"/>
          </a:xfrm>
          <a:prstGeom xmlns:a="http://schemas.openxmlformats.org/drawingml/2006/main" prst="ellipse">
            <a:avLst/>
          </a:prstGeom>
          <a:solidFill xmlns:a="http://schemas.openxmlformats.org/drawingml/2006/main">
            <a:srgbClr val="009E73"/>
          </a:solidFill>
          <a:ln xmlns:a="http://schemas.openxmlformats.org/drawingml/2006/main" w="9525">
            <a:solidFill>
              <a:srgbClr val="009E73"/>
            </a:solidFill>
            <a:prstDash val="solid"/>
          </a:ln>
        </p:spPr>
      </p:sp>
      <p:sp>
        <p:nvSpPr>
          <p:cNvPr id="12" name="">
            <a:extLst xmlns:a="http://schemas.openxmlformats.org/drawingml/2006/main">
              <a:ext uri="{FF2B5EF4-FFF2-40B4-BE49-F238E27FC236}">
                <a16:creationId xmlns:a16="http://schemas.microsoft.com/office/drawing/2014/main" id="{85326CBD-BAB8-4C13-BA54-EF6E417B3B51}"/>
              </a:ext>
            </a:extLst>
          </p:cNvPr>
          <p:cNvSpPr>
            <a:spLocks xmlns:a="http://schemas.openxmlformats.org/drawingml/2006/main" noGrp="1"/>
          </p:cNvSpPr>
          <p:nvPr/>
        </p:nvSpPr>
        <p:spPr>
          <a:xfrm xmlns:a="http://schemas.openxmlformats.org/drawingml/2006/main">
            <a:off x="3524250" y="3314700"/>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009E73"/>
                </a:solidFill>
              </a:defRPr>
            </a:pPr>
            <a:r>
              <a:rPr sz="1275" b="1">
                <a:solidFill>
                  <a:srgbClr val="009E73"/>
                </a:solidFill>
              </a:rPr>
              <a:t>true center C</a:t>
            </a:r>
          </a:p>
        </p:txBody>
      </p:sp>
      <p:sp>
        <p:nvSpPr>
          <p:cNvPr id="13" name="">
            <a:extLst xmlns:a="http://schemas.openxmlformats.org/drawingml/2006/main">
              <a:ext uri="{FF2B5EF4-FFF2-40B4-BE49-F238E27FC236}">
                <a16:creationId xmlns:a16="http://schemas.microsoft.com/office/drawing/2014/main" id="{A927221D-C071-4882-B5D6-1399D02A030C}"/>
              </a:ext>
            </a:extLst>
          </p:cNvPr>
          <p:cNvSpPr>
            <a:spLocks xmlns:a="http://schemas.openxmlformats.org/drawingml/2006/main" noGrp="1"/>
          </p:cNvSpPr>
          <p:nvPr/>
        </p:nvSpPr>
        <p:spPr>
          <a:xfrm xmlns:a="http://schemas.openxmlformats.org/drawingml/2006/main">
            <a:off x="1590675" y="2381250"/>
            <a:ext cx="209550" cy="209550"/>
          </a:xfrm>
          <a:prstGeom xmlns:a="http://schemas.openxmlformats.org/drawingml/2006/main" prst="ellipse">
            <a:avLst/>
          </a:prstGeom>
          <a:solidFill xmlns:a="http://schemas.openxmlformats.org/drawingml/2006/main">
            <a:srgbClr val="ED7F0D"/>
          </a:solidFill>
          <a:ln xmlns:a="http://schemas.openxmlformats.org/drawingml/2006/main" w="9525">
            <a:solidFill>
              <a:srgbClr val="ED7F0D"/>
            </a:solidFill>
            <a:prstDash val="solid"/>
          </a:ln>
        </p:spPr>
      </p:sp>
      <p:sp>
        <p:nvSpPr>
          <p:cNvPr id="14" name="">
            <a:extLst xmlns:a="http://schemas.openxmlformats.org/drawingml/2006/main">
              <a:ext uri="{FF2B5EF4-FFF2-40B4-BE49-F238E27FC236}">
                <a16:creationId xmlns:a16="http://schemas.microsoft.com/office/drawing/2014/main" id="{4FE4C949-62FD-4C29-9128-2D040294805A}"/>
              </a:ext>
            </a:extLst>
          </p:cNvPr>
          <p:cNvSpPr>
            <a:spLocks xmlns:a="http://schemas.openxmlformats.org/drawingml/2006/main" noGrp="1"/>
          </p:cNvSpPr>
          <p:nvPr/>
        </p:nvSpPr>
        <p:spPr>
          <a:xfrm xmlns:a="http://schemas.openxmlformats.org/drawingml/2006/main">
            <a:off x="952500" y="20193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ED7F0D"/>
                </a:solidFill>
              </a:defRPr>
            </a:pPr>
            <a:r>
              <a:rPr sz="1275" b="1">
                <a:solidFill>
                  <a:srgbClr val="ED7F0D"/>
                </a:solidFill>
              </a:rPr>
              <a:t>driver at x₀</a:t>
            </a:r>
          </a:p>
        </p:txBody>
      </p:sp>
      <p:sp>
        <p:nvSpPr>
          <p:cNvPr id="15" name="">
            <a:extLst xmlns:a="http://schemas.openxmlformats.org/drawingml/2006/main">
              <a:ext uri="{FF2B5EF4-FFF2-40B4-BE49-F238E27FC236}">
                <a16:creationId xmlns:a16="http://schemas.microsoft.com/office/drawing/2014/main" id="{ED27E5C4-BA24-4802-AE7B-224D108494D7}"/>
              </a:ext>
            </a:extLst>
          </p:cNvPr>
          <p:cNvSpPr>
            <a:spLocks xmlns:a="http://schemas.openxmlformats.org/drawingml/2006/main" noGrp="1"/>
          </p:cNvSpPr>
          <p:nvPr/>
        </p:nvSpPr>
        <p:spPr>
          <a:xfrm xmlns:a="http://schemas.openxmlformats.org/drawingml/2006/main">
            <a:off x="1743075" y="2714625"/>
            <a:ext cx="1428750" cy="361950"/>
          </a:xfrm>
          <a:prstGeom xmlns:a="http://schemas.openxmlformats.org/drawingml/2006/main" prst="rightArrow">
            <a:avLst/>
          </a:prstGeom>
          <a:solidFill xmlns:a="http://schemas.openxmlformats.org/drawingml/2006/main">
            <a:srgbClr val="ED7F0D"/>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E3009FC1-4188-4F21-95F3-DCEC02168210}"/>
              </a:ext>
            </a:extLst>
          </p:cNvPr>
          <p:cNvSpPr>
            <a:spLocks xmlns:a="http://schemas.openxmlformats.org/drawingml/2006/main" noGrp="1"/>
          </p:cNvSpPr>
          <p:nvPr/>
        </p:nvSpPr>
        <p:spPr>
          <a:xfrm xmlns:a="http://schemas.openxmlformats.org/drawingml/2006/main">
            <a:off x="2647950" y="38671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0">
                <a:solidFill>
                  <a:srgbClr val="009E73"/>
                </a:solidFill>
              </a:defRPr>
            </a:pPr>
            <a:r>
              <a:rPr sz="1125" b="0">
                <a:solidFill>
                  <a:srgbClr val="009E73"/>
                </a:solidFill>
              </a:rPr>
              <a:t>capture disk</a:t>
            </a:r>
          </a:p>
        </p:txBody>
      </p:sp>
      <p:sp>
        <p:nvSpPr>
          <p:cNvPr id="17" name="">
            <a:extLst xmlns:a="http://schemas.openxmlformats.org/drawingml/2006/main">
              <a:ext uri="{FF2B5EF4-FFF2-40B4-BE49-F238E27FC236}">
                <a16:creationId xmlns:a16="http://schemas.microsoft.com/office/drawing/2014/main" id="{3F0F052D-0FB5-4D1A-A12E-9374CA34AE87}"/>
              </a:ext>
            </a:extLst>
          </p:cNvPr>
          <p:cNvSpPr>
            <a:spLocks xmlns:a="http://schemas.openxmlformats.org/drawingml/2006/main" noGrp="1"/>
          </p:cNvSpPr>
          <p:nvPr/>
        </p:nvSpPr>
        <p:spPr>
          <a:xfrm xmlns:a="http://schemas.openxmlformats.org/drawingml/2006/main">
            <a:off x="1952625" y="495300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0">
                <a:solidFill>
                  <a:srgbClr val="004282"/>
                </a:solidFill>
              </a:defRPr>
            </a:pPr>
            <a:r>
              <a:rPr sz="1125" b="0">
                <a:solidFill>
                  <a:srgbClr val="004282"/>
                </a:solidFill>
              </a:rPr>
              <a:t>truncated CAD support</a:t>
            </a:r>
          </a:p>
        </p:txBody>
      </p:sp>
      <p:sp>
        <p:nvSpPr>
          <p:cNvPr id="18" name="">
            <a:extLst xmlns:a="http://schemas.openxmlformats.org/drawingml/2006/main">
              <a:ext uri="{FF2B5EF4-FFF2-40B4-BE49-F238E27FC236}">
                <a16:creationId xmlns:a16="http://schemas.microsoft.com/office/drawing/2014/main" id="{C16BD858-8A3A-4563-A4B6-958A81E04BD8}"/>
              </a:ext>
            </a:extLst>
          </p:cNvPr>
          <p:cNvSpPr>
            <a:spLocks xmlns:a="http://schemas.openxmlformats.org/drawingml/2006/main" noGrp="1"/>
          </p:cNvSpPr>
          <p:nvPr/>
        </p:nvSpPr>
        <p:spPr>
          <a:xfrm xmlns:a="http://schemas.openxmlformats.org/drawingml/2006/main">
            <a:off x="6096000" y="1790700"/>
            <a:ext cx="4667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550" b="1">
                <a:solidFill>
                  <a:srgbClr val="004282"/>
                </a:solidFill>
              </a:defRPr>
            </a:pPr>
            <a:r>
              <a:rPr sz="2550" b="1">
                <a:solidFill>
                  <a:srgbClr val="004282"/>
                </a:solidFill>
              </a:rPr>
              <a:t>σᵥ = 2 mm</a:t>
            </a:r>
          </a:p>
        </p:txBody>
      </p:sp>
      <p:sp>
        <p:nvSpPr>
          <p:cNvPr id="19" name="">
            <a:extLst xmlns:a="http://schemas.openxmlformats.org/drawingml/2006/main">
              <a:ext uri="{FF2B5EF4-FFF2-40B4-BE49-F238E27FC236}">
                <a16:creationId xmlns:a16="http://schemas.microsoft.com/office/drawing/2014/main" id="{B0D6CB3F-334D-4A9E-AD68-95EB4F21715F}"/>
              </a:ext>
            </a:extLst>
          </p:cNvPr>
          <p:cNvSpPr>
            <a:spLocks xmlns:a="http://schemas.openxmlformats.org/drawingml/2006/main" noGrp="1"/>
          </p:cNvSpPr>
          <p:nvPr/>
        </p:nvSpPr>
        <p:spPr>
          <a:xfrm xmlns:a="http://schemas.openxmlformats.org/drawingml/2006/main">
            <a:off x="6096000" y="2286000"/>
            <a:ext cx="4667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0">
                <a:solidFill>
                  <a:srgbClr val="6B7580"/>
                </a:solidFill>
              </a:defRPr>
            </a:pPr>
            <a:r>
              <a:rPr sz="1200" b="0">
                <a:solidFill>
                  <a:srgbClr val="6B7580"/>
                </a:solidFill>
              </a:rPr>
              <a:t>M8 CAD-prior spread</a:t>
            </a:r>
          </a:p>
        </p:txBody>
      </p:sp>
      <p:sp>
        <p:nvSpPr>
          <p:cNvPr id="20" name="">
            <a:extLst xmlns:a="http://schemas.openxmlformats.org/drawingml/2006/main">
              <a:ext uri="{FF2B5EF4-FFF2-40B4-BE49-F238E27FC236}">
                <a16:creationId xmlns:a16="http://schemas.microsoft.com/office/drawing/2014/main" id="{EE925FA6-443A-4E33-BA6D-65431FDE518B}"/>
              </a:ext>
            </a:extLst>
          </p:cNvPr>
          <p:cNvSpPr>
            <a:spLocks xmlns:a="http://schemas.openxmlformats.org/drawingml/2006/main" noGrp="1"/>
          </p:cNvSpPr>
          <p:nvPr/>
        </p:nvSpPr>
        <p:spPr>
          <a:xfrm xmlns:a="http://schemas.openxmlformats.org/drawingml/2006/main">
            <a:off x="6096000" y="2981325"/>
            <a:ext cx="4667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550" b="1">
                <a:solidFill>
                  <a:srgbClr val="ED7F0D"/>
                </a:solidFill>
              </a:defRPr>
            </a:pPr>
            <a:r>
              <a:rPr sz="2550" b="1">
                <a:solidFill>
                  <a:srgbClr val="ED7F0D"/>
                </a:solidFill>
              </a:rPr>
              <a:t>Rᵥ = 4.895 mm</a:t>
            </a:r>
          </a:p>
        </p:txBody>
      </p:sp>
      <p:sp>
        <p:nvSpPr>
          <p:cNvPr id="21" name="">
            <a:extLst xmlns:a="http://schemas.openxmlformats.org/drawingml/2006/main">
              <a:ext uri="{FF2B5EF4-FFF2-40B4-BE49-F238E27FC236}">
                <a16:creationId xmlns:a16="http://schemas.microsoft.com/office/drawing/2014/main" id="{42A47F31-C144-4A57-8CF9-639EBFDEA65C}"/>
              </a:ext>
            </a:extLst>
          </p:cNvPr>
          <p:cNvSpPr>
            <a:spLocks xmlns:a="http://schemas.openxmlformats.org/drawingml/2006/main" noGrp="1"/>
          </p:cNvSpPr>
          <p:nvPr/>
        </p:nvSpPr>
        <p:spPr>
          <a:xfrm xmlns:a="http://schemas.openxmlformats.org/drawingml/2006/main">
            <a:off x="6096000" y="3476625"/>
            <a:ext cx="4667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0">
                <a:solidFill>
                  <a:srgbClr val="6B7580"/>
                </a:solidFill>
              </a:defRPr>
            </a:pPr>
            <a:r>
              <a:rPr sz="1200" b="0">
                <a:solidFill>
                  <a:srgbClr val="6B7580"/>
                </a:solidFill>
              </a:rPr>
              <a:t>truncated support</a:t>
            </a:r>
          </a:p>
        </p:txBody>
      </p:sp>
      <p:sp>
        <p:nvSpPr>
          <p:cNvPr id="22" name="">
            <a:extLst xmlns:a="http://schemas.openxmlformats.org/drawingml/2006/main">
              <a:ext uri="{FF2B5EF4-FFF2-40B4-BE49-F238E27FC236}">
                <a16:creationId xmlns:a16="http://schemas.microsoft.com/office/drawing/2014/main" id="{163B1A56-07E2-45B1-9FCF-18453A0966AF}"/>
              </a:ext>
            </a:extLst>
          </p:cNvPr>
          <p:cNvSpPr>
            <a:spLocks xmlns:a="http://schemas.openxmlformats.org/drawingml/2006/main" noGrp="1"/>
          </p:cNvSpPr>
          <p:nvPr/>
        </p:nvSpPr>
        <p:spPr>
          <a:xfrm xmlns:a="http://schemas.openxmlformats.org/drawingml/2006/main">
            <a:off x="6096000" y="4171950"/>
            <a:ext cx="4667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550" b="1">
                <a:solidFill>
                  <a:srgbClr val="009E73"/>
                </a:solidFill>
              </a:defRPr>
            </a:pPr>
            <a:r>
              <a:rPr sz="2550" b="1">
                <a:solidFill>
                  <a:srgbClr val="009E73"/>
                </a:solidFill>
              </a:rPr>
              <a:t>small clearance</a:t>
            </a:r>
          </a:p>
        </p:txBody>
      </p:sp>
      <p:sp>
        <p:nvSpPr>
          <p:cNvPr id="23" name="">
            <a:extLst xmlns:a="http://schemas.openxmlformats.org/drawingml/2006/main">
              <a:ext uri="{FF2B5EF4-FFF2-40B4-BE49-F238E27FC236}">
                <a16:creationId xmlns:a16="http://schemas.microsoft.com/office/drawing/2014/main" id="{96945541-4F16-4BFB-AF85-31D205D44740}"/>
              </a:ext>
            </a:extLst>
          </p:cNvPr>
          <p:cNvSpPr>
            <a:spLocks xmlns:a="http://schemas.openxmlformats.org/drawingml/2006/main" noGrp="1"/>
          </p:cNvSpPr>
          <p:nvPr/>
        </p:nvSpPr>
        <p:spPr>
          <a:xfrm xmlns:a="http://schemas.openxmlformats.org/drawingml/2006/main">
            <a:off x="6096000" y="4667250"/>
            <a:ext cx="4667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0">
                <a:solidFill>
                  <a:srgbClr val="6B7580"/>
                </a:solidFill>
              </a:defRPr>
            </a:pPr>
            <a:r>
              <a:rPr sz="1200" b="0">
                <a:solidFill>
                  <a:srgbClr val="6B7580"/>
                </a:solidFill>
              </a:rPr>
              <a:t>capture is local</a:t>
            </a:r>
          </a:p>
        </p:txBody>
      </p:sp>
      <p:sp>
        <p:nvSpPr>
          <p:cNvPr id="24" name="">
            <a:extLst xmlns:a="http://schemas.openxmlformats.org/drawingml/2006/main">
              <a:ext uri="{FF2B5EF4-FFF2-40B4-BE49-F238E27FC236}">
                <a16:creationId xmlns:a16="http://schemas.microsoft.com/office/drawing/2014/main" id="{D6BD7806-70C0-4495-BC1E-CF3D63A53599}"/>
              </a:ext>
            </a:extLst>
          </p:cNvPr>
          <p:cNvSpPr>
            <a:spLocks xmlns:a="http://schemas.openxmlformats.org/drawingml/2006/main" noGrp="1"/>
          </p:cNvSpPr>
          <p:nvPr/>
        </p:nvSpPr>
        <p:spPr>
          <a:xfrm xmlns:a="http://schemas.openxmlformats.org/drawingml/2006/main">
            <a:off x="647700" y="5943600"/>
            <a:ext cx="10839450" cy="400050"/>
          </a:xfrm>
          <a:prstGeom xmlns:a="http://schemas.openxmlformats.org/drawingml/2006/main" prst="rect">
            <a:avLst/>
          </a:prstGeom>
          <a:solidFill xmlns:a="http://schemas.openxmlformats.org/drawingml/2006/main">
            <a:srgbClr val="FFF0E2"/>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A990529E-6430-45C4-AB07-A05679E1A373}"/>
              </a:ext>
            </a:extLst>
          </p:cNvPr>
          <p:cNvSpPr>
            <a:spLocks xmlns:a="http://schemas.openxmlformats.org/drawingml/2006/main" noGrp="1"/>
          </p:cNvSpPr>
          <p:nvPr/>
        </p:nvSpPr>
        <p:spPr>
          <a:xfrm xmlns:a="http://schemas.openxmlformats.org/drawingml/2006/main">
            <a:off x="647700" y="5943600"/>
            <a:ext cx="57150" cy="400050"/>
          </a:xfrm>
          <a:prstGeom xmlns:a="http://schemas.openxmlformats.org/drawingml/2006/main" prst="rect">
            <a:avLst/>
          </a:prstGeom>
          <a:solidFill xmlns:a="http://schemas.openxmlformats.org/drawingml/2006/main">
            <a:srgbClr val="ED7F0D"/>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0C28C3B0-F99C-47FD-AE1A-7996EDF06703}"/>
              </a:ext>
            </a:extLst>
          </p:cNvPr>
          <p:cNvSpPr>
            <a:spLocks xmlns:a="http://schemas.openxmlformats.org/drawingml/2006/main" noGrp="1"/>
          </p:cNvSpPr>
          <p:nvPr/>
        </p:nvSpPr>
        <p:spPr>
          <a:xfrm xmlns:a="http://schemas.openxmlformats.org/drawingml/2006/main">
            <a:off x="838200" y="5981700"/>
            <a:ext cx="10458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152538"/>
                </a:solidFill>
              </a:defRPr>
            </a:pPr>
            <a:r>
              <a:rPr sz="1275" b="1">
                <a:solidFill>
                  <a:srgbClr val="152538"/>
                </a:solidFill>
              </a:rPr>
              <a:t>The remaining visual/CAD error can be as large as the useful capture range.</a:t>
            </a:r>
          </a:p>
        </p:txBody>
      </p:sp>
    </p:spTree>
    <p:extLst>
      <p:ext uri="{BB962C8B-B14F-4D97-AF65-F5344CB8AC3E}">
        <p14:creationId xmlns:p14="http://schemas.microsoft.com/office/powerpoint/2010/main" val="1895584419"/>
      </p:ext>
    </p:extLst>
  </p:cSld>
</p:sld>
</file>

<file path=ppt/slides/slide5.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0F638ED-8290-4FC5-A52C-BCF3CBD4B5B0}"/>
              </a:ext>
            </a:extLst>
          </p:cNvPr>
          <p:cNvSpPr>
            <a:spLocks xmlns:a="http://schemas.openxmlformats.org/drawingml/2006/main" noGrp="1"/>
          </p:cNvSpPr>
          <p:nvPr/>
        </p:nvSpPr>
        <p:spPr>
          <a:xfrm xmlns:a="http://schemas.openxmlformats.org/drawingml/2006/main">
            <a:off x="647700" y="2286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ED7F0D"/>
                </a:solidFill>
              </a:defRPr>
            </a:pPr>
            <a:r>
              <a:rPr sz="1050" b="1">
                <a:solidFill>
                  <a:srgbClr val="ED7F0D"/>
                </a:solidFill>
              </a:rPr>
              <a:t>05</a:t>
            </a:r>
          </a:p>
        </p:txBody>
      </p:sp>
      <p:sp>
        <p:nvSpPr>
          <p:cNvPr id="2" name="">
            <a:extLst xmlns:a="http://schemas.openxmlformats.org/drawingml/2006/main">
              <a:ext uri="{FF2B5EF4-FFF2-40B4-BE49-F238E27FC236}">
                <a16:creationId xmlns:a16="http://schemas.microsoft.com/office/drawing/2014/main" id="{34A801B0-AF16-452E-961D-B5CC42F4C3D5}"/>
              </a:ext>
            </a:extLst>
          </p:cNvPr>
          <p:cNvSpPr>
            <a:spLocks xmlns:a="http://schemas.openxmlformats.org/drawingml/2006/main" noGrp="1"/>
          </p:cNvSpPr>
          <p:nvPr/>
        </p:nvSpPr>
        <p:spPr>
          <a:xfrm xmlns:a="http://schemas.openxmlformats.org/drawingml/2006/main">
            <a:off x="1104900" y="22860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6B7580"/>
                </a:solidFill>
              </a:defRPr>
            </a:pPr>
            <a:r>
              <a:rPr sz="975" b="1">
                <a:solidFill>
                  <a:srgbClr val="6B7580"/>
                </a:solidFill>
              </a:rPr>
              <a:t>PROBLEM</a:t>
            </a:r>
          </a:p>
        </p:txBody>
      </p:sp>
      <p:sp>
        <p:nvSpPr>
          <p:cNvPr id="3" name="">
            <a:extLst xmlns:a="http://schemas.openxmlformats.org/drawingml/2006/main">
              <a:ext uri="{FF2B5EF4-FFF2-40B4-BE49-F238E27FC236}">
                <a16:creationId xmlns:a16="http://schemas.microsoft.com/office/drawing/2014/main" id="{8A8BFAD5-700A-4317-B44F-401A254CF100}"/>
              </a:ext>
            </a:extLst>
          </p:cNvPr>
          <p:cNvSpPr>
            <a:spLocks xmlns:a="http://schemas.openxmlformats.org/drawingml/2006/main" noGrp="1"/>
          </p:cNvSpPr>
          <p:nvPr/>
        </p:nvSpPr>
        <p:spPr>
          <a:xfrm xmlns:a="http://schemas.openxmlformats.org/drawingml/2006/main">
            <a:off x="6191250" y="228600"/>
            <a:ext cx="5353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0">
                <a:solidFill>
                  <a:srgbClr val="6B7580"/>
                </a:solidFill>
              </a:defRPr>
            </a:pPr>
            <a:r>
              <a:rPr sz="825" b="0">
                <a:solidFill>
                  <a:srgbClr val="6B7580"/>
                </a:solidFill>
              </a:rPr>
              <a:t>● Problem   Task   Framework   Simulation   Hardware   Discussion</a:t>
            </a:r>
          </a:p>
        </p:txBody>
      </p:sp>
      <p:sp>
        <p:nvSpPr>
          <p:cNvPr id="4" name="">
            <a:extLst xmlns:a="http://schemas.openxmlformats.org/drawingml/2006/main">
              <a:ext uri="{FF2B5EF4-FFF2-40B4-BE49-F238E27FC236}">
                <a16:creationId xmlns:a16="http://schemas.microsoft.com/office/drawing/2014/main" id="{615E07CC-894B-4EDB-8541-FF6A272BA534}"/>
              </a:ext>
            </a:extLst>
          </p:cNvPr>
          <p:cNvSpPr>
            <a:spLocks xmlns:a="http://schemas.openxmlformats.org/drawingml/2006/main" noGrp="1"/>
          </p:cNvSpPr>
          <p:nvPr/>
        </p:nvSpPr>
        <p:spPr>
          <a:xfrm xmlns:a="http://schemas.openxmlformats.org/drawingml/2006/main">
            <a:off x="647700" y="533400"/>
            <a:ext cx="108394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700" b="1">
                <a:solidFill>
                  <a:srgbClr val="004282"/>
                </a:solidFill>
              </a:defRPr>
            </a:pPr>
            <a:r>
              <a:rPr sz="2700" b="1">
                <a:solidFill>
                  <a:srgbClr val="004282"/>
                </a:solidFill>
              </a:rPr>
              <a:t>Compliance corrects local errors, but it does not choose the route</a:t>
            </a:r>
          </a:p>
        </p:txBody>
      </p:sp>
      <p:sp>
        <p:nvSpPr>
          <p:cNvPr id="5" name="">
            <a:extLst xmlns:a="http://schemas.openxmlformats.org/drawingml/2006/main">
              <a:ext uri="{FF2B5EF4-FFF2-40B4-BE49-F238E27FC236}">
                <a16:creationId xmlns:a16="http://schemas.microsoft.com/office/drawing/2014/main" id="{43FB7FD5-71EC-48CA-8818-9AF7E86DC168}"/>
              </a:ext>
            </a:extLst>
          </p:cNvPr>
          <p:cNvSpPr>
            <a:spLocks xmlns:a="http://schemas.openxmlformats.org/drawingml/2006/main" noGrp="1"/>
          </p:cNvSpPr>
          <p:nvPr/>
        </p:nvSpPr>
        <p:spPr>
          <a:xfrm xmlns:a="http://schemas.openxmlformats.org/drawingml/2006/main">
            <a:off x="647700" y="1257300"/>
            <a:ext cx="609600" cy="47625"/>
          </a:xfrm>
          <a:prstGeom xmlns:a="http://schemas.openxmlformats.org/drawingml/2006/main" prst="rect">
            <a:avLst/>
          </a:prstGeom>
          <a:solidFill xmlns:a="http://schemas.openxmlformats.org/drawingml/2006/main">
            <a:srgbClr val="ED7F0D"/>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9152A0C-F1AE-477C-A13E-530896E9B39B}"/>
              </a:ext>
            </a:extLst>
          </p:cNvPr>
          <p:cNvSpPr>
            <a:spLocks xmlns:a="http://schemas.openxmlformats.org/drawingml/2006/main" noGrp="1"/>
          </p:cNvSpPr>
          <p:nvPr/>
        </p:nvSpPr>
        <p:spPr>
          <a:xfrm xmlns:a="http://schemas.openxmlformats.org/drawingml/2006/main">
            <a:off x="647700" y="6486525"/>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6B7580"/>
                </a:solidFill>
              </a:defRPr>
            </a:pPr>
            <a:r>
              <a:rPr sz="825" b="0">
                <a:solidFill>
                  <a:srgbClr val="6B7580"/>
                </a:solidFill>
              </a:rPr>
              <a:t>Nan Jinyao · Paper-aligned group review</a:t>
            </a:r>
          </a:p>
        </p:txBody>
      </p:sp>
      <p:sp>
        <p:nvSpPr>
          <p:cNvPr id="7" name="">
            <a:extLst xmlns:a="http://schemas.openxmlformats.org/drawingml/2006/main">
              <a:ext uri="{FF2B5EF4-FFF2-40B4-BE49-F238E27FC236}">
                <a16:creationId xmlns:a16="http://schemas.microsoft.com/office/drawing/2014/main" id="{94B81439-BC14-4C61-9B81-06212F621CE4}"/>
              </a:ext>
            </a:extLst>
          </p:cNvPr>
          <p:cNvSpPr>
            <a:spLocks xmlns:a="http://schemas.openxmlformats.org/drawingml/2006/main" noGrp="1"/>
          </p:cNvSpPr>
          <p:nvPr/>
        </p:nvSpPr>
        <p:spPr>
          <a:xfrm xmlns:a="http://schemas.openxmlformats.org/drawingml/2006/main">
            <a:off x="4476750" y="6486525"/>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0">
                <a:solidFill>
                  <a:srgbClr val="6B7580"/>
                </a:solidFill>
              </a:defRPr>
            </a:pPr>
            <a:r>
              <a:rPr sz="825" b="0">
                <a:solidFill>
                  <a:srgbClr val="6B7580"/>
                </a:solidFill>
              </a:rPr>
              <a:t>Introduction · contact mechanics</a:t>
            </a:r>
          </a:p>
        </p:txBody>
      </p:sp>
      <p:sp>
        <p:nvSpPr>
          <p:cNvPr id="8" name="">
            <a:extLst xmlns:a="http://schemas.openxmlformats.org/drawingml/2006/main">
              <a:ext uri="{FF2B5EF4-FFF2-40B4-BE49-F238E27FC236}">
                <a16:creationId xmlns:a16="http://schemas.microsoft.com/office/drawing/2014/main" id="{814DE3A6-0175-4C37-B358-60E3A0E69366}"/>
              </a:ext>
            </a:extLst>
          </p:cNvPr>
          <p:cNvSpPr>
            <a:spLocks xmlns:a="http://schemas.openxmlformats.org/drawingml/2006/main" noGrp="1"/>
          </p:cNvSpPr>
          <p:nvPr/>
        </p:nvSpPr>
        <p:spPr>
          <a:xfrm xmlns:a="http://schemas.openxmlformats.org/drawingml/2006/main">
            <a:off x="11049000" y="648652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004282"/>
                </a:solidFill>
              </a:defRPr>
            </a:pPr>
            <a:r>
              <a:rPr sz="825" b="1">
                <a:solidFill>
                  <a:srgbClr val="004282"/>
                </a:solidFill>
              </a:rPr>
              <a:t>5</a:t>
            </a:r>
          </a:p>
        </p:txBody>
      </p:sp>
      <p:sp>
        <p:nvSpPr>
          <p:cNvPr id="9" name="">
            <a:extLst xmlns:a="http://schemas.openxmlformats.org/drawingml/2006/main">
              <a:ext uri="{FF2B5EF4-FFF2-40B4-BE49-F238E27FC236}">
                <a16:creationId xmlns:a16="http://schemas.microsoft.com/office/drawing/2014/main" id="{8F2283F0-A559-4733-A2A2-E1051AEE4181}"/>
              </a:ext>
            </a:extLst>
          </p:cNvPr>
          <p:cNvSpPr>
            <a:spLocks xmlns:a="http://schemas.openxmlformats.org/drawingml/2006/main" noGrp="1"/>
          </p:cNvSpPr>
          <p:nvPr/>
        </p:nvSpPr>
        <p:spPr>
          <a:xfrm xmlns:a="http://schemas.openxmlformats.org/drawingml/2006/main">
            <a:off x="781050" y="1866900"/>
            <a:ext cx="76200" cy="76200"/>
          </a:xfrm>
          <a:prstGeom xmlns:a="http://schemas.openxmlformats.org/drawingml/2006/main" prst="ellipse">
            <a:avLst/>
          </a:prstGeom>
          <a:solidFill xmlns:a="http://schemas.openxmlformats.org/drawingml/2006/main">
            <a:srgbClr val="ED7F0D"/>
          </a:solidFill>
          <a:ln xmlns:a="http://schemas.openxmlformats.org/drawingml/2006/main" w="9525">
            <a:solidFill>
              <a:srgbClr val="ED7F0D"/>
            </a:solidFill>
            <a:prstDash val="solid"/>
          </a:ln>
        </p:spPr>
      </p:sp>
      <p:sp>
        <p:nvSpPr>
          <p:cNvPr id="10" name="">
            <a:extLst xmlns:a="http://schemas.openxmlformats.org/drawingml/2006/main">
              <a:ext uri="{FF2B5EF4-FFF2-40B4-BE49-F238E27FC236}">
                <a16:creationId xmlns:a16="http://schemas.microsoft.com/office/drawing/2014/main" id="{6901E9AF-38D5-4289-AC15-E1DC8209332D}"/>
              </a:ext>
            </a:extLst>
          </p:cNvPr>
          <p:cNvSpPr>
            <a:spLocks xmlns:a="http://schemas.openxmlformats.org/drawingml/2006/main" noGrp="1"/>
          </p:cNvSpPr>
          <p:nvPr/>
        </p:nvSpPr>
        <p:spPr>
          <a:xfrm xmlns:a="http://schemas.openxmlformats.org/drawingml/2006/main">
            <a:off x="990600" y="1771650"/>
            <a:ext cx="35052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152538"/>
                </a:solidFill>
              </a:defRPr>
            </a:pPr>
            <a:r>
              <a:rPr sz="1500" b="0">
                <a:solidFill>
                  <a:srgbClr val="152538"/>
                </a:solidFill>
              </a:rPr>
              <a:t>RCC and admittance let the geometry absorb small alignment errors.</a:t>
            </a:r>
          </a:p>
        </p:txBody>
      </p:sp>
      <p:sp>
        <p:nvSpPr>
          <p:cNvPr id="11" name="">
            <a:extLst xmlns:a="http://schemas.openxmlformats.org/drawingml/2006/main">
              <a:ext uri="{FF2B5EF4-FFF2-40B4-BE49-F238E27FC236}">
                <a16:creationId xmlns:a16="http://schemas.microsoft.com/office/drawing/2014/main" id="{4AA3579E-3A39-4725-8943-EA3912EF2EC0}"/>
              </a:ext>
            </a:extLst>
          </p:cNvPr>
          <p:cNvSpPr>
            <a:spLocks xmlns:a="http://schemas.openxmlformats.org/drawingml/2006/main" noGrp="1"/>
          </p:cNvSpPr>
          <p:nvPr/>
        </p:nvSpPr>
        <p:spPr>
          <a:xfrm xmlns:a="http://schemas.openxmlformats.org/drawingml/2006/main">
            <a:off x="781050" y="2876550"/>
            <a:ext cx="76200" cy="76200"/>
          </a:xfrm>
          <a:prstGeom xmlns:a="http://schemas.openxmlformats.org/drawingml/2006/main" prst="ellipse">
            <a:avLst/>
          </a:prstGeom>
          <a:solidFill xmlns:a="http://schemas.openxmlformats.org/drawingml/2006/main">
            <a:srgbClr val="ED7F0D"/>
          </a:solidFill>
          <a:ln xmlns:a="http://schemas.openxmlformats.org/drawingml/2006/main" w="9525">
            <a:solidFill>
              <a:srgbClr val="ED7F0D"/>
            </a:solidFill>
            <a:prstDash val="solid"/>
          </a:ln>
        </p:spPr>
      </p:sp>
      <p:sp>
        <p:nvSpPr>
          <p:cNvPr id="12" name="">
            <a:extLst xmlns:a="http://schemas.openxmlformats.org/drawingml/2006/main">
              <a:ext uri="{FF2B5EF4-FFF2-40B4-BE49-F238E27FC236}">
                <a16:creationId xmlns:a16="http://schemas.microsoft.com/office/drawing/2014/main" id="{C92D9021-C0B4-4544-B9D4-689950845EE2}"/>
              </a:ext>
            </a:extLst>
          </p:cNvPr>
          <p:cNvSpPr>
            <a:spLocks xmlns:a="http://schemas.openxmlformats.org/drawingml/2006/main" noGrp="1"/>
          </p:cNvSpPr>
          <p:nvPr/>
        </p:nvSpPr>
        <p:spPr>
          <a:xfrm xmlns:a="http://schemas.openxmlformats.org/drawingml/2006/main">
            <a:off x="990600" y="2781300"/>
            <a:ext cx="35052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152538"/>
                </a:solidFill>
              </a:defRPr>
            </a:pPr>
            <a:r>
              <a:rPr sz="1500" b="0">
                <a:solidFill>
                  <a:srgbClr val="152538"/>
                </a:solidFill>
              </a:rPr>
              <a:t>A larger offset still needs a decision about where to touch next.</a:t>
            </a:r>
          </a:p>
        </p:txBody>
      </p:sp>
      <p:sp>
        <p:nvSpPr>
          <p:cNvPr id="13" name="">
            <a:extLst xmlns:a="http://schemas.openxmlformats.org/drawingml/2006/main">
              <a:ext uri="{FF2B5EF4-FFF2-40B4-BE49-F238E27FC236}">
                <a16:creationId xmlns:a16="http://schemas.microsoft.com/office/drawing/2014/main" id="{5E0C5082-9241-4E61-8F39-6A84C69F4334}"/>
              </a:ext>
            </a:extLst>
          </p:cNvPr>
          <p:cNvSpPr>
            <a:spLocks xmlns:a="http://schemas.openxmlformats.org/drawingml/2006/main" noGrp="1"/>
          </p:cNvSpPr>
          <p:nvPr/>
        </p:nvSpPr>
        <p:spPr>
          <a:xfrm xmlns:a="http://schemas.openxmlformats.org/drawingml/2006/main">
            <a:off x="781050" y="3886200"/>
            <a:ext cx="76200" cy="76200"/>
          </a:xfrm>
          <a:prstGeom xmlns:a="http://schemas.openxmlformats.org/drawingml/2006/main" prst="ellipse">
            <a:avLst/>
          </a:prstGeom>
          <a:solidFill xmlns:a="http://schemas.openxmlformats.org/drawingml/2006/main">
            <a:srgbClr val="ED7F0D"/>
          </a:solidFill>
          <a:ln xmlns:a="http://schemas.openxmlformats.org/drawingml/2006/main" w="9525">
            <a:solidFill>
              <a:srgbClr val="ED7F0D"/>
            </a:solidFill>
            <a:prstDash val="solid"/>
          </a:ln>
        </p:spPr>
      </p:sp>
      <p:sp>
        <p:nvSpPr>
          <p:cNvPr id="14" name="">
            <a:extLst xmlns:a="http://schemas.openxmlformats.org/drawingml/2006/main">
              <a:ext uri="{FF2B5EF4-FFF2-40B4-BE49-F238E27FC236}">
                <a16:creationId xmlns:a16="http://schemas.microsoft.com/office/drawing/2014/main" id="{2D55BEBE-87BA-46AF-ACD5-B6EE7A78FF89}"/>
              </a:ext>
            </a:extLst>
          </p:cNvPr>
          <p:cNvSpPr>
            <a:spLocks xmlns:a="http://schemas.openxmlformats.org/drawingml/2006/main" noGrp="1"/>
          </p:cNvSpPr>
          <p:nvPr/>
        </p:nvSpPr>
        <p:spPr>
          <a:xfrm xmlns:a="http://schemas.openxmlformats.org/drawingml/2006/main">
            <a:off x="990600" y="3790950"/>
            <a:ext cx="35052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152538"/>
                </a:solidFill>
              </a:defRPr>
            </a:pPr>
            <a:r>
              <a:rPr sz="1500" b="0">
                <a:solidFill>
                  <a:srgbClr val="152538"/>
                </a:solidFill>
              </a:rPr>
              <a:t>The paper therefore treats compliance and search as different parts of the problem.</a:t>
            </a:r>
          </a:p>
        </p:txBody>
      </p:sp>
      <p:sp>
        <p:nvSpPr>
          <p:cNvPr id="15" name="">
            <a:extLst xmlns:a="http://schemas.openxmlformats.org/drawingml/2006/main">
              <a:ext uri="{FF2B5EF4-FFF2-40B4-BE49-F238E27FC236}">
                <a16:creationId xmlns:a16="http://schemas.microsoft.com/office/drawing/2014/main" id="{75CD8BF7-CE78-4A73-BCEF-1D6BEC993791}"/>
              </a:ext>
            </a:extLst>
          </p:cNvPr>
          <p:cNvSpPr>
            <a:spLocks xmlns:a="http://schemas.openxmlformats.org/drawingml/2006/main" noGrp="1"/>
          </p:cNvSpPr>
          <p:nvPr/>
        </p:nvSpPr>
        <p:spPr>
          <a:xfrm xmlns:a="http://schemas.openxmlformats.org/drawingml/2006/main">
            <a:off x="4686300" y="1485900"/>
            <a:ext cx="6705600" cy="4248150"/>
          </a:xfrm>
          <a:prstGeom xmlns:a="http://schemas.openxmlformats.org/drawingml/2006/main" prst="roundRect">
            <a:avLst>
              <a:gd name="adj" fmla="val 1794"/>
            </a:avLst>
          </a:prstGeom>
          <a:solidFill xmlns:a="http://schemas.openxmlformats.org/drawingml/2006/main">
            <a:srgbClr val="FFFFFF"/>
          </a:solidFill>
          <a:ln xmlns:a="http://schemas.openxmlformats.org/drawingml/2006/main" w="9525">
            <a:solidFill>
              <a:srgbClr val="D9E0E6"/>
            </a:solidFill>
            <a:prstDash val="solid"/>
          </a:ln>
        </p:spPr>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75b2116b61794be2"/>
          <a:stretch xmlns:a="http://schemas.openxmlformats.org/drawingml/2006/main"/>
        </p:blipFill>
        <p:spPr>
          <a:xfrm xmlns:a="http://schemas.openxmlformats.org/drawingml/2006/main">
            <a:off x="6465098" y="1562100"/>
            <a:ext cx="3148004" cy="4095750"/>
          </a:xfrm>
          <a:prstGeom xmlns:a="http://schemas.openxmlformats.org/drawingml/2006/main" prst="roundRect">
            <a:avLst>
              <a:gd name="adj" fmla="val 1860"/>
            </a:avLst>
          </a:prstGeom>
        </p:spPr>
      </p:pic>
      <p:sp>
        <p:nvSpPr>
          <p:cNvPr id="17" name="">
            <a:extLst xmlns:a="http://schemas.openxmlformats.org/drawingml/2006/main">
              <a:ext uri="{FF2B5EF4-FFF2-40B4-BE49-F238E27FC236}">
                <a16:creationId xmlns:a16="http://schemas.microsoft.com/office/drawing/2014/main" id="{1E108F83-AD03-4894-9FA1-7316DD99899E}"/>
              </a:ext>
            </a:extLst>
          </p:cNvPr>
          <p:cNvSpPr>
            <a:spLocks xmlns:a="http://schemas.openxmlformats.org/drawingml/2006/main" noGrp="1"/>
          </p:cNvSpPr>
          <p:nvPr/>
        </p:nvSpPr>
        <p:spPr>
          <a:xfrm xmlns:a="http://schemas.openxmlformats.org/drawingml/2006/main">
            <a:off x="647700" y="5943600"/>
            <a:ext cx="10839450" cy="400050"/>
          </a:xfrm>
          <a:prstGeom xmlns:a="http://schemas.openxmlformats.org/drawingml/2006/main" prst="rect">
            <a:avLst/>
          </a:prstGeom>
          <a:solidFill xmlns:a="http://schemas.openxmlformats.org/drawingml/2006/main">
            <a:srgbClr val="FFF0E2"/>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E4A7ADBC-59F5-4A65-96F6-38A6AF765376}"/>
              </a:ext>
            </a:extLst>
          </p:cNvPr>
          <p:cNvSpPr>
            <a:spLocks xmlns:a="http://schemas.openxmlformats.org/drawingml/2006/main" noGrp="1"/>
          </p:cNvSpPr>
          <p:nvPr/>
        </p:nvSpPr>
        <p:spPr>
          <a:xfrm xmlns:a="http://schemas.openxmlformats.org/drawingml/2006/main">
            <a:off x="647700" y="5943600"/>
            <a:ext cx="57150" cy="400050"/>
          </a:xfrm>
          <a:prstGeom xmlns:a="http://schemas.openxmlformats.org/drawingml/2006/main" prst="rect">
            <a:avLst/>
          </a:prstGeom>
          <a:solidFill xmlns:a="http://schemas.openxmlformats.org/drawingml/2006/main">
            <a:srgbClr val="ED7F0D"/>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A4BC3C3B-983D-497E-9A34-3D90957DCB9F}"/>
              </a:ext>
            </a:extLst>
          </p:cNvPr>
          <p:cNvSpPr>
            <a:spLocks xmlns:a="http://schemas.openxmlformats.org/drawingml/2006/main" noGrp="1"/>
          </p:cNvSpPr>
          <p:nvPr/>
        </p:nvSpPr>
        <p:spPr>
          <a:xfrm xmlns:a="http://schemas.openxmlformats.org/drawingml/2006/main">
            <a:off x="838200" y="5981700"/>
            <a:ext cx="10458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152538"/>
                </a:solidFill>
              </a:defRPr>
            </a:pPr>
            <a:r>
              <a:rPr sz="1275" b="1">
                <a:solidFill>
                  <a:srgbClr val="152538"/>
                </a:solidFill>
              </a:rPr>
              <a:t>Compliance handles local contact. It does not remove the need for search.</a:t>
            </a:r>
          </a:p>
        </p:txBody>
      </p:sp>
    </p:spTree>
    <p:extLst>
      <p:ext uri="{BB962C8B-B14F-4D97-AF65-F5344CB8AC3E}">
        <p14:creationId xmlns:p14="http://schemas.microsoft.com/office/powerpoint/2010/main" val="1520397206"/>
      </p:ext>
    </p:extLst>
  </p:cSld>
</p:sld>
</file>

<file path=ppt/slides/slide6.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5D26DE4-4AD5-473E-86FB-5252A0C0777F}"/>
              </a:ext>
            </a:extLst>
          </p:cNvPr>
          <p:cNvSpPr>
            <a:spLocks xmlns:a="http://schemas.openxmlformats.org/drawingml/2006/main" noGrp="1"/>
          </p:cNvSpPr>
          <p:nvPr/>
        </p:nvSpPr>
        <p:spPr>
          <a:xfrm xmlns:a="http://schemas.openxmlformats.org/drawingml/2006/main">
            <a:off x="647700" y="2286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ED7F0D"/>
                </a:solidFill>
              </a:defRPr>
            </a:pPr>
            <a:r>
              <a:rPr sz="1050" b="1">
                <a:solidFill>
                  <a:srgbClr val="ED7F0D"/>
                </a:solidFill>
              </a:rPr>
              <a:t>06</a:t>
            </a:r>
          </a:p>
        </p:txBody>
      </p:sp>
      <p:sp>
        <p:nvSpPr>
          <p:cNvPr id="2" name="">
            <a:extLst xmlns:a="http://schemas.openxmlformats.org/drawingml/2006/main">
              <a:ext uri="{FF2B5EF4-FFF2-40B4-BE49-F238E27FC236}">
                <a16:creationId xmlns:a16="http://schemas.microsoft.com/office/drawing/2014/main" id="{9A8D58E5-EDA1-4F04-A1F5-A915D0EC6CD8}"/>
              </a:ext>
            </a:extLst>
          </p:cNvPr>
          <p:cNvSpPr>
            <a:spLocks xmlns:a="http://schemas.openxmlformats.org/drawingml/2006/main" noGrp="1"/>
          </p:cNvSpPr>
          <p:nvPr/>
        </p:nvSpPr>
        <p:spPr>
          <a:xfrm xmlns:a="http://schemas.openxmlformats.org/drawingml/2006/main">
            <a:off x="1104900" y="22860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6B7580"/>
                </a:solidFill>
              </a:defRPr>
            </a:pPr>
            <a:r>
              <a:rPr sz="975" b="1">
                <a:solidFill>
                  <a:srgbClr val="6B7580"/>
                </a:solidFill>
              </a:rPr>
              <a:t>PROBLEM</a:t>
            </a:r>
          </a:p>
        </p:txBody>
      </p:sp>
      <p:sp>
        <p:nvSpPr>
          <p:cNvPr id="3" name="">
            <a:extLst xmlns:a="http://schemas.openxmlformats.org/drawingml/2006/main">
              <a:ext uri="{FF2B5EF4-FFF2-40B4-BE49-F238E27FC236}">
                <a16:creationId xmlns:a16="http://schemas.microsoft.com/office/drawing/2014/main" id="{9CEF3291-A375-42A1-BCD0-B947A75B71C6}"/>
              </a:ext>
            </a:extLst>
          </p:cNvPr>
          <p:cNvSpPr>
            <a:spLocks xmlns:a="http://schemas.openxmlformats.org/drawingml/2006/main" noGrp="1"/>
          </p:cNvSpPr>
          <p:nvPr/>
        </p:nvSpPr>
        <p:spPr>
          <a:xfrm xmlns:a="http://schemas.openxmlformats.org/drawingml/2006/main">
            <a:off x="6191250" y="228600"/>
            <a:ext cx="5353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0">
                <a:solidFill>
                  <a:srgbClr val="6B7580"/>
                </a:solidFill>
              </a:defRPr>
            </a:pPr>
            <a:r>
              <a:rPr sz="825" b="0">
                <a:solidFill>
                  <a:srgbClr val="6B7580"/>
                </a:solidFill>
              </a:rPr>
              <a:t>● Problem   Task   Framework   Simulation   Hardware   Discussion</a:t>
            </a:r>
          </a:p>
        </p:txBody>
      </p:sp>
      <p:sp>
        <p:nvSpPr>
          <p:cNvPr id="4" name="">
            <a:extLst xmlns:a="http://schemas.openxmlformats.org/drawingml/2006/main">
              <a:ext uri="{FF2B5EF4-FFF2-40B4-BE49-F238E27FC236}">
                <a16:creationId xmlns:a16="http://schemas.microsoft.com/office/drawing/2014/main" id="{2CAF4CB5-C5CA-4175-B083-4AD4897025EA}"/>
              </a:ext>
            </a:extLst>
          </p:cNvPr>
          <p:cNvSpPr>
            <a:spLocks xmlns:a="http://schemas.openxmlformats.org/drawingml/2006/main" noGrp="1"/>
          </p:cNvSpPr>
          <p:nvPr/>
        </p:nvSpPr>
        <p:spPr>
          <a:xfrm xmlns:a="http://schemas.openxmlformats.org/drawingml/2006/main">
            <a:off x="647700" y="533400"/>
            <a:ext cx="108394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004282"/>
                </a:solidFill>
              </a:defRPr>
            </a:pPr>
            <a:r>
              <a:rPr sz="2850" b="1">
                <a:solidFill>
                  <a:srgbClr val="004282"/>
                </a:solidFill>
              </a:rPr>
              <a:t>A global spiral covers the prior, but it repeats work</a:t>
            </a:r>
          </a:p>
        </p:txBody>
      </p:sp>
      <p:sp>
        <p:nvSpPr>
          <p:cNvPr id="5" name="">
            <a:extLst xmlns:a="http://schemas.openxmlformats.org/drawingml/2006/main">
              <a:ext uri="{FF2B5EF4-FFF2-40B4-BE49-F238E27FC236}">
                <a16:creationId xmlns:a16="http://schemas.microsoft.com/office/drawing/2014/main" id="{A94C388C-F400-4D8D-B459-D47DCF250C1F}"/>
              </a:ext>
            </a:extLst>
          </p:cNvPr>
          <p:cNvSpPr>
            <a:spLocks xmlns:a="http://schemas.openxmlformats.org/drawingml/2006/main" noGrp="1"/>
          </p:cNvSpPr>
          <p:nvPr/>
        </p:nvSpPr>
        <p:spPr>
          <a:xfrm xmlns:a="http://schemas.openxmlformats.org/drawingml/2006/main">
            <a:off x="647700" y="1257300"/>
            <a:ext cx="609600" cy="47625"/>
          </a:xfrm>
          <a:prstGeom xmlns:a="http://schemas.openxmlformats.org/drawingml/2006/main" prst="rect">
            <a:avLst/>
          </a:prstGeom>
          <a:solidFill xmlns:a="http://schemas.openxmlformats.org/drawingml/2006/main">
            <a:srgbClr val="ED7F0D"/>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E9C91121-1768-4BAC-85F3-6400529A73C5}"/>
              </a:ext>
            </a:extLst>
          </p:cNvPr>
          <p:cNvSpPr>
            <a:spLocks xmlns:a="http://schemas.openxmlformats.org/drawingml/2006/main" noGrp="1"/>
          </p:cNvSpPr>
          <p:nvPr/>
        </p:nvSpPr>
        <p:spPr>
          <a:xfrm xmlns:a="http://schemas.openxmlformats.org/drawingml/2006/main">
            <a:off x="647700" y="6486525"/>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6B7580"/>
                </a:solidFill>
              </a:defRPr>
            </a:pPr>
            <a:r>
              <a:rPr sz="825" b="0">
                <a:solidFill>
                  <a:srgbClr val="6B7580"/>
                </a:solidFill>
              </a:rPr>
              <a:t>Nan Jinyao · Paper-aligned group review</a:t>
            </a:r>
          </a:p>
        </p:txBody>
      </p:sp>
      <p:sp>
        <p:nvSpPr>
          <p:cNvPr id="7" name="">
            <a:extLst xmlns:a="http://schemas.openxmlformats.org/drawingml/2006/main">
              <a:ext uri="{FF2B5EF4-FFF2-40B4-BE49-F238E27FC236}">
                <a16:creationId xmlns:a16="http://schemas.microsoft.com/office/drawing/2014/main" id="{976D6AAC-C0E6-41A1-8B3C-5802C530F70B}"/>
              </a:ext>
            </a:extLst>
          </p:cNvPr>
          <p:cNvSpPr>
            <a:spLocks xmlns:a="http://schemas.openxmlformats.org/drawingml/2006/main" noGrp="1"/>
          </p:cNvSpPr>
          <p:nvPr/>
        </p:nvSpPr>
        <p:spPr>
          <a:xfrm xmlns:a="http://schemas.openxmlformats.org/drawingml/2006/main">
            <a:off x="4476750" y="6486525"/>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0">
                <a:solidFill>
                  <a:srgbClr val="6B7580"/>
                </a:solidFill>
              </a:defRPr>
            </a:pPr>
            <a:r>
              <a:rPr sz="825" b="0">
                <a:solidFill>
                  <a:srgbClr val="6B7580"/>
                </a:solidFill>
              </a:rPr>
              <a:t>Introduction · Sec. III-C</a:t>
            </a:r>
          </a:p>
        </p:txBody>
      </p:sp>
      <p:sp>
        <p:nvSpPr>
          <p:cNvPr id="8" name="">
            <a:extLst xmlns:a="http://schemas.openxmlformats.org/drawingml/2006/main">
              <a:ext uri="{FF2B5EF4-FFF2-40B4-BE49-F238E27FC236}">
                <a16:creationId xmlns:a16="http://schemas.microsoft.com/office/drawing/2014/main" id="{949B9127-5509-4051-809D-01EC90FF4EE7}"/>
              </a:ext>
            </a:extLst>
          </p:cNvPr>
          <p:cNvSpPr>
            <a:spLocks xmlns:a="http://schemas.openxmlformats.org/drawingml/2006/main" noGrp="1"/>
          </p:cNvSpPr>
          <p:nvPr/>
        </p:nvSpPr>
        <p:spPr>
          <a:xfrm xmlns:a="http://schemas.openxmlformats.org/drawingml/2006/main">
            <a:off x="11049000" y="648652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004282"/>
                </a:solidFill>
              </a:defRPr>
            </a:pPr>
            <a:r>
              <a:rPr sz="825" b="1">
                <a:solidFill>
                  <a:srgbClr val="004282"/>
                </a:solidFill>
              </a:rPr>
              <a:t>6</a:t>
            </a:r>
          </a:p>
        </p:txBody>
      </p:sp>
      <p:sp>
        <p:nvSpPr>
          <p:cNvPr id="9" name="">
            <a:extLst xmlns:a="http://schemas.openxmlformats.org/drawingml/2006/main">
              <a:ext uri="{FF2B5EF4-FFF2-40B4-BE49-F238E27FC236}">
                <a16:creationId xmlns:a16="http://schemas.microsoft.com/office/drawing/2014/main" id="{176018E4-2CFB-4E6B-9B24-51B07D8E77C7}"/>
              </a:ext>
            </a:extLst>
          </p:cNvPr>
          <p:cNvSpPr>
            <a:spLocks xmlns:a="http://schemas.openxmlformats.org/drawingml/2006/main" noGrp="1"/>
          </p:cNvSpPr>
          <p:nvPr/>
        </p:nvSpPr>
        <p:spPr>
          <a:xfrm xmlns:a="http://schemas.openxmlformats.org/drawingml/2006/main">
            <a:off x="781050" y="1866900"/>
            <a:ext cx="76200" cy="76200"/>
          </a:xfrm>
          <a:prstGeom xmlns:a="http://schemas.openxmlformats.org/drawingml/2006/main" prst="ellipse">
            <a:avLst/>
          </a:prstGeom>
          <a:solidFill xmlns:a="http://schemas.openxmlformats.org/drawingml/2006/main">
            <a:srgbClr val="ED7F0D"/>
          </a:solidFill>
          <a:ln xmlns:a="http://schemas.openxmlformats.org/drawingml/2006/main" w="9525">
            <a:solidFill>
              <a:srgbClr val="ED7F0D"/>
            </a:solidFill>
            <a:prstDash val="solid"/>
          </a:ln>
        </p:spPr>
      </p:sp>
      <p:sp>
        <p:nvSpPr>
          <p:cNvPr id="10" name="">
            <a:extLst xmlns:a="http://schemas.openxmlformats.org/drawingml/2006/main">
              <a:ext uri="{FF2B5EF4-FFF2-40B4-BE49-F238E27FC236}">
                <a16:creationId xmlns:a16="http://schemas.microsoft.com/office/drawing/2014/main" id="{EC859561-8A80-429F-9DEA-5C8816A96738}"/>
              </a:ext>
            </a:extLst>
          </p:cNvPr>
          <p:cNvSpPr>
            <a:spLocks xmlns:a="http://schemas.openxmlformats.org/drawingml/2006/main" noGrp="1"/>
          </p:cNvSpPr>
          <p:nvPr/>
        </p:nvSpPr>
        <p:spPr>
          <a:xfrm xmlns:a="http://schemas.openxmlformats.org/drawingml/2006/main">
            <a:off x="990600" y="1771650"/>
            <a:ext cx="35052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152538"/>
                </a:solidFill>
              </a:defRPr>
            </a:pPr>
            <a:r>
              <a:rPr sz="1500" b="0">
                <a:solidFill>
                  <a:srgbClr val="152538"/>
                </a:solidFill>
              </a:rPr>
              <a:t>A global outward spiral can cover the whole CAD-prior region.</a:t>
            </a:r>
          </a:p>
        </p:txBody>
      </p:sp>
      <p:sp>
        <p:nvSpPr>
          <p:cNvPr id="11" name="">
            <a:extLst xmlns:a="http://schemas.openxmlformats.org/drawingml/2006/main">
              <a:ext uri="{FF2B5EF4-FFF2-40B4-BE49-F238E27FC236}">
                <a16:creationId xmlns:a16="http://schemas.microsoft.com/office/drawing/2014/main" id="{FA394712-BF85-4790-8435-419DBB8D02B1}"/>
              </a:ext>
            </a:extLst>
          </p:cNvPr>
          <p:cNvSpPr>
            <a:spLocks xmlns:a="http://schemas.openxmlformats.org/drawingml/2006/main" noGrp="1"/>
          </p:cNvSpPr>
          <p:nvPr/>
        </p:nvSpPr>
        <p:spPr>
          <a:xfrm xmlns:a="http://schemas.openxmlformats.org/drawingml/2006/main">
            <a:off x="781050" y="2876550"/>
            <a:ext cx="76200" cy="76200"/>
          </a:xfrm>
          <a:prstGeom xmlns:a="http://schemas.openxmlformats.org/drawingml/2006/main" prst="ellipse">
            <a:avLst/>
          </a:prstGeom>
          <a:solidFill xmlns:a="http://schemas.openxmlformats.org/drawingml/2006/main">
            <a:srgbClr val="ED7F0D"/>
          </a:solidFill>
          <a:ln xmlns:a="http://schemas.openxmlformats.org/drawingml/2006/main" w="9525">
            <a:solidFill>
              <a:srgbClr val="ED7F0D"/>
            </a:solidFill>
            <a:prstDash val="solid"/>
          </a:ln>
        </p:spPr>
      </p:sp>
      <p:sp>
        <p:nvSpPr>
          <p:cNvPr id="12" name="">
            <a:extLst xmlns:a="http://schemas.openxmlformats.org/drawingml/2006/main">
              <a:ext uri="{FF2B5EF4-FFF2-40B4-BE49-F238E27FC236}">
                <a16:creationId xmlns:a16="http://schemas.microsoft.com/office/drawing/2014/main" id="{FCCA4393-E812-4DC1-9AEB-744DBFCD2CFA}"/>
              </a:ext>
            </a:extLst>
          </p:cNvPr>
          <p:cNvSpPr>
            <a:spLocks xmlns:a="http://schemas.openxmlformats.org/drawingml/2006/main" noGrp="1"/>
          </p:cNvSpPr>
          <p:nvPr/>
        </p:nvSpPr>
        <p:spPr>
          <a:xfrm xmlns:a="http://schemas.openxmlformats.org/drawingml/2006/main">
            <a:off x="990600" y="2781300"/>
            <a:ext cx="35052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152538"/>
                </a:solidFill>
              </a:defRPr>
            </a:pPr>
            <a:r>
              <a:rPr sz="1500" b="0">
                <a:solidFill>
                  <a:srgbClr val="152538"/>
                </a:solidFill>
              </a:rPr>
              <a:t>The first tactile observation has already ruled out some of that region.</a:t>
            </a:r>
          </a:p>
        </p:txBody>
      </p:sp>
      <p:sp>
        <p:nvSpPr>
          <p:cNvPr id="13" name="">
            <a:extLst xmlns:a="http://schemas.openxmlformats.org/drawingml/2006/main">
              <a:ext uri="{FF2B5EF4-FFF2-40B4-BE49-F238E27FC236}">
                <a16:creationId xmlns:a16="http://schemas.microsoft.com/office/drawing/2014/main" id="{5959A2BA-6AB6-4791-88AC-EA007B0D014A}"/>
              </a:ext>
            </a:extLst>
          </p:cNvPr>
          <p:cNvSpPr>
            <a:spLocks xmlns:a="http://schemas.openxmlformats.org/drawingml/2006/main" noGrp="1"/>
          </p:cNvSpPr>
          <p:nvPr/>
        </p:nvSpPr>
        <p:spPr>
          <a:xfrm xmlns:a="http://schemas.openxmlformats.org/drawingml/2006/main">
            <a:off x="781050" y="3886200"/>
            <a:ext cx="76200" cy="76200"/>
          </a:xfrm>
          <a:prstGeom xmlns:a="http://schemas.openxmlformats.org/drawingml/2006/main" prst="ellipse">
            <a:avLst/>
          </a:prstGeom>
          <a:solidFill xmlns:a="http://schemas.openxmlformats.org/drawingml/2006/main">
            <a:srgbClr val="ED7F0D"/>
          </a:solidFill>
          <a:ln xmlns:a="http://schemas.openxmlformats.org/drawingml/2006/main" w="9525">
            <a:solidFill>
              <a:srgbClr val="ED7F0D"/>
            </a:solidFill>
            <a:prstDash val="solid"/>
          </a:ln>
        </p:spPr>
      </p:sp>
      <p:sp>
        <p:nvSpPr>
          <p:cNvPr id="14" name="">
            <a:extLst xmlns:a="http://schemas.openxmlformats.org/drawingml/2006/main">
              <a:ext uri="{FF2B5EF4-FFF2-40B4-BE49-F238E27FC236}">
                <a16:creationId xmlns:a16="http://schemas.microsoft.com/office/drawing/2014/main" id="{BE07B976-3D31-4583-99B7-EE4840DD210B}"/>
              </a:ext>
            </a:extLst>
          </p:cNvPr>
          <p:cNvSpPr>
            <a:spLocks xmlns:a="http://schemas.openxmlformats.org/drawingml/2006/main" noGrp="1"/>
          </p:cNvSpPr>
          <p:nvPr/>
        </p:nvSpPr>
        <p:spPr>
          <a:xfrm xmlns:a="http://schemas.openxmlformats.org/drawingml/2006/main">
            <a:off x="990600" y="3790950"/>
            <a:ext cx="35052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152538"/>
                </a:solidFill>
              </a:defRPr>
            </a:pPr>
            <a:r>
              <a:rPr sz="1500" b="0">
                <a:solidFill>
                  <a:srgbClr val="152538"/>
                </a:solidFill>
              </a:rPr>
              <a:t>The goal is to spend motion only where uncertainty remains.</a:t>
            </a:r>
          </a:p>
        </p:txBody>
      </p:sp>
      <p:sp>
        <p:nvSpPr>
          <p:cNvPr id="15" name="">
            <a:extLst xmlns:a="http://schemas.openxmlformats.org/drawingml/2006/main">
              <a:ext uri="{FF2B5EF4-FFF2-40B4-BE49-F238E27FC236}">
                <a16:creationId xmlns:a16="http://schemas.microsoft.com/office/drawing/2014/main" id="{7424FAE9-A803-4CA1-B78F-852268007D0C}"/>
              </a:ext>
            </a:extLst>
          </p:cNvPr>
          <p:cNvSpPr>
            <a:spLocks xmlns:a="http://schemas.openxmlformats.org/drawingml/2006/main" noGrp="1"/>
          </p:cNvSpPr>
          <p:nvPr/>
        </p:nvSpPr>
        <p:spPr>
          <a:xfrm xmlns:a="http://schemas.openxmlformats.org/drawingml/2006/main">
            <a:off x="4686300" y="1485900"/>
            <a:ext cx="6705600" cy="4248150"/>
          </a:xfrm>
          <a:prstGeom xmlns:a="http://schemas.openxmlformats.org/drawingml/2006/main" prst="roundRect">
            <a:avLst>
              <a:gd name="adj" fmla="val 1794"/>
            </a:avLst>
          </a:prstGeom>
          <a:solidFill xmlns:a="http://schemas.openxmlformats.org/drawingml/2006/main">
            <a:srgbClr val="FFFFFF"/>
          </a:solidFill>
          <a:ln xmlns:a="http://schemas.openxmlformats.org/drawingml/2006/main" w="9525">
            <a:solidFill>
              <a:srgbClr val="D9E0E6"/>
            </a:solidFill>
            <a:prstDash val="solid"/>
          </a:ln>
        </p:spPr>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218e80af7ab74239"/>
          <a:stretch xmlns:a="http://schemas.openxmlformats.org/drawingml/2006/main"/>
        </p:blipFill>
        <p:spPr>
          <a:xfrm xmlns:a="http://schemas.openxmlformats.org/drawingml/2006/main">
            <a:off x="5991225" y="1562100"/>
            <a:ext cx="4095750" cy="4095750"/>
          </a:xfrm>
          <a:prstGeom xmlns:a="http://schemas.openxmlformats.org/drawingml/2006/main" prst="roundRect">
            <a:avLst>
              <a:gd name="adj" fmla="val 1860"/>
            </a:avLst>
          </a:prstGeom>
        </p:spPr>
      </p:pic>
      <p:sp>
        <p:nvSpPr>
          <p:cNvPr id="17" name="">
            <a:extLst xmlns:a="http://schemas.openxmlformats.org/drawingml/2006/main">
              <a:ext uri="{FF2B5EF4-FFF2-40B4-BE49-F238E27FC236}">
                <a16:creationId xmlns:a16="http://schemas.microsoft.com/office/drawing/2014/main" id="{EDDE10B3-37C6-4E0C-9776-76FB6963D815}"/>
              </a:ext>
            </a:extLst>
          </p:cNvPr>
          <p:cNvSpPr>
            <a:spLocks xmlns:a="http://schemas.openxmlformats.org/drawingml/2006/main" noGrp="1"/>
          </p:cNvSpPr>
          <p:nvPr/>
        </p:nvSpPr>
        <p:spPr>
          <a:xfrm xmlns:a="http://schemas.openxmlformats.org/drawingml/2006/main">
            <a:off x="647700" y="5943600"/>
            <a:ext cx="10839450" cy="400050"/>
          </a:xfrm>
          <a:prstGeom xmlns:a="http://schemas.openxmlformats.org/drawingml/2006/main" prst="rect">
            <a:avLst/>
          </a:prstGeom>
          <a:solidFill xmlns:a="http://schemas.openxmlformats.org/drawingml/2006/main">
            <a:srgbClr val="FFF0E2"/>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7D0B5526-BCC6-4824-8DCA-6E2FC6449C6B}"/>
              </a:ext>
            </a:extLst>
          </p:cNvPr>
          <p:cNvSpPr>
            <a:spLocks xmlns:a="http://schemas.openxmlformats.org/drawingml/2006/main" noGrp="1"/>
          </p:cNvSpPr>
          <p:nvPr/>
        </p:nvSpPr>
        <p:spPr>
          <a:xfrm xmlns:a="http://schemas.openxmlformats.org/drawingml/2006/main">
            <a:off x="647700" y="5943600"/>
            <a:ext cx="57150" cy="400050"/>
          </a:xfrm>
          <a:prstGeom xmlns:a="http://schemas.openxmlformats.org/drawingml/2006/main" prst="rect">
            <a:avLst/>
          </a:prstGeom>
          <a:solidFill xmlns:a="http://schemas.openxmlformats.org/drawingml/2006/main">
            <a:srgbClr val="ED7F0D"/>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7CAED49A-836D-47A3-AD6D-8B2995DE7DC2}"/>
              </a:ext>
            </a:extLst>
          </p:cNvPr>
          <p:cNvSpPr>
            <a:spLocks xmlns:a="http://schemas.openxmlformats.org/drawingml/2006/main" noGrp="1"/>
          </p:cNvSpPr>
          <p:nvPr/>
        </p:nvSpPr>
        <p:spPr>
          <a:xfrm xmlns:a="http://schemas.openxmlformats.org/drawingml/2006/main">
            <a:off x="838200" y="5981700"/>
            <a:ext cx="10458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152538"/>
                </a:solidFill>
              </a:defRPr>
            </a:pPr>
            <a:r>
              <a:rPr sz="1275" b="1">
                <a:solidFill>
                  <a:srgbClr val="152538"/>
                </a:solidFill>
              </a:rPr>
              <a:t>Safe coverage is useful, but unnecessary contact travel costs time and effort.</a:t>
            </a:r>
          </a:p>
        </p:txBody>
      </p:sp>
    </p:spTree>
    <p:extLst>
      <p:ext uri="{BB962C8B-B14F-4D97-AF65-F5344CB8AC3E}">
        <p14:creationId xmlns:p14="http://schemas.microsoft.com/office/powerpoint/2010/main" val="1331224265"/>
      </p:ext>
    </p:extLst>
  </p:cSld>
</p:sld>
</file>

<file path=ppt/slides/slide7.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0387293-6B0E-4D03-B135-8410C5115373}"/>
              </a:ext>
            </a:extLst>
          </p:cNvPr>
          <p:cNvSpPr>
            <a:spLocks xmlns:a="http://schemas.openxmlformats.org/drawingml/2006/main" noGrp="1"/>
          </p:cNvSpPr>
          <p:nvPr/>
        </p:nvSpPr>
        <p:spPr>
          <a:xfrm xmlns:a="http://schemas.openxmlformats.org/drawingml/2006/main">
            <a:off x="647700" y="2286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ED7F0D"/>
                </a:solidFill>
              </a:defRPr>
            </a:pPr>
            <a:r>
              <a:rPr sz="1050" b="1">
                <a:solidFill>
                  <a:srgbClr val="ED7F0D"/>
                </a:solidFill>
              </a:rPr>
              <a:t>07</a:t>
            </a:r>
          </a:p>
        </p:txBody>
      </p:sp>
      <p:sp>
        <p:nvSpPr>
          <p:cNvPr id="2" name="">
            <a:extLst xmlns:a="http://schemas.openxmlformats.org/drawingml/2006/main">
              <a:ext uri="{FF2B5EF4-FFF2-40B4-BE49-F238E27FC236}">
                <a16:creationId xmlns:a16="http://schemas.microsoft.com/office/drawing/2014/main" id="{42E11718-D123-46CC-AC08-B513970F3CE4}"/>
              </a:ext>
            </a:extLst>
          </p:cNvPr>
          <p:cNvSpPr>
            <a:spLocks xmlns:a="http://schemas.openxmlformats.org/drawingml/2006/main" noGrp="1"/>
          </p:cNvSpPr>
          <p:nvPr/>
        </p:nvSpPr>
        <p:spPr>
          <a:xfrm xmlns:a="http://schemas.openxmlformats.org/drawingml/2006/main">
            <a:off x="1104900" y="22860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6B7580"/>
                </a:solidFill>
              </a:defRPr>
            </a:pPr>
            <a:r>
              <a:rPr sz="975" b="1">
                <a:solidFill>
                  <a:srgbClr val="6B7580"/>
                </a:solidFill>
              </a:rPr>
              <a:t>PROBLEM</a:t>
            </a:r>
          </a:p>
        </p:txBody>
      </p:sp>
      <p:sp>
        <p:nvSpPr>
          <p:cNvPr id="3" name="">
            <a:extLst xmlns:a="http://schemas.openxmlformats.org/drawingml/2006/main">
              <a:ext uri="{FF2B5EF4-FFF2-40B4-BE49-F238E27FC236}">
                <a16:creationId xmlns:a16="http://schemas.microsoft.com/office/drawing/2014/main" id="{4CD82A61-62E5-4CE9-B542-2B485C863979}"/>
              </a:ext>
            </a:extLst>
          </p:cNvPr>
          <p:cNvSpPr>
            <a:spLocks xmlns:a="http://schemas.openxmlformats.org/drawingml/2006/main" noGrp="1"/>
          </p:cNvSpPr>
          <p:nvPr/>
        </p:nvSpPr>
        <p:spPr>
          <a:xfrm xmlns:a="http://schemas.openxmlformats.org/drawingml/2006/main">
            <a:off x="6191250" y="228600"/>
            <a:ext cx="5353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0">
                <a:solidFill>
                  <a:srgbClr val="6B7580"/>
                </a:solidFill>
              </a:defRPr>
            </a:pPr>
            <a:r>
              <a:rPr sz="825" b="0">
                <a:solidFill>
                  <a:srgbClr val="6B7580"/>
                </a:solidFill>
              </a:rPr>
              <a:t>● Problem   Task   Framework   Simulation   Hardware   Discussion</a:t>
            </a:r>
          </a:p>
        </p:txBody>
      </p:sp>
      <p:sp>
        <p:nvSpPr>
          <p:cNvPr id="4" name="">
            <a:extLst xmlns:a="http://schemas.openxmlformats.org/drawingml/2006/main">
              <a:ext uri="{FF2B5EF4-FFF2-40B4-BE49-F238E27FC236}">
                <a16:creationId xmlns:a16="http://schemas.microsoft.com/office/drawing/2014/main" id="{CFCE1DB8-E5FC-446D-A17B-077959DBA5BC}"/>
              </a:ext>
            </a:extLst>
          </p:cNvPr>
          <p:cNvSpPr>
            <a:spLocks xmlns:a="http://schemas.openxmlformats.org/drawingml/2006/main" noGrp="1"/>
          </p:cNvSpPr>
          <p:nvPr/>
        </p:nvSpPr>
        <p:spPr>
          <a:xfrm xmlns:a="http://schemas.openxmlformats.org/drawingml/2006/main">
            <a:off x="647700" y="533400"/>
            <a:ext cx="108394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700" b="1">
                <a:solidFill>
                  <a:srgbClr val="004282"/>
                </a:solidFill>
              </a:defRPr>
            </a:pPr>
            <a:r>
              <a:rPr sz="2700" b="1">
                <a:solidFill>
                  <a:srgbClr val="004282"/>
                </a:solidFill>
              </a:rPr>
              <a:t>This conical scan reveals bearing better than radial distance</a:t>
            </a:r>
          </a:p>
        </p:txBody>
      </p:sp>
      <p:sp>
        <p:nvSpPr>
          <p:cNvPr id="5" name="">
            <a:extLst xmlns:a="http://schemas.openxmlformats.org/drawingml/2006/main">
              <a:ext uri="{FF2B5EF4-FFF2-40B4-BE49-F238E27FC236}">
                <a16:creationId xmlns:a16="http://schemas.microsoft.com/office/drawing/2014/main" id="{C27131AE-2B8F-4CCB-8A29-619D4BCCCE50}"/>
              </a:ext>
            </a:extLst>
          </p:cNvPr>
          <p:cNvSpPr>
            <a:spLocks xmlns:a="http://schemas.openxmlformats.org/drawingml/2006/main" noGrp="1"/>
          </p:cNvSpPr>
          <p:nvPr/>
        </p:nvSpPr>
        <p:spPr>
          <a:xfrm xmlns:a="http://schemas.openxmlformats.org/drawingml/2006/main">
            <a:off x="647700" y="1257300"/>
            <a:ext cx="609600" cy="47625"/>
          </a:xfrm>
          <a:prstGeom xmlns:a="http://schemas.openxmlformats.org/drawingml/2006/main" prst="rect">
            <a:avLst/>
          </a:prstGeom>
          <a:solidFill xmlns:a="http://schemas.openxmlformats.org/drawingml/2006/main">
            <a:srgbClr val="ED7F0D"/>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7B2B3647-D0A4-4FD4-AF53-670B26CD9788}"/>
              </a:ext>
            </a:extLst>
          </p:cNvPr>
          <p:cNvSpPr>
            <a:spLocks xmlns:a="http://schemas.openxmlformats.org/drawingml/2006/main" noGrp="1"/>
          </p:cNvSpPr>
          <p:nvPr/>
        </p:nvSpPr>
        <p:spPr>
          <a:xfrm xmlns:a="http://schemas.openxmlformats.org/drawingml/2006/main">
            <a:off x="647700" y="6486525"/>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6B7580"/>
                </a:solidFill>
              </a:defRPr>
            </a:pPr>
            <a:r>
              <a:rPr sz="825" b="0">
                <a:solidFill>
                  <a:srgbClr val="6B7580"/>
                </a:solidFill>
              </a:rPr>
              <a:t>Nan Jinyao · Paper-aligned group review</a:t>
            </a:r>
          </a:p>
        </p:txBody>
      </p:sp>
      <p:sp>
        <p:nvSpPr>
          <p:cNvPr id="7" name="">
            <a:extLst xmlns:a="http://schemas.openxmlformats.org/drawingml/2006/main">
              <a:ext uri="{FF2B5EF4-FFF2-40B4-BE49-F238E27FC236}">
                <a16:creationId xmlns:a16="http://schemas.microsoft.com/office/drawing/2014/main" id="{041A6398-0BB6-419A-A664-789351F7C1EA}"/>
              </a:ext>
            </a:extLst>
          </p:cNvPr>
          <p:cNvSpPr>
            <a:spLocks xmlns:a="http://schemas.openxmlformats.org/drawingml/2006/main" noGrp="1"/>
          </p:cNvSpPr>
          <p:nvPr/>
        </p:nvSpPr>
        <p:spPr>
          <a:xfrm xmlns:a="http://schemas.openxmlformats.org/drawingml/2006/main">
            <a:off x="4476750" y="6486525"/>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0">
                <a:solidFill>
                  <a:srgbClr val="6B7580"/>
                </a:solidFill>
              </a:defRPr>
            </a:pPr>
            <a:r>
              <a:rPr sz="825" b="0">
                <a:solidFill>
                  <a:srgbClr val="6B7580"/>
                </a:solidFill>
              </a:rPr>
              <a:t>Sec. II-B · Eqs. (6)–(7)</a:t>
            </a:r>
          </a:p>
        </p:txBody>
      </p:sp>
      <p:sp>
        <p:nvSpPr>
          <p:cNvPr id="8" name="">
            <a:extLst xmlns:a="http://schemas.openxmlformats.org/drawingml/2006/main">
              <a:ext uri="{FF2B5EF4-FFF2-40B4-BE49-F238E27FC236}">
                <a16:creationId xmlns:a16="http://schemas.microsoft.com/office/drawing/2014/main" id="{0D96CE5C-CEB6-4D25-ABC6-DD06B999EC40}"/>
              </a:ext>
            </a:extLst>
          </p:cNvPr>
          <p:cNvSpPr>
            <a:spLocks xmlns:a="http://schemas.openxmlformats.org/drawingml/2006/main" noGrp="1"/>
          </p:cNvSpPr>
          <p:nvPr/>
        </p:nvSpPr>
        <p:spPr>
          <a:xfrm xmlns:a="http://schemas.openxmlformats.org/drawingml/2006/main">
            <a:off x="11049000" y="648652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004282"/>
                </a:solidFill>
              </a:defRPr>
            </a:pPr>
            <a:r>
              <a:rPr sz="825" b="1">
                <a:solidFill>
                  <a:srgbClr val="004282"/>
                </a:solidFill>
              </a:rPr>
              <a:t>7</a:t>
            </a:r>
          </a:p>
        </p:txBody>
      </p:sp>
      <p:sp>
        <p:nvSpPr>
          <p:cNvPr id="9" name="">
            <a:extLst xmlns:a="http://schemas.openxmlformats.org/drawingml/2006/main">
              <a:ext uri="{FF2B5EF4-FFF2-40B4-BE49-F238E27FC236}">
                <a16:creationId xmlns:a16="http://schemas.microsoft.com/office/drawing/2014/main" id="{6C44D9FF-256C-44B0-86E3-634D1F42C131}"/>
              </a:ext>
            </a:extLst>
          </p:cNvPr>
          <p:cNvSpPr>
            <a:spLocks xmlns:a="http://schemas.openxmlformats.org/drawingml/2006/main" noGrp="1"/>
          </p:cNvSpPr>
          <p:nvPr/>
        </p:nvSpPr>
        <p:spPr>
          <a:xfrm xmlns:a="http://schemas.openxmlformats.org/drawingml/2006/main">
            <a:off x="857250" y="1962150"/>
            <a:ext cx="3048000" cy="3048000"/>
          </a:xfrm>
          <a:prstGeom xmlns:a="http://schemas.openxmlformats.org/drawingml/2006/main" prst="ellipse">
            <a:avLst/>
          </a:prstGeom>
          <a:solidFill xmlns:a="http://schemas.openxmlformats.org/drawingml/2006/main">
            <a:srgbClr val="FFFFFF"/>
          </a:solidFill>
          <a:ln xmlns:a="http://schemas.openxmlformats.org/drawingml/2006/main" w="19050">
            <a:solidFill>
              <a:srgbClr val="004282"/>
            </a:solidFill>
            <a:prstDash val="solid"/>
          </a:ln>
        </p:spPr>
      </p:sp>
      <p:sp>
        <p:nvSpPr>
          <p:cNvPr id="10" name="">
            <a:extLst xmlns:a="http://schemas.openxmlformats.org/drawingml/2006/main">
              <a:ext uri="{FF2B5EF4-FFF2-40B4-BE49-F238E27FC236}">
                <a16:creationId xmlns:a16="http://schemas.microsoft.com/office/drawing/2014/main" id="{0E383C62-BB90-4E30-B37B-6AFF5660E780}"/>
              </a:ext>
            </a:extLst>
          </p:cNvPr>
          <p:cNvSpPr>
            <a:spLocks xmlns:a="http://schemas.openxmlformats.org/drawingml/2006/main" noGrp="1"/>
          </p:cNvSpPr>
          <p:nvPr/>
        </p:nvSpPr>
        <p:spPr>
          <a:xfrm xmlns:a="http://schemas.openxmlformats.org/drawingml/2006/main">
            <a:off x="2257425" y="3362325"/>
            <a:ext cx="171450" cy="171450"/>
          </a:xfrm>
          <a:prstGeom xmlns:a="http://schemas.openxmlformats.org/drawingml/2006/main" prst="ellipse">
            <a:avLst/>
          </a:prstGeom>
          <a:solidFill xmlns:a="http://schemas.openxmlformats.org/drawingml/2006/main">
            <a:srgbClr val="ED7F0D"/>
          </a:solidFill>
          <a:ln xmlns:a="http://schemas.openxmlformats.org/drawingml/2006/main" w="9525">
            <a:solidFill>
              <a:srgbClr val="ED7F0D"/>
            </a:solidFill>
            <a:prstDash val="solid"/>
          </a:ln>
        </p:spPr>
      </p:sp>
      <p:sp>
        <p:nvSpPr>
          <p:cNvPr id="11" name="">
            <a:extLst xmlns:a="http://schemas.openxmlformats.org/drawingml/2006/main">
              <a:ext uri="{FF2B5EF4-FFF2-40B4-BE49-F238E27FC236}">
                <a16:creationId xmlns:a16="http://schemas.microsoft.com/office/drawing/2014/main" id="{20035B2B-7DE6-418B-A426-873B9FF2894A}"/>
              </a:ext>
            </a:extLst>
          </p:cNvPr>
          <p:cNvSpPr>
            <a:spLocks xmlns:a="http://schemas.openxmlformats.org/drawingml/2006/main" noGrp="1"/>
          </p:cNvSpPr>
          <p:nvPr/>
        </p:nvSpPr>
        <p:spPr>
          <a:xfrm xmlns:a="http://schemas.openxmlformats.org/drawingml/2006/main">
            <a:off x="2362200" y="3276600"/>
            <a:ext cx="1190625" cy="190500"/>
          </a:xfrm>
          <a:prstGeom xmlns:a="http://schemas.openxmlformats.org/drawingml/2006/main" prst="rightArrow">
            <a:avLst/>
          </a:prstGeom>
          <a:solidFill xmlns:a="http://schemas.openxmlformats.org/drawingml/2006/main">
            <a:srgbClr val="009E73"/>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7145EBC2-4723-4855-A29F-61AD295E5AE8}"/>
              </a:ext>
            </a:extLst>
          </p:cNvPr>
          <p:cNvSpPr>
            <a:spLocks xmlns:a="http://schemas.openxmlformats.org/drawingml/2006/main" noGrp="1"/>
          </p:cNvSpPr>
          <p:nvPr/>
        </p:nvSpPr>
        <p:spPr>
          <a:xfrm xmlns:a="http://schemas.openxmlformats.org/drawingml/2006/main">
            <a:off x="2362200" y="3276600"/>
            <a:ext cx="2095500" cy="190500"/>
          </a:xfrm>
          <a:prstGeom xmlns:a="http://schemas.openxmlformats.org/drawingml/2006/main" prst="rightArrow">
            <a:avLst/>
          </a:prstGeom>
          <a:solidFill xmlns:a="http://schemas.openxmlformats.org/drawingml/2006/main">
            <a:srgbClr val="C74A4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18A5FCF7-1497-4ACF-9991-D0DEAACF1BD7}"/>
              </a:ext>
            </a:extLst>
          </p:cNvPr>
          <p:cNvSpPr>
            <a:spLocks xmlns:a="http://schemas.openxmlformats.org/drawingml/2006/main" noGrp="1"/>
          </p:cNvSpPr>
          <p:nvPr/>
        </p:nvSpPr>
        <p:spPr>
          <a:xfrm xmlns:a="http://schemas.openxmlformats.org/drawingml/2006/main">
            <a:off x="895350" y="1781175"/>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09E73"/>
                </a:solidFill>
              </a:defRPr>
            </a:pPr>
            <a:r>
              <a:rPr sz="1200" b="1">
                <a:solidFill>
                  <a:srgbClr val="009E73"/>
                </a:solidFill>
              </a:rPr>
              <a:t>near: same ε remains inside capture</a:t>
            </a:r>
          </a:p>
        </p:txBody>
      </p:sp>
      <p:sp>
        <p:nvSpPr>
          <p:cNvPr id="14" name="">
            <a:extLst xmlns:a="http://schemas.openxmlformats.org/drawingml/2006/main">
              <a:ext uri="{FF2B5EF4-FFF2-40B4-BE49-F238E27FC236}">
                <a16:creationId xmlns:a16="http://schemas.microsoft.com/office/drawing/2014/main" id="{15FA95EB-7299-422F-B5F0-29FFE71B48EF}"/>
              </a:ext>
            </a:extLst>
          </p:cNvPr>
          <p:cNvSpPr>
            <a:spLocks xmlns:a="http://schemas.openxmlformats.org/drawingml/2006/main" noGrp="1"/>
          </p:cNvSpPr>
          <p:nvPr/>
        </p:nvSpPr>
        <p:spPr>
          <a:xfrm xmlns:a="http://schemas.openxmlformats.org/drawingml/2006/main">
            <a:off x="942975" y="50101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C74A4A"/>
                </a:solidFill>
              </a:defRPr>
            </a:pPr>
            <a:r>
              <a:rPr sz="1200" b="1">
                <a:solidFill>
                  <a:srgbClr val="C74A4A"/>
                </a:solidFill>
              </a:rPr>
              <a:t>far: same ε creates a larger d⊥</a:t>
            </a:r>
          </a:p>
        </p:txBody>
      </p:sp>
      <p:sp>
        <p:nvSpPr>
          <p:cNvPr id="15" name="">
            <a:extLst xmlns:a="http://schemas.openxmlformats.org/drawingml/2006/main">
              <a:ext uri="{FF2B5EF4-FFF2-40B4-BE49-F238E27FC236}">
                <a16:creationId xmlns:a16="http://schemas.microsoft.com/office/drawing/2014/main" id="{CC74B470-8834-409B-BB28-77CAD17A97FE}"/>
              </a:ext>
            </a:extLst>
          </p:cNvPr>
          <p:cNvSpPr>
            <a:spLocks xmlns:a="http://schemas.openxmlformats.org/drawingml/2006/main" noGrp="1"/>
          </p:cNvSpPr>
          <p:nvPr/>
        </p:nvSpPr>
        <p:spPr>
          <a:xfrm xmlns:a="http://schemas.openxmlformats.org/drawingml/2006/main">
            <a:off x="4762500" y="2095500"/>
            <a:ext cx="600075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D9E0E6"/>
            </a:solidFill>
            <a:prstDash val="solid"/>
          </a:ln>
        </p:spPr>
      </p:sp>
      <p:sp>
        <p:nvSpPr>
          <p:cNvPr id="16" name="">
            <a:extLst xmlns:a="http://schemas.openxmlformats.org/drawingml/2006/main">
              <a:ext uri="{FF2B5EF4-FFF2-40B4-BE49-F238E27FC236}">
                <a16:creationId xmlns:a16="http://schemas.microsoft.com/office/drawing/2014/main" id="{A71A074B-10ED-46A3-9FB8-0493CCAE060A}"/>
              </a:ext>
            </a:extLst>
          </p:cNvPr>
          <p:cNvSpPr>
            <a:spLocks xmlns:a="http://schemas.openxmlformats.org/drawingml/2006/main" noGrp="1"/>
          </p:cNvSpPr>
          <p:nvPr/>
        </p:nvSpPr>
        <p:spPr>
          <a:xfrm xmlns:a="http://schemas.openxmlformats.org/drawingml/2006/main">
            <a:off x="5143500" y="2476500"/>
            <a:ext cx="5238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550" b="1">
                <a:solidFill>
                  <a:srgbClr val="004282"/>
                </a:solidFill>
              </a:defRPr>
            </a:pPr>
            <a:r>
              <a:rPr sz="2550" b="1">
                <a:solidFill>
                  <a:srgbClr val="004282"/>
                </a:solidFill>
              </a:rPr>
              <a:t>d⊥ = r |sin ε|     d∥ = r cos ε</a:t>
            </a:r>
          </a:p>
        </p:txBody>
      </p:sp>
      <p:sp>
        <p:nvSpPr>
          <p:cNvPr id="17" name="">
            <a:extLst xmlns:a="http://schemas.openxmlformats.org/drawingml/2006/main">
              <a:ext uri="{FF2B5EF4-FFF2-40B4-BE49-F238E27FC236}">
                <a16:creationId xmlns:a16="http://schemas.microsoft.com/office/drawing/2014/main" id="{A269B3D2-B892-428D-B0B5-04E9EF798F8E}"/>
              </a:ext>
            </a:extLst>
          </p:cNvPr>
          <p:cNvSpPr>
            <a:spLocks xmlns:a="http://schemas.openxmlformats.org/drawingml/2006/main" noGrp="1"/>
          </p:cNvSpPr>
          <p:nvPr/>
        </p:nvSpPr>
        <p:spPr>
          <a:xfrm xmlns:a="http://schemas.openxmlformats.org/drawingml/2006/main">
            <a:off x="5143500" y="3800475"/>
            <a:ext cx="5238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725" b="0">
                <a:solidFill>
                  <a:srgbClr val="152538"/>
                </a:solidFill>
              </a:defRPr>
            </a:pPr>
            <a:r>
              <a:rPr sz="1725" b="0">
                <a:solidFill>
                  <a:srgbClr val="152538"/>
                </a:solidFill>
              </a:rPr>
              <a:t>The ray reaches the capture disk only if d⊥ ≤ rₑff and d∥ &gt; 0.</a:t>
            </a:r>
          </a:p>
        </p:txBody>
      </p:sp>
      <p:sp>
        <p:nvSpPr>
          <p:cNvPr id="18" name="">
            <a:extLst xmlns:a="http://schemas.openxmlformats.org/drawingml/2006/main">
              <a:ext uri="{FF2B5EF4-FFF2-40B4-BE49-F238E27FC236}">
                <a16:creationId xmlns:a16="http://schemas.microsoft.com/office/drawing/2014/main" id="{9C759B47-E37A-4397-B478-5DC4115DFB67}"/>
              </a:ext>
            </a:extLst>
          </p:cNvPr>
          <p:cNvSpPr>
            <a:spLocks xmlns:a="http://schemas.openxmlformats.org/drawingml/2006/main" noGrp="1"/>
          </p:cNvSpPr>
          <p:nvPr/>
        </p:nvSpPr>
        <p:spPr>
          <a:xfrm xmlns:a="http://schemas.openxmlformats.org/drawingml/2006/main">
            <a:off x="647700" y="5943600"/>
            <a:ext cx="10839450" cy="400050"/>
          </a:xfrm>
          <a:prstGeom xmlns:a="http://schemas.openxmlformats.org/drawingml/2006/main" prst="rect">
            <a:avLst/>
          </a:prstGeom>
          <a:solidFill xmlns:a="http://schemas.openxmlformats.org/drawingml/2006/main">
            <a:srgbClr val="FFF0E2"/>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0906F752-3C4C-47CE-A260-F2238F7DE31C}"/>
              </a:ext>
            </a:extLst>
          </p:cNvPr>
          <p:cNvSpPr>
            <a:spLocks xmlns:a="http://schemas.openxmlformats.org/drawingml/2006/main" noGrp="1"/>
          </p:cNvSpPr>
          <p:nvPr/>
        </p:nvSpPr>
        <p:spPr>
          <a:xfrm xmlns:a="http://schemas.openxmlformats.org/drawingml/2006/main">
            <a:off x="647700" y="5943600"/>
            <a:ext cx="57150" cy="400050"/>
          </a:xfrm>
          <a:prstGeom xmlns:a="http://schemas.openxmlformats.org/drawingml/2006/main" prst="rect">
            <a:avLst/>
          </a:prstGeom>
          <a:solidFill xmlns:a="http://schemas.openxmlformats.org/drawingml/2006/main">
            <a:srgbClr val="ED7F0D"/>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1AE3040E-F937-4CDA-932B-4B2601957750}"/>
              </a:ext>
            </a:extLst>
          </p:cNvPr>
          <p:cNvSpPr>
            <a:spLocks xmlns:a="http://schemas.openxmlformats.org/drawingml/2006/main" noGrp="1"/>
          </p:cNvSpPr>
          <p:nvPr/>
        </p:nvSpPr>
        <p:spPr>
          <a:xfrm xmlns:a="http://schemas.openxmlformats.org/drawingml/2006/main">
            <a:off x="838200" y="5981700"/>
            <a:ext cx="10458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152538"/>
                </a:solidFill>
              </a:defRPr>
            </a:pPr>
            <a:r>
              <a:rPr sz="1275" b="1">
                <a:solidFill>
                  <a:srgbClr val="152538"/>
                </a:solidFill>
              </a:rPr>
              <a:t>The same direction error is harmless nearby and a complete miss farther away.</a:t>
            </a:r>
          </a:p>
        </p:txBody>
      </p:sp>
    </p:spTree>
    <p:extLst>
      <p:ext uri="{BB962C8B-B14F-4D97-AF65-F5344CB8AC3E}">
        <p14:creationId xmlns:p14="http://schemas.microsoft.com/office/powerpoint/2010/main" val="793163124"/>
      </p:ext>
    </p:extLst>
  </p:cSld>
</p:sld>
</file>

<file path=ppt/slides/slide8.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28C72E7-CD72-451C-8E79-5150A8BE7EE9}"/>
              </a:ext>
            </a:extLst>
          </p:cNvPr>
          <p:cNvSpPr>
            <a:spLocks xmlns:a="http://schemas.openxmlformats.org/drawingml/2006/main" noGrp="1"/>
          </p:cNvSpPr>
          <p:nvPr/>
        </p:nvSpPr>
        <p:spPr>
          <a:xfrm xmlns:a="http://schemas.openxmlformats.org/drawingml/2006/main">
            <a:off x="647700" y="2286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ED7F0D"/>
                </a:solidFill>
              </a:defRPr>
            </a:pPr>
            <a:r>
              <a:rPr sz="1050" b="1">
                <a:solidFill>
                  <a:srgbClr val="ED7F0D"/>
                </a:solidFill>
              </a:rPr>
              <a:t>08</a:t>
            </a:r>
          </a:p>
        </p:txBody>
      </p:sp>
      <p:sp>
        <p:nvSpPr>
          <p:cNvPr id="2" name="">
            <a:extLst xmlns:a="http://schemas.openxmlformats.org/drawingml/2006/main">
              <a:ext uri="{FF2B5EF4-FFF2-40B4-BE49-F238E27FC236}">
                <a16:creationId xmlns:a16="http://schemas.microsoft.com/office/drawing/2014/main" id="{55EFB63C-8B2F-4CCD-AE12-E606DCBF3CD8}"/>
              </a:ext>
            </a:extLst>
          </p:cNvPr>
          <p:cNvSpPr>
            <a:spLocks xmlns:a="http://schemas.openxmlformats.org/drawingml/2006/main" noGrp="1"/>
          </p:cNvSpPr>
          <p:nvPr/>
        </p:nvSpPr>
        <p:spPr>
          <a:xfrm xmlns:a="http://schemas.openxmlformats.org/drawingml/2006/main">
            <a:off x="1104900" y="22860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6B7580"/>
                </a:solidFill>
              </a:defRPr>
            </a:pPr>
            <a:r>
              <a:rPr sz="975" b="1">
                <a:solidFill>
                  <a:srgbClr val="6B7580"/>
                </a:solidFill>
              </a:rPr>
              <a:t>PROBLEM</a:t>
            </a:r>
          </a:p>
        </p:txBody>
      </p:sp>
      <p:sp>
        <p:nvSpPr>
          <p:cNvPr id="3" name="">
            <a:extLst xmlns:a="http://schemas.openxmlformats.org/drawingml/2006/main">
              <a:ext uri="{FF2B5EF4-FFF2-40B4-BE49-F238E27FC236}">
                <a16:creationId xmlns:a16="http://schemas.microsoft.com/office/drawing/2014/main" id="{3433FDC6-F162-4CDF-A0FF-810FB1B917E3}"/>
              </a:ext>
            </a:extLst>
          </p:cNvPr>
          <p:cNvSpPr>
            <a:spLocks xmlns:a="http://schemas.openxmlformats.org/drawingml/2006/main" noGrp="1"/>
          </p:cNvSpPr>
          <p:nvPr/>
        </p:nvSpPr>
        <p:spPr>
          <a:xfrm xmlns:a="http://schemas.openxmlformats.org/drawingml/2006/main">
            <a:off x="6191250" y="228600"/>
            <a:ext cx="5353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0">
                <a:solidFill>
                  <a:srgbClr val="6B7580"/>
                </a:solidFill>
              </a:defRPr>
            </a:pPr>
            <a:r>
              <a:rPr sz="825" b="0">
                <a:solidFill>
                  <a:srgbClr val="6B7580"/>
                </a:solidFill>
              </a:rPr>
              <a:t>● Problem   Task   Framework   Simulation   Hardware   Discussion</a:t>
            </a:r>
          </a:p>
        </p:txBody>
      </p:sp>
      <p:sp>
        <p:nvSpPr>
          <p:cNvPr id="4" name="">
            <a:extLst xmlns:a="http://schemas.openxmlformats.org/drawingml/2006/main">
              <a:ext uri="{FF2B5EF4-FFF2-40B4-BE49-F238E27FC236}">
                <a16:creationId xmlns:a16="http://schemas.microsoft.com/office/drawing/2014/main" id="{AEB4243C-219B-4BCE-86CA-76A85A770C8A}"/>
              </a:ext>
            </a:extLst>
          </p:cNvPr>
          <p:cNvSpPr>
            <a:spLocks xmlns:a="http://schemas.openxmlformats.org/drawingml/2006/main" noGrp="1"/>
          </p:cNvSpPr>
          <p:nvPr/>
        </p:nvSpPr>
        <p:spPr>
          <a:xfrm xmlns:a="http://schemas.openxmlformats.org/drawingml/2006/main">
            <a:off x="647700" y="533400"/>
            <a:ext cx="108394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004282"/>
                </a:solidFill>
              </a:defRPr>
            </a:pPr>
            <a:r>
              <a:rPr sz="2850" b="1">
                <a:solidFill>
                  <a:srgbClr val="004282"/>
                </a:solidFill>
              </a:rPr>
              <a:t>How much motion should one tactile cue command?</a:t>
            </a:r>
          </a:p>
        </p:txBody>
      </p:sp>
      <p:sp>
        <p:nvSpPr>
          <p:cNvPr id="5" name="">
            <a:extLst xmlns:a="http://schemas.openxmlformats.org/drawingml/2006/main">
              <a:ext uri="{FF2B5EF4-FFF2-40B4-BE49-F238E27FC236}">
                <a16:creationId xmlns:a16="http://schemas.microsoft.com/office/drawing/2014/main" id="{EEEB0E6F-8DFF-4D3A-B1F9-B838820EB580}"/>
              </a:ext>
            </a:extLst>
          </p:cNvPr>
          <p:cNvSpPr>
            <a:spLocks xmlns:a="http://schemas.openxmlformats.org/drawingml/2006/main" noGrp="1"/>
          </p:cNvSpPr>
          <p:nvPr/>
        </p:nvSpPr>
        <p:spPr>
          <a:xfrm xmlns:a="http://schemas.openxmlformats.org/drawingml/2006/main">
            <a:off x="647700" y="1257300"/>
            <a:ext cx="609600" cy="47625"/>
          </a:xfrm>
          <a:prstGeom xmlns:a="http://schemas.openxmlformats.org/drawingml/2006/main" prst="rect">
            <a:avLst/>
          </a:prstGeom>
          <a:solidFill xmlns:a="http://schemas.openxmlformats.org/drawingml/2006/main">
            <a:srgbClr val="ED7F0D"/>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2236E871-39B1-405C-BD36-3F79ED197786}"/>
              </a:ext>
            </a:extLst>
          </p:cNvPr>
          <p:cNvSpPr>
            <a:spLocks xmlns:a="http://schemas.openxmlformats.org/drawingml/2006/main" noGrp="1"/>
          </p:cNvSpPr>
          <p:nvPr/>
        </p:nvSpPr>
        <p:spPr>
          <a:xfrm xmlns:a="http://schemas.openxmlformats.org/drawingml/2006/main">
            <a:off x="647700" y="6486525"/>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6B7580"/>
                </a:solidFill>
              </a:defRPr>
            </a:pPr>
            <a:r>
              <a:rPr sz="825" b="0">
                <a:solidFill>
                  <a:srgbClr val="6B7580"/>
                </a:solidFill>
              </a:rPr>
              <a:t>Nan Jinyao · Paper-aligned group review</a:t>
            </a:r>
          </a:p>
        </p:txBody>
      </p:sp>
      <p:sp>
        <p:nvSpPr>
          <p:cNvPr id="7" name="">
            <a:extLst xmlns:a="http://schemas.openxmlformats.org/drawingml/2006/main">
              <a:ext uri="{FF2B5EF4-FFF2-40B4-BE49-F238E27FC236}">
                <a16:creationId xmlns:a16="http://schemas.microsoft.com/office/drawing/2014/main" id="{F128C758-542F-4335-ADDA-E2AB28EB5EA5}"/>
              </a:ext>
            </a:extLst>
          </p:cNvPr>
          <p:cNvSpPr>
            <a:spLocks xmlns:a="http://schemas.openxmlformats.org/drawingml/2006/main" noGrp="1"/>
          </p:cNvSpPr>
          <p:nvPr/>
        </p:nvSpPr>
        <p:spPr>
          <a:xfrm xmlns:a="http://schemas.openxmlformats.org/drawingml/2006/main">
            <a:off x="4476750" y="6486525"/>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0">
                <a:solidFill>
                  <a:srgbClr val="6B7580"/>
                </a:solidFill>
              </a:defRPr>
            </a:pPr>
            <a:r>
              <a:rPr sz="825" b="0">
                <a:solidFill>
                  <a:srgbClr val="6B7580"/>
                </a:solidFill>
              </a:rPr>
              <a:t>Introduction · Sec. II-B</a:t>
            </a:r>
          </a:p>
        </p:txBody>
      </p:sp>
      <p:sp>
        <p:nvSpPr>
          <p:cNvPr id="8" name="">
            <a:extLst xmlns:a="http://schemas.openxmlformats.org/drawingml/2006/main">
              <a:ext uri="{FF2B5EF4-FFF2-40B4-BE49-F238E27FC236}">
                <a16:creationId xmlns:a16="http://schemas.microsoft.com/office/drawing/2014/main" id="{215720CB-C2EE-460B-B57B-425447D2872A}"/>
              </a:ext>
            </a:extLst>
          </p:cNvPr>
          <p:cNvSpPr>
            <a:spLocks xmlns:a="http://schemas.openxmlformats.org/drawingml/2006/main" noGrp="1"/>
          </p:cNvSpPr>
          <p:nvPr/>
        </p:nvSpPr>
        <p:spPr>
          <a:xfrm xmlns:a="http://schemas.openxmlformats.org/drawingml/2006/main">
            <a:off x="11049000" y="648652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004282"/>
                </a:solidFill>
              </a:defRPr>
            </a:pPr>
            <a:r>
              <a:rPr sz="825" b="1">
                <a:solidFill>
                  <a:srgbClr val="004282"/>
                </a:solidFill>
              </a:rPr>
              <a:t>8</a:t>
            </a:r>
          </a:p>
        </p:txBody>
      </p:sp>
      <p:sp>
        <p:nvSpPr>
          <p:cNvPr id="9" name="">
            <a:extLst xmlns:a="http://schemas.openxmlformats.org/drawingml/2006/main">
              <a:ext uri="{FF2B5EF4-FFF2-40B4-BE49-F238E27FC236}">
                <a16:creationId xmlns:a16="http://schemas.microsoft.com/office/drawing/2014/main" id="{3009D975-87B4-49A2-9DE2-258E16B781DD}"/>
              </a:ext>
            </a:extLst>
          </p:cNvPr>
          <p:cNvSpPr>
            <a:spLocks xmlns:a="http://schemas.openxmlformats.org/drawingml/2006/main" noGrp="1"/>
          </p:cNvSpPr>
          <p:nvPr/>
        </p:nvSpPr>
        <p:spPr>
          <a:xfrm xmlns:a="http://schemas.openxmlformats.org/drawingml/2006/main">
            <a:off x="876300" y="2124075"/>
            <a:ext cx="2857500" cy="2857500"/>
          </a:xfrm>
          <a:prstGeom xmlns:a="http://schemas.openxmlformats.org/drawingml/2006/main" prst="ellipse">
            <a:avLst/>
          </a:prstGeom>
          <a:solidFill xmlns:a="http://schemas.openxmlformats.org/drawingml/2006/main">
            <a:srgbClr val="FFFFFF"/>
          </a:solidFill>
          <a:ln xmlns:a="http://schemas.openxmlformats.org/drawingml/2006/main" w="19050">
            <a:solidFill>
              <a:srgbClr val="004282"/>
            </a:solidFill>
            <a:prstDash val="solid"/>
          </a:ln>
        </p:spPr>
      </p:sp>
      <p:sp>
        <p:nvSpPr>
          <p:cNvPr id="10" name="">
            <a:extLst xmlns:a="http://schemas.openxmlformats.org/drawingml/2006/main">
              <a:ext uri="{FF2B5EF4-FFF2-40B4-BE49-F238E27FC236}">
                <a16:creationId xmlns:a16="http://schemas.microsoft.com/office/drawing/2014/main" id="{5F693F58-AAE4-45A3-BF16-0504E9B040CE}"/>
              </a:ext>
            </a:extLst>
          </p:cNvPr>
          <p:cNvSpPr>
            <a:spLocks xmlns:a="http://schemas.openxmlformats.org/drawingml/2006/main" noGrp="1"/>
          </p:cNvSpPr>
          <p:nvPr/>
        </p:nvSpPr>
        <p:spPr>
          <a:xfrm xmlns:a="http://schemas.openxmlformats.org/drawingml/2006/main">
            <a:off x="2209800" y="3457575"/>
            <a:ext cx="190500" cy="190500"/>
          </a:xfrm>
          <a:prstGeom xmlns:a="http://schemas.openxmlformats.org/drawingml/2006/main" prst="ellipse">
            <a:avLst/>
          </a:prstGeom>
          <a:solidFill xmlns:a="http://schemas.openxmlformats.org/drawingml/2006/main">
            <a:srgbClr val="ED7F0D"/>
          </a:solidFill>
          <a:ln xmlns:a="http://schemas.openxmlformats.org/drawingml/2006/main" w="9525">
            <a:solidFill>
              <a:srgbClr val="ED7F0D"/>
            </a:solidFill>
            <a:prstDash val="solid"/>
          </a:ln>
        </p:spPr>
      </p:sp>
      <p:sp>
        <p:nvSpPr>
          <p:cNvPr id="11" name="">
            <a:extLst xmlns:a="http://schemas.openxmlformats.org/drawingml/2006/main">
              <a:ext uri="{FF2B5EF4-FFF2-40B4-BE49-F238E27FC236}">
                <a16:creationId xmlns:a16="http://schemas.microsoft.com/office/drawing/2014/main" id="{1461C50E-4748-4858-8612-4E317E5421FB}"/>
              </a:ext>
            </a:extLst>
          </p:cNvPr>
          <p:cNvSpPr>
            <a:spLocks xmlns:a="http://schemas.openxmlformats.org/drawingml/2006/main" noGrp="1"/>
          </p:cNvSpPr>
          <p:nvPr/>
        </p:nvSpPr>
        <p:spPr>
          <a:xfrm xmlns:a="http://schemas.openxmlformats.org/drawingml/2006/main">
            <a:off x="2305050" y="3314700"/>
            <a:ext cx="838200" cy="209550"/>
          </a:xfrm>
          <a:prstGeom xmlns:a="http://schemas.openxmlformats.org/drawingml/2006/main" prst="rightArrow">
            <a:avLst/>
          </a:prstGeom>
          <a:solidFill xmlns:a="http://schemas.openxmlformats.org/drawingml/2006/main">
            <a:srgbClr val="009E73"/>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7B0300CE-D0BA-4301-943C-EBE4D22FE075}"/>
              </a:ext>
            </a:extLst>
          </p:cNvPr>
          <p:cNvSpPr>
            <a:spLocks xmlns:a="http://schemas.openxmlformats.org/drawingml/2006/main" noGrp="1"/>
          </p:cNvSpPr>
          <p:nvPr/>
        </p:nvSpPr>
        <p:spPr>
          <a:xfrm xmlns:a="http://schemas.openxmlformats.org/drawingml/2006/main">
            <a:off x="2305050" y="3295650"/>
            <a:ext cx="1428750" cy="209550"/>
          </a:xfrm>
          <a:prstGeom xmlns:a="http://schemas.openxmlformats.org/drawingml/2006/main" prst="rightArrow">
            <a:avLst/>
          </a:prstGeom>
          <a:solidFill xmlns:a="http://schemas.openxmlformats.org/drawingml/2006/main">
            <a:srgbClr val="ED7F0D"/>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15F21163-B216-493C-B7FC-5699AE2A02E1}"/>
              </a:ext>
            </a:extLst>
          </p:cNvPr>
          <p:cNvSpPr>
            <a:spLocks xmlns:a="http://schemas.openxmlformats.org/drawingml/2006/main" noGrp="1"/>
          </p:cNvSpPr>
          <p:nvPr/>
        </p:nvSpPr>
        <p:spPr>
          <a:xfrm xmlns:a="http://schemas.openxmlformats.org/drawingml/2006/main">
            <a:off x="2305050" y="3276600"/>
            <a:ext cx="2000250" cy="209550"/>
          </a:xfrm>
          <a:prstGeom xmlns:a="http://schemas.openxmlformats.org/drawingml/2006/main" prst="rightArrow">
            <a:avLst/>
          </a:prstGeom>
          <a:solidFill xmlns:a="http://schemas.openxmlformats.org/drawingml/2006/main">
            <a:srgbClr val="C74A4A"/>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4B5D91CA-1C2E-4027-AD8F-2C6BF865226C}"/>
              </a:ext>
            </a:extLst>
          </p:cNvPr>
          <p:cNvSpPr>
            <a:spLocks xmlns:a="http://schemas.openxmlformats.org/drawingml/2006/main" noGrp="1"/>
          </p:cNvSpPr>
          <p:nvPr/>
        </p:nvSpPr>
        <p:spPr>
          <a:xfrm xmlns:a="http://schemas.openxmlformats.org/drawingml/2006/main">
            <a:off x="1238250" y="180975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004282"/>
                </a:solidFill>
              </a:defRPr>
            </a:pPr>
            <a:r>
              <a:rPr sz="1350" b="1">
                <a:solidFill>
                  <a:srgbClr val="004282"/>
                </a:solidFill>
              </a:rPr>
              <a:t>same bearing cue</a:t>
            </a:r>
          </a:p>
        </p:txBody>
      </p:sp>
      <p:sp>
        <p:nvSpPr>
          <p:cNvPr id="15" name="">
            <a:extLst xmlns:a="http://schemas.openxmlformats.org/drawingml/2006/main">
              <a:ext uri="{FF2B5EF4-FFF2-40B4-BE49-F238E27FC236}">
                <a16:creationId xmlns:a16="http://schemas.microsoft.com/office/drawing/2014/main" id="{F5AEA05C-874B-4C7B-9EEC-5D85FB2496DB}"/>
              </a:ext>
            </a:extLst>
          </p:cNvPr>
          <p:cNvSpPr>
            <a:spLocks xmlns:a="http://schemas.openxmlformats.org/drawingml/2006/main" noGrp="1"/>
          </p:cNvSpPr>
          <p:nvPr/>
        </p:nvSpPr>
        <p:spPr>
          <a:xfrm xmlns:a="http://schemas.openxmlformats.org/drawingml/2006/main">
            <a:off x="1276350" y="5000625"/>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0">
                <a:solidFill>
                  <a:srgbClr val="6B7580"/>
                </a:solidFill>
              </a:defRPr>
            </a:pPr>
            <a:r>
              <a:rPr sz="1275" b="0">
                <a:solidFill>
                  <a:srgbClr val="6B7580"/>
                </a:solidFill>
              </a:rPr>
              <a:t>unknown radial offset</a:t>
            </a:r>
          </a:p>
        </p:txBody>
      </p:sp>
      <p:sp>
        <p:nvSpPr>
          <p:cNvPr id="16" name="">
            <a:extLst xmlns:a="http://schemas.openxmlformats.org/drawingml/2006/main">
              <a:ext uri="{FF2B5EF4-FFF2-40B4-BE49-F238E27FC236}">
                <a16:creationId xmlns:a16="http://schemas.microsoft.com/office/drawing/2014/main" id="{37691CB4-6A38-45A4-B4A8-6C91C1FB2676}"/>
              </a:ext>
            </a:extLst>
          </p:cNvPr>
          <p:cNvSpPr>
            <a:spLocks xmlns:a="http://schemas.openxmlformats.org/drawingml/2006/main" noGrp="1"/>
          </p:cNvSpPr>
          <p:nvPr/>
        </p:nvSpPr>
        <p:spPr>
          <a:xfrm xmlns:a="http://schemas.openxmlformats.org/drawingml/2006/main">
            <a:off x="4476750" y="1809750"/>
            <a:ext cx="6286500" cy="876300"/>
          </a:xfrm>
          <a:prstGeom xmlns:a="http://schemas.openxmlformats.org/drawingml/2006/main" prst="roundRect">
            <a:avLst>
              <a:gd name="adj" fmla="val 8696"/>
            </a:avLst>
          </a:prstGeom>
          <a:solidFill xmlns:a="http://schemas.openxmlformats.org/drawingml/2006/main">
            <a:srgbClr val="FFFFFF"/>
          </a:solidFill>
          <a:ln xmlns:a="http://schemas.openxmlformats.org/drawingml/2006/main" w="9525">
            <a:solidFill>
              <a:srgbClr val="D9E0E6"/>
            </a:solidFill>
            <a:prstDash val="solid"/>
          </a:ln>
        </p:spPr>
      </p:sp>
      <p:sp>
        <p:nvSpPr>
          <p:cNvPr id="17" name="">
            <a:extLst xmlns:a="http://schemas.openxmlformats.org/drawingml/2006/main">
              <a:ext uri="{FF2B5EF4-FFF2-40B4-BE49-F238E27FC236}">
                <a16:creationId xmlns:a16="http://schemas.microsoft.com/office/drawing/2014/main" id="{41F766A4-E767-4C9D-B994-65C0EF826D4B}"/>
              </a:ext>
            </a:extLst>
          </p:cNvPr>
          <p:cNvSpPr>
            <a:spLocks xmlns:a="http://schemas.openxmlformats.org/drawingml/2006/main" noGrp="1"/>
          </p:cNvSpPr>
          <p:nvPr/>
        </p:nvSpPr>
        <p:spPr>
          <a:xfrm xmlns:a="http://schemas.openxmlformats.org/drawingml/2006/main">
            <a:off x="4686300" y="1905000"/>
            <a:ext cx="2000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6B7580"/>
                </a:solidFill>
              </a:defRPr>
            </a:pPr>
            <a:r>
              <a:rPr sz="1875" b="1">
                <a:solidFill>
                  <a:srgbClr val="6B7580"/>
                </a:solidFill>
              </a:rPr>
              <a:t>Ignore touch</a:t>
            </a:r>
          </a:p>
        </p:txBody>
      </p:sp>
      <p:sp>
        <p:nvSpPr>
          <p:cNvPr id="18" name="">
            <a:extLst xmlns:a="http://schemas.openxmlformats.org/drawingml/2006/main">
              <a:ext uri="{FF2B5EF4-FFF2-40B4-BE49-F238E27FC236}">
                <a16:creationId xmlns:a16="http://schemas.microsoft.com/office/drawing/2014/main" id="{650502B7-60FC-45DD-9D36-EEABEF020036}"/>
              </a:ext>
            </a:extLst>
          </p:cNvPr>
          <p:cNvSpPr>
            <a:spLocks xmlns:a="http://schemas.openxmlformats.org/drawingml/2006/main" noGrp="1"/>
          </p:cNvSpPr>
          <p:nvPr/>
        </p:nvSpPr>
        <p:spPr>
          <a:xfrm xmlns:a="http://schemas.openxmlformats.org/drawingml/2006/main">
            <a:off x="6858000" y="1924050"/>
            <a:ext cx="3619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0">
                <a:solidFill>
                  <a:srgbClr val="152538"/>
                </a:solidFill>
              </a:defRPr>
            </a:pPr>
            <a:r>
              <a:rPr sz="1500" b="0">
                <a:solidFill>
                  <a:srgbClr val="152538"/>
                </a:solidFill>
              </a:rPr>
              <a:t>pay for global coverage</a:t>
            </a:r>
          </a:p>
        </p:txBody>
      </p:sp>
      <p:sp>
        <p:nvSpPr>
          <p:cNvPr id="19" name="">
            <a:extLst xmlns:a="http://schemas.openxmlformats.org/drawingml/2006/main">
              <a:ext uri="{FF2B5EF4-FFF2-40B4-BE49-F238E27FC236}">
                <a16:creationId xmlns:a16="http://schemas.microsoft.com/office/drawing/2014/main" id="{FFC249DA-CD80-4626-A14C-23692B0CBD13}"/>
              </a:ext>
            </a:extLst>
          </p:cNvPr>
          <p:cNvSpPr>
            <a:spLocks xmlns:a="http://schemas.openxmlformats.org/drawingml/2006/main" noGrp="1"/>
          </p:cNvSpPr>
          <p:nvPr/>
        </p:nvSpPr>
        <p:spPr>
          <a:xfrm xmlns:a="http://schemas.openxmlformats.org/drawingml/2006/main">
            <a:off x="4476750" y="2981325"/>
            <a:ext cx="6286500" cy="876300"/>
          </a:xfrm>
          <a:prstGeom xmlns:a="http://schemas.openxmlformats.org/drawingml/2006/main" prst="roundRect">
            <a:avLst>
              <a:gd name="adj" fmla="val 8696"/>
            </a:avLst>
          </a:prstGeom>
          <a:solidFill xmlns:a="http://schemas.openxmlformats.org/drawingml/2006/main">
            <a:srgbClr val="FFFFFF"/>
          </a:solidFill>
          <a:ln xmlns:a="http://schemas.openxmlformats.org/drawingml/2006/main" w="9525">
            <a:solidFill>
              <a:srgbClr val="D9E0E6"/>
            </a:solidFill>
            <a:prstDash val="solid"/>
          </a:ln>
        </p:spPr>
      </p:sp>
      <p:sp>
        <p:nvSpPr>
          <p:cNvPr id="20" name="">
            <a:extLst xmlns:a="http://schemas.openxmlformats.org/drawingml/2006/main">
              <a:ext uri="{FF2B5EF4-FFF2-40B4-BE49-F238E27FC236}">
                <a16:creationId xmlns:a16="http://schemas.microsoft.com/office/drawing/2014/main" id="{219FE819-F9A2-4CC8-9303-68155F144A7D}"/>
              </a:ext>
            </a:extLst>
          </p:cNvPr>
          <p:cNvSpPr>
            <a:spLocks xmlns:a="http://schemas.openxmlformats.org/drawingml/2006/main" noGrp="1"/>
          </p:cNvSpPr>
          <p:nvPr/>
        </p:nvSpPr>
        <p:spPr>
          <a:xfrm xmlns:a="http://schemas.openxmlformats.org/drawingml/2006/main">
            <a:off x="4686300" y="3076575"/>
            <a:ext cx="2000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C74A4A"/>
                </a:solidFill>
              </a:defRPr>
            </a:pPr>
            <a:r>
              <a:rPr sz="1875" b="1">
                <a:solidFill>
                  <a:srgbClr val="C74A4A"/>
                </a:solidFill>
              </a:rPr>
              <a:t>Trust it fully</a:t>
            </a:r>
          </a:p>
        </p:txBody>
      </p:sp>
      <p:sp>
        <p:nvSpPr>
          <p:cNvPr id="21" name="">
            <a:extLst xmlns:a="http://schemas.openxmlformats.org/drawingml/2006/main">
              <a:ext uri="{FF2B5EF4-FFF2-40B4-BE49-F238E27FC236}">
                <a16:creationId xmlns:a16="http://schemas.microsoft.com/office/drawing/2014/main" id="{79A88297-01F8-479F-A74A-E4BF287CA96C}"/>
              </a:ext>
            </a:extLst>
          </p:cNvPr>
          <p:cNvSpPr>
            <a:spLocks xmlns:a="http://schemas.openxmlformats.org/drawingml/2006/main" noGrp="1"/>
          </p:cNvSpPr>
          <p:nvPr/>
        </p:nvSpPr>
        <p:spPr>
          <a:xfrm xmlns:a="http://schemas.openxmlformats.org/drawingml/2006/main">
            <a:off x="6858000" y="3095625"/>
            <a:ext cx="3619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0">
                <a:solidFill>
                  <a:srgbClr val="152538"/>
                </a:solidFill>
              </a:defRPr>
            </a:pPr>
            <a:r>
              <a:rPr sz="1500" b="0">
                <a:solidFill>
                  <a:srgbClr val="152538"/>
                </a:solidFill>
              </a:rPr>
              <a:t>risk a wrong endpoint</a:t>
            </a:r>
          </a:p>
        </p:txBody>
      </p:sp>
      <p:sp>
        <p:nvSpPr>
          <p:cNvPr id="22" name="">
            <a:extLst xmlns:a="http://schemas.openxmlformats.org/drawingml/2006/main">
              <a:ext uri="{FF2B5EF4-FFF2-40B4-BE49-F238E27FC236}">
                <a16:creationId xmlns:a16="http://schemas.microsoft.com/office/drawing/2014/main" id="{176891ED-D3F6-4F05-A217-D07161BA4FE9}"/>
              </a:ext>
            </a:extLst>
          </p:cNvPr>
          <p:cNvSpPr>
            <a:spLocks xmlns:a="http://schemas.openxmlformats.org/drawingml/2006/main" noGrp="1"/>
          </p:cNvSpPr>
          <p:nvPr/>
        </p:nvSpPr>
        <p:spPr>
          <a:xfrm xmlns:a="http://schemas.openxmlformats.org/drawingml/2006/main">
            <a:off x="4476750" y="4152900"/>
            <a:ext cx="6286500" cy="876300"/>
          </a:xfrm>
          <a:prstGeom xmlns:a="http://schemas.openxmlformats.org/drawingml/2006/main" prst="roundRect">
            <a:avLst>
              <a:gd name="adj" fmla="val 8696"/>
            </a:avLst>
          </a:prstGeom>
          <a:solidFill xmlns:a="http://schemas.openxmlformats.org/drawingml/2006/main">
            <a:srgbClr val="E8F1F8"/>
          </a:solidFill>
          <a:ln xmlns:a="http://schemas.openxmlformats.org/drawingml/2006/main" w="19050">
            <a:solidFill>
              <a:srgbClr val="004282"/>
            </a:solidFill>
            <a:prstDash val="solid"/>
          </a:ln>
        </p:spPr>
      </p:sp>
      <p:sp>
        <p:nvSpPr>
          <p:cNvPr id="23" name="">
            <a:extLst xmlns:a="http://schemas.openxmlformats.org/drawingml/2006/main">
              <a:ext uri="{FF2B5EF4-FFF2-40B4-BE49-F238E27FC236}">
                <a16:creationId xmlns:a16="http://schemas.microsoft.com/office/drawing/2014/main" id="{5182A1DC-442F-472F-9F80-FF2D88586090}"/>
              </a:ext>
            </a:extLst>
          </p:cNvPr>
          <p:cNvSpPr>
            <a:spLocks xmlns:a="http://schemas.openxmlformats.org/drawingml/2006/main" noGrp="1"/>
          </p:cNvSpPr>
          <p:nvPr/>
        </p:nvSpPr>
        <p:spPr>
          <a:xfrm xmlns:a="http://schemas.openxmlformats.org/drawingml/2006/main">
            <a:off x="4686300" y="4248150"/>
            <a:ext cx="2000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004282"/>
                </a:solidFill>
              </a:defRPr>
            </a:pPr>
            <a:r>
              <a:rPr sz="1875" b="1">
                <a:solidFill>
                  <a:srgbClr val="004282"/>
                </a:solidFill>
              </a:rPr>
              <a:t>Bound the move</a:t>
            </a:r>
          </a:p>
        </p:txBody>
      </p:sp>
      <p:sp>
        <p:nvSpPr>
          <p:cNvPr id="24" name="">
            <a:extLst xmlns:a="http://schemas.openxmlformats.org/drawingml/2006/main">
              <a:ext uri="{FF2B5EF4-FFF2-40B4-BE49-F238E27FC236}">
                <a16:creationId xmlns:a16="http://schemas.microsoft.com/office/drawing/2014/main" id="{D7D90E50-BD40-41A1-ABAA-DE310CF45F25}"/>
              </a:ext>
            </a:extLst>
          </p:cNvPr>
          <p:cNvSpPr>
            <a:spLocks xmlns:a="http://schemas.openxmlformats.org/drawingml/2006/main" noGrp="1"/>
          </p:cNvSpPr>
          <p:nvPr/>
        </p:nvSpPr>
        <p:spPr>
          <a:xfrm xmlns:a="http://schemas.openxmlformats.org/drawingml/2006/main">
            <a:off x="6858000" y="4267200"/>
            <a:ext cx="3619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0">
                <a:solidFill>
                  <a:srgbClr val="152538"/>
                </a:solidFill>
              </a:defRPr>
            </a:pPr>
            <a:r>
              <a:rPr sz="1500" b="0">
                <a:solidFill>
                  <a:srgbClr val="152538"/>
                </a:solidFill>
              </a:rPr>
              <a:t>keep residual search</a:t>
            </a:r>
          </a:p>
        </p:txBody>
      </p:sp>
      <p:sp>
        <p:nvSpPr>
          <p:cNvPr id="25" name="">
            <a:extLst xmlns:a="http://schemas.openxmlformats.org/drawingml/2006/main">
              <a:ext uri="{FF2B5EF4-FFF2-40B4-BE49-F238E27FC236}">
                <a16:creationId xmlns:a16="http://schemas.microsoft.com/office/drawing/2014/main" id="{6D55AC60-1820-4F8F-AC5D-0B2B1755A151}"/>
              </a:ext>
            </a:extLst>
          </p:cNvPr>
          <p:cNvSpPr>
            <a:spLocks xmlns:a="http://schemas.openxmlformats.org/drawingml/2006/main" noGrp="1"/>
          </p:cNvSpPr>
          <p:nvPr/>
        </p:nvSpPr>
        <p:spPr>
          <a:xfrm xmlns:a="http://schemas.openxmlformats.org/drawingml/2006/main">
            <a:off x="647700" y="5943600"/>
            <a:ext cx="10839450" cy="400050"/>
          </a:xfrm>
          <a:prstGeom xmlns:a="http://schemas.openxmlformats.org/drawingml/2006/main" prst="rect">
            <a:avLst/>
          </a:prstGeom>
          <a:solidFill xmlns:a="http://schemas.openxmlformats.org/drawingml/2006/main">
            <a:srgbClr val="FFF0E2"/>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AE60C292-4E1B-411D-A51E-523BC814A370}"/>
              </a:ext>
            </a:extLst>
          </p:cNvPr>
          <p:cNvSpPr>
            <a:spLocks xmlns:a="http://schemas.openxmlformats.org/drawingml/2006/main" noGrp="1"/>
          </p:cNvSpPr>
          <p:nvPr/>
        </p:nvSpPr>
        <p:spPr>
          <a:xfrm xmlns:a="http://schemas.openxmlformats.org/drawingml/2006/main">
            <a:off x="647700" y="5943600"/>
            <a:ext cx="57150" cy="400050"/>
          </a:xfrm>
          <a:prstGeom xmlns:a="http://schemas.openxmlformats.org/drawingml/2006/main" prst="rect">
            <a:avLst/>
          </a:prstGeom>
          <a:solidFill xmlns:a="http://schemas.openxmlformats.org/drawingml/2006/main">
            <a:srgbClr val="ED7F0D"/>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53C3F42B-F316-4D3A-947C-0C3CA46489D5}"/>
              </a:ext>
            </a:extLst>
          </p:cNvPr>
          <p:cNvSpPr>
            <a:spLocks xmlns:a="http://schemas.openxmlformats.org/drawingml/2006/main" noGrp="1"/>
          </p:cNvSpPr>
          <p:nvPr/>
        </p:nvSpPr>
        <p:spPr>
          <a:xfrm xmlns:a="http://schemas.openxmlformats.org/drawingml/2006/main">
            <a:off x="838200" y="5981700"/>
            <a:ext cx="10458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152538"/>
                </a:solidFill>
              </a:defRPr>
            </a:pPr>
            <a:r>
              <a:rPr sz="1275" b="1">
                <a:solidFill>
                  <a:srgbClr val="152538"/>
                </a:solidFill>
              </a:rPr>
              <a:t>The problem is not whether touch is useful, but how much authority it should receive.</a:t>
            </a:r>
          </a:p>
        </p:txBody>
      </p:sp>
    </p:spTree>
    <p:extLst>
      <p:ext uri="{BB962C8B-B14F-4D97-AF65-F5344CB8AC3E}">
        <p14:creationId xmlns:p14="http://schemas.microsoft.com/office/powerpoint/2010/main" val="412711920"/>
      </p:ext>
    </p:extLst>
  </p:cSld>
</p:sld>
</file>

<file path=ppt/slides/slide9.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24C23ED-0644-4262-B1AD-192A67356621}"/>
              </a:ext>
            </a:extLst>
          </p:cNvPr>
          <p:cNvSpPr>
            <a:spLocks xmlns:a="http://schemas.openxmlformats.org/drawingml/2006/main" noGrp="1"/>
          </p:cNvSpPr>
          <p:nvPr/>
        </p:nvSpPr>
        <p:spPr>
          <a:xfrm xmlns:a="http://schemas.openxmlformats.org/drawingml/2006/main">
            <a:off x="647700" y="2286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ED7F0D"/>
                </a:solidFill>
              </a:defRPr>
            </a:pPr>
            <a:r>
              <a:rPr sz="1050" b="1">
                <a:solidFill>
                  <a:srgbClr val="ED7F0D"/>
                </a:solidFill>
              </a:rPr>
              <a:t>09</a:t>
            </a:r>
          </a:p>
        </p:txBody>
      </p:sp>
      <p:sp>
        <p:nvSpPr>
          <p:cNvPr id="2" name="">
            <a:extLst xmlns:a="http://schemas.openxmlformats.org/drawingml/2006/main">
              <a:ext uri="{FF2B5EF4-FFF2-40B4-BE49-F238E27FC236}">
                <a16:creationId xmlns:a16="http://schemas.microsoft.com/office/drawing/2014/main" id="{260D42B3-2F66-470D-80C1-AB238AEDF271}"/>
              </a:ext>
            </a:extLst>
          </p:cNvPr>
          <p:cNvSpPr>
            <a:spLocks xmlns:a="http://schemas.openxmlformats.org/drawingml/2006/main" noGrp="1"/>
          </p:cNvSpPr>
          <p:nvPr/>
        </p:nvSpPr>
        <p:spPr>
          <a:xfrm xmlns:a="http://schemas.openxmlformats.org/drawingml/2006/main">
            <a:off x="1104900" y="22860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6B7580"/>
                </a:solidFill>
              </a:defRPr>
            </a:pPr>
            <a:r>
              <a:rPr sz="975" b="1">
                <a:solidFill>
                  <a:srgbClr val="6B7580"/>
                </a:solidFill>
              </a:rPr>
              <a:t>PROBLEM</a:t>
            </a:r>
          </a:p>
        </p:txBody>
      </p:sp>
      <p:sp>
        <p:nvSpPr>
          <p:cNvPr id="3" name="">
            <a:extLst xmlns:a="http://schemas.openxmlformats.org/drawingml/2006/main">
              <a:ext uri="{FF2B5EF4-FFF2-40B4-BE49-F238E27FC236}">
                <a16:creationId xmlns:a16="http://schemas.microsoft.com/office/drawing/2014/main" id="{367F5B96-80FC-4990-A933-F2BDEE644DDE}"/>
              </a:ext>
            </a:extLst>
          </p:cNvPr>
          <p:cNvSpPr>
            <a:spLocks xmlns:a="http://schemas.openxmlformats.org/drawingml/2006/main" noGrp="1"/>
          </p:cNvSpPr>
          <p:nvPr/>
        </p:nvSpPr>
        <p:spPr>
          <a:xfrm xmlns:a="http://schemas.openxmlformats.org/drawingml/2006/main">
            <a:off x="6191250" y="228600"/>
            <a:ext cx="5353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0">
                <a:solidFill>
                  <a:srgbClr val="6B7580"/>
                </a:solidFill>
              </a:defRPr>
            </a:pPr>
            <a:r>
              <a:rPr sz="825" b="0">
                <a:solidFill>
                  <a:srgbClr val="6B7580"/>
                </a:solidFill>
              </a:rPr>
              <a:t>● Problem   Task   Framework   Simulation   Hardware   Discussion</a:t>
            </a:r>
          </a:p>
        </p:txBody>
      </p:sp>
      <p:sp>
        <p:nvSpPr>
          <p:cNvPr id="4" name="">
            <a:extLst xmlns:a="http://schemas.openxmlformats.org/drawingml/2006/main">
              <a:ext uri="{FF2B5EF4-FFF2-40B4-BE49-F238E27FC236}">
                <a16:creationId xmlns:a16="http://schemas.microsoft.com/office/drawing/2014/main" id="{C30E5482-AA62-43AE-94AA-16A896C75E5E}"/>
              </a:ext>
            </a:extLst>
          </p:cNvPr>
          <p:cNvSpPr>
            <a:spLocks xmlns:a="http://schemas.openxmlformats.org/drawingml/2006/main" noGrp="1"/>
          </p:cNvSpPr>
          <p:nvPr/>
        </p:nvSpPr>
        <p:spPr>
          <a:xfrm xmlns:a="http://schemas.openxmlformats.org/drawingml/2006/main">
            <a:off x="647700" y="533400"/>
            <a:ext cx="108394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700" b="1">
                <a:solidFill>
                  <a:srgbClr val="004282"/>
                </a:solidFill>
              </a:defRPr>
            </a:pPr>
            <a:r>
              <a:rPr sz="2700" b="1">
                <a:solidFill>
                  <a:srgbClr val="004282"/>
                </a:solidFill>
              </a:rPr>
              <a:t>Learning guides the search, while physics verifies engagement</a:t>
            </a:r>
          </a:p>
        </p:txBody>
      </p:sp>
      <p:sp>
        <p:nvSpPr>
          <p:cNvPr id="5" name="">
            <a:extLst xmlns:a="http://schemas.openxmlformats.org/drawingml/2006/main">
              <a:ext uri="{FF2B5EF4-FFF2-40B4-BE49-F238E27FC236}">
                <a16:creationId xmlns:a16="http://schemas.microsoft.com/office/drawing/2014/main" id="{156AA9EC-601A-44F4-AFBB-B1D530D1BBF5}"/>
              </a:ext>
            </a:extLst>
          </p:cNvPr>
          <p:cNvSpPr>
            <a:spLocks xmlns:a="http://schemas.openxmlformats.org/drawingml/2006/main" noGrp="1"/>
          </p:cNvSpPr>
          <p:nvPr/>
        </p:nvSpPr>
        <p:spPr>
          <a:xfrm xmlns:a="http://schemas.openxmlformats.org/drawingml/2006/main">
            <a:off x="647700" y="1257300"/>
            <a:ext cx="609600" cy="47625"/>
          </a:xfrm>
          <a:prstGeom xmlns:a="http://schemas.openxmlformats.org/drawingml/2006/main" prst="rect">
            <a:avLst/>
          </a:prstGeom>
          <a:solidFill xmlns:a="http://schemas.openxmlformats.org/drawingml/2006/main">
            <a:srgbClr val="ED7F0D"/>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BABF4EC1-377A-4686-AEDE-5187A1957870}"/>
              </a:ext>
            </a:extLst>
          </p:cNvPr>
          <p:cNvSpPr>
            <a:spLocks xmlns:a="http://schemas.openxmlformats.org/drawingml/2006/main" noGrp="1"/>
          </p:cNvSpPr>
          <p:nvPr/>
        </p:nvSpPr>
        <p:spPr>
          <a:xfrm xmlns:a="http://schemas.openxmlformats.org/drawingml/2006/main">
            <a:off x="647700" y="6486525"/>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6B7580"/>
                </a:solidFill>
              </a:defRPr>
            </a:pPr>
            <a:r>
              <a:rPr sz="825" b="0">
                <a:solidFill>
                  <a:srgbClr val="6B7580"/>
                </a:solidFill>
              </a:rPr>
              <a:t>Nan Jinyao · Paper-aligned group review</a:t>
            </a:r>
          </a:p>
        </p:txBody>
      </p:sp>
      <p:sp>
        <p:nvSpPr>
          <p:cNvPr id="7" name="">
            <a:extLst xmlns:a="http://schemas.openxmlformats.org/drawingml/2006/main">
              <a:ext uri="{FF2B5EF4-FFF2-40B4-BE49-F238E27FC236}">
                <a16:creationId xmlns:a16="http://schemas.microsoft.com/office/drawing/2014/main" id="{8E3A141F-BE86-402B-B84A-3B77EAEEC79A}"/>
              </a:ext>
            </a:extLst>
          </p:cNvPr>
          <p:cNvSpPr>
            <a:spLocks xmlns:a="http://schemas.openxmlformats.org/drawingml/2006/main" noGrp="1"/>
          </p:cNvSpPr>
          <p:nvPr/>
        </p:nvSpPr>
        <p:spPr>
          <a:xfrm xmlns:a="http://schemas.openxmlformats.org/drawingml/2006/main">
            <a:off x="4476750" y="6486525"/>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0">
                <a:solidFill>
                  <a:srgbClr val="6B7580"/>
                </a:solidFill>
              </a:defRPr>
            </a:pPr>
            <a:r>
              <a:rPr sz="825" b="0">
                <a:solidFill>
                  <a:srgbClr val="6B7580"/>
                </a:solidFill>
              </a:rPr>
              <a:t>Abstract · Sec. III · Fig. 2</a:t>
            </a:r>
          </a:p>
        </p:txBody>
      </p:sp>
      <p:sp>
        <p:nvSpPr>
          <p:cNvPr id="8" name="">
            <a:extLst xmlns:a="http://schemas.openxmlformats.org/drawingml/2006/main">
              <a:ext uri="{FF2B5EF4-FFF2-40B4-BE49-F238E27FC236}">
                <a16:creationId xmlns:a16="http://schemas.microsoft.com/office/drawing/2014/main" id="{D9E1399E-8B7E-4FA0-8AF4-6FBF5093CCFB}"/>
              </a:ext>
            </a:extLst>
          </p:cNvPr>
          <p:cNvSpPr>
            <a:spLocks xmlns:a="http://schemas.openxmlformats.org/drawingml/2006/main" noGrp="1"/>
          </p:cNvSpPr>
          <p:nvPr/>
        </p:nvSpPr>
        <p:spPr>
          <a:xfrm xmlns:a="http://schemas.openxmlformats.org/drawingml/2006/main">
            <a:off x="11049000" y="648652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004282"/>
                </a:solidFill>
              </a:defRPr>
            </a:pPr>
            <a:r>
              <a:rPr sz="825" b="1">
                <a:solidFill>
                  <a:srgbClr val="004282"/>
                </a:solidFill>
              </a:rPr>
              <a:t>9</a:t>
            </a:r>
          </a:p>
        </p:txBody>
      </p:sp>
      <p:sp>
        <p:nvSpPr>
          <p:cNvPr id="9" name="">
            <a:extLst xmlns:a="http://schemas.openxmlformats.org/drawingml/2006/main">
              <a:ext uri="{FF2B5EF4-FFF2-40B4-BE49-F238E27FC236}">
                <a16:creationId xmlns:a16="http://schemas.microsoft.com/office/drawing/2014/main" id="{0E583A71-CA4B-460D-BFC7-F7BB64EC321D}"/>
              </a:ext>
            </a:extLst>
          </p:cNvPr>
          <p:cNvSpPr>
            <a:spLocks xmlns:a="http://schemas.openxmlformats.org/drawingml/2006/main" noGrp="1"/>
          </p:cNvSpPr>
          <p:nvPr/>
        </p:nvSpPr>
        <p:spPr>
          <a:xfrm xmlns:a="http://schemas.openxmlformats.org/drawingml/2006/main">
            <a:off x="781050" y="2305050"/>
            <a:ext cx="2952750" cy="1428750"/>
          </a:xfrm>
          <a:prstGeom xmlns:a="http://schemas.openxmlformats.org/drawingml/2006/main" prst="roundRect">
            <a:avLst>
              <a:gd name="adj" fmla="val 5333"/>
            </a:avLst>
          </a:prstGeom>
          <a:solidFill xmlns:a="http://schemas.openxmlformats.org/drawingml/2006/main">
            <a:srgbClr val="E8F1F8"/>
          </a:solidFill>
          <a:ln xmlns:a="http://schemas.openxmlformats.org/drawingml/2006/main" w="19050">
            <a:solidFill>
              <a:srgbClr val="004282"/>
            </a:solidFill>
            <a:prstDash val="solid"/>
          </a:ln>
        </p:spPr>
      </p:sp>
      <p:sp>
        <p:nvSpPr>
          <p:cNvPr id="10" name="">
            <a:extLst xmlns:a="http://schemas.openxmlformats.org/drawingml/2006/main">
              <a:ext uri="{FF2B5EF4-FFF2-40B4-BE49-F238E27FC236}">
                <a16:creationId xmlns:a16="http://schemas.microsoft.com/office/drawing/2014/main" id="{D801E9A3-9933-4B70-8371-0D8E2A0F285D}"/>
              </a:ext>
            </a:extLst>
          </p:cNvPr>
          <p:cNvSpPr>
            <a:spLocks xmlns:a="http://schemas.openxmlformats.org/drawingml/2006/main" noGrp="1"/>
          </p:cNvSpPr>
          <p:nvPr/>
        </p:nvSpPr>
        <p:spPr>
          <a:xfrm xmlns:a="http://schemas.openxmlformats.org/drawingml/2006/main">
            <a:off x="971550" y="245745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004282"/>
                </a:solidFill>
              </a:defRPr>
            </a:pPr>
            <a:r>
              <a:rPr sz="1050" b="1">
                <a:solidFill>
                  <a:srgbClr val="004282"/>
                </a:solidFill>
              </a:rPr>
              <a:t>01</a:t>
            </a:r>
          </a:p>
        </p:txBody>
      </p:sp>
      <p:sp>
        <p:nvSpPr>
          <p:cNvPr id="11" name="">
            <a:extLst xmlns:a="http://schemas.openxmlformats.org/drawingml/2006/main">
              <a:ext uri="{FF2B5EF4-FFF2-40B4-BE49-F238E27FC236}">
                <a16:creationId xmlns:a16="http://schemas.microsoft.com/office/drawing/2014/main" id="{BBF05260-8520-4D92-A2AD-551921EEF6FD}"/>
              </a:ext>
            </a:extLst>
          </p:cNvPr>
          <p:cNvSpPr>
            <a:spLocks xmlns:a="http://schemas.openxmlformats.org/drawingml/2006/main" noGrp="1"/>
          </p:cNvSpPr>
          <p:nvPr/>
        </p:nvSpPr>
        <p:spPr>
          <a:xfrm xmlns:a="http://schemas.openxmlformats.org/drawingml/2006/main">
            <a:off x="990600" y="281940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004282"/>
                </a:solidFill>
              </a:defRPr>
            </a:pPr>
            <a:r>
              <a:rPr sz="1650" b="1">
                <a:solidFill>
                  <a:srgbClr val="004282"/>
                </a:solidFill>
              </a:rPr>
              <a:t>CONICAL PROBE</a:t>
            </a:r>
          </a:p>
        </p:txBody>
      </p:sp>
      <p:sp>
        <p:nvSpPr>
          <p:cNvPr id="12" name="">
            <a:extLst xmlns:a="http://schemas.openxmlformats.org/drawingml/2006/main">
              <a:ext uri="{FF2B5EF4-FFF2-40B4-BE49-F238E27FC236}">
                <a16:creationId xmlns:a16="http://schemas.microsoft.com/office/drawing/2014/main" id="{357553C1-7A0B-421A-B2A0-0E52578A782E}"/>
              </a:ext>
            </a:extLst>
          </p:cNvPr>
          <p:cNvSpPr>
            <a:spLocks xmlns:a="http://schemas.openxmlformats.org/drawingml/2006/main" noGrp="1"/>
          </p:cNvSpPr>
          <p:nvPr/>
        </p:nvSpPr>
        <p:spPr>
          <a:xfrm xmlns:a="http://schemas.openxmlformats.org/drawingml/2006/main">
            <a:off x="1009650" y="3333750"/>
            <a:ext cx="2495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0">
                <a:solidFill>
                  <a:srgbClr val="6B7580"/>
                </a:solidFill>
              </a:defRPr>
            </a:pPr>
            <a:r>
              <a:rPr sz="1125" b="0">
                <a:solidFill>
                  <a:srgbClr val="6B7580"/>
                </a:solidFill>
              </a:rPr>
              <a:t>collect one repeatable tactile signal</a:t>
            </a:r>
          </a:p>
        </p:txBody>
      </p:sp>
      <p:sp>
        <p:nvSpPr>
          <p:cNvPr id="13" name="">
            <a:extLst xmlns:a="http://schemas.openxmlformats.org/drawingml/2006/main">
              <a:ext uri="{FF2B5EF4-FFF2-40B4-BE49-F238E27FC236}">
                <a16:creationId xmlns:a16="http://schemas.microsoft.com/office/drawing/2014/main" id="{8871D8DE-92C8-4B0D-BBD9-467A68F637C3}"/>
              </a:ext>
            </a:extLst>
          </p:cNvPr>
          <p:cNvSpPr>
            <a:spLocks xmlns:a="http://schemas.openxmlformats.org/drawingml/2006/main" noGrp="1"/>
          </p:cNvSpPr>
          <p:nvPr/>
        </p:nvSpPr>
        <p:spPr>
          <a:xfrm xmlns:a="http://schemas.openxmlformats.org/drawingml/2006/main">
            <a:off x="3848100" y="2886075"/>
            <a:ext cx="457200" cy="266700"/>
          </a:xfrm>
          <a:prstGeom xmlns:a="http://schemas.openxmlformats.org/drawingml/2006/main" prst="rightArrow">
            <a:avLst/>
          </a:prstGeom>
          <a:solidFill xmlns:a="http://schemas.openxmlformats.org/drawingml/2006/main">
            <a:srgbClr val="ED7F0D"/>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8CB89C13-81F8-4242-9D66-BBFDEA8DC119}"/>
              </a:ext>
            </a:extLst>
          </p:cNvPr>
          <p:cNvSpPr>
            <a:spLocks xmlns:a="http://schemas.openxmlformats.org/drawingml/2006/main" noGrp="1"/>
          </p:cNvSpPr>
          <p:nvPr/>
        </p:nvSpPr>
        <p:spPr>
          <a:xfrm xmlns:a="http://schemas.openxmlformats.org/drawingml/2006/main">
            <a:off x="4457700" y="2305050"/>
            <a:ext cx="2952750" cy="1428750"/>
          </a:xfrm>
          <a:prstGeom xmlns:a="http://schemas.openxmlformats.org/drawingml/2006/main" prst="roundRect">
            <a:avLst>
              <a:gd name="adj" fmla="val 5333"/>
            </a:avLst>
          </a:prstGeom>
          <a:solidFill xmlns:a="http://schemas.openxmlformats.org/drawingml/2006/main">
            <a:srgbClr val="E6F5EF"/>
          </a:solidFill>
          <a:ln xmlns:a="http://schemas.openxmlformats.org/drawingml/2006/main" w="19050">
            <a:solidFill>
              <a:srgbClr val="009E73"/>
            </a:solidFill>
            <a:prstDash val="solid"/>
          </a:ln>
        </p:spPr>
      </p:sp>
      <p:sp>
        <p:nvSpPr>
          <p:cNvPr id="15" name="">
            <a:extLst xmlns:a="http://schemas.openxmlformats.org/drawingml/2006/main">
              <a:ext uri="{FF2B5EF4-FFF2-40B4-BE49-F238E27FC236}">
                <a16:creationId xmlns:a16="http://schemas.microsoft.com/office/drawing/2014/main" id="{331317F0-6141-4556-9624-1FE691AF7656}"/>
              </a:ext>
            </a:extLst>
          </p:cNvPr>
          <p:cNvSpPr>
            <a:spLocks xmlns:a="http://schemas.openxmlformats.org/drawingml/2006/main" noGrp="1"/>
          </p:cNvSpPr>
          <p:nvPr/>
        </p:nvSpPr>
        <p:spPr>
          <a:xfrm xmlns:a="http://schemas.openxmlformats.org/drawingml/2006/main">
            <a:off x="4648200" y="245745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009E73"/>
                </a:solidFill>
              </a:defRPr>
            </a:pPr>
            <a:r>
              <a:rPr sz="1050" b="1">
                <a:solidFill>
                  <a:srgbClr val="009E73"/>
                </a:solidFill>
              </a:rPr>
              <a:t>02</a:t>
            </a:r>
          </a:p>
        </p:txBody>
      </p:sp>
      <p:sp>
        <p:nvSpPr>
          <p:cNvPr id="16" name="">
            <a:extLst xmlns:a="http://schemas.openxmlformats.org/drawingml/2006/main">
              <a:ext uri="{FF2B5EF4-FFF2-40B4-BE49-F238E27FC236}">
                <a16:creationId xmlns:a16="http://schemas.microsoft.com/office/drawing/2014/main" id="{B3960AC9-F7FE-4850-BCD7-90E26C6C3326}"/>
              </a:ext>
            </a:extLst>
          </p:cNvPr>
          <p:cNvSpPr>
            <a:spLocks xmlns:a="http://schemas.openxmlformats.org/drawingml/2006/main" noGrp="1"/>
          </p:cNvSpPr>
          <p:nvPr/>
        </p:nvSpPr>
        <p:spPr>
          <a:xfrm xmlns:a="http://schemas.openxmlformats.org/drawingml/2006/main">
            <a:off x="4667250" y="281940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009E73"/>
                </a:solidFill>
              </a:defRPr>
            </a:pPr>
            <a:r>
              <a:rPr sz="1650" b="1">
                <a:solidFill>
                  <a:srgbClr val="009E73"/>
                </a:solidFill>
              </a:rPr>
              <a:t>BOUNDED ROUTE</a:t>
            </a:r>
          </a:p>
        </p:txBody>
      </p:sp>
      <p:sp>
        <p:nvSpPr>
          <p:cNvPr id="17" name="">
            <a:extLst xmlns:a="http://schemas.openxmlformats.org/drawingml/2006/main">
              <a:ext uri="{FF2B5EF4-FFF2-40B4-BE49-F238E27FC236}">
                <a16:creationId xmlns:a16="http://schemas.microsoft.com/office/drawing/2014/main" id="{C026DA8B-4098-46B6-951A-E666912BE6DD}"/>
              </a:ext>
            </a:extLst>
          </p:cNvPr>
          <p:cNvSpPr>
            <a:spLocks xmlns:a="http://schemas.openxmlformats.org/drawingml/2006/main" noGrp="1"/>
          </p:cNvSpPr>
          <p:nvPr/>
        </p:nvSpPr>
        <p:spPr>
          <a:xfrm xmlns:a="http://schemas.openxmlformats.org/drawingml/2006/main">
            <a:off x="4686300" y="3333750"/>
            <a:ext cx="2495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0">
                <a:solidFill>
                  <a:srgbClr val="6B7580"/>
                </a:solidFill>
              </a:defRPr>
            </a:pPr>
            <a:r>
              <a:rPr sz="1125" b="0">
                <a:solidFill>
                  <a:srgbClr val="6B7580"/>
                </a:solidFill>
              </a:rPr>
              <a:t>shortcut only as far as the belief supports</a:t>
            </a:r>
          </a:p>
        </p:txBody>
      </p:sp>
      <p:sp>
        <p:nvSpPr>
          <p:cNvPr id="18" name="">
            <a:extLst xmlns:a="http://schemas.openxmlformats.org/drawingml/2006/main">
              <a:ext uri="{FF2B5EF4-FFF2-40B4-BE49-F238E27FC236}">
                <a16:creationId xmlns:a16="http://schemas.microsoft.com/office/drawing/2014/main" id="{98BF6EC6-59D3-4304-9E44-40673B08A826}"/>
              </a:ext>
            </a:extLst>
          </p:cNvPr>
          <p:cNvSpPr>
            <a:spLocks xmlns:a="http://schemas.openxmlformats.org/drawingml/2006/main" noGrp="1"/>
          </p:cNvSpPr>
          <p:nvPr/>
        </p:nvSpPr>
        <p:spPr>
          <a:xfrm xmlns:a="http://schemas.openxmlformats.org/drawingml/2006/main">
            <a:off x="7524750" y="2886075"/>
            <a:ext cx="457200" cy="266700"/>
          </a:xfrm>
          <a:prstGeom xmlns:a="http://schemas.openxmlformats.org/drawingml/2006/main" prst="rightArrow">
            <a:avLst/>
          </a:prstGeom>
          <a:solidFill xmlns:a="http://schemas.openxmlformats.org/drawingml/2006/main">
            <a:srgbClr val="ED7F0D"/>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75296397-1D63-4F16-9315-6114C2F31C03}"/>
              </a:ext>
            </a:extLst>
          </p:cNvPr>
          <p:cNvSpPr>
            <a:spLocks xmlns:a="http://schemas.openxmlformats.org/drawingml/2006/main" noGrp="1"/>
          </p:cNvSpPr>
          <p:nvPr/>
        </p:nvSpPr>
        <p:spPr>
          <a:xfrm xmlns:a="http://schemas.openxmlformats.org/drawingml/2006/main">
            <a:off x="8134350" y="2305050"/>
            <a:ext cx="2952750" cy="1428750"/>
          </a:xfrm>
          <a:prstGeom xmlns:a="http://schemas.openxmlformats.org/drawingml/2006/main" prst="roundRect">
            <a:avLst>
              <a:gd name="adj" fmla="val 5333"/>
            </a:avLst>
          </a:prstGeom>
          <a:solidFill xmlns:a="http://schemas.openxmlformats.org/drawingml/2006/main">
            <a:srgbClr val="FCE9E8"/>
          </a:solidFill>
          <a:ln xmlns:a="http://schemas.openxmlformats.org/drawingml/2006/main" w="19050">
            <a:solidFill>
              <a:srgbClr val="C74A4A"/>
            </a:solidFill>
            <a:prstDash val="solid"/>
          </a:ln>
        </p:spPr>
      </p:sp>
      <p:sp>
        <p:nvSpPr>
          <p:cNvPr id="20" name="">
            <a:extLst xmlns:a="http://schemas.openxmlformats.org/drawingml/2006/main">
              <a:ext uri="{FF2B5EF4-FFF2-40B4-BE49-F238E27FC236}">
                <a16:creationId xmlns:a16="http://schemas.microsoft.com/office/drawing/2014/main" id="{05D73B4F-6E9C-4B9E-BFE6-B3A4A851CDD3}"/>
              </a:ext>
            </a:extLst>
          </p:cNvPr>
          <p:cNvSpPr>
            <a:spLocks xmlns:a="http://schemas.openxmlformats.org/drawingml/2006/main" noGrp="1"/>
          </p:cNvSpPr>
          <p:nvPr/>
        </p:nvSpPr>
        <p:spPr>
          <a:xfrm xmlns:a="http://schemas.openxmlformats.org/drawingml/2006/main">
            <a:off x="8324850" y="245745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C74A4A"/>
                </a:solidFill>
              </a:defRPr>
            </a:pPr>
            <a:r>
              <a:rPr sz="1050" b="1">
                <a:solidFill>
                  <a:srgbClr val="C74A4A"/>
                </a:solidFill>
              </a:rPr>
              <a:t>03</a:t>
            </a:r>
          </a:p>
        </p:txBody>
      </p:sp>
      <p:sp>
        <p:nvSpPr>
          <p:cNvPr id="21" name="">
            <a:extLst xmlns:a="http://schemas.openxmlformats.org/drawingml/2006/main">
              <a:ext uri="{FF2B5EF4-FFF2-40B4-BE49-F238E27FC236}">
                <a16:creationId xmlns:a16="http://schemas.microsoft.com/office/drawing/2014/main" id="{406ACA11-E64C-4F06-86FF-4657CD550B44}"/>
              </a:ext>
            </a:extLst>
          </p:cNvPr>
          <p:cNvSpPr>
            <a:spLocks xmlns:a="http://schemas.openxmlformats.org/drawingml/2006/main" noGrp="1"/>
          </p:cNvSpPr>
          <p:nvPr/>
        </p:nvSpPr>
        <p:spPr>
          <a:xfrm xmlns:a="http://schemas.openxmlformats.org/drawingml/2006/main">
            <a:off x="8343900" y="281940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C74A4A"/>
                </a:solidFill>
              </a:defRPr>
            </a:pPr>
            <a:r>
              <a:rPr sz="1650" b="1">
                <a:solidFill>
                  <a:srgbClr val="C74A4A"/>
                </a:solidFill>
              </a:rPr>
              <a:t>PHYSICAL VERIFICATION</a:t>
            </a:r>
          </a:p>
        </p:txBody>
      </p:sp>
      <p:sp>
        <p:nvSpPr>
          <p:cNvPr id="22" name="">
            <a:extLst xmlns:a="http://schemas.openxmlformats.org/drawingml/2006/main">
              <a:ext uri="{FF2B5EF4-FFF2-40B4-BE49-F238E27FC236}">
                <a16:creationId xmlns:a16="http://schemas.microsoft.com/office/drawing/2014/main" id="{C8EE803C-37A2-41FC-8BAD-77CBBD10523B}"/>
              </a:ext>
            </a:extLst>
          </p:cNvPr>
          <p:cNvSpPr>
            <a:spLocks xmlns:a="http://schemas.openxmlformats.org/drawingml/2006/main" noGrp="1"/>
          </p:cNvSpPr>
          <p:nvPr/>
        </p:nvSpPr>
        <p:spPr>
          <a:xfrm xmlns:a="http://schemas.openxmlformats.org/drawingml/2006/main">
            <a:off x="8362950" y="3333750"/>
            <a:ext cx="2495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0">
                <a:solidFill>
                  <a:srgbClr val="6B7580"/>
                </a:solidFill>
              </a:defRPr>
            </a:pPr>
            <a:r>
              <a:rPr sz="1125" b="0">
                <a:solidFill>
                  <a:srgbClr val="6B7580"/>
                </a:solidFill>
              </a:rPr>
              <a:t>capture, recovery and dwell decide the outcome</a:t>
            </a:r>
          </a:p>
        </p:txBody>
      </p:sp>
      <p:sp>
        <p:nvSpPr>
          <p:cNvPr id="23" name="">
            <a:extLst xmlns:a="http://schemas.openxmlformats.org/drawingml/2006/main">
              <a:ext uri="{FF2B5EF4-FFF2-40B4-BE49-F238E27FC236}">
                <a16:creationId xmlns:a16="http://schemas.microsoft.com/office/drawing/2014/main" id="{2A6DFF05-E828-48BD-9F95-365D2B002113}"/>
              </a:ext>
            </a:extLst>
          </p:cNvPr>
          <p:cNvSpPr>
            <a:spLocks xmlns:a="http://schemas.openxmlformats.org/drawingml/2006/main" noGrp="1"/>
          </p:cNvSpPr>
          <p:nvPr/>
        </p:nvSpPr>
        <p:spPr>
          <a:xfrm xmlns:a="http://schemas.openxmlformats.org/drawingml/2006/main">
            <a:off x="4000500" y="1866900"/>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ED7F0D"/>
                </a:solidFill>
              </a:defRPr>
            </a:pPr>
            <a:r>
              <a:rPr sz="1050" b="1">
                <a:solidFill>
                  <a:srgbClr val="ED7F0D"/>
                </a:solidFill>
              </a:rPr>
              <a:t>LEARNING AUTHORITY</a:t>
            </a:r>
          </a:p>
        </p:txBody>
      </p:sp>
      <p:sp>
        <p:nvSpPr>
          <p:cNvPr id="24" name="">
            <a:extLst xmlns:a="http://schemas.openxmlformats.org/drawingml/2006/main">
              <a:ext uri="{FF2B5EF4-FFF2-40B4-BE49-F238E27FC236}">
                <a16:creationId xmlns:a16="http://schemas.microsoft.com/office/drawing/2014/main" id="{5BA52E11-FED0-433B-AAB0-50B281CB1FF2}"/>
              </a:ext>
            </a:extLst>
          </p:cNvPr>
          <p:cNvSpPr>
            <a:spLocks xmlns:a="http://schemas.openxmlformats.org/drawingml/2006/main" noGrp="1"/>
          </p:cNvSpPr>
          <p:nvPr/>
        </p:nvSpPr>
        <p:spPr>
          <a:xfrm xmlns:a="http://schemas.openxmlformats.org/drawingml/2006/main">
            <a:off x="4000500" y="2152650"/>
            <a:ext cx="3810000" cy="19050"/>
          </a:xfrm>
          <a:prstGeom xmlns:a="http://schemas.openxmlformats.org/drawingml/2006/main" prst="rect">
            <a:avLst/>
          </a:prstGeom>
          <a:solidFill xmlns:a="http://schemas.openxmlformats.org/drawingml/2006/main">
            <a:srgbClr val="ED7F0D"/>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4D10F3BD-8953-4766-ADBE-A589EB10BB05}"/>
              </a:ext>
            </a:extLst>
          </p:cNvPr>
          <p:cNvSpPr>
            <a:spLocks xmlns:a="http://schemas.openxmlformats.org/drawingml/2006/main" noGrp="1"/>
          </p:cNvSpPr>
          <p:nvPr/>
        </p:nvSpPr>
        <p:spPr>
          <a:xfrm xmlns:a="http://schemas.openxmlformats.org/drawingml/2006/main">
            <a:off x="647700" y="5943600"/>
            <a:ext cx="10839450" cy="400050"/>
          </a:xfrm>
          <a:prstGeom xmlns:a="http://schemas.openxmlformats.org/drawingml/2006/main" prst="rect">
            <a:avLst/>
          </a:prstGeom>
          <a:solidFill xmlns:a="http://schemas.openxmlformats.org/drawingml/2006/main">
            <a:srgbClr val="FFF0E2"/>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FC09B3D4-3B16-4BEA-A750-309D3AC0D5CE}"/>
              </a:ext>
            </a:extLst>
          </p:cNvPr>
          <p:cNvSpPr>
            <a:spLocks xmlns:a="http://schemas.openxmlformats.org/drawingml/2006/main" noGrp="1"/>
          </p:cNvSpPr>
          <p:nvPr/>
        </p:nvSpPr>
        <p:spPr>
          <a:xfrm xmlns:a="http://schemas.openxmlformats.org/drawingml/2006/main">
            <a:off x="647700" y="5943600"/>
            <a:ext cx="57150" cy="400050"/>
          </a:xfrm>
          <a:prstGeom xmlns:a="http://schemas.openxmlformats.org/drawingml/2006/main" prst="rect">
            <a:avLst/>
          </a:prstGeom>
          <a:solidFill xmlns:a="http://schemas.openxmlformats.org/drawingml/2006/main">
            <a:srgbClr val="ED7F0D"/>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9DBC0714-55C1-4DDF-9D67-7BAF26FED4D6}"/>
              </a:ext>
            </a:extLst>
          </p:cNvPr>
          <p:cNvSpPr>
            <a:spLocks xmlns:a="http://schemas.openxmlformats.org/drawingml/2006/main" noGrp="1"/>
          </p:cNvSpPr>
          <p:nvPr/>
        </p:nvSpPr>
        <p:spPr>
          <a:xfrm xmlns:a="http://schemas.openxmlformats.org/drawingml/2006/main">
            <a:off x="838200" y="5981700"/>
            <a:ext cx="10458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152538"/>
                </a:solidFill>
              </a:defRPr>
            </a:pPr>
            <a:r>
              <a:rPr sz="1275" b="1">
                <a:solidFill>
                  <a:srgbClr val="152538"/>
                </a:solidFill>
              </a:rPr>
              <a:t>Learning proposes motion. The physical loop keeps the final authority.</a:t>
            </a:r>
          </a:p>
        </p:txBody>
      </p:sp>
    </p:spTree>
    <p:extLst>
      <p:ext uri="{BB962C8B-B14F-4D97-AF65-F5344CB8AC3E}">
        <p14:creationId xmlns:p14="http://schemas.microsoft.com/office/powerpoint/2010/main" val="1336110064"/>
      </p:ext>
    </p:extLst>
  </p:cSld>
</p:sld>
</file>

<file path=ppt/slides/slide10.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2C9AB96-5D06-4CCC-BB2E-A3A40294BD94}"/>
              </a:ext>
            </a:extLst>
          </p:cNvPr>
          <p:cNvSpPr>
            <a:spLocks xmlns:a="http://schemas.openxmlformats.org/drawingml/2006/main" noGrp="1"/>
          </p:cNvSpPr>
          <p:nvPr/>
        </p:nvSpPr>
        <p:spPr>
          <a:xfrm xmlns:a="http://schemas.openxmlformats.org/drawingml/2006/main">
            <a:off x="647700" y="2286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ED7F0D"/>
                </a:solidFill>
              </a:defRPr>
            </a:pPr>
            <a:r>
              <a:rPr sz="1050" b="1">
                <a:solidFill>
                  <a:srgbClr val="ED7F0D"/>
                </a:solidFill>
              </a:rPr>
              <a:t>10</a:t>
            </a:r>
          </a:p>
        </p:txBody>
      </p:sp>
      <p:sp>
        <p:nvSpPr>
          <p:cNvPr id="2" name="">
            <a:extLst xmlns:a="http://schemas.openxmlformats.org/drawingml/2006/main">
              <a:ext uri="{FF2B5EF4-FFF2-40B4-BE49-F238E27FC236}">
                <a16:creationId xmlns:a16="http://schemas.microsoft.com/office/drawing/2014/main" id="{B7A01190-B4FD-46C5-B3C1-22D0DAECC5D9}"/>
              </a:ext>
            </a:extLst>
          </p:cNvPr>
          <p:cNvSpPr>
            <a:spLocks xmlns:a="http://schemas.openxmlformats.org/drawingml/2006/main" noGrp="1"/>
          </p:cNvSpPr>
          <p:nvPr/>
        </p:nvSpPr>
        <p:spPr>
          <a:xfrm xmlns:a="http://schemas.openxmlformats.org/drawingml/2006/main">
            <a:off x="1104900" y="22860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6B7580"/>
                </a:solidFill>
              </a:defRPr>
            </a:pPr>
            <a:r>
              <a:rPr sz="975" b="1">
                <a:solidFill>
                  <a:srgbClr val="6B7580"/>
                </a:solidFill>
              </a:rPr>
              <a:t>PROBLEM</a:t>
            </a:r>
          </a:p>
        </p:txBody>
      </p:sp>
      <p:sp>
        <p:nvSpPr>
          <p:cNvPr id="3" name="">
            <a:extLst xmlns:a="http://schemas.openxmlformats.org/drawingml/2006/main">
              <a:ext uri="{FF2B5EF4-FFF2-40B4-BE49-F238E27FC236}">
                <a16:creationId xmlns:a16="http://schemas.microsoft.com/office/drawing/2014/main" id="{09E23D62-4B73-4C52-B37C-7B170C6D551C}"/>
              </a:ext>
            </a:extLst>
          </p:cNvPr>
          <p:cNvSpPr>
            <a:spLocks xmlns:a="http://schemas.openxmlformats.org/drawingml/2006/main" noGrp="1"/>
          </p:cNvSpPr>
          <p:nvPr/>
        </p:nvSpPr>
        <p:spPr>
          <a:xfrm xmlns:a="http://schemas.openxmlformats.org/drawingml/2006/main">
            <a:off x="6191250" y="228600"/>
            <a:ext cx="5353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0">
                <a:solidFill>
                  <a:srgbClr val="6B7580"/>
                </a:solidFill>
              </a:defRPr>
            </a:pPr>
            <a:r>
              <a:rPr sz="825" b="0">
                <a:solidFill>
                  <a:srgbClr val="6B7580"/>
                </a:solidFill>
              </a:rPr>
              <a:t>● Problem   Task   Framework   Simulation   Hardware   Discussion</a:t>
            </a:r>
          </a:p>
        </p:txBody>
      </p:sp>
      <p:sp>
        <p:nvSpPr>
          <p:cNvPr id="4" name="">
            <a:extLst xmlns:a="http://schemas.openxmlformats.org/drawingml/2006/main">
              <a:ext uri="{FF2B5EF4-FFF2-40B4-BE49-F238E27FC236}">
                <a16:creationId xmlns:a16="http://schemas.microsoft.com/office/drawing/2014/main" id="{857A271D-94FF-452C-A99D-FC81ACB8FD1B}"/>
              </a:ext>
            </a:extLst>
          </p:cNvPr>
          <p:cNvSpPr>
            <a:spLocks xmlns:a="http://schemas.openxmlformats.org/drawingml/2006/main" noGrp="1"/>
          </p:cNvSpPr>
          <p:nvPr/>
        </p:nvSpPr>
        <p:spPr>
          <a:xfrm xmlns:a="http://schemas.openxmlformats.org/drawingml/2006/main">
            <a:off x="647700" y="533400"/>
            <a:ext cx="108394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004282"/>
                </a:solidFill>
              </a:defRPr>
            </a:pPr>
            <a:r>
              <a:rPr sz="2850" b="1">
                <a:solidFill>
                  <a:srgbClr val="004282"/>
                </a:solidFill>
              </a:rPr>
              <a:t>The paper makes three contributions</a:t>
            </a:r>
          </a:p>
        </p:txBody>
      </p:sp>
      <p:sp>
        <p:nvSpPr>
          <p:cNvPr id="5" name="">
            <a:extLst xmlns:a="http://schemas.openxmlformats.org/drawingml/2006/main">
              <a:ext uri="{FF2B5EF4-FFF2-40B4-BE49-F238E27FC236}">
                <a16:creationId xmlns:a16="http://schemas.microsoft.com/office/drawing/2014/main" id="{34BE756A-F000-45AB-9446-8225071183CE}"/>
              </a:ext>
            </a:extLst>
          </p:cNvPr>
          <p:cNvSpPr>
            <a:spLocks xmlns:a="http://schemas.openxmlformats.org/drawingml/2006/main" noGrp="1"/>
          </p:cNvSpPr>
          <p:nvPr/>
        </p:nvSpPr>
        <p:spPr>
          <a:xfrm xmlns:a="http://schemas.openxmlformats.org/drawingml/2006/main">
            <a:off x="647700" y="1257300"/>
            <a:ext cx="609600" cy="47625"/>
          </a:xfrm>
          <a:prstGeom xmlns:a="http://schemas.openxmlformats.org/drawingml/2006/main" prst="rect">
            <a:avLst/>
          </a:prstGeom>
          <a:solidFill xmlns:a="http://schemas.openxmlformats.org/drawingml/2006/main">
            <a:srgbClr val="ED7F0D"/>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099BA527-5C07-452D-ADD8-1482F2B93A60}"/>
              </a:ext>
            </a:extLst>
          </p:cNvPr>
          <p:cNvSpPr>
            <a:spLocks xmlns:a="http://schemas.openxmlformats.org/drawingml/2006/main" noGrp="1"/>
          </p:cNvSpPr>
          <p:nvPr/>
        </p:nvSpPr>
        <p:spPr>
          <a:xfrm xmlns:a="http://schemas.openxmlformats.org/drawingml/2006/main">
            <a:off x="647700" y="6486525"/>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6B7580"/>
                </a:solidFill>
              </a:defRPr>
            </a:pPr>
            <a:r>
              <a:rPr sz="825" b="0">
                <a:solidFill>
                  <a:srgbClr val="6B7580"/>
                </a:solidFill>
              </a:rPr>
              <a:t>Nan Jinyao · Paper-aligned group review</a:t>
            </a:r>
          </a:p>
        </p:txBody>
      </p:sp>
      <p:sp>
        <p:nvSpPr>
          <p:cNvPr id="7" name="">
            <a:extLst xmlns:a="http://schemas.openxmlformats.org/drawingml/2006/main">
              <a:ext uri="{FF2B5EF4-FFF2-40B4-BE49-F238E27FC236}">
                <a16:creationId xmlns:a16="http://schemas.microsoft.com/office/drawing/2014/main" id="{B422C4F4-5A93-44B4-B8B5-80690BC6BA39}"/>
              </a:ext>
            </a:extLst>
          </p:cNvPr>
          <p:cNvSpPr>
            <a:spLocks xmlns:a="http://schemas.openxmlformats.org/drawingml/2006/main" noGrp="1"/>
          </p:cNvSpPr>
          <p:nvPr/>
        </p:nvSpPr>
        <p:spPr>
          <a:xfrm xmlns:a="http://schemas.openxmlformats.org/drawingml/2006/main">
            <a:off x="4476750" y="6486525"/>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0">
                <a:solidFill>
                  <a:srgbClr val="6B7580"/>
                </a:solidFill>
              </a:defRPr>
            </a:pPr>
            <a:r>
              <a:rPr sz="825" b="0">
                <a:solidFill>
                  <a:srgbClr val="6B7580"/>
                </a:solidFill>
              </a:rPr>
              <a:t>Introduction · contributions</a:t>
            </a:r>
          </a:p>
        </p:txBody>
      </p:sp>
      <p:sp>
        <p:nvSpPr>
          <p:cNvPr id="8" name="">
            <a:extLst xmlns:a="http://schemas.openxmlformats.org/drawingml/2006/main">
              <a:ext uri="{FF2B5EF4-FFF2-40B4-BE49-F238E27FC236}">
                <a16:creationId xmlns:a16="http://schemas.microsoft.com/office/drawing/2014/main" id="{A603D02C-0A25-47A0-8E3E-DBCAB28D3726}"/>
              </a:ext>
            </a:extLst>
          </p:cNvPr>
          <p:cNvSpPr>
            <a:spLocks xmlns:a="http://schemas.openxmlformats.org/drawingml/2006/main" noGrp="1"/>
          </p:cNvSpPr>
          <p:nvPr/>
        </p:nvSpPr>
        <p:spPr>
          <a:xfrm xmlns:a="http://schemas.openxmlformats.org/drawingml/2006/main">
            <a:off x="11049000" y="648652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004282"/>
                </a:solidFill>
              </a:defRPr>
            </a:pPr>
            <a:r>
              <a:rPr sz="825" b="1">
                <a:solidFill>
                  <a:srgbClr val="004282"/>
                </a:solidFill>
              </a:rPr>
              <a:t>10</a:t>
            </a:r>
          </a:p>
        </p:txBody>
      </p:sp>
      <p:sp>
        <p:nvSpPr>
          <p:cNvPr id="9" name="">
            <a:extLst xmlns:a="http://schemas.openxmlformats.org/drawingml/2006/main">
              <a:ext uri="{FF2B5EF4-FFF2-40B4-BE49-F238E27FC236}">
                <a16:creationId xmlns:a16="http://schemas.microsoft.com/office/drawing/2014/main" id="{338B3482-18FA-4623-B41F-293950F7A18D}"/>
              </a:ext>
            </a:extLst>
          </p:cNvPr>
          <p:cNvSpPr>
            <a:spLocks xmlns:a="http://schemas.openxmlformats.org/drawingml/2006/main" noGrp="1"/>
          </p:cNvSpPr>
          <p:nvPr/>
        </p:nvSpPr>
        <p:spPr>
          <a:xfrm xmlns:a="http://schemas.openxmlformats.org/drawingml/2006/main">
            <a:off x="781050" y="1714500"/>
            <a:ext cx="133350" cy="933450"/>
          </a:xfrm>
          <a:prstGeom xmlns:a="http://schemas.openxmlformats.org/drawingml/2006/main" prst="rect">
            <a:avLst/>
          </a:prstGeom>
          <a:solidFill xmlns:a="http://schemas.openxmlformats.org/drawingml/2006/main">
            <a:srgbClr val="004282"/>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2C4C934F-9460-4CC1-9E4C-54B384FA2798}"/>
              </a:ext>
            </a:extLst>
          </p:cNvPr>
          <p:cNvSpPr>
            <a:spLocks xmlns:a="http://schemas.openxmlformats.org/drawingml/2006/main" noGrp="1"/>
          </p:cNvSpPr>
          <p:nvPr/>
        </p:nvSpPr>
        <p:spPr>
          <a:xfrm xmlns:a="http://schemas.openxmlformats.org/drawingml/2006/main">
            <a:off x="914400" y="1714500"/>
            <a:ext cx="10363200" cy="933450"/>
          </a:xfrm>
          <a:prstGeom xmlns:a="http://schemas.openxmlformats.org/drawingml/2006/main" prst="roundRect">
            <a:avLst>
              <a:gd name="adj" fmla="val 8163"/>
            </a:avLst>
          </a:prstGeom>
          <a:solidFill xmlns:a="http://schemas.openxmlformats.org/drawingml/2006/main">
            <a:srgbClr val="FFFFFF"/>
          </a:solidFill>
          <a:ln xmlns:a="http://schemas.openxmlformats.org/drawingml/2006/main" w="9525">
            <a:solidFill>
              <a:srgbClr val="D9E0E6"/>
            </a:solidFill>
            <a:prstDash val="solid"/>
          </a:ln>
        </p:spPr>
      </p:sp>
      <p:sp>
        <p:nvSpPr>
          <p:cNvPr id="11" name="">
            <a:extLst xmlns:a="http://schemas.openxmlformats.org/drawingml/2006/main">
              <a:ext uri="{FF2B5EF4-FFF2-40B4-BE49-F238E27FC236}">
                <a16:creationId xmlns:a16="http://schemas.microsoft.com/office/drawing/2014/main" id="{EE4717F5-D2A7-428E-BC13-9C50F18F5ADE}"/>
              </a:ext>
            </a:extLst>
          </p:cNvPr>
          <p:cNvSpPr>
            <a:spLocks xmlns:a="http://schemas.openxmlformats.org/drawingml/2006/main" noGrp="1"/>
          </p:cNvSpPr>
          <p:nvPr/>
        </p:nvSpPr>
        <p:spPr>
          <a:xfrm xmlns:a="http://schemas.openxmlformats.org/drawingml/2006/main">
            <a:off x="1200150" y="1847850"/>
            <a:ext cx="97536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a:solidFill>
                  <a:srgbClr val="152538"/>
                </a:solidFill>
              </a:defRPr>
            </a:pPr>
            <a:r>
              <a:rPr sz="1650" b="1">
                <a:solidFill>
                  <a:srgbClr val="152538"/>
                </a:solidFill>
              </a:rPr>
              <a:t>1  One low-force conical touch produces direction and contact-support evidence.</a:t>
            </a:r>
          </a:p>
        </p:txBody>
      </p:sp>
      <p:sp>
        <p:nvSpPr>
          <p:cNvPr id="12" name="">
            <a:extLst xmlns:a="http://schemas.openxmlformats.org/drawingml/2006/main">
              <a:ext uri="{FF2B5EF4-FFF2-40B4-BE49-F238E27FC236}">
                <a16:creationId xmlns:a16="http://schemas.microsoft.com/office/drawing/2014/main" id="{4865E441-2280-4C52-8585-3DEBFFD92C6A}"/>
              </a:ext>
            </a:extLst>
          </p:cNvPr>
          <p:cNvSpPr>
            <a:spLocks xmlns:a="http://schemas.openxmlformats.org/drawingml/2006/main" noGrp="1"/>
          </p:cNvSpPr>
          <p:nvPr/>
        </p:nvSpPr>
        <p:spPr>
          <a:xfrm xmlns:a="http://schemas.openxmlformats.org/drawingml/2006/main">
            <a:off x="781050" y="2971800"/>
            <a:ext cx="133350" cy="933450"/>
          </a:xfrm>
          <a:prstGeom xmlns:a="http://schemas.openxmlformats.org/drawingml/2006/main" prst="rect">
            <a:avLst/>
          </a:prstGeom>
          <a:solidFill xmlns:a="http://schemas.openxmlformats.org/drawingml/2006/main">
            <a:srgbClr val="009E73"/>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9D73C33F-8CB1-418A-B9EF-1A16EF8FFDD6}"/>
              </a:ext>
            </a:extLst>
          </p:cNvPr>
          <p:cNvSpPr>
            <a:spLocks xmlns:a="http://schemas.openxmlformats.org/drawingml/2006/main" noGrp="1"/>
          </p:cNvSpPr>
          <p:nvPr/>
        </p:nvSpPr>
        <p:spPr>
          <a:xfrm xmlns:a="http://schemas.openxmlformats.org/drawingml/2006/main">
            <a:off x="914400" y="2971800"/>
            <a:ext cx="10363200" cy="933450"/>
          </a:xfrm>
          <a:prstGeom xmlns:a="http://schemas.openxmlformats.org/drawingml/2006/main" prst="roundRect">
            <a:avLst>
              <a:gd name="adj" fmla="val 8163"/>
            </a:avLst>
          </a:prstGeom>
          <a:solidFill xmlns:a="http://schemas.openxmlformats.org/drawingml/2006/main">
            <a:srgbClr val="FFFFFF"/>
          </a:solidFill>
          <a:ln xmlns:a="http://schemas.openxmlformats.org/drawingml/2006/main" w="9525">
            <a:solidFill>
              <a:srgbClr val="D9E0E6"/>
            </a:solidFill>
            <a:prstDash val="solid"/>
          </a:ln>
        </p:spPr>
      </p:sp>
      <p:sp>
        <p:nvSpPr>
          <p:cNvPr id="14" name="">
            <a:extLst xmlns:a="http://schemas.openxmlformats.org/drawingml/2006/main">
              <a:ext uri="{FF2B5EF4-FFF2-40B4-BE49-F238E27FC236}">
                <a16:creationId xmlns:a16="http://schemas.microsoft.com/office/drawing/2014/main" id="{F85D4220-D650-472D-8B48-22B557995E4D}"/>
              </a:ext>
            </a:extLst>
          </p:cNvPr>
          <p:cNvSpPr>
            <a:spLocks xmlns:a="http://schemas.openxmlformats.org/drawingml/2006/main" noGrp="1"/>
          </p:cNvSpPr>
          <p:nvPr/>
        </p:nvSpPr>
        <p:spPr>
          <a:xfrm xmlns:a="http://schemas.openxmlformats.org/drawingml/2006/main">
            <a:off x="1200150" y="3105150"/>
            <a:ext cx="97536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52538"/>
                </a:solidFill>
              </a:defRPr>
            </a:pPr>
            <a:r>
              <a:rPr sz="1650" b="0">
                <a:solidFill>
                  <a:srgbClr val="152538"/>
                </a:solidFill>
              </a:rPr>
              <a:t>2  That evidence becomes a capped shortcut followed by finite residual search.</a:t>
            </a:r>
          </a:p>
        </p:txBody>
      </p:sp>
      <p:sp>
        <p:nvSpPr>
          <p:cNvPr id="15" name="">
            <a:extLst xmlns:a="http://schemas.openxmlformats.org/drawingml/2006/main">
              <a:ext uri="{FF2B5EF4-FFF2-40B4-BE49-F238E27FC236}">
                <a16:creationId xmlns:a16="http://schemas.microsoft.com/office/drawing/2014/main" id="{16EFEEE8-E1C6-4E60-9995-81FFFF34C023}"/>
              </a:ext>
            </a:extLst>
          </p:cNvPr>
          <p:cNvSpPr>
            <a:spLocks xmlns:a="http://schemas.openxmlformats.org/drawingml/2006/main" noGrp="1"/>
          </p:cNvSpPr>
          <p:nvPr/>
        </p:nvSpPr>
        <p:spPr>
          <a:xfrm xmlns:a="http://schemas.openxmlformats.org/drawingml/2006/main">
            <a:off x="781050" y="4229100"/>
            <a:ext cx="133350" cy="933450"/>
          </a:xfrm>
          <a:prstGeom xmlns:a="http://schemas.openxmlformats.org/drawingml/2006/main" prst="rect">
            <a:avLst/>
          </a:prstGeom>
          <a:solidFill xmlns:a="http://schemas.openxmlformats.org/drawingml/2006/main">
            <a:srgbClr val="C74A4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E96AC196-C63A-4C3B-9FBE-F27E3B3529EB}"/>
              </a:ext>
            </a:extLst>
          </p:cNvPr>
          <p:cNvSpPr>
            <a:spLocks xmlns:a="http://schemas.openxmlformats.org/drawingml/2006/main" noGrp="1"/>
          </p:cNvSpPr>
          <p:nvPr/>
        </p:nvSpPr>
        <p:spPr>
          <a:xfrm xmlns:a="http://schemas.openxmlformats.org/drawingml/2006/main">
            <a:off x="914400" y="4229100"/>
            <a:ext cx="10363200" cy="933450"/>
          </a:xfrm>
          <a:prstGeom xmlns:a="http://schemas.openxmlformats.org/drawingml/2006/main" prst="roundRect">
            <a:avLst>
              <a:gd name="adj" fmla="val 8163"/>
            </a:avLst>
          </a:prstGeom>
          <a:solidFill xmlns:a="http://schemas.openxmlformats.org/drawingml/2006/main">
            <a:srgbClr val="FFFFFF"/>
          </a:solidFill>
          <a:ln xmlns:a="http://schemas.openxmlformats.org/drawingml/2006/main" w="9525">
            <a:solidFill>
              <a:srgbClr val="D9E0E6"/>
            </a:solidFill>
            <a:prstDash val="solid"/>
          </a:ln>
        </p:spPr>
      </p:sp>
      <p:sp>
        <p:nvSpPr>
          <p:cNvPr id="17" name="">
            <a:extLst xmlns:a="http://schemas.openxmlformats.org/drawingml/2006/main">
              <a:ext uri="{FF2B5EF4-FFF2-40B4-BE49-F238E27FC236}">
                <a16:creationId xmlns:a16="http://schemas.microsoft.com/office/drawing/2014/main" id="{9BCC2782-61C6-4752-8456-40E5B8D9BFCB}"/>
              </a:ext>
            </a:extLst>
          </p:cNvPr>
          <p:cNvSpPr>
            <a:spLocks xmlns:a="http://schemas.openxmlformats.org/drawingml/2006/main" noGrp="1"/>
          </p:cNvSpPr>
          <p:nvPr/>
        </p:nvSpPr>
        <p:spPr>
          <a:xfrm xmlns:a="http://schemas.openxmlformats.org/drawingml/2006/main">
            <a:off x="1200150" y="4362450"/>
            <a:ext cx="97536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52538"/>
                </a:solidFill>
              </a:defRPr>
            </a:pPr>
            <a:r>
              <a:rPr sz="1650" b="0">
                <a:solidFill>
                  <a:srgbClr val="152538"/>
                </a:solidFill>
              </a:rPr>
              <a:t>3  All routes share the same compliant capture, recovery and terminal logic.</a:t>
            </a:r>
          </a:p>
        </p:txBody>
      </p:sp>
      <p:sp>
        <p:nvSpPr>
          <p:cNvPr id="18" name="">
            <a:extLst xmlns:a="http://schemas.openxmlformats.org/drawingml/2006/main">
              <a:ext uri="{FF2B5EF4-FFF2-40B4-BE49-F238E27FC236}">
                <a16:creationId xmlns:a16="http://schemas.microsoft.com/office/drawing/2014/main" id="{20D1133D-41D9-451B-ADC7-904D5711DB58}"/>
              </a:ext>
            </a:extLst>
          </p:cNvPr>
          <p:cNvSpPr>
            <a:spLocks xmlns:a="http://schemas.openxmlformats.org/drawingml/2006/main" noGrp="1"/>
          </p:cNvSpPr>
          <p:nvPr/>
        </p:nvSpPr>
        <p:spPr>
          <a:xfrm xmlns:a="http://schemas.openxmlformats.org/drawingml/2006/main">
            <a:off x="647700" y="5943600"/>
            <a:ext cx="10839450" cy="400050"/>
          </a:xfrm>
          <a:prstGeom xmlns:a="http://schemas.openxmlformats.org/drawingml/2006/main" prst="rect">
            <a:avLst/>
          </a:prstGeom>
          <a:solidFill xmlns:a="http://schemas.openxmlformats.org/drawingml/2006/main">
            <a:srgbClr val="FFF0E2"/>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D80A657F-09D7-4D58-9FFB-0AB8ECA25252}"/>
              </a:ext>
            </a:extLst>
          </p:cNvPr>
          <p:cNvSpPr>
            <a:spLocks xmlns:a="http://schemas.openxmlformats.org/drawingml/2006/main" noGrp="1"/>
          </p:cNvSpPr>
          <p:nvPr/>
        </p:nvSpPr>
        <p:spPr>
          <a:xfrm xmlns:a="http://schemas.openxmlformats.org/drawingml/2006/main">
            <a:off x="647700" y="5943600"/>
            <a:ext cx="57150" cy="400050"/>
          </a:xfrm>
          <a:prstGeom xmlns:a="http://schemas.openxmlformats.org/drawingml/2006/main" prst="rect">
            <a:avLst/>
          </a:prstGeom>
          <a:solidFill xmlns:a="http://schemas.openxmlformats.org/drawingml/2006/main">
            <a:srgbClr val="ED7F0D"/>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4AE9DBD6-0586-4DA9-B62A-F8CDBAE1D10D}"/>
              </a:ext>
            </a:extLst>
          </p:cNvPr>
          <p:cNvSpPr>
            <a:spLocks xmlns:a="http://schemas.openxmlformats.org/drawingml/2006/main" noGrp="1"/>
          </p:cNvSpPr>
          <p:nvPr/>
        </p:nvSpPr>
        <p:spPr>
          <a:xfrm xmlns:a="http://schemas.openxmlformats.org/drawingml/2006/main">
            <a:off x="838200" y="5981700"/>
            <a:ext cx="10458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152538"/>
                </a:solidFill>
              </a:defRPr>
            </a:pPr>
            <a:r>
              <a:rPr sz="1275" b="1">
                <a:solidFill>
                  <a:srgbClr val="152538"/>
                </a:solidFill>
              </a:rPr>
              <a:t>The contribution is the split between learned guidance and guarded execution.</a:t>
            </a:r>
          </a:p>
        </p:txBody>
      </p:sp>
    </p:spTree>
    <p:extLst>
      <p:ext uri="{BB962C8B-B14F-4D97-AF65-F5344CB8AC3E}">
        <p14:creationId xmlns:p14="http://schemas.microsoft.com/office/powerpoint/2010/main" val="607103973"/>
      </p:ext>
    </p:extLst>
  </p:cSld>
</p:sld>
</file>

<file path=ppt/slides/slide11.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5DE722F-35FC-4277-8B1D-BF1BA20E0ACA}"/>
              </a:ext>
            </a:extLst>
          </p:cNvPr>
          <p:cNvSpPr>
            <a:spLocks xmlns:a="http://schemas.openxmlformats.org/drawingml/2006/main" noGrp="1"/>
          </p:cNvSpPr>
          <p:nvPr/>
        </p:nvSpPr>
        <p:spPr>
          <a:xfrm xmlns:a="http://schemas.openxmlformats.org/drawingml/2006/main">
            <a:off x="647700" y="2286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ED7F0D"/>
                </a:solidFill>
              </a:defRPr>
            </a:pPr>
            <a:r>
              <a:rPr sz="1050" b="1">
                <a:solidFill>
                  <a:srgbClr val="ED7F0D"/>
                </a:solidFill>
              </a:rPr>
              <a:t>11</a:t>
            </a:r>
          </a:p>
        </p:txBody>
      </p:sp>
      <p:sp>
        <p:nvSpPr>
          <p:cNvPr id="2" name="">
            <a:extLst xmlns:a="http://schemas.openxmlformats.org/drawingml/2006/main">
              <a:ext uri="{FF2B5EF4-FFF2-40B4-BE49-F238E27FC236}">
                <a16:creationId xmlns:a16="http://schemas.microsoft.com/office/drawing/2014/main" id="{DEAD6835-4DC8-4EE7-8BEC-C5CAB7E237F1}"/>
              </a:ext>
            </a:extLst>
          </p:cNvPr>
          <p:cNvSpPr>
            <a:spLocks xmlns:a="http://schemas.openxmlformats.org/drawingml/2006/main" noGrp="1"/>
          </p:cNvSpPr>
          <p:nvPr/>
        </p:nvSpPr>
        <p:spPr>
          <a:xfrm xmlns:a="http://schemas.openxmlformats.org/drawingml/2006/main">
            <a:off x="1104900" y="22860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6B7580"/>
                </a:solidFill>
              </a:defRPr>
            </a:pPr>
            <a:r>
              <a:rPr sz="975" b="1">
                <a:solidFill>
                  <a:srgbClr val="6B7580"/>
                </a:solidFill>
              </a:rPr>
              <a:t>TASK</a:t>
            </a:r>
          </a:p>
        </p:txBody>
      </p:sp>
      <p:sp>
        <p:nvSpPr>
          <p:cNvPr id="3" name="">
            <a:extLst xmlns:a="http://schemas.openxmlformats.org/drawingml/2006/main">
              <a:ext uri="{FF2B5EF4-FFF2-40B4-BE49-F238E27FC236}">
                <a16:creationId xmlns:a16="http://schemas.microsoft.com/office/drawing/2014/main" id="{54DB1E97-27B2-452C-8F60-2CBF63CDEF56}"/>
              </a:ext>
            </a:extLst>
          </p:cNvPr>
          <p:cNvSpPr>
            <a:spLocks xmlns:a="http://schemas.openxmlformats.org/drawingml/2006/main" noGrp="1"/>
          </p:cNvSpPr>
          <p:nvPr/>
        </p:nvSpPr>
        <p:spPr>
          <a:xfrm xmlns:a="http://schemas.openxmlformats.org/drawingml/2006/main">
            <a:off x="6191250" y="228600"/>
            <a:ext cx="5353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0">
                <a:solidFill>
                  <a:srgbClr val="6B7580"/>
                </a:solidFill>
              </a:defRPr>
            </a:pPr>
            <a:r>
              <a:rPr sz="825" b="0">
                <a:solidFill>
                  <a:srgbClr val="6B7580"/>
                </a:solidFill>
              </a:rPr>
              <a:t>Problem   ● Task   Framework   Simulation   Hardware   Discussion</a:t>
            </a:r>
          </a:p>
        </p:txBody>
      </p:sp>
      <p:sp>
        <p:nvSpPr>
          <p:cNvPr id="4" name="">
            <a:extLst xmlns:a="http://schemas.openxmlformats.org/drawingml/2006/main">
              <a:ext uri="{FF2B5EF4-FFF2-40B4-BE49-F238E27FC236}">
                <a16:creationId xmlns:a16="http://schemas.microsoft.com/office/drawing/2014/main" id="{AD0964D5-E03B-400F-9CE3-6C6CB26B0C9C}"/>
              </a:ext>
            </a:extLst>
          </p:cNvPr>
          <p:cNvSpPr>
            <a:spLocks xmlns:a="http://schemas.openxmlformats.org/drawingml/2006/main" noGrp="1"/>
          </p:cNvSpPr>
          <p:nvPr/>
        </p:nvSpPr>
        <p:spPr>
          <a:xfrm xmlns:a="http://schemas.openxmlformats.org/drawingml/2006/main">
            <a:off x="647700" y="533400"/>
            <a:ext cx="108394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700" b="1">
                <a:solidFill>
                  <a:srgbClr val="004282"/>
                </a:solidFill>
              </a:defRPr>
            </a:pPr>
            <a:r>
              <a:rPr sz="2700" b="1">
                <a:solidFill>
                  <a:srgbClr val="004282"/>
                </a:solidFill>
              </a:rPr>
              <a:t>The task runs from stable top contact to verified engagement</a:t>
            </a:r>
          </a:p>
        </p:txBody>
      </p:sp>
      <p:sp>
        <p:nvSpPr>
          <p:cNvPr id="5" name="">
            <a:extLst xmlns:a="http://schemas.openxmlformats.org/drawingml/2006/main">
              <a:ext uri="{FF2B5EF4-FFF2-40B4-BE49-F238E27FC236}">
                <a16:creationId xmlns:a16="http://schemas.microsoft.com/office/drawing/2014/main" id="{D7159AB3-DCED-44AC-BDDE-7BF90E8B8B06}"/>
              </a:ext>
            </a:extLst>
          </p:cNvPr>
          <p:cNvSpPr>
            <a:spLocks xmlns:a="http://schemas.openxmlformats.org/drawingml/2006/main" noGrp="1"/>
          </p:cNvSpPr>
          <p:nvPr/>
        </p:nvSpPr>
        <p:spPr>
          <a:xfrm xmlns:a="http://schemas.openxmlformats.org/drawingml/2006/main">
            <a:off x="647700" y="1257300"/>
            <a:ext cx="609600" cy="47625"/>
          </a:xfrm>
          <a:prstGeom xmlns:a="http://schemas.openxmlformats.org/drawingml/2006/main" prst="rect">
            <a:avLst/>
          </a:prstGeom>
          <a:solidFill xmlns:a="http://schemas.openxmlformats.org/drawingml/2006/main">
            <a:srgbClr val="ED7F0D"/>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99AB1531-617B-4C51-B3D2-65DEFECA3970}"/>
              </a:ext>
            </a:extLst>
          </p:cNvPr>
          <p:cNvSpPr>
            <a:spLocks xmlns:a="http://schemas.openxmlformats.org/drawingml/2006/main" noGrp="1"/>
          </p:cNvSpPr>
          <p:nvPr/>
        </p:nvSpPr>
        <p:spPr>
          <a:xfrm xmlns:a="http://schemas.openxmlformats.org/drawingml/2006/main">
            <a:off x="647700" y="6486525"/>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6B7580"/>
                </a:solidFill>
              </a:defRPr>
            </a:pPr>
            <a:r>
              <a:rPr sz="825" b="0">
                <a:solidFill>
                  <a:srgbClr val="6B7580"/>
                </a:solidFill>
              </a:rPr>
              <a:t>Nan Jinyao · Paper-aligned group review</a:t>
            </a:r>
          </a:p>
        </p:txBody>
      </p:sp>
      <p:sp>
        <p:nvSpPr>
          <p:cNvPr id="7" name="">
            <a:extLst xmlns:a="http://schemas.openxmlformats.org/drawingml/2006/main">
              <a:ext uri="{FF2B5EF4-FFF2-40B4-BE49-F238E27FC236}">
                <a16:creationId xmlns:a16="http://schemas.microsoft.com/office/drawing/2014/main" id="{8E91D3C4-C930-4D52-8176-5137D4BECA83}"/>
              </a:ext>
            </a:extLst>
          </p:cNvPr>
          <p:cNvSpPr>
            <a:spLocks xmlns:a="http://schemas.openxmlformats.org/drawingml/2006/main" noGrp="1"/>
          </p:cNvSpPr>
          <p:nvPr/>
        </p:nvSpPr>
        <p:spPr>
          <a:xfrm xmlns:a="http://schemas.openxmlformats.org/drawingml/2006/main">
            <a:off x="4476750" y="6486525"/>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0">
                <a:solidFill>
                  <a:srgbClr val="6B7580"/>
                </a:solidFill>
              </a:defRPr>
            </a:pPr>
            <a:r>
              <a:rPr sz="825" b="0">
                <a:solidFill>
                  <a:srgbClr val="6B7580"/>
                </a:solidFill>
              </a:rPr>
              <a:t>Sec. II-A · Fig. 1</a:t>
            </a:r>
          </a:p>
        </p:txBody>
      </p:sp>
      <p:sp>
        <p:nvSpPr>
          <p:cNvPr id="8" name="">
            <a:extLst xmlns:a="http://schemas.openxmlformats.org/drawingml/2006/main">
              <a:ext uri="{FF2B5EF4-FFF2-40B4-BE49-F238E27FC236}">
                <a16:creationId xmlns:a16="http://schemas.microsoft.com/office/drawing/2014/main" id="{EF1EDAEB-01C6-4400-A1D0-76635B2F2548}"/>
              </a:ext>
            </a:extLst>
          </p:cNvPr>
          <p:cNvSpPr>
            <a:spLocks xmlns:a="http://schemas.openxmlformats.org/drawingml/2006/main" noGrp="1"/>
          </p:cNvSpPr>
          <p:nvPr/>
        </p:nvSpPr>
        <p:spPr>
          <a:xfrm xmlns:a="http://schemas.openxmlformats.org/drawingml/2006/main">
            <a:off x="11049000" y="648652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004282"/>
                </a:solidFill>
              </a:defRPr>
            </a:pPr>
            <a:r>
              <a:rPr sz="825" b="1">
                <a:solidFill>
                  <a:srgbClr val="004282"/>
                </a:solidFill>
              </a:rPr>
              <a:t>11</a:t>
            </a:r>
          </a:p>
        </p:txBody>
      </p:sp>
      <p:sp>
        <p:nvSpPr>
          <p:cNvPr id="9" name="">
            <a:extLst xmlns:a="http://schemas.openxmlformats.org/drawingml/2006/main">
              <a:ext uri="{FF2B5EF4-FFF2-40B4-BE49-F238E27FC236}">
                <a16:creationId xmlns:a16="http://schemas.microsoft.com/office/drawing/2014/main" id="{969966C5-3646-4D26-A037-6B88A6ADC58C}"/>
              </a:ext>
            </a:extLst>
          </p:cNvPr>
          <p:cNvSpPr>
            <a:spLocks xmlns:a="http://schemas.openxmlformats.org/drawingml/2006/main" noGrp="1"/>
          </p:cNvSpPr>
          <p:nvPr/>
        </p:nvSpPr>
        <p:spPr>
          <a:xfrm xmlns:a="http://schemas.openxmlformats.org/drawingml/2006/main">
            <a:off x="781050" y="1866900"/>
            <a:ext cx="76200" cy="76200"/>
          </a:xfrm>
          <a:prstGeom xmlns:a="http://schemas.openxmlformats.org/drawingml/2006/main" prst="ellipse">
            <a:avLst/>
          </a:prstGeom>
          <a:solidFill xmlns:a="http://schemas.openxmlformats.org/drawingml/2006/main">
            <a:srgbClr val="ED7F0D"/>
          </a:solidFill>
          <a:ln xmlns:a="http://schemas.openxmlformats.org/drawingml/2006/main" w="9525">
            <a:solidFill>
              <a:srgbClr val="ED7F0D"/>
            </a:solidFill>
            <a:prstDash val="solid"/>
          </a:ln>
        </p:spPr>
      </p:sp>
      <p:sp>
        <p:nvSpPr>
          <p:cNvPr id="10" name="">
            <a:extLst xmlns:a="http://schemas.openxmlformats.org/drawingml/2006/main">
              <a:ext uri="{FF2B5EF4-FFF2-40B4-BE49-F238E27FC236}">
                <a16:creationId xmlns:a16="http://schemas.microsoft.com/office/drawing/2014/main" id="{0E3D11A1-E7C9-4896-ABA0-84F3262AF602}"/>
              </a:ext>
            </a:extLst>
          </p:cNvPr>
          <p:cNvSpPr>
            <a:spLocks xmlns:a="http://schemas.openxmlformats.org/drawingml/2006/main" noGrp="1"/>
          </p:cNvSpPr>
          <p:nvPr/>
        </p:nvSpPr>
        <p:spPr>
          <a:xfrm xmlns:a="http://schemas.openxmlformats.org/drawingml/2006/main">
            <a:off x="990600" y="1771650"/>
            <a:ext cx="35052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152538"/>
                </a:solidFill>
              </a:defRPr>
            </a:pPr>
            <a:r>
              <a:rPr sz="1500" b="0">
                <a:solidFill>
                  <a:srgbClr val="152538"/>
                </a:solidFill>
              </a:rPr>
              <a:t>x₀ is the first stable top contact in fixture frame {p}.</a:t>
            </a:r>
          </a:p>
        </p:txBody>
      </p:sp>
      <p:sp>
        <p:nvSpPr>
          <p:cNvPr id="11" name="">
            <a:extLst xmlns:a="http://schemas.openxmlformats.org/drawingml/2006/main">
              <a:ext uri="{FF2B5EF4-FFF2-40B4-BE49-F238E27FC236}">
                <a16:creationId xmlns:a16="http://schemas.microsoft.com/office/drawing/2014/main" id="{C8EF3920-8BF8-4A8C-95FF-C27384C1039B}"/>
              </a:ext>
            </a:extLst>
          </p:cNvPr>
          <p:cNvSpPr>
            <a:spLocks xmlns:a="http://schemas.openxmlformats.org/drawingml/2006/main" noGrp="1"/>
          </p:cNvSpPr>
          <p:nvPr/>
        </p:nvSpPr>
        <p:spPr>
          <a:xfrm xmlns:a="http://schemas.openxmlformats.org/drawingml/2006/main">
            <a:off x="781050" y="2876550"/>
            <a:ext cx="76200" cy="76200"/>
          </a:xfrm>
          <a:prstGeom xmlns:a="http://schemas.openxmlformats.org/drawingml/2006/main" prst="ellipse">
            <a:avLst/>
          </a:prstGeom>
          <a:solidFill xmlns:a="http://schemas.openxmlformats.org/drawingml/2006/main">
            <a:srgbClr val="ED7F0D"/>
          </a:solidFill>
          <a:ln xmlns:a="http://schemas.openxmlformats.org/drawingml/2006/main" w="9525">
            <a:solidFill>
              <a:srgbClr val="ED7F0D"/>
            </a:solidFill>
            <a:prstDash val="solid"/>
          </a:ln>
        </p:spPr>
      </p:sp>
      <p:sp>
        <p:nvSpPr>
          <p:cNvPr id="12" name="">
            <a:extLst xmlns:a="http://schemas.openxmlformats.org/drawingml/2006/main">
              <a:ext uri="{FF2B5EF4-FFF2-40B4-BE49-F238E27FC236}">
                <a16:creationId xmlns:a16="http://schemas.microsoft.com/office/drawing/2014/main" id="{F49928B8-0475-4601-89C6-B69E3538BA52}"/>
              </a:ext>
            </a:extLst>
          </p:cNvPr>
          <p:cNvSpPr>
            <a:spLocks xmlns:a="http://schemas.openxmlformats.org/drawingml/2006/main" noGrp="1"/>
          </p:cNvSpPr>
          <p:nvPr/>
        </p:nvSpPr>
        <p:spPr>
          <a:xfrm xmlns:a="http://schemas.openxmlformats.org/drawingml/2006/main">
            <a:off x="990600" y="2781300"/>
            <a:ext cx="35052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152538"/>
                </a:solidFill>
              </a:defRPr>
            </a:pPr>
            <a:r>
              <a:rPr sz="1500" b="0">
                <a:solidFill>
                  <a:srgbClr val="152538"/>
                </a:solidFill>
              </a:rPr>
              <a:t>C is the unknown socket center; engagement depth grows along −zₚ.</a:t>
            </a:r>
          </a:p>
        </p:txBody>
      </p:sp>
      <p:sp>
        <p:nvSpPr>
          <p:cNvPr id="13" name="">
            <a:extLst xmlns:a="http://schemas.openxmlformats.org/drawingml/2006/main">
              <a:ext uri="{FF2B5EF4-FFF2-40B4-BE49-F238E27FC236}">
                <a16:creationId xmlns:a16="http://schemas.microsoft.com/office/drawing/2014/main" id="{F5CB00CE-BFB2-4987-9DE4-77A6A76F5DBD}"/>
              </a:ext>
            </a:extLst>
          </p:cNvPr>
          <p:cNvSpPr>
            <a:spLocks xmlns:a="http://schemas.openxmlformats.org/drawingml/2006/main" noGrp="1"/>
          </p:cNvSpPr>
          <p:nvPr/>
        </p:nvSpPr>
        <p:spPr>
          <a:xfrm xmlns:a="http://schemas.openxmlformats.org/drawingml/2006/main">
            <a:off x="781050" y="3886200"/>
            <a:ext cx="76200" cy="76200"/>
          </a:xfrm>
          <a:prstGeom xmlns:a="http://schemas.openxmlformats.org/drawingml/2006/main" prst="ellipse">
            <a:avLst/>
          </a:prstGeom>
          <a:solidFill xmlns:a="http://schemas.openxmlformats.org/drawingml/2006/main">
            <a:srgbClr val="ED7F0D"/>
          </a:solidFill>
          <a:ln xmlns:a="http://schemas.openxmlformats.org/drawingml/2006/main" w="9525">
            <a:solidFill>
              <a:srgbClr val="ED7F0D"/>
            </a:solidFill>
            <a:prstDash val="solid"/>
          </a:ln>
        </p:spPr>
      </p:sp>
      <p:sp>
        <p:nvSpPr>
          <p:cNvPr id="14" name="">
            <a:extLst xmlns:a="http://schemas.openxmlformats.org/drawingml/2006/main">
              <a:ext uri="{FF2B5EF4-FFF2-40B4-BE49-F238E27FC236}">
                <a16:creationId xmlns:a16="http://schemas.microsoft.com/office/drawing/2014/main" id="{0ADDC431-6841-4A1C-9AD1-D494AB22AF6C}"/>
              </a:ext>
            </a:extLst>
          </p:cNvPr>
          <p:cNvSpPr>
            <a:spLocks xmlns:a="http://schemas.openxmlformats.org/drawingml/2006/main" noGrp="1"/>
          </p:cNvSpPr>
          <p:nvPr/>
        </p:nvSpPr>
        <p:spPr>
          <a:xfrm xmlns:a="http://schemas.openxmlformats.org/drawingml/2006/main">
            <a:off x="990600" y="3790950"/>
            <a:ext cx="35052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152538"/>
                </a:solidFill>
              </a:defRPr>
            </a:pPr>
            <a:r>
              <a:rPr sz="1500" b="0">
                <a:solidFill>
                  <a:srgbClr val="152538"/>
                </a:solidFill>
              </a:rPr>
              <a:t>The demonstrated endpoint is geometric engagement, not screw turning.</a:t>
            </a:r>
          </a:p>
        </p:txBody>
      </p:sp>
      <p:sp>
        <p:nvSpPr>
          <p:cNvPr id="15" name="">
            <a:extLst xmlns:a="http://schemas.openxmlformats.org/drawingml/2006/main">
              <a:ext uri="{FF2B5EF4-FFF2-40B4-BE49-F238E27FC236}">
                <a16:creationId xmlns:a16="http://schemas.microsoft.com/office/drawing/2014/main" id="{D1A42939-9771-4B5D-8285-E1F3038BA5D3}"/>
              </a:ext>
            </a:extLst>
          </p:cNvPr>
          <p:cNvSpPr>
            <a:spLocks xmlns:a="http://schemas.openxmlformats.org/drawingml/2006/main" noGrp="1"/>
          </p:cNvSpPr>
          <p:nvPr/>
        </p:nvSpPr>
        <p:spPr>
          <a:xfrm xmlns:a="http://schemas.openxmlformats.org/drawingml/2006/main">
            <a:off x="4686300" y="1485900"/>
            <a:ext cx="6705600" cy="4248150"/>
          </a:xfrm>
          <a:prstGeom xmlns:a="http://schemas.openxmlformats.org/drawingml/2006/main" prst="roundRect">
            <a:avLst>
              <a:gd name="adj" fmla="val 1794"/>
            </a:avLst>
          </a:prstGeom>
          <a:solidFill xmlns:a="http://schemas.openxmlformats.org/drawingml/2006/main">
            <a:srgbClr val="FFFFFF"/>
          </a:solidFill>
          <a:ln xmlns:a="http://schemas.openxmlformats.org/drawingml/2006/main" w="9525">
            <a:solidFill>
              <a:srgbClr val="D9E0E6"/>
            </a:solidFill>
            <a:prstDash val="solid"/>
          </a:ln>
        </p:spPr>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110d0f1c61454ef4"/>
          <a:stretch xmlns:a="http://schemas.openxmlformats.org/drawingml/2006/main"/>
        </p:blipFill>
        <p:spPr>
          <a:xfrm xmlns:a="http://schemas.openxmlformats.org/drawingml/2006/main">
            <a:off x="4967288" y="1562100"/>
            <a:ext cx="6143625" cy="4095750"/>
          </a:xfrm>
          <a:prstGeom xmlns:a="http://schemas.openxmlformats.org/drawingml/2006/main" prst="roundRect">
            <a:avLst>
              <a:gd name="adj" fmla="val 1860"/>
            </a:avLst>
          </a:prstGeom>
        </p:spPr>
      </p:pic>
      <p:sp>
        <p:nvSpPr>
          <p:cNvPr id="17" name="">
            <a:extLst xmlns:a="http://schemas.openxmlformats.org/drawingml/2006/main">
              <a:ext uri="{FF2B5EF4-FFF2-40B4-BE49-F238E27FC236}">
                <a16:creationId xmlns:a16="http://schemas.microsoft.com/office/drawing/2014/main" id="{35E8E925-0EEC-4462-8BD3-3644D3572C16}"/>
              </a:ext>
            </a:extLst>
          </p:cNvPr>
          <p:cNvSpPr>
            <a:spLocks xmlns:a="http://schemas.openxmlformats.org/drawingml/2006/main" noGrp="1"/>
          </p:cNvSpPr>
          <p:nvPr/>
        </p:nvSpPr>
        <p:spPr>
          <a:xfrm xmlns:a="http://schemas.openxmlformats.org/drawingml/2006/main">
            <a:off x="647700" y="5943600"/>
            <a:ext cx="10839450" cy="400050"/>
          </a:xfrm>
          <a:prstGeom xmlns:a="http://schemas.openxmlformats.org/drawingml/2006/main" prst="rect">
            <a:avLst/>
          </a:prstGeom>
          <a:solidFill xmlns:a="http://schemas.openxmlformats.org/drawingml/2006/main">
            <a:srgbClr val="FFF0E2"/>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01F3BA65-D6B7-43B9-A2E1-2E02B8A2AA4E}"/>
              </a:ext>
            </a:extLst>
          </p:cNvPr>
          <p:cNvSpPr>
            <a:spLocks xmlns:a="http://schemas.openxmlformats.org/drawingml/2006/main" noGrp="1"/>
          </p:cNvSpPr>
          <p:nvPr/>
        </p:nvSpPr>
        <p:spPr>
          <a:xfrm xmlns:a="http://schemas.openxmlformats.org/drawingml/2006/main">
            <a:off x="647700" y="5943600"/>
            <a:ext cx="57150" cy="400050"/>
          </a:xfrm>
          <a:prstGeom xmlns:a="http://schemas.openxmlformats.org/drawingml/2006/main" prst="rect">
            <a:avLst/>
          </a:prstGeom>
          <a:solidFill xmlns:a="http://schemas.openxmlformats.org/drawingml/2006/main">
            <a:srgbClr val="ED7F0D"/>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D860E8D9-2FDD-428B-B7F5-69ED223397AA}"/>
              </a:ext>
            </a:extLst>
          </p:cNvPr>
          <p:cNvSpPr>
            <a:spLocks xmlns:a="http://schemas.openxmlformats.org/drawingml/2006/main" noGrp="1"/>
          </p:cNvSpPr>
          <p:nvPr/>
        </p:nvSpPr>
        <p:spPr>
          <a:xfrm xmlns:a="http://schemas.openxmlformats.org/drawingml/2006/main">
            <a:off x="838200" y="5981700"/>
            <a:ext cx="10458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152538"/>
                </a:solidFill>
              </a:defRPr>
            </a:pPr>
            <a:r>
              <a:rPr sz="1275" b="1">
                <a:solidFill>
                  <a:srgbClr val="152538"/>
                </a:solidFill>
              </a:rPr>
              <a:t>The start state and endpoint are fixed before policies are compared.</a:t>
            </a:r>
          </a:p>
        </p:txBody>
      </p:sp>
    </p:spTree>
    <p:extLst>
      <p:ext uri="{BB962C8B-B14F-4D97-AF65-F5344CB8AC3E}">
        <p14:creationId xmlns:p14="http://schemas.microsoft.com/office/powerpoint/2010/main" val="2002581560"/>
      </p:ext>
    </p:extLst>
  </p:cSld>
</p:sld>
</file>

<file path=ppt/slides/slide12.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063C05D-EB3C-404D-9293-758EF5A953C9}"/>
              </a:ext>
            </a:extLst>
          </p:cNvPr>
          <p:cNvSpPr>
            <a:spLocks xmlns:a="http://schemas.openxmlformats.org/drawingml/2006/main" noGrp="1"/>
          </p:cNvSpPr>
          <p:nvPr/>
        </p:nvSpPr>
        <p:spPr>
          <a:xfrm xmlns:a="http://schemas.openxmlformats.org/drawingml/2006/main">
            <a:off x="647700" y="2286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ED7F0D"/>
                </a:solidFill>
              </a:defRPr>
            </a:pPr>
            <a:r>
              <a:rPr sz="1050" b="1">
                <a:solidFill>
                  <a:srgbClr val="ED7F0D"/>
                </a:solidFill>
              </a:rPr>
              <a:t>12</a:t>
            </a:r>
          </a:p>
        </p:txBody>
      </p:sp>
      <p:sp>
        <p:nvSpPr>
          <p:cNvPr id="2" name="">
            <a:extLst xmlns:a="http://schemas.openxmlformats.org/drawingml/2006/main">
              <a:ext uri="{FF2B5EF4-FFF2-40B4-BE49-F238E27FC236}">
                <a16:creationId xmlns:a16="http://schemas.microsoft.com/office/drawing/2014/main" id="{F7053235-673D-4CD4-97C7-CCA89F9E4BB3}"/>
              </a:ext>
            </a:extLst>
          </p:cNvPr>
          <p:cNvSpPr>
            <a:spLocks xmlns:a="http://schemas.openxmlformats.org/drawingml/2006/main" noGrp="1"/>
          </p:cNvSpPr>
          <p:nvPr/>
        </p:nvSpPr>
        <p:spPr>
          <a:xfrm xmlns:a="http://schemas.openxmlformats.org/drawingml/2006/main">
            <a:off x="1104900" y="22860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6B7580"/>
                </a:solidFill>
              </a:defRPr>
            </a:pPr>
            <a:r>
              <a:rPr sz="975" b="1">
                <a:solidFill>
                  <a:srgbClr val="6B7580"/>
                </a:solidFill>
              </a:rPr>
              <a:t>TASK</a:t>
            </a:r>
          </a:p>
        </p:txBody>
      </p:sp>
      <p:sp>
        <p:nvSpPr>
          <p:cNvPr id="3" name="">
            <a:extLst xmlns:a="http://schemas.openxmlformats.org/drawingml/2006/main">
              <a:ext uri="{FF2B5EF4-FFF2-40B4-BE49-F238E27FC236}">
                <a16:creationId xmlns:a16="http://schemas.microsoft.com/office/drawing/2014/main" id="{53455958-8555-469A-A581-D794E31A94D7}"/>
              </a:ext>
            </a:extLst>
          </p:cNvPr>
          <p:cNvSpPr>
            <a:spLocks xmlns:a="http://schemas.openxmlformats.org/drawingml/2006/main" noGrp="1"/>
          </p:cNvSpPr>
          <p:nvPr/>
        </p:nvSpPr>
        <p:spPr>
          <a:xfrm xmlns:a="http://schemas.openxmlformats.org/drawingml/2006/main">
            <a:off x="6191250" y="228600"/>
            <a:ext cx="5353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0">
                <a:solidFill>
                  <a:srgbClr val="6B7580"/>
                </a:solidFill>
              </a:defRPr>
            </a:pPr>
            <a:r>
              <a:rPr sz="825" b="0">
                <a:solidFill>
                  <a:srgbClr val="6B7580"/>
                </a:solidFill>
              </a:rPr>
              <a:t>Problem   ● Task   Framework   Simulation   Hardware   Discussion</a:t>
            </a:r>
          </a:p>
        </p:txBody>
      </p:sp>
      <p:sp>
        <p:nvSpPr>
          <p:cNvPr id="4" name="">
            <a:extLst xmlns:a="http://schemas.openxmlformats.org/drawingml/2006/main">
              <a:ext uri="{FF2B5EF4-FFF2-40B4-BE49-F238E27FC236}">
                <a16:creationId xmlns:a16="http://schemas.microsoft.com/office/drawing/2014/main" id="{C671171A-9EE7-4DC0-A8F8-A7DE613ABA0C}"/>
              </a:ext>
            </a:extLst>
          </p:cNvPr>
          <p:cNvSpPr>
            <a:spLocks xmlns:a="http://schemas.openxmlformats.org/drawingml/2006/main" noGrp="1"/>
          </p:cNvSpPr>
          <p:nvPr/>
        </p:nvSpPr>
        <p:spPr>
          <a:xfrm xmlns:a="http://schemas.openxmlformats.org/drawingml/2006/main">
            <a:off x="647700" y="533400"/>
            <a:ext cx="108394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004282"/>
                </a:solidFill>
              </a:defRPr>
            </a:pPr>
            <a:r>
              <a:rPr sz="2850" b="1">
                <a:solidFill>
                  <a:srgbClr val="004282"/>
                </a:solidFill>
              </a:rPr>
              <a:t>Online control never sees the true socket center</a:t>
            </a:r>
          </a:p>
        </p:txBody>
      </p:sp>
      <p:sp>
        <p:nvSpPr>
          <p:cNvPr id="5" name="">
            <a:extLst xmlns:a="http://schemas.openxmlformats.org/drawingml/2006/main">
              <a:ext uri="{FF2B5EF4-FFF2-40B4-BE49-F238E27FC236}">
                <a16:creationId xmlns:a16="http://schemas.microsoft.com/office/drawing/2014/main" id="{5D686572-CB61-41CD-B71E-4ED8C33BBE42}"/>
              </a:ext>
            </a:extLst>
          </p:cNvPr>
          <p:cNvSpPr>
            <a:spLocks xmlns:a="http://schemas.openxmlformats.org/drawingml/2006/main" noGrp="1"/>
          </p:cNvSpPr>
          <p:nvPr/>
        </p:nvSpPr>
        <p:spPr>
          <a:xfrm xmlns:a="http://schemas.openxmlformats.org/drawingml/2006/main">
            <a:off x="647700" y="1257300"/>
            <a:ext cx="609600" cy="47625"/>
          </a:xfrm>
          <a:prstGeom xmlns:a="http://schemas.openxmlformats.org/drawingml/2006/main" prst="rect">
            <a:avLst/>
          </a:prstGeom>
          <a:solidFill xmlns:a="http://schemas.openxmlformats.org/drawingml/2006/main">
            <a:srgbClr val="ED7F0D"/>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F051D6AF-19AD-4692-B86F-5EB92BAB60C2}"/>
              </a:ext>
            </a:extLst>
          </p:cNvPr>
          <p:cNvSpPr>
            <a:spLocks xmlns:a="http://schemas.openxmlformats.org/drawingml/2006/main" noGrp="1"/>
          </p:cNvSpPr>
          <p:nvPr/>
        </p:nvSpPr>
        <p:spPr>
          <a:xfrm xmlns:a="http://schemas.openxmlformats.org/drawingml/2006/main">
            <a:off x="647700" y="6486525"/>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6B7580"/>
                </a:solidFill>
              </a:defRPr>
            </a:pPr>
            <a:r>
              <a:rPr sz="825" b="0">
                <a:solidFill>
                  <a:srgbClr val="6B7580"/>
                </a:solidFill>
              </a:rPr>
              <a:t>Nan Jinyao · Paper-aligned group review</a:t>
            </a:r>
          </a:p>
        </p:txBody>
      </p:sp>
      <p:sp>
        <p:nvSpPr>
          <p:cNvPr id="7" name="">
            <a:extLst xmlns:a="http://schemas.openxmlformats.org/drawingml/2006/main">
              <a:ext uri="{FF2B5EF4-FFF2-40B4-BE49-F238E27FC236}">
                <a16:creationId xmlns:a16="http://schemas.microsoft.com/office/drawing/2014/main" id="{97B70166-F245-4B82-B3D2-256421776D65}"/>
              </a:ext>
            </a:extLst>
          </p:cNvPr>
          <p:cNvSpPr>
            <a:spLocks xmlns:a="http://schemas.openxmlformats.org/drawingml/2006/main" noGrp="1"/>
          </p:cNvSpPr>
          <p:nvPr/>
        </p:nvSpPr>
        <p:spPr>
          <a:xfrm xmlns:a="http://schemas.openxmlformats.org/drawingml/2006/main">
            <a:off x="4476750" y="6486525"/>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0">
                <a:solidFill>
                  <a:srgbClr val="6B7580"/>
                </a:solidFill>
              </a:defRPr>
            </a:pPr>
            <a:r>
              <a:rPr sz="825" b="0">
                <a:solidFill>
                  <a:srgbClr val="6B7580"/>
                </a:solidFill>
              </a:rPr>
              <a:t>Sec. II-A</a:t>
            </a:r>
          </a:p>
        </p:txBody>
      </p:sp>
      <p:sp>
        <p:nvSpPr>
          <p:cNvPr id="8" name="">
            <a:extLst xmlns:a="http://schemas.openxmlformats.org/drawingml/2006/main">
              <a:ext uri="{FF2B5EF4-FFF2-40B4-BE49-F238E27FC236}">
                <a16:creationId xmlns:a16="http://schemas.microsoft.com/office/drawing/2014/main" id="{34EEF7E7-A46A-49D5-8189-E65C01449C2D}"/>
              </a:ext>
            </a:extLst>
          </p:cNvPr>
          <p:cNvSpPr>
            <a:spLocks xmlns:a="http://schemas.openxmlformats.org/drawingml/2006/main" noGrp="1"/>
          </p:cNvSpPr>
          <p:nvPr/>
        </p:nvSpPr>
        <p:spPr>
          <a:xfrm xmlns:a="http://schemas.openxmlformats.org/drawingml/2006/main">
            <a:off x="11049000" y="648652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004282"/>
                </a:solidFill>
              </a:defRPr>
            </a:pPr>
            <a:r>
              <a:rPr sz="825" b="1">
                <a:solidFill>
                  <a:srgbClr val="004282"/>
                </a:solidFill>
              </a:rPr>
              <a:t>12</a:t>
            </a:r>
          </a:p>
        </p:txBody>
      </p:sp>
      <p:sp>
        <p:nvSpPr>
          <p:cNvPr id="9" name="">
            <a:extLst xmlns:a="http://schemas.openxmlformats.org/drawingml/2006/main">
              <a:ext uri="{FF2B5EF4-FFF2-40B4-BE49-F238E27FC236}">
                <a16:creationId xmlns:a16="http://schemas.microsoft.com/office/drawing/2014/main" id="{67F05139-DE1B-41AE-8D4A-E21D3EC8EAAB}"/>
              </a:ext>
            </a:extLst>
          </p:cNvPr>
          <p:cNvSpPr>
            <a:spLocks xmlns:a="http://schemas.openxmlformats.org/drawingml/2006/main" noGrp="1"/>
          </p:cNvSpPr>
          <p:nvPr/>
        </p:nvSpPr>
        <p:spPr>
          <a:xfrm xmlns:a="http://schemas.openxmlformats.org/drawingml/2006/main">
            <a:off x="781050" y="1676400"/>
            <a:ext cx="4857750" cy="3714750"/>
          </a:xfrm>
          <a:prstGeom xmlns:a="http://schemas.openxmlformats.org/drawingml/2006/main" prst="roundRect">
            <a:avLst>
              <a:gd name="adj" fmla="val 2051"/>
            </a:avLst>
          </a:prstGeom>
          <a:solidFill xmlns:a="http://schemas.openxmlformats.org/drawingml/2006/main">
            <a:srgbClr val="E8F1F8"/>
          </a:solidFill>
          <a:ln xmlns:a="http://schemas.openxmlformats.org/drawingml/2006/main" w="19050">
            <a:solidFill>
              <a:srgbClr val="004282"/>
            </a:solidFill>
            <a:prstDash val="solid"/>
          </a:ln>
        </p:spPr>
      </p:sp>
      <p:sp>
        <p:nvSpPr>
          <p:cNvPr id="10" name="">
            <a:extLst xmlns:a="http://schemas.openxmlformats.org/drawingml/2006/main">
              <a:ext uri="{FF2B5EF4-FFF2-40B4-BE49-F238E27FC236}">
                <a16:creationId xmlns:a16="http://schemas.microsoft.com/office/drawing/2014/main" id="{2E27F7B7-5DE3-464D-BA1D-923B3709C80C}"/>
              </a:ext>
            </a:extLst>
          </p:cNvPr>
          <p:cNvSpPr>
            <a:spLocks xmlns:a="http://schemas.openxmlformats.org/drawingml/2006/main" noGrp="1"/>
          </p:cNvSpPr>
          <p:nvPr/>
        </p:nvSpPr>
        <p:spPr>
          <a:xfrm xmlns:a="http://schemas.openxmlformats.org/drawingml/2006/main">
            <a:off x="6438900" y="1676400"/>
            <a:ext cx="4857750" cy="3714750"/>
          </a:xfrm>
          <a:prstGeom xmlns:a="http://schemas.openxmlformats.org/drawingml/2006/main" prst="roundRect">
            <a:avLst>
              <a:gd name="adj" fmla="val 2051"/>
            </a:avLst>
          </a:prstGeom>
          <a:solidFill xmlns:a="http://schemas.openxmlformats.org/drawingml/2006/main">
            <a:srgbClr val="FFFFFF"/>
          </a:solidFill>
          <a:ln xmlns:a="http://schemas.openxmlformats.org/drawingml/2006/main" w="9525">
            <a:solidFill>
              <a:srgbClr val="6B7580"/>
            </a:solidFill>
            <a:prstDash val="solid"/>
          </a:ln>
        </p:spPr>
      </p:sp>
      <p:sp>
        <p:nvSpPr>
          <p:cNvPr id="11" name="">
            <a:extLst xmlns:a="http://schemas.openxmlformats.org/drawingml/2006/main">
              <a:ext uri="{FF2B5EF4-FFF2-40B4-BE49-F238E27FC236}">
                <a16:creationId xmlns:a16="http://schemas.microsoft.com/office/drawing/2014/main" id="{B9677FF2-C6CB-4161-A561-ACEC987F1349}"/>
              </a:ext>
            </a:extLst>
          </p:cNvPr>
          <p:cNvSpPr>
            <a:spLocks xmlns:a="http://schemas.openxmlformats.org/drawingml/2006/main" noGrp="1"/>
          </p:cNvSpPr>
          <p:nvPr/>
        </p:nvSpPr>
        <p:spPr>
          <a:xfrm xmlns:a="http://schemas.openxmlformats.org/drawingml/2006/main">
            <a:off x="1066800" y="1924050"/>
            <a:ext cx="4286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75" b="1">
                <a:solidFill>
                  <a:srgbClr val="004282"/>
                </a:solidFill>
              </a:defRPr>
            </a:pPr>
            <a:r>
              <a:rPr sz="1875" b="1">
                <a:solidFill>
                  <a:srgbClr val="004282"/>
                </a:solidFill>
              </a:rPr>
              <a:t>ONLINE INPUTS</a:t>
            </a:r>
          </a:p>
        </p:txBody>
      </p:sp>
      <p:sp>
        <p:nvSpPr>
          <p:cNvPr id="12" name="">
            <a:extLst xmlns:a="http://schemas.openxmlformats.org/drawingml/2006/main">
              <a:ext uri="{FF2B5EF4-FFF2-40B4-BE49-F238E27FC236}">
                <a16:creationId xmlns:a16="http://schemas.microsoft.com/office/drawing/2014/main" id="{C0C3F85F-4F0F-4665-A39F-97D86DDF2FFC}"/>
              </a:ext>
            </a:extLst>
          </p:cNvPr>
          <p:cNvSpPr>
            <a:spLocks xmlns:a="http://schemas.openxmlformats.org/drawingml/2006/main" noGrp="1"/>
          </p:cNvSpPr>
          <p:nvPr/>
        </p:nvSpPr>
        <p:spPr>
          <a:xfrm xmlns:a="http://schemas.openxmlformats.org/drawingml/2006/main">
            <a:off x="6724650" y="1924050"/>
            <a:ext cx="4286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75" b="1">
                <a:solidFill>
                  <a:srgbClr val="6B7580"/>
                </a:solidFill>
              </a:defRPr>
            </a:pPr>
            <a:r>
              <a:rPr sz="1875" b="1">
                <a:solidFill>
                  <a:srgbClr val="6B7580"/>
                </a:solidFill>
              </a:rPr>
              <a:t>OFFLINE GRADING ONLY</a:t>
            </a:r>
          </a:p>
        </p:txBody>
      </p:sp>
      <p:sp>
        <p:nvSpPr>
          <p:cNvPr id="13" name="">
            <a:extLst xmlns:a="http://schemas.openxmlformats.org/drawingml/2006/main">
              <a:ext uri="{FF2B5EF4-FFF2-40B4-BE49-F238E27FC236}">
                <a16:creationId xmlns:a16="http://schemas.microsoft.com/office/drawing/2014/main" id="{4B339FEC-2A36-4F3C-BBCC-033528E46DC8}"/>
              </a:ext>
            </a:extLst>
          </p:cNvPr>
          <p:cNvSpPr>
            <a:spLocks xmlns:a="http://schemas.openxmlformats.org/drawingml/2006/main" noGrp="1"/>
          </p:cNvSpPr>
          <p:nvPr/>
        </p:nvSpPr>
        <p:spPr>
          <a:xfrm xmlns:a="http://schemas.openxmlformats.org/drawingml/2006/main">
            <a:off x="1219200" y="2667000"/>
            <a:ext cx="76200" cy="76200"/>
          </a:xfrm>
          <a:prstGeom xmlns:a="http://schemas.openxmlformats.org/drawingml/2006/main" prst="ellipse">
            <a:avLst/>
          </a:prstGeom>
          <a:solidFill xmlns:a="http://schemas.openxmlformats.org/drawingml/2006/main">
            <a:srgbClr val="004282"/>
          </a:solidFill>
          <a:ln xmlns:a="http://schemas.openxmlformats.org/drawingml/2006/main" w="9525">
            <a:solidFill>
              <a:srgbClr val="004282"/>
            </a:solidFill>
            <a:prstDash val="solid"/>
          </a:ln>
        </p:spPr>
      </p:sp>
      <p:sp>
        <p:nvSpPr>
          <p:cNvPr id="14" name="">
            <a:extLst xmlns:a="http://schemas.openxmlformats.org/drawingml/2006/main">
              <a:ext uri="{FF2B5EF4-FFF2-40B4-BE49-F238E27FC236}">
                <a16:creationId xmlns:a16="http://schemas.microsoft.com/office/drawing/2014/main" id="{BC75067B-CBA3-408D-B318-65DBA4F9B625}"/>
              </a:ext>
            </a:extLst>
          </p:cNvPr>
          <p:cNvSpPr>
            <a:spLocks xmlns:a="http://schemas.openxmlformats.org/drawingml/2006/main" noGrp="1"/>
          </p:cNvSpPr>
          <p:nvPr/>
        </p:nvSpPr>
        <p:spPr>
          <a:xfrm xmlns:a="http://schemas.openxmlformats.org/drawingml/2006/main">
            <a:off x="1428750" y="2571750"/>
            <a:ext cx="3695700" cy="4305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152538"/>
                </a:solidFill>
              </a:defRPr>
            </a:pPr>
            <a:r>
              <a:rPr sz="1575" b="0">
                <a:solidFill>
                  <a:srgbClr val="152538"/>
                </a:solidFill>
              </a:rPr>
              <a:t>Robot pose</a:t>
            </a:r>
          </a:p>
        </p:txBody>
      </p:sp>
      <p:sp>
        <p:nvSpPr>
          <p:cNvPr id="15" name="">
            <a:extLst xmlns:a="http://schemas.openxmlformats.org/drawingml/2006/main">
              <a:ext uri="{FF2B5EF4-FFF2-40B4-BE49-F238E27FC236}">
                <a16:creationId xmlns:a16="http://schemas.microsoft.com/office/drawing/2014/main" id="{44644555-3FD4-4198-B654-6047A1BF77D5}"/>
              </a:ext>
            </a:extLst>
          </p:cNvPr>
          <p:cNvSpPr>
            <a:spLocks xmlns:a="http://schemas.openxmlformats.org/drawingml/2006/main" noGrp="1"/>
          </p:cNvSpPr>
          <p:nvPr/>
        </p:nvSpPr>
        <p:spPr>
          <a:xfrm xmlns:a="http://schemas.openxmlformats.org/drawingml/2006/main">
            <a:off x="1219200" y="3154680"/>
            <a:ext cx="76200" cy="76200"/>
          </a:xfrm>
          <a:prstGeom xmlns:a="http://schemas.openxmlformats.org/drawingml/2006/main" prst="ellipse">
            <a:avLst/>
          </a:prstGeom>
          <a:solidFill xmlns:a="http://schemas.openxmlformats.org/drawingml/2006/main">
            <a:srgbClr val="004282"/>
          </a:solidFill>
          <a:ln xmlns:a="http://schemas.openxmlformats.org/drawingml/2006/main" w="9525">
            <a:solidFill>
              <a:srgbClr val="004282"/>
            </a:solidFill>
            <a:prstDash val="solid"/>
          </a:ln>
        </p:spPr>
      </p:sp>
      <p:sp>
        <p:nvSpPr>
          <p:cNvPr id="16" name="">
            <a:extLst xmlns:a="http://schemas.openxmlformats.org/drawingml/2006/main">
              <a:ext uri="{FF2B5EF4-FFF2-40B4-BE49-F238E27FC236}">
                <a16:creationId xmlns:a16="http://schemas.microsoft.com/office/drawing/2014/main" id="{04E5A082-6DCB-4DF6-9F19-40C15AC9978E}"/>
              </a:ext>
            </a:extLst>
          </p:cNvPr>
          <p:cNvSpPr>
            <a:spLocks xmlns:a="http://schemas.openxmlformats.org/drawingml/2006/main" noGrp="1"/>
          </p:cNvSpPr>
          <p:nvPr/>
        </p:nvSpPr>
        <p:spPr>
          <a:xfrm xmlns:a="http://schemas.openxmlformats.org/drawingml/2006/main">
            <a:off x="1428750" y="3059430"/>
            <a:ext cx="3695700" cy="4305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152538"/>
                </a:solidFill>
              </a:defRPr>
            </a:pPr>
            <a:r>
              <a:rPr sz="1575" b="0">
                <a:solidFill>
                  <a:srgbClr val="152538"/>
                </a:solidFill>
              </a:rPr>
              <a:t>Measured wrench</a:t>
            </a:r>
          </a:p>
        </p:txBody>
      </p:sp>
      <p:sp>
        <p:nvSpPr>
          <p:cNvPr id="17" name="">
            <a:extLst xmlns:a="http://schemas.openxmlformats.org/drawingml/2006/main">
              <a:ext uri="{FF2B5EF4-FFF2-40B4-BE49-F238E27FC236}">
                <a16:creationId xmlns:a16="http://schemas.microsoft.com/office/drawing/2014/main" id="{9D574CCA-F766-4605-A898-37AB9EF30D0E}"/>
              </a:ext>
            </a:extLst>
          </p:cNvPr>
          <p:cNvSpPr>
            <a:spLocks xmlns:a="http://schemas.openxmlformats.org/drawingml/2006/main" noGrp="1"/>
          </p:cNvSpPr>
          <p:nvPr/>
        </p:nvSpPr>
        <p:spPr>
          <a:xfrm xmlns:a="http://schemas.openxmlformats.org/drawingml/2006/main">
            <a:off x="1219200" y="3642360"/>
            <a:ext cx="76200" cy="76200"/>
          </a:xfrm>
          <a:prstGeom xmlns:a="http://schemas.openxmlformats.org/drawingml/2006/main" prst="ellipse">
            <a:avLst/>
          </a:prstGeom>
          <a:solidFill xmlns:a="http://schemas.openxmlformats.org/drawingml/2006/main">
            <a:srgbClr val="004282"/>
          </a:solidFill>
          <a:ln xmlns:a="http://schemas.openxmlformats.org/drawingml/2006/main" w="9525">
            <a:solidFill>
              <a:srgbClr val="004282"/>
            </a:solidFill>
            <a:prstDash val="solid"/>
          </a:ln>
        </p:spPr>
      </p:sp>
      <p:sp>
        <p:nvSpPr>
          <p:cNvPr id="18" name="">
            <a:extLst xmlns:a="http://schemas.openxmlformats.org/drawingml/2006/main">
              <a:ext uri="{FF2B5EF4-FFF2-40B4-BE49-F238E27FC236}">
                <a16:creationId xmlns:a16="http://schemas.microsoft.com/office/drawing/2014/main" id="{202158E4-DC29-44B1-A802-15C8681189BD}"/>
              </a:ext>
            </a:extLst>
          </p:cNvPr>
          <p:cNvSpPr>
            <a:spLocks xmlns:a="http://schemas.openxmlformats.org/drawingml/2006/main" noGrp="1"/>
          </p:cNvSpPr>
          <p:nvPr/>
        </p:nvSpPr>
        <p:spPr>
          <a:xfrm xmlns:a="http://schemas.openxmlformats.org/drawingml/2006/main">
            <a:off x="1428750" y="3547110"/>
            <a:ext cx="3695700" cy="4305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152538"/>
                </a:solidFill>
              </a:defRPr>
            </a:pPr>
            <a:r>
              <a:rPr sz="1575" b="0">
                <a:solidFill>
                  <a:srgbClr val="152538"/>
                </a:solidFill>
              </a:rPr>
              <a:t>Probe phase ϕ</a:t>
            </a:r>
          </a:p>
        </p:txBody>
      </p:sp>
      <p:sp>
        <p:nvSpPr>
          <p:cNvPr id="19" name="">
            <a:extLst xmlns:a="http://schemas.openxmlformats.org/drawingml/2006/main">
              <a:ext uri="{FF2B5EF4-FFF2-40B4-BE49-F238E27FC236}">
                <a16:creationId xmlns:a16="http://schemas.microsoft.com/office/drawing/2014/main" id="{C24BA082-8A07-4165-BE07-D3E986B6E5C7}"/>
              </a:ext>
            </a:extLst>
          </p:cNvPr>
          <p:cNvSpPr>
            <a:spLocks xmlns:a="http://schemas.openxmlformats.org/drawingml/2006/main" noGrp="1"/>
          </p:cNvSpPr>
          <p:nvPr/>
        </p:nvSpPr>
        <p:spPr>
          <a:xfrm xmlns:a="http://schemas.openxmlformats.org/drawingml/2006/main">
            <a:off x="1219200" y="4130040"/>
            <a:ext cx="76200" cy="76200"/>
          </a:xfrm>
          <a:prstGeom xmlns:a="http://schemas.openxmlformats.org/drawingml/2006/main" prst="ellipse">
            <a:avLst/>
          </a:prstGeom>
          <a:solidFill xmlns:a="http://schemas.openxmlformats.org/drawingml/2006/main">
            <a:srgbClr val="004282"/>
          </a:solidFill>
          <a:ln xmlns:a="http://schemas.openxmlformats.org/drawingml/2006/main" w="9525">
            <a:solidFill>
              <a:srgbClr val="004282"/>
            </a:solidFill>
            <a:prstDash val="solid"/>
          </a:ln>
        </p:spPr>
      </p:sp>
      <p:sp>
        <p:nvSpPr>
          <p:cNvPr id="20" name="">
            <a:extLst xmlns:a="http://schemas.openxmlformats.org/drawingml/2006/main">
              <a:ext uri="{FF2B5EF4-FFF2-40B4-BE49-F238E27FC236}">
                <a16:creationId xmlns:a16="http://schemas.microsoft.com/office/drawing/2014/main" id="{F50FA715-1E9E-4DDE-9C6B-322D41E41E55}"/>
              </a:ext>
            </a:extLst>
          </p:cNvPr>
          <p:cNvSpPr>
            <a:spLocks xmlns:a="http://schemas.openxmlformats.org/drawingml/2006/main" noGrp="1"/>
          </p:cNvSpPr>
          <p:nvPr/>
        </p:nvSpPr>
        <p:spPr>
          <a:xfrm xmlns:a="http://schemas.openxmlformats.org/drawingml/2006/main">
            <a:off x="1428750" y="4034790"/>
            <a:ext cx="3695700" cy="4305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152538"/>
                </a:solidFill>
              </a:defRPr>
            </a:pPr>
            <a:r>
              <a:rPr sz="1575" b="0">
                <a:solidFill>
                  <a:srgbClr val="152538"/>
                </a:solidFill>
              </a:rPr>
              <a:t>CAD prior p₀(C)</a:t>
            </a:r>
          </a:p>
        </p:txBody>
      </p:sp>
      <p:sp>
        <p:nvSpPr>
          <p:cNvPr id="21" name="">
            <a:extLst xmlns:a="http://schemas.openxmlformats.org/drawingml/2006/main">
              <a:ext uri="{FF2B5EF4-FFF2-40B4-BE49-F238E27FC236}">
                <a16:creationId xmlns:a16="http://schemas.microsoft.com/office/drawing/2014/main" id="{F387FCEC-04AF-4DDC-842C-5029C34AFEE8}"/>
              </a:ext>
            </a:extLst>
          </p:cNvPr>
          <p:cNvSpPr>
            <a:spLocks xmlns:a="http://schemas.openxmlformats.org/drawingml/2006/main" noGrp="1"/>
          </p:cNvSpPr>
          <p:nvPr/>
        </p:nvSpPr>
        <p:spPr>
          <a:xfrm xmlns:a="http://schemas.openxmlformats.org/drawingml/2006/main">
            <a:off x="1219200" y="4617720"/>
            <a:ext cx="76200" cy="76200"/>
          </a:xfrm>
          <a:prstGeom xmlns:a="http://schemas.openxmlformats.org/drawingml/2006/main" prst="ellipse">
            <a:avLst/>
          </a:prstGeom>
          <a:solidFill xmlns:a="http://schemas.openxmlformats.org/drawingml/2006/main">
            <a:srgbClr val="004282"/>
          </a:solidFill>
          <a:ln xmlns:a="http://schemas.openxmlformats.org/drawingml/2006/main" w="9525">
            <a:solidFill>
              <a:srgbClr val="004282"/>
            </a:solidFill>
            <a:prstDash val="solid"/>
          </a:ln>
        </p:spPr>
      </p:sp>
      <p:sp>
        <p:nvSpPr>
          <p:cNvPr id="22" name="">
            <a:extLst xmlns:a="http://schemas.openxmlformats.org/drawingml/2006/main">
              <a:ext uri="{FF2B5EF4-FFF2-40B4-BE49-F238E27FC236}">
                <a16:creationId xmlns:a16="http://schemas.microsoft.com/office/drawing/2014/main" id="{92BC2896-D874-415A-9F57-24A358648179}"/>
              </a:ext>
            </a:extLst>
          </p:cNvPr>
          <p:cNvSpPr>
            <a:spLocks xmlns:a="http://schemas.openxmlformats.org/drawingml/2006/main" noGrp="1"/>
          </p:cNvSpPr>
          <p:nvPr/>
        </p:nvSpPr>
        <p:spPr>
          <a:xfrm xmlns:a="http://schemas.openxmlformats.org/drawingml/2006/main">
            <a:off x="1428750" y="4522470"/>
            <a:ext cx="3695700" cy="4305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152538"/>
                </a:solidFill>
              </a:defRPr>
            </a:pPr>
            <a:r>
              <a:rPr sz="1575" b="0">
                <a:solidFill>
                  <a:srgbClr val="152538"/>
                </a:solidFill>
              </a:rPr>
              <a:t>Controller state</a:t>
            </a:r>
          </a:p>
        </p:txBody>
      </p:sp>
      <p:sp>
        <p:nvSpPr>
          <p:cNvPr id="23" name="">
            <a:extLst xmlns:a="http://schemas.openxmlformats.org/drawingml/2006/main">
              <a:ext uri="{FF2B5EF4-FFF2-40B4-BE49-F238E27FC236}">
                <a16:creationId xmlns:a16="http://schemas.microsoft.com/office/drawing/2014/main" id="{851252EF-0060-45D1-B47A-2F760BEE93B1}"/>
              </a:ext>
            </a:extLst>
          </p:cNvPr>
          <p:cNvSpPr>
            <a:spLocks xmlns:a="http://schemas.openxmlformats.org/drawingml/2006/main" noGrp="1"/>
          </p:cNvSpPr>
          <p:nvPr/>
        </p:nvSpPr>
        <p:spPr>
          <a:xfrm xmlns:a="http://schemas.openxmlformats.org/drawingml/2006/main">
            <a:off x="6877050" y="2667000"/>
            <a:ext cx="76200" cy="76200"/>
          </a:xfrm>
          <a:prstGeom xmlns:a="http://schemas.openxmlformats.org/drawingml/2006/main" prst="ellipse">
            <a:avLst/>
          </a:prstGeom>
          <a:solidFill xmlns:a="http://schemas.openxmlformats.org/drawingml/2006/main">
            <a:srgbClr val="6B7580"/>
          </a:solidFill>
          <a:ln xmlns:a="http://schemas.openxmlformats.org/drawingml/2006/main" w="9525">
            <a:solidFill>
              <a:srgbClr val="6B7580"/>
            </a:solidFill>
            <a:prstDash val="solid"/>
          </a:ln>
        </p:spPr>
      </p:sp>
      <p:sp>
        <p:nvSpPr>
          <p:cNvPr id="24" name="">
            <a:extLst xmlns:a="http://schemas.openxmlformats.org/drawingml/2006/main">
              <a:ext uri="{FF2B5EF4-FFF2-40B4-BE49-F238E27FC236}">
                <a16:creationId xmlns:a16="http://schemas.microsoft.com/office/drawing/2014/main" id="{15E0CEA0-8673-40E7-8C2C-A976E81C512F}"/>
              </a:ext>
            </a:extLst>
          </p:cNvPr>
          <p:cNvSpPr>
            <a:spLocks xmlns:a="http://schemas.openxmlformats.org/drawingml/2006/main" noGrp="1"/>
          </p:cNvSpPr>
          <p:nvPr/>
        </p:nvSpPr>
        <p:spPr>
          <a:xfrm xmlns:a="http://schemas.openxmlformats.org/drawingml/2006/main">
            <a:off x="7086600" y="2571750"/>
            <a:ext cx="3695700" cy="53101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152538"/>
                </a:solidFill>
              </a:defRPr>
            </a:pPr>
            <a:r>
              <a:rPr sz="1575" b="0">
                <a:solidFill>
                  <a:srgbClr val="152538"/>
                </a:solidFill>
              </a:rPr>
              <a:t>True center C</a:t>
            </a:r>
          </a:p>
        </p:txBody>
      </p:sp>
      <p:sp>
        <p:nvSpPr>
          <p:cNvPr id="25" name="">
            <a:extLst xmlns:a="http://schemas.openxmlformats.org/drawingml/2006/main">
              <a:ext uri="{FF2B5EF4-FFF2-40B4-BE49-F238E27FC236}">
                <a16:creationId xmlns:a16="http://schemas.microsoft.com/office/drawing/2014/main" id="{16ABFFD8-4A83-47C9-9AFA-8BA134ADBE13}"/>
              </a:ext>
            </a:extLst>
          </p:cNvPr>
          <p:cNvSpPr>
            <a:spLocks xmlns:a="http://schemas.openxmlformats.org/drawingml/2006/main" noGrp="1"/>
          </p:cNvSpPr>
          <p:nvPr/>
        </p:nvSpPr>
        <p:spPr>
          <a:xfrm xmlns:a="http://schemas.openxmlformats.org/drawingml/2006/main">
            <a:off x="6877050" y="3283744"/>
            <a:ext cx="76200" cy="76200"/>
          </a:xfrm>
          <a:prstGeom xmlns:a="http://schemas.openxmlformats.org/drawingml/2006/main" prst="ellipse">
            <a:avLst/>
          </a:prstGeom>
          <a:solidFill xmlns:a="http://schemas.openxmlformats.org/drawingml/2006/main">
            <a:srgbClr val="6B7580"/>
          </a:solidFill>
          <a:ln xmlns:a="http://schemas.openxmlformats.org/drawingml/2006/main" w="9525">
            <a:solidFill>
              <a:srgbClr val="6B7580"/>
            </a:solidFill>
            <a:prstDash val="solid"/>
          </a:ln>
        </p:spPr>
      </p:sp>
      <p:sp>
        <p:nvSpPr>
          <p:cNvPr id="26" name="">
            <a:extLst xmlns:a="http://schemas.openxmlformats.org/drawingml/2006/main">
              <a:ext uri="{FF2B5EF4-FFF2-40B4-BE49-F238E27FC236}">
                <a16:creationId xmlns:a16="http://schemas.microsoft.com/office/drawing/2014/main" id="{EDF80818-E64E-427B-8C52-4AD40BA702F2}"/>
              </a:ext>
            </a:extLst>
          </p:cNvPr>
          <p:cNvSpPr>
            <a:spLocks xmlns:a="http://schemas.openxmlformats.org/drawingml/2006/main" noGrp="1"/>
          </p:cNvSpPr>
          <p:nvPr/>
        </p:nvSpPr>
        <p:spPr>
          <a:xfrm xmlns:a="http://schemas.openxmlformats.org/drawingml/2006/main">
            <a:off x="7086600" y="3188494"/>
            <a:ext cx="3695700" cy="53101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152538"/>
                </a:solidFill>
              </a:defRPr>
            </a:pPr>
            <a:r>
              <a:rPr sz="1575" b="0">
                <a:solidFill>
                  <a:srgbClr val="152538"/>
                </a:solidFill>
              </a:rPr>
              <a:t>Privileged contact labels</a:t>
            </a:r>
          </a:p>
        </p:txBody>
      </p:sp>
      <p:sp>
        <p:nvSpPr>
          <p:cNvPr id="27" name="">
            <a:extLst xmlns:a="http://schemas.openxmlformats.org/drawingml/2006/main">
              <a:ext uri="{FF2B5EF4-FFF2-40B4-BE49-F238E27FC236}">
                <a16:creationId xmlns:a16="http://schemas.microsoft.com/office/drawing/2014/main" id="{3051D926-CACD-4238-AB8B-776D05EF4E43}"/>
              </a:ext>
            </a:extLst>
          </p:cNvPr>
          <p:cNvSpPr>
            <a:spLocks xmlns:a="http://schemas.openxmlformats.org/drawingml/2006/main" noGrp="1"/>
          </p:cNvSpPr>
          <p:nvPr/>
        </p:nvSpPr>
        <p:spPr>
          <a:xfrm xmlns:a="http://schemas.openxmlformats.org/drawingml/2006/main">
            <a:off x="6877050" y="3900488"/>
            <a:ext cx="76200" cy="76200"/>
          </a:xfrm>
          <a:prstGeom xmlns:a="http://schemas.openxmlformats.org/drawingml/2006/main" prst="ellipse">
            <a:avLst/>
          </a:prstGeom>
          <a:solidFill xmlns:a="http://schemas.openxmlformats.org/drawingml/2006/main">
            <a:srgbClr val="6B7580"/>
          </a:solidFill>
          <a:ln xmlns:a="http://schemas.openxmlformats.org/drawingml/2006/main" w="9525">
            <a:solidFill>
              <a:srgbClr val="6B7580"/>
            </a:solidFill>
            <a:prstDash val="solid"/>
          </a:ln>
        </p:spPr>
      </p:sp>
      <p:sp>
        <p:nvSpPr>
          <p:cNvPr id="28" name="">
            <a:extLst xmlns:a="http://schemas.openxmlformats.org/drawingml/2006/main">
              <a:ext uri="{FF2B5EF4-FFF2-40B4-BE49-F238E27FC236}">
                <a16:creationId xmlns:a16="http://schemas.microsoft.com/office/drawing/2014/main" id="{F53B27E3-BD30-42FA-9E33-6E33814B2D35}"/>
              </a:ext>
            </a:extLst>
          </p:cNvPr>
          <p:cNvSpPr>
            <a:spLocks xmlns:a="http://schemas.openxmlformats.org/drawingml/2006/main" noGrp="1"/>
          </p:cNvSpPr>
          <p:nvPr/>
        </p:nvSpPr>
        <p:spPr>
          <a:xfrm xmlns:a="http://schemas.openxmlformats.org/drawingml/2006/main">
            <a:off x="7086600" y="3805238"/>
            <a:ext cx="3695700" cy="53101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152538"/>
                </a:solidFill>
              </a:defRPr>
            </a:pPr>
            <a:r>
              <a:rPr sz="1575" b="0">
                <a:solidFill>
                  <a:srgbClr val="152538"/>
                </a:solidFill>
              </a:rPr>
              <a:t>Offline direction error</a:t>
            </a:r>
          </a:p>
        </p:txBody>
      </p:sp>
      <p:sp>
        <p:nvSpPr>
          <p:cNvPr id="29" name="">
            <a:extLst xmlns:a="http://schemas.openxmlformats.org/drawingml/2006/main">
              <a:ext uri="{FF2B5EF4-FFF2-40B4-BE49-F238E27FC236}">
                <a16:creationId xmlns:a16="http://schemas.microsoft.com/office/drawing/2014/main" id="{51B741B6-CFF5-4FDA-8401-7DF1DCFBF4A6}"/>
              </a:ext>
            </a:extLst>
          </p:cNvPr>
          <p:cNvSpPr>
            <a:spLocks xmlns:a="http://schemas.openxmlformats.org/drawingml/2006/main" noGrp="1"/>
          </p:cNvSpPr>
          <p:nvPr/>
        </p:nvSpPr>
        <p:spPr>
          <a:xfrm xmlns:a="http://schemas.openxmlformats.org/drawingml/2006/main">
            <a:off x="6877050" y="4517231"/>
            <a:ext cx="76200" cy="76200"/>
          </a:xfrm>
          <a:prstGeom xmlns:a="http://schemas.openxmlformats.org/drawingml/2006/main" prst="ellipse">
            <a:avLst/>
          </a:prstGeom>
          <a:solidFill xmlns:a="http://schemas.openxmlformats.org/drawingml/2006/main">
            <a:srgbClr val="6B7580"/>
          </a:solidFill>
          <a:ln xmlns:a="http://schemas.openxmlformats.org/drawingml/2006/main" w="9525">
            <a:solidFill>
              <a:srgbClr val="6B7580"/>
            </a:solidFill>
            <a:prstDash val="solid"/>
          </a:ln>
        </p:spPr>
      </p:sp>
      <p:sp>
        <p:nvSpPr>
          <p:cNvPr id="30" name="">
            <a:extLst xmlns:a="http://schemas.openxmlformats.org/drawingml/2006/main">
              <a:ext uri="{FF2B5EF4-FFF2-40B4-BE49-F238E27FC236}">
                <a16:creationId xmlns:a16="http://schemas.microsoft.com/office/drawing/2014/main" id="{CAE78859-7BEB-4887-8D40-BAB3134EAB3A}"/>
              </a:ext>
            </a:extLst>
          </p:cNvPr>
          <p:cNvSpPr>
            <a:spLocks xmlns:a="http://schemas.openxmlformats.org/drawingml/2006/main" noGrp="1"/>
          </p:cNvSpPr>
          <p:nvPr/>
        </p:nvSpPr>
        <p:spPr>
          <a:xfrm xmlns:a="http://schemas.openxmlformats.org/drawingml/2006/main">
            <a:off x="7086600" y="4421981"/>
            <a:ext cx="3695700" cy="53101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152538"/>
                </a:solidFill>
              </a:defRPr>
            </a:pPr>
            <a:r>
              <a:rPr sz="1575" b="0">
                <a:solidFill>
                  <a:srgbClr val="152538"/>
                </a:solidFill>
              </a:rPr>
              <a:t>Privileged-center baseline</a:t>
            </a:r>
          </a:p>
        </p:txBody>
      </p:sp>
      <p:sp>
        <p:nvSpPr>
          <p:cNvPr id="31" name="">
            <a:extLst xmlns:a="http://schemas.openxmlformats.org/drawingml/2006/main">
              <a:ext uri="{FF2B5EF4-FFF2-40B4-BE49-F238E27FC236}">
                <a16:creationId xmlns:a16="http://schemas.microsoft.com/office/drawing/2014/main" id="{C4BD2FCD-4F3B-4CAF-971E-0A5751F676D0}"/>
              </a:ext>
            </a:extLst>
          </p:cNvPr>
          <p:cNvSpPr>
            <a:spLocks xmlns:a="http://schemas.openxmlformats.org/drawingml/2006/main" noGrp="1"/>
          </p:cNvSpPr>
          <p:nvPr/>
        </p:nvSpPr>
        <p:spPr>
          <a:xfrm xmlns:a="http://schemas.openxmlformats.org/drawingml/2006/main">
            <a:off x="647700" y="5943600"/>
            <a:ext cx="10839450" cy="400050"/>
          </a:xfrm>
          <a:prstGeom xmlns:a="http://schemas.openxmlformats.org/drawingml/2006/main" prst="rect">
            <a:avLst/>
          </a:prstGeom>
          <a:solidFill xmlns:a="http://schemas.openxmlformats.org/drawingml/2006/main">
            <a:srgbClr val="FFF0E2"/>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5EB350EC-C03C-4368-A1B1-7AD2841FA9B2}"/>
              </a:ext>
            </a:extLst>
          </p:cNvPr>
          <p:cNvSpPr>
            <a:spLocks xmlns:a="http://schemas.openxmlformats.org/drawingml/2006/main" noGrp="1"/>
          </p:cNvSpPr>
          <p:nvPr/>
        </p:nvSpPr>
        <p:spPr>
          <a:xfrm xmlns:a="http://schemas.openxmlformats.org/drawingml/2006/main">
            <a:off x="647700" y="5943600"/>
            <a:ext cx="57150" cy="400050"/>
          </a:xfrm>
          <a:prstGeom xmlns:a="http://schemas.openxmlformats.org/drawingml/2006/main" prst="rect">
            <a:avLst/>
          </a:prstGeom>
          <a:solidFill xmlns:a="http://schemas.openxmlformats.org/drawingml/2006/main">
            <a:srgbClr val="ED7F0D"/>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053A7110-7828-464C-B421-D88C7D799848}"/>
              </a:ext>
            </a:extLst>
          </p:cNvPr>
          <p:cNvSpPr>
            <a:spLocks xmlns:a="http://schemas.openxmlformats.org/drawingml/2006/main" noGrp="1"/>
          </p:cNvSpPr>
          <p:nvPr/>
        </p:nvSpPr>
        <p:spPr>
          <a:xfrm xmlns:a="http://schemas.openxmlformats.org/drawingml/2006/main">
            <a:off x="838200" y="5981700"/>
            <a:ext cx="10458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152538"/>
                </a:solidFill>
              </a:defRPr>
            </a:pPr>
            <a:r>
              <a:rPr sz="1275" b="1">
                <a:solidFill>
                  <a:srgbClr val="152538"/>
                </a:solidFill>
              </a:rPr>
              <a:t>Ground-truth geometry appears only in offline grading.</a:t>
            </a:r>
          </a:p>
        </p:txBody>
      </p:sp>
    </p:spTree>
    <p:extLst>
      <p:ext uri="{BB962C8B-B14F-4D97-AF65-F5344CB8AC3E}">
        <p14:creationId xmlns:p14="http://schemas.microsoft.com/office/powerpoint/2010/main" val="1437320717"/>
      </p:ext>
    </p:extLst>
  </p:cSld>
</p:sld>
</file>

<file path=ppt/slides/slide13.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CA7047D-29D5-4876-9C3C-9B2D0FA58554}"/>
              </a:ext>
            </a:extLst>
          </p:cNvPr>
          <p:cNvSpPr>
            <a:spLocks xmlns:a="http://schemas.openxmlformats.org/drawingml/2006/main" noGrp="1"/>
          </p:cNvSpPr>
          <p:nvPr/>
        </p:nvSpPr>
        <p:spPr>
          <a:xfrm xmlns:a="http://schemas.openxmlformats.org/drawingml/2006/main">
            <a:off x="647700" y="2286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ED7F0D"/>
                </a:solidFill>
              </a:defRPr>
            </a:pPr>
            <a:r>
              <a:rPr sz="1050" b="1">
                <a:solidFill>
                  <a:srgbClr val="ED7F0D"/>
                </a:solidFill>
              </a:rPr>
              <a:t>13</a:t>
            </a:r>
          </a:p>
        </p:txBody>
      </p:sp>
      <p:sp>
        <p:nvSpPr>
          <p:cNvPr id="2" name="">
            <a:extLst xmlns:a="http://schemas.openxmlformats.org/drawingml/2006/main">
              <a:ext uri="{FF2B5EF4-FFF2-40B4-BE49-F238E27FC236}">
                <a16:creationId xmlns:a16="http://schemas.microsoft.com/office/drawing/2014/main" id="{5C45F3B6-90DD-43E2-8161-6ECD823746F0}"/>
              </a:ext>
            </a:extLst>
          </p:cNvPr>
          <p:cNvSpPr>
            <a:spLocks xmlns:a="http://schemas.openxmlformats.org/drawingml/2006/main" noGrp="1"/>
          </p:cNvSpPr>
          <p:nvPr/>
        </p:nvSpPr>
        <p:spPr>
          <a:xfrm xmlns:a="http://schemas.openxmlformats.org/drawingml/2006/main">
            <a:off x="1104900" y="22860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6B7580"/>
                </a:solidFill>
              </a:defRPr>
            </a:pPr>
            <a:r>
              <a:rPr sz="975" b="1">
                <a:solidFill>
                  <a:srgbClr val="6B7580"/>
                </a:solidFill>
              </a:rPr>
              <a:t>TASK</a:t>
            </a:r>
          </a:p>
        </p:txBody>
      </p:sp>
      <p:sp>
        <p:nvSpPr>
          <p:cNvPr id="3" name="">
            <a:extLst xmlns:a="http://schemas.openxmlformats.org/drawingml/2006/main">
              <a:ext uri="{FF2B5EF4-FFF2-40B4-BE49-F238E27FC236}">
                <a16:creationId xmlns:a16="http://schemas.microsoft.com/office/drawing/2014/main" id="{6B2E76D1-B0A2-4DE2-AD73-1D0803585033}"/>
              </a:ext>
            </a:extLst>
          </p:cNvPr>
          <p:cNvSpPr>
            <a:spLocks xmlns:a="http://schemas.openxmlformats.org/drawingml/2006/main" noGrp="1"/>
          </p:cNvSpPr>
          <p:nvPr/>
        </p:nvSpPr>
        <p:spPr>
          <a:xfrm xmlns:a="http://schemas.openxmlformats.org/drawingml/2006/main">
            <a:off x="6191250" y="228600"/>
            <a:ext cx="5353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0">
                <a:solidFill>
                  <a:srgbClr val="6B7580"/>
                </a:solidFill>
              </a:defRPr>
            </a:pPr>
            <a:r>
              <a:rPr sz="825" b="0">
                <a:solidFill>
                  <a:srgbClr val="6B7580"/>
                </a:solidFill>
              </a:rPr>
              <a:t>Problem   ● Task   Framework   Simulation   Hardware   Discussion</a:t>
            </a:r>
          </a:p>
        </p:txBody>
      </p:sp>
      <p:sp>
        <p:nvSpPr>
          <p:cNvPr id="4" name="">
            <a:extLst xmlns:a="http://schemas.openxmlformats.org/drawingml/2006/main">
              <a:ext uri="{FF2B5EF4-FFF2-40B4-BE49-F238E27FC236}">
                <a16:creationId xmlns:a16="http://schemas.microsoft.com/office/drawing/2014/main" id="{68278E35-DC45-40DE-B828-2181148CFC36}"/>
              </a:ext>
            </a:extLst>
          </p:cNvPr>
          <p:cNvSpPr>
            <a:spLocks xmlns:a="http://schemas.openxmlformats.org/drawingml/2006/main" noGrp="1"/>
          </p:cNvSpPr>
          <p:nvPr/>
        </p:nvSpPr>
        <p:spPr>
          <a:xfrm xmlns:a="http://schemas.openxmlformats.org/drawingml/2006/main">
            <a:off x="647700" y="533400"/>
            <a:ext cx="108394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700" b="1">
                <a:solidFill>
                  <a:srgbClr val="004282"/>
                </a:solidFill>
              </a:defRPr>
            </a:pPr>
            <a:r>
              <a:rPr sz="2700" b="1">
                <a:solidFill>
                  <a:srgbClr val="004282"/>
                </a:solidFill>
              </a:rPr>
              <a:t>Success needs capture, safe depth progress and a terminal dwell</a:t>
            </a:r>
          </a:p>
        </p:txBody>
      </p:sp>
      <p:sp>
        <p:nvSpPr>
          <p:cNvPr id="5" name="">
            <a:extLst xmlns:a="http://schemas.openxmlformats.org/drawingml/2006/main">
              <a:ext uri="{FF2B5EF4-FFF2-40B4-BE49-F238E27FC236}">
                <a16:creationId xmlns:a16="http://schemas.microsoft.com/office/drawing/2014/main" id="{3AC37451-7DF7-46DA-AD47-CFE2E89CB68C}"/>
              </a:ext>
            </a:extLst>
          </p:cNvPr>
          <p:cNvSpPr>
            <a:spLocks xmlns:a="http://schemas.openxmlformats.org/drawingml/2006/main" noGrp="1"/>
          </p:cNvSpPr>
          <p:nvPr/>
        </p:nvSpPr>
        <p:spPr>
          <a:xfrm xmlns:a="http://schemas.openxmlformats.org/drawingml/2006/main">
            <a:off x="647700" y="1257300"/>
            <a:ext cx="609600" cy="47625"/>
          </a:xfrm>
          <a:prstGeom xmlns:a="http://schemas.openxmlformats.org/drawingml/2006/main" prst="rect">
            <a:avLst/>
          </a:prstGeom>
          <a:solidFill xmlns:a="http://schemas.openxmlformats.org/drawingml/2006/main">
            <a:srgbClr val="ED7F0D"/>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AC0F5B10-1703-43D0-8A81-5F4166EDE86F}"/>
              </a:ext>
            </a:extLst>
          </p:cNvPr>
          <p:cNvSpPr>
            <a:spLocks xmlns:a="http://schemas.openxmlformats.org/drawingml/2006/main" noGrp="1"/>
          </p:cNvSpPr>
          <p:nvPr/>
        </p:nvSpPr>
        <p:spPr>
          <a:xfrm xmlns:a="http://schemas.openxmlformats.org/drawingml/2006/main">
            <a:off x="647700" y="6486525"/>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6B7580"/>
                </a:solidFill>
              </a:defRPr>
            </a:pPr>
            <a:r>
              <a:rPr sz="825" b="0">
                <a:solidFill>
                  <a:srgbClr val="6B7580"/>
                </a:solidFill>
              </a:rPr>
              <a:t>Nan Jinyao · Paper-aligned group review</a:t>
            </a:r>
          </a:p>
        </p:txBody>
      </p:sp>
      <p:sp>
        <p:nvSpPr>
          <p:cNvPr id="7" name="">
            <a:extLst xmlns:a="http://schemas.openxmlformats.org/drawingml/2006/main">
              <a:ext uri="{FF2B5EF4-FFF2-40B4-BE49-F238E27FC236}">
                <a16:creationId xmlns:a16="http://schemas.microsoft.com/office/drawing/2014/main" id="{CDB93B20-C64F-4DD4-8719-CB55B2F7A060}"/>
              </a:ext>
            </a:extLst>
          </p:cNvPr>
          <p:cNvSpPr>
            <a:spLocks xmlns:a="http://schemas.openxmlformats.org/drawingml/2006/main" noGrp="1"/>
          </p:cNvSpPr>
          <p:nvPr/>
        </p:nvSpPr>
        <p:spPr>
          <a:xfrm xmlns:a="http://schemas.openxmlformats.org/drawingml/2006/main">
            <a:off x="4476750" y="6486525"/>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0">
                <a:solidFill>
                  <a:srgbClr val="6B7580"/>
                </a:solidFill>
              </a:defRPr>
            </a:pPr>
            <a:r>
              <a:rPr sz="825" b="0">
                <a:solidFill>
                  <a:srgbClr val="6B7580"/>
                </a:solidFill>
              </a:rPr>
              <a:t>Sec. II-A · Eqs. (4)–(5)</a:t>
            </a:r>
          </a:p>
        </p:txBody>
      </p:sp>
      <p:sp>
        <p:nvSpPr>
          <p:cNvPr id="8" name="">
            <a:extLst xmlns:a="http://schemas.openxmlformats.org/drawingml/2006/main">
              <a:ext uri="{FF2B5EF4-FFF2-40B4-BE49-F238E27FC236}">
                <a16:creationId xmlns:a16="http://schemas.microsoft.com/office/drawing/2014/main" id="{6226B1D5-E16D-483E-8834-D54FD73D2194}"/>
              </a:ext>
            </a:extLst>
          </p:cNvPr>
          <p:cNvSpPr>
            <a:spLocks xmlns:a="http://schemas.openxmlformats.org/drawingml/2006/main" noGrp="1"/>
          </p:cNvSpPr>
          <p:nvPr/>
        </p:nvSpPr>
        <p:spPr>
          <a:xfrm xmlns:a="http://schemas.openxmlformats.org/drawingml/2006/main">
            <a:off x="11049000" y="648652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004282"/>
                </a:solidFill>
              </a:defRPr>
            </a:pPr>
            <a:r>
              <a:rPr sz="825" b="1">
                <a:solidFill>
                  <a:srgbClr val="004282"/>
                </a:solidFill>
              </a:rPr>
              <a:t>13</a:t>
            </a:r>
          </a:p>
        </p:txBody>
      </p:sp>
      <p:sp>
        <p:nvSpPr>
          <p:cNvPr id="9" name="">
            <a:extLst xmlns:a="http://schemas.openxmlformats.org/drawingml/2006/main">
              <a:ext uri="{FF2B5EF4-FFF2-40B4-BE49-F238E27FC236}">
                <a16:creationId xmlns:a16="http://schemas.microsoft.com/office/drawing/2014/main" id="{000A77C7-A936-4A8B-BA39-5FA8695FECCD}"/>
              </a:ext>
            </a:extLst>
          </p:cNvPr>
          <p:cNvSpPr>
            <a:spLocks xmlns:a="http://schemas.openxmlformats.org/drawingml/2006/main" noGrp="1"/>
          </p:cNvSpPr>
          <p:nvPr/>
        </p:nvSpPr>
        <p:spPr>
          <a:xfrm xmlns:a="http://schemas.openxmlformats.org/drawingml/2006/main">
            <a:off x="1104900" y="3248025"/>
            <a:ext cx="9525000" cy="47625"/>
          </a:xfrm>
          <a:prstGeom xmlns:a="http://schemas.openxmlformats.org/drawingml/2006/main" prst="rect">
            <a:avLst/>
          </a:prstGeom>
          <a:solidFill xmlns:a="http://schemas.openxmlformats.org/drawingml/2006/main">
            <a:srgbClr val="D9E0E6"/>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1724832-E601-47EF-B52F-E3CD8AC6B920}"/>
              </a:ext>
            </a:extLst>
          </p:cNvPr>
          <p:cNvSpPr>
            <a:spLocks xmlns:a="http://schemas.openxmlformats.org/drawingml/2006/main" noGrp="1"/>
          </p:cNvSpPr>
          <p:nvPr/>
        </p:nvSpPr>
        <p:spPr>
          <a:xfrm xmlns:a="http://schemas.openxmlformats.org/drawingml/2006/main">
            <a:off x="1238250" y="3048000"/>
            <a:ext cx="419100" cy="419100"/>
          </a:xfrm>
          <a:prstGeom xmlns:a="http://schemas.openxmlformats.org/drawingml/2006/main" prst="ellipse">
            <a:avLst/>
          </a:prstGeom>
          <a:solidFill xmlns:a="http://schemas.openxmlformats.org/drawingml/2006/main">
            <a:srgbClr val="004282"/>
          </a:solidFill>
          <a:ln xmlns:a="http://schemas.openxmlformats.org/drawingml/2006/main" w="9525">
            <a:solidFill>
              <a:srgbClr val="004282"/>
            </a:solidFill>
            <a:prstDash val="solid"/>
          </a:ln>
        </p:spPr>
      </p:sp>
      <p:sp>
        <p:nvSpPr>
          <p:cNvPr id="11" name="">
            <a:extLst xmlns:a="http://schemas.openxmlformats.org/drawingml/2006/main">
              <a:ext uri="{FF2B5EF4-FFF2-40B4-BE49-F238E27FC236}">
                <a16:creationId xmlns:a16="http://schemas.microsoft.com/office/drawing/2014/main" id="{DA4A315D-3C9D-4E5C-919E-F2769D3401B4}"/>
              </a:ext>
            </a:extLst>
          </p:cNvPr>
          <p:cNvSpPr>
            <a:spLocks xmlns:a="http://schemas.openxmlformats.org/drawingml/2006/main" noGrp="1"/>
          </p:cNvSpPr>
          <p:nvPr/>
        </p:nvSpPr>
        <p:spPr>
          <a:xfrm xmlns:a="http://schemas.openxmlformats.org/drawingml/2006/main">
            <a:off x="1238250" y="3105150"/>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FFFFFF"/>
                </a:solidFill>
              </a:defRPr>
            </a:pPr>
            <a:r>
              <a:rPr sz="1125" b="1">
                <a:solidFill>
                  <a:srgbClr val="FFFFFF"/>
                </a:solidFill>
              </a:rPr>
              <a:t>1</a:t>
            </a:r>
          </a:p>
        </p:txBody>
      </p:sp>
      <p:sp>
        <p:nvSpPr>
          <p:cNvPr id="12" name="">
            <a:extLst xmlns:a="http://schemas.openxmlformats.org/drawingml/2006/main">
              <a:ext uri="{FF2B5EF4-FFF2-40B4-BE49-F238E27FC236}">
                <a16:creationId xmlns:a16="http://schemas.microsoft.com/office/drawing/2014/main" id="{CC6045DE-C509-4638-9FBE-499C2ED522C0}"/>
              </a:ext>
            </a:extLst>
          </p:cNvPr>
          <p:cNvSpPr>
            <a:spLocks xmlns:a="http://schemas.openxmlformats.org/drawingml/2006/main" noGrp="1"/>
          </p:cNvSpPr>
          <p:nvPr/>
        </p:nvSpPr>
        <p:spPr>
          <a:xfrm xmlns:a="http://schemas.openxmlformats.org/drawingml/2006/main">
            <a:off x="495300" y="3638550"/>
            <a:ext cx="1905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004282"/>
                </a:solidFill>
              </a:defRPr>
            </a:pPr>
            <a:r>
              <a:rPr sz="1500" b="1">
                <a:solidFill>
                  <a:srgbClr val="004282"/>
                </a:solidFill>
              </a:rPr>
              <a:t>Stable touchdown</a:t>
            </a:r>
          </a:p>
        </p:txBody>
      </p:sp>
      <p:sp>
        <p:nvSpPr>
          <p:cNvPr id="13" name="">
            <a:extLst xmlns:a="http://schemas.openxmlformats.org/drawingml/2006/main">
              <a:ext uri="{FF2B5EF4-FFF2-40B4-BE49-F238E27FC236}">
                <a16:creationId xmlns:a16="http://schemas.microsoft.com/office/drawing/2014/main" id="{337017CA-3C77-40F2-A763-BE4E4E2531C2}"/>
              </a:ext>
            </a:extLst>
          </p:cNvPr>
          <p:cNvSpPr>
            <a:spLocks xmlns:a="http://schemas.openxmlformats.org/drawingml/2006/main" noGrp="1"/>
          </p:cNvSpPr>
          <p:nvPr/>
        </p:nvSpPr>
        <p:spPr>
          <a:xfrm xmlns:a="http://schemas.openxmlformats.org/drawingml/2006/main">
            <a:off x="4191000" y="3048000"/>
            <a:ext cx="419100" cy="419100"/>
          </a:xfrm>
          <a:prstGeom xmlns:a="http://schemas.openxmlformats.org/drawingml/2006/main" prst="ellipse">
            <a:avLst/>
          </a:prstGeom>
          <a:solidFill xmlns:a="http://schemas.openxmlformats.org/drawingml/2006/main">
            <a:srgbClr val="004282"/>
          </a:solidFill>
          <a:ln xmlns:a="http://schemas.openxmlformats.org/drawingml/2006/main" w="9525">
            <a:solidFill>
              <a:srgbClr val="004282"/>
            </a:solidFill>
            <a:prstDash val="solid"/>
          </a:ln>
        </p:spPr>
      </p:sp>
      <p:sp>
        <p:nvSpPr>
          <p:cNvPr id="14" name="">
            <a:extLst xmlns:a="http://schemas.openxmlformats.org/drawingml/2006/main">
              <a:ext uri="{FF2B5EF4-FFF2-40B4-BE49-F238E27FC236}">
                <a16:creationId xmlns:a16="http://schemas.microsoft.com/office/drawing/2014/main" id="{6FA2F927-6A4A-4210-8364-58A9C9BA55A1}"/>
              </a:ext>
            </a:extLst>
          </p:cNvPr>
          <p:cNvSpPr>
            <a:spLocks xmlns:a="http://schemas.openxmlformats.org/drawingml/2006/main" noGrp="1"/>
          </p:cNvSpPr>
          <p:nvPr/>
        </p:nvSpPr>
        <p:spPr>
          <a:xfrm xmlns:a="http://schemas.openxmlformats.org/drawingml/2006/main">
            <a:off x="4191000" y="3105150"/>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FFFFFF"/>
                </a:solidFill>
              </a:defRPr>
            </a:pPr>
            <a:r>
              <a:rPr sz="1125" b="1">
                <a:solidFill>
                  <a:srgbClr val="FFFFFF"/>
                </a:solidFill>
              </a:rPr>
              <a:t>2</a:t>
            </a:r>
          </a:p>
        </p:txBody>
      </p:sp>
      <p:sp>
        <p:nvSpPr>
          <p:cNvPr id="15" name="">
            <a:extLst xmlns:a="http://schemas.openxmlformats.org/drawingml/2006/main">
              <a:ext uri="{FF2B5EF4-FFF2-40B4-BE49-F238E27FC236}">
                <a16:creationId xmlns:a16="http://schemas.microsoft.com/office/drawing/2014/main" id="{67D669FA-9FB4-4E18-8EE1-1F866E0D800F}"/>
              </a:ext>
            </a:extLst>
          </p:cNvPr>
          <p:cNvSpPr>
            <a:spLocks xmlns:a="http://schemas.openxmlformats.org/drawingml/2006/main" noGrp="1"/>
          </p:cNvSpPr>
          <p:nvPr/>
        </p:nvSpPr>
        <p:spPr>
          <a:xfrm xmlns:a="http://schemas.openxmlformats.org/drawingml/2006/main">
            <a:off x="3448050" y="3638550"/>
            <a:ext cx="1905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004282"/>
                </a:solidFill>
              </a:defRPr>
            </a:pPr>
            <a:r>
              <a:rPr sz="1500" b="1">
                <a:solidFill>
                  <a:srgbClr val="004282"/>
                </a:solidFill>
              </a:rPr>
              <a:t>Capture cue</a:t>
            </a:r>
          </a:p>
        </p:txBody>
      </p:sp>
      <p:sp>
        <p:nvSpPr>
          <p:cNvPr id="16" name="">
            <a:extLst xmlns:a="http://schemas.openxmlformats.org/drawingml/2006/main">
              <a:ext uri="{FF2B5EF4-FFF2-40B4-BE49-F238E27FC236}">
                <a16:creationId xmlns:a16="http://schemas.microsoft.com/office/drawing/2014/main" id="{D8FCE6EA-7B4A-4F87-BCDB-49100B8BF437}"/>
              </a:ext>
            </a:extLst>
          </p:cNvPr>
          <p:cNvSpPr>
            <a:spLocks xmlns:a="http://schemas.openxmlformats.org/drawingml/2006/main" noGrp="1"/>
          </p:cNvSpPr>
          <p:nvPr/>
        </p:nvSpPr>
        <p:spPr>
          <a:xfrm xmlns:a="http://schemas.openxmlformats.org/drawingml/2006/main">
            <a:off x="7143750" y="3048000"/>
            <a:ext cx="419100" cy="419100"/>
          </a:xfrm>
          <a:prstGeom xmlns:a="http://schemas.openxmlformats.org/drawingml/2006/main" prst="ellipse">
            <a:avLst/>
          </a:prstGeom>
          <a:solidFill xmlns:a="http://schemas.openxmlformats.org/drawingml/2006/main">
            <a:srgbClr val="004282"/>
          </a:solidFill>
          <a:ln xmlns:a="http://schemas.openxmlformats.org/drawingml/2006/main" w="9525">
            <a:solidFill>
              <a:srgbClr val="004282"/>
            </a:solidFill>
            <a:prstDash val="solid"/>
          </a:ln>
        </p:spPr>
      </p:sp>
      <p:sp>
        <p:nvSpPr>
          <p:cNvPr id="17" name="">
            <a:extLst xmlns:a="http://schemas.openxmlformats.org/drawingml/2006/main">
              <a:ext uri="{FF2B5EF4-FFF2-40B4-BE49-F238E27FC236}">
                <a16:creationId xmlns:a16="http://schemas.microsoft.com/office/drawing/2014/main" id="{73FEA6AB-583F-46C3-9EAD-CC4DB0A8DEF9}"/>
              </a:ext>
            </a:extLst>
          </p:cNvPr>
          <p:cNvSpPr>
            <a:spLocks xmlns:a="http://schemas.openxmlformats.org/drawingml/2006/main" noGrp="1"/>
          </p:cNvSpPr>
          <p:nvPr/>
        </p:nvSpPr>
        <p:spPr>
          <a:xfrm xmlns:a="http://schemas.openxmlformats.org/drawingml/2006/main">
            <a:off x="7143750" y="3105150"/>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FFFFFF"/>
                </a:solidFill>
              </a:defRPr>
            </a:pPr>
            <a:r>
              <a:rPr sz="1125" b="1">
                <a:solidFill>
                  <a:srgbClr val="FFFFFF"/>
                </a:solidFill>
              </a:rPr>
              <a:t>3</a:t>
            </a:r>
          </a:p>
        </p:txBody>
      </p:sp>
      <p:sp>
        <p:nvSpPr>
          <p:cNvPr id="18" name="">
            <a:extLst xmlns:a="http://schemas.openxmlformats.org/drawingml/2006/main">
              <a:ext uri="{FF2B5EF4-FFF2-40B4-BE49-F238E27FC236}">
                <a16:creationId xmlns:a16="http://schemas.microsoft.com/office/drawing/2014/main" id="{770C7984-BC24-4759-8982-ED0F34244C74}"/>
              </a:ext>
            </a:extLst>
          </p:cNvPr>
          <p:cNvSpPr>
            <a:spLocks xmlns:a="http://schemas.openxmlformats.org/drawingml/2006/main" noGrp="1"/>
          </p:cNvSpPr>
          <p:nvPr/>
        </p:nvSpPr>
        <p:spPr>
          <a:xfrm xmlns:a="http://schemas.openxmlformats.org/drawingml/2006/main">
            <a:off x="6400800" y="3638550"/>
            <a:ext cx="1905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004282"/>
                </a:solidFill>
              </a:defRPr>
            </a:pPr>
            <a:r>
              <a:rPr sz="1500" b="1">
                <a:solidFill>
                  <a:srgbClr val="004282"/>
                </a:solidFill>
              </a:rPr>
              <a:t>Bottom-mode dwell</a:t>
            </a:r>
          </a:p>
        </p:txBody>
      </p:sp>
      <p:sp>
        <p:nvSpPr>
          <p:cNvPr id="19" name="">
            <a:extLst xmlns:a="http://schemas.openxmlformats.org/drawingml/2006/main">
              <a:ext uri="{FF2B5EF4-FFF2-40B4-BE49-F238E27FC236}">
                <a16:creationId xmlns:a16="http://schemas.microsoft.com/office/drawing/2014/main" id="{250805AB-D970-4029-8EDD-CEB8165367A4}"/>
              </a:ext>
            </a:extLst>
          </p:cNvPr>
          <p:cNvSpPr>
            <a:spLocks xmlns:a="http://schemas.openxmlformats.org/drawingml/2006/main" noGrp="1"/>
          </p:cNvSpPr>
          <p:nvPr/>
        </p:nvSpPr>
        <p:spPr>
          <a:xfrm xmlns:a="http://schemas.openxmlformats.org/drawingml/2006/main">
            <a:off x="10096500" y="3048000"/>
            <a:ext cx="419100" cy="419100"/>
          </a:xfrm>
          <a:prstGeom xmlns:a="http://schemas.openxmlformats.org/drawingml/2006/main" prst="ellipse">
            <a:avLst/>
          </a:prstGeom>
          <a:solidFill xmlns:a="http://schemas.openxmlformats.org/drawingml/2006/main">
            <a:srgbClr val="ED7F0D"/>
          </a:solidFill>
          <a:ln xmlns:a="http://schemas.openxmlformats.org/drawingml/2006/main" w="9525">
            <a:solidFill>
              <a:srgbClr val="ED7F0D"/>
            </a:solidFill>
            <a:prstDash val="solid"/>
          </a:ln>
        </p:spPr>
      </p:sp>
      <p:sp>
        <p:nvSpPr>
          <p:cNvPr id="20" name="">
            <a:extLst xmlns:a="http://schemas.openxmlformats.org/drawingml/2006/main">
              <a:ext uri="{FF2B5EF4-FFF2-40B4-BE49-F238E27FC236}">
                <a16:creationId xmlns:a16="http://schemas.microsoft.com/office/drawing/2014/main" id="{31F3675A-D688-40E8-9B11-8D42D7B6F1F8}"/>
              </a:ext>
            </a:extLst>
          </p:cNvPr>
          <p:cNvSpPr>
            <a:spLocks xmlns:a="http://schemas.openxmlformats.org/drawingml/2006/main" noGrp="1"/>
          </p:cNvSpPr>
          <p:nvPr/>
        </p:nvSpPr>
        <p:spPr>
          <a:xfrm xmlns:a="http://schemas.openxmlformats.org/drawingml/2006/main">
            <a:off x="10096500" y="3105150"/>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FFFFFF"/>
                </a:solidFill>
              </a:defRPr>
            </a:pPr>
            <a:r>
              <a:rPr sz="1125" b="1">
                <a:solidFill>
                  <a:srgbClr val="FFFFFF"/>
                </a:solidFill>
              </a:rPr>
              <a:t>4</a:t>
            </a:r>
          </a:p>
        </p:txBody>
      </p:sp>
      <p:sp>
        <p:nvSpPr>
          <p:cNvPr id="21" name="">
            <a:extLst xmlns:a="http://schemas.openxmlformats.org/drawingml/2006/main">
              <a:ext uri="{FF2B5EF4-FFF2-40B4-BE49-F238E27FC236}">
                <a16:creationId xmlns:a16="http://schemas.microsoft.com/office/drawing/2014/main" id="{B761E5B8-91C2-42F6-95A5-D6A32C09ECA0}"/>
              </a:ext>
            </a:extLst>
          </p:cNvPr>
          <p:cNvSpPr>
            <a:spLocks xmlns:a="http://schemas.openxmlformats.org/drawingml/2006/main" noGrp="1"/>
          </p:cNvSpPr>
          <p:nvPr/>
        </p:nvSpPr>
        <p:spPr>
          <a:xfrm xmlns:a="http://schemas.openxmlformats.org/drawingml/2006/main">
            <a:off x="9353550" y="3638550"/>
            <a:ext cx="1905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ED7F0D"/>
                </a:solidFill>
              </a:defRPr>
            </a:pPr>
            <a:r>
              <a:rPr sz="1500" b="1">
                <a:solidFill>
                  <a:srgbClr val="ED7F0D"/>
                </a:solidFill>
              </a:rPr>
              <a:t>Verified event</a:t>
            </a:r>
          </a:p>
        </p:txBody>
      </p:sp>
      <p:sp>
        <p:nvSpPr>
          <p:cNvPr id="22" name="">
            <a:extLst xmlns:a="http://schemas.openxmlformats.org/drawingml/2006/main">
              <a:ext uri="{FF2B5EF4-FFF2-40B4-BE49-F238E27FC236}">
                <a16:creationId xmlns:a16="http://schemas.microsoft.com/office/drawing/2014/main" id="{80504BB8-E453-4E9B-B3E7-CB2B5F7F5CBC}"/>
              </a:ext>
            </a:extLst>
          </p:cNvPr>
          <p:cNvSpPr>
            <a:spLocks xmlns:a="http://schemas.openxmlformats.org/drawingml/2006/main" noGrp="1"/>
          </p:cNvSpPr>
          <p:nvPr/>
        </p:nvSpPr>
        <p:spPr>
          <a:xfrm xmlns:a="http://schemas.openxmlformats.org/drawingml/2006/main">
            <a:off x="3143250" y="1809750"/>
            <a:ext cx="5905500" cy="723900"/>
          </a:xfrm>
          <a:prstGeom xmlns:a="http://schemas.openxmlformats.org/drawingml/2006/main" prst="roundRect">
            <a:avLst>
              <a:gd name="adj" fmla="val 10526"/>
            </a:avLst>
          </a:prstGeom>
          <a:solidFill xmlns:a="http://schemas.openxmlformats.org/drawingml/2006/main">
            <a:srgbClr val="FFFFFF"/>
          </a:solidFill>
          <a:ln xmlns:a="http://schemas.openxmlformats.org/drawingml/2006/main" w="9525">
            <a:solidFill>
              <a:srgbClr val="D9E0E6"/>
            </a:solidFill>
            <a:prstDash val="solid"/>
          </a:ln>
        </p:spPr>
      </p:sp>
      <p:sp>
        <p:nvSpPr>
          <p:cNvPr id="23" name="">
            <a:extLst xmlns:a="http://schemas.openxmlformats.org/drawingml/2006/main">
              <a:ext uri="{FF2B5EF4-FFF2-40B4-BE49-F238E27FC236}">
                <a16:creationId xmlns:a16="http://schemas.microsoft.com/office/drawing/2014/main" id="{50D7941E-917B-49A3-91EE-7AB1DFFD82F9}"/>
              </a:ext>
            </a:extLst>
          </p:cNvPr>
          <p:cNvSpPr>
            <a:spLocks xmlns:a="http://schemas.openxmlformats.org/drawingml/2006/main" noGrp="1"/>
          </p:cNvSpPr>
          <p:nvPr/>
        </p:nvSpPr>
        <p:spPr>
          <a:xfrm xmlns:a="http://schemas.openxmlformats.org/drawingml/2006/main">
            <a:off x="3333750" y="1943100"/>
            <a:ext cx="552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100" b="1">
                <a:solidFill>
                  <a:srgbClr val="152538"/>
                </a:solidFill>
              </a:defRPr>
            </a:pPr>
            <a:r>
              <a:rPr sz="2100" b="1">
                <a:solidFill>
                  <a:srgbClr val="152538"/>
                </a:solidFill>
              </a:rPr>
              <a:t>γcap(tc) · γdwell(tb) · γsafe[0,tb] = 1</a:t>
            </a:r>
          </a:p>
        </p:txBody>
      </p:sp>
      <p:sp>
        <p:nvSpPr>
          <p:cNvPr id="24" name="">
            <a:extLst xmlns:a="http://schemas.openxmlformats.org/drawingml/2006/main">
              <a:ext uri="{FF2B5EF4-FFF2-40B4-BE49-F238E27FC236}">
                <a16:creationId xmlns:a16="http://schemas.microsoft.com/office/drawing/2014/main" id="{AAE9A271-3A35-4D29-94D4-A1A3DD7F3CAF}"/>
              </a:ext>
            </a:extLst>
          </p:cNvPr>
          <p:cNvSpPr>
            <a:spLocks xmlns:a="http://schemas.openxmlformats.org/drawingml/2006/main" noGrp="1"/>
          </p:cNvSpPr>
          <p:nvPr/>
        </p:nvSpPr>
        <p:spPr>
          <a:xfrm xmlns:a="http://schemas.openxmlformats.org/drawingml/2006/main">
            <a:off x="4895850" y="4714875"/>
            <a:ext cx="2381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025" b="1">
                <a:solidFill>
                  <a:srgbClr val="C74A4A"/>
                </a:solidFill>
              </a:defRPr>
            </a:pPr>
            <a:r>
              <a:rPr sz="2025" b="1">
                <a:solidFill>
                  <a:srgbClr val="C74A4A"/>
                </a:solidFill>
              </a:rPr>
              <a:t>Tₘₐₓ = 130 s</a:t>
            </a:r>
          </a:p>
        </p:txBody>
      </p:sp>
      <p:sp>
        <p:nvSpPr>
          <p:cNvPr id="25" name="">
            <a:extLst xmlns:a="http://schemas.openxmlformats.org/drawingml/2006/main">
              <a:ext uri="{FF2B5EF4-FFF2-40B4-BE49-F238E27FC236}">
                <a16:creationId xmlns:a16="http://schemas.microsoft.com/office/drawing/2014/main" id="{95159107-F998-47AB-9DED-6DED935D60CD}"/>
              </a:ext>
            </a:extLst>
          </p:cNvPr>
          <p:cNvSpPr>
            <a:spLocks xmlns:a="http://schemas.openxmlformats.org/drawingml/2006/main" noGrp="1"/>
          </p:cNvSpPr>
          <p:nvPr/>
        </p:nvSpPr>
        <p:spPr>
          <a:xfrm xmlns:a="http://schemas.openxmlformats.org/drawingml/2006/main">
            <a:off x="647700" y="5943600"/>
            <a:ext cx="10839450" cy="400050"/>
          </a:xfrm>
          <a:prstGeom xmlns:a="http://schemas.openxmlformats.org/drawingml/2006/main" prst="rect">
            <a:avLst/>
          </a:prstGeom>
          <a:solidFill xmlns:a="http://schemas.openxmlformats.org/drawingml/2006/main">
            <a:srgbClr val="FFF0E2"/>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A8091E0C-E836-4275-80E1-4210DA29DA31}"/>
              </a:ext>
            </a:extLst>
          </p:cNvPr>
          <p:cNvSpPr>
            <a:spLocks xmlns:a="http://schemas.openxmlformats.org/drawingml/2006/main" noGrp="1"/>
          </p:cNvSpPr>
          <p:nvPr/>
        </p:nvSpPr>
        <p:spPr>
          <a:xfrm xmlns:a="http://schemas.openxmlformats.org/drawingml/2006/main">
            <a:off x="647700" y="5943600"/>
            <a:ext cx="57150" cy="400050"/>
          </a:xfrm>
          <a:prstGeom xmlns:a="http://schemas.openxmlformats.org/drawingml/2006/main" prst="rect">
            <a:avLst/>
          </a:prstGeom>
          <a:solidFill xmlns:a="http://schemas.openxmlformats.org/drawingml/2006/main">
            <a:srgbClr val="ED7F0D"/>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88B41F3C-C16F-4DBA-85D6-877D5C170935}"/>
              </a:ext>
            </a:extLst>
          </p:cNvPr>
          <p:cNvSpPr>
            <a:spLocks xmlns:a="http://schemas.openxmlformats.org/drawingml/2006/main" noGrp="1"/>
          </p:cNvSpPr>
          <p:nvPr/>
        </p:nvSpPr>
        <p:spPr>
          <a:xfrm xmlns:a="http://schemas.openxmlformats.org/drawingml/2006/main">
            <a:off x="838200" y="5981700"/>
            <a:ext cx="10458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152538"/>
                </a:solidFill>
              </a:defRPr>
            </a:pPr>
            <a:r>
              <a:rPr sz="1275" b="1">
                <a:solidFill>
                  <a:srgbClr val="152538"/>
                </a:solidFill>
              </a:rPr>
              <a:t>The event must occur before 130 s and without a force-limit stop.</a:t>
            </a:r>
          </a:p>
        </p:txBody>
      </p:sp>
    </p:spTree>
    <p:extLst>
      <p:ext uri="{BB962C8B-B14F-4D97-AF65-F5344CB8AC3E}">
        <p14:creationId xmlns:p14="http://schemas.microsoft.com/office/powerpoint/2010/main" val="2046054581"/>
      </p:ext>
    </p:extLst>
  </p:cSld>
</p:sld>
</file>

<file path=ppt/slides/slide14.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E41499F-67FD-4CAB-9B49-A40DCE18D641}"/>
              </a:ext>
            </a:extLst>
          </p:cNvPr>
          <p:cNvSpPr>
            <a:spLocks xmlns:a="http://schemas.openxmlformats.org/drawingml/2006/main" noGrp="1"/>
          </p:cNvSpPr>
          <p:nvPr/>
        </p:nvSpPr>
        <p:spPr>
          <a:xfrm xmlns:a="http://schemas.openxmlformats.org/drawingml/2006/main">
            <a:off x="647700" y="2286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ED7F0D"/>
                </a:solidFill>
              </a:defRPr>
            </a:pPr>
            <a:r>
              <a:rPr sz="1050" b="1">
                <a:solidFill>
                  <a:srgbClr val="ED7F0D"/>
                </a:solidFill>
              </a:rPr>
              <a:t>14</a:t>
            </a:r>
          </a:p>
        </p:txBody>
      </p:sp>
      <p:sp>
        <p:nvSpPr>
          <p:cNvPr id="2" name="">
            <a:extLst xmlns:a="http://schemas.openxmlformats.org/drawingml/2006/main">
              <a:ext uri="{FF2B5EF4-FFF2-40B4-BE49-F238E27FC236}">
                <a16:creationId xmlns:a16="http://schemas.microsoft.com/office/drawing/2014/main" id="{9A69CB92-EDCC-428C-A491-2BFCF45A235F}"/>
              </a:ext>
            </a:extLst>
          </p:cNvPr>
          <p:cNvSpPr>
            <a:spLocks xmlns:a="http://schemas.openxmlformats.org/drawingml/2006/main" noGrp="1"/>
          </p:cNvSpPr>
          <p:nvPr/>
        </p:nvSpPr>
        <p:spPr>
          <a:xfrm xmlns:a="http://schemas.openxmlformats.org/drawingml/2006/main">
            <a:off x="1104900" y="22860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6B7580"/>
                </a:solidFill>
              </a:defRPr>
            </a:pPr>
            <a:r>
              <a:rPr sz="975" b="1">
                <a:solidFill>
                  <a:srgbClr val="6B7580"/>
                </a:solidFill>
              </a:rPr>
              <a:t>FRAMEWORK</a:t>
            </a:r>
          </a:p>
        </p:txBody>
      </p:sp>
      <p:sp>
        <p:nvSpPr>
          <p:cNvPr id="3" name="">
            <a:extLst xmlns:a="http://schemas.openxmlformats.org/drawingml/2006/main">
              <a:ext uri="{FF2B5EF4-FFF2-40B4-BE49-F238E27FC236}">
                <a16:creationId xmlns:a16="http://schemas.microsoft.com/office/drawing/2014/main" id="{D653A723-B949-48B0-BBA9-234D4D752F7B}"/>
              </a:ext>
            </a:extLst>
          </p:cNvPr>
          <p:cNvSpPr>
            <a:spLocks xmlns:a="http://schemas.openxmlformats.org/drawingml/2006/main" noGrp="1"/>
          </p:cNvSpPr>
          <p:nvPr/>
        </p:nvSpPr>
        <p:spPr>
          <a:xfrm xmlns:a="http://schemas.openxmlformats.org/drawingml/2006/main">
            <a:off x="6191250" y="228600"/>
            <a:ext cx="5353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0">
                <a:solidFill>
                  <a:srgbClr val="6B7580"/>
                </a:solidFill>
              </a:defRPr>
            </a:pPr>
            <a:r>
              <a:rPr sz="825" b="0">
                <a:solidFill>
                  <a:srgbClr val="6B7580"/>
                </a:solidFill>
              </a:rPr>
              <a:t>Problem   Task   ● Framework   Simulation   Hardware   Discussion</a:t>
            </a:r>
          </a:p>
        </p:txBody>
      </p:sp>
      <p:sp>
        <p:nvSpPr>
          <p:cNvPr id="4" name="">
            <a:extLst xmlns:a="http://schemas.openxmlformats.org/drawingml/2006/main">
              <a:ext uri="{FF2B5EF4-FFF2-40B4-BE49-F238E27FC236}">
                <a16:creationId xmlns:a16="http://schemas.microsoft.com/office/drawing/2014/main" id="{D868399A-4C81-4D4F-A097-A65B032EBF01}"/>
              </a:ext>
            </a:extLst>
          </p:cNvPr>
          <p:cNvSpPr>
            <a:spLocks xmlns:a="http://schemas.openxmlformats.org/drawingml/2006/main" noGrp="1"/>
          </p:cNvSpPr>
          <p:nvPr/>
        </p:nvSpPr>
        <p:spPr>
          <a:xfrm xmlns:a="http://schemas.openxmlformats.org/drawingml/2006/main">
            <a:off x="647700" y="533400"/>
            <a:ext cx="108394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700" b="1">
                <a:solidFill>
                  <a:srgbClr val="004282"/>
                </a:solidFill>
              </a:defRPr>
            </a:pPr>
            <a:r>
              <a:rPr sz="2700" b="1">
                <a:solidFill>
                  <a:srgbClr val="004282"/>
                </a:solidFill>
              </a:rPr>
              <a:t>The method keeps inference, planning and verification separate</a:t>
            </a:r>
          </a:p>
        </p:txBody>
      </p:sp>
      <p:sp>
        <p:nvSpPr>
          <p:cNvPr id="5" name="">
            <a:extLst xmlns:a="http://schemas.openxmlformats.org/drawingml/2006/main">
              <a:ext uri="{FF2B5EF4-FFF2-40B4-BE49-F238E27FC236}">
                <a16:creationId xmlns:a16="http://schemas.microsoft.com/office/drawing/2014/main" id="{E182DB5C-9EEB-4F59-BB93-4AFFC351F730}"/>
              </a:ext>
            </a:extLst>
          </p:cNvPr>
          <p:cNvSpPr>
            <a:spLocks xmlns:a="http://schemas.openxmlformats.org/drawingml/2006/main" noGrp="1"/>
          </p:cNvSpPr>
          <p:nvPr/>
        </p:nvSpPr>
        <p:spPr>
          <a:xfrm xmlns:a="http://schemas.openxmlformats.org/drawingml/2006/main">
            <a:off x="647700" y="1257300"/>
            <a:ext cx="609600" cy="47625"/>
          </a:xfrm>
          <a:prstGeom xmlns:a="http://schemas.openxmlformats.org/drawingml/2006/main" prst="rect">
            <a:avLst/>
          </a:prstGeom>
          <a:solidFill xmlns:a="http://schemas.openxmlformats.org/drawingml/2006/main">
            <a:srgbClr val="ED7F0D"/>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F4950769-B5BB-4EDA-86A4-B7782EFEEE2D}"/>
              </a:ext>
            </a:extLst>
          </p:cNvPr>
          <p:cNvSpPr>
            <a:spLocks xmlns:a="http://schemas.openxmlformats.org/drawingml/2006/main" noGrp="1"/>
          </p:cNvSpPr>
          <p:nvPr/>
        </p:nvSpPr>
        <p:spPr>
          <a:xfrm xmlns:a="http://schemas.openxmlformats.org/drawingml/2006/main">
            <a:off x="647700" y="6486525"/>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6B7580"/>
                </a:solidFill>
              </a:defRPr>
            </a:pPr>
            <a:r>
              <a:rPr sz="825" b="0">
                <a:solidFill>
                  <a:srgbClr val="6B7580"/>
                </a:solidFill>
              </a:rPr>
              <a:t>Nan Jinyao · Paper-aligned group review</a:t>
            </a:r>
          </a:p>
        </p:txBody>
      </p:sp>
      <p:sp>
        <p:nvSpPr>
          <p:cNvPr id="7" name="">
            <a:extLst xmlns:a="http://schemas.openxmlformats.org/drawingml/2006/main">
              <a:ext uri="{FF2B5EF4-FFF2-40B4-BE49-F238E27FC236}">
                <a16:creationId xmlns:a16="http://schemas.microsoft.com/office/drawing/2014/main" id="{8814A512-62AB-4151-88D7-1BD3CB3CCBAB}"/>
              </a:ext>
            </a:extLst>
          </p:cNvPr>
          <p:cNvSpPr>
            <a:spLocks xmlns:a="http://schemas.openxmlformats.org/drawingml/2006/main" noGrp="1"/>
          </p:cNvSpPr>
          <p:nvPr/>
        </p:nvSpPr>
        <p:spPr>
          <a:xfrm xmlns:a="http://schemas.openxmlformats.org/drawingml/2006/main">
            <a:off x="4476750" y="6486525"/>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0">
                <a:solidFill>
                  <a:srgbClr val="6B7580"/>
                </a:solidFill>
              </a:defRPr>
            </a:pPr>
            <a:r>
              <a:rPr sz="825" b="0">
                <a:solidFill>
                  <a:srgbClr val="6B7580"/>
                </a:solidFill>
              </a:rPr>
              <a:t>Sec. III · Fig. 2</a:t>
            </a:r>
          </a:p>
        </p:txBody>
      </p:sp>
      <p:sp>
        <p:nvSpPr>
          <p:cNvPr id="8" name="">
            <a:extLst xmlns:a="http://schemas.openxmlformats.org/drawingml/2006/main">
              <a:ext uri="{FF2B5EF4-FFF2-40B4-BE49-F238E27FC236}">
                <a16:creationId xmlns:a16="http://schemas.microsoft.com/office/drawing/2014/main" id="{DECEC620-4294-424E-9CC9-8946A8508D40}"/>
              </a:ext>
            </a:extLst>
          </p:cNvPr>
          <p:cNvSpPr>
            <a:spLocks xmlns:a="http://schemas.openxmlformats.org/drawingml/2006/main" noGrp="1"/>
          </p:cNvSpPr>
          <p:nvPr/>
        </p:nvSpPr>
        <p:spPr>
          <a:xfrm xmlns:a="http://schemas.openxmlformats.org/drawingml/2006/main">
            <a:off x="11049000" y="648652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004282"/>
                </a:solidFill>
              </a:defRPr>
            </a:pPr>
            <a:r>
              <a:rPr sz="825" b="1">
                <a:solidFill>
                  <a:srgbClr val="004282"/>
                </a:solidFill>
              </a:rPr>
              <a:t>14</a:t>
            </a:r>
          </a:p>
        </p:txBody>
      </p:sp>
      <p:sp>
        <p:nvSpPr>
          <p:cNvPr id="9" name="">
            <a:extLst xmlns:a="http://schemas.openxmlformats.org/drawingml/2006/main">
              <a:ext uri="{FF2B5EF4-FFF2-40B4-BE49-F238E27FC236}">
                <a16:creationId xmlns:a16="http://schemas.microsoft.com/office/drawing/2014/main" id="{6C809C84-48E9-48F7-9E69-C1B6AC051D8C}"/>
              </a:ext>
            </a:extLst>
          </p:cNvPr>
          <p:cNvSpPr>
            <a:spLocks xmlns:a="http://schemas.openxmlformats.org/drawingml/2006/main" noGrp="1"/>
          </p:cNvSpPr>
          <p:nvPr/>
        </p:nvSpPr>
        <p:spPr>
          <a:xfrm xmlns:a="http://schemas.openxmlformats.org/drawingml/2006/main">
            <a:off x="704850" y="1428750"/>
            <a:ext cx="10725150" cy="4400550"/>
          </a:xfrm>
          <a:prstGeom xmlns:a="http://schemas.openxmlformats.org/drawingml/2006/main" prst="roundRect">
            <a:avLst>
              <a:gd name="adj" fmla="val 1732"/>
            </a:avLst>
          </a:prstGeom>
          <a:solidFill xmlns:a="http://schemas.openxmlformats.org/drawingml/2006/main">
            <a:srgbClr val="FFFFFF"/>
          </a:solidFill>
          <a:ln xmlns:a="http://schemas.openxmlformats.org/drawingml/2006/main" w="9525">
            <a:solidFill>
              <a:srgbClr val="D9E0E6"/>
            </a:solidFill>
            <a:prstDash val="solid"/>
          </a:ln>
        </p:spPr>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26fbd450b18f417d"/>
          <a:stretch xmlns:a="http://schemas.openxmlformats.org/drawingml/2006/main"/>
        </p:blipFill>
        <p:spPr>
          <a:xfrm xmlns:a="http://schemas.openxmlformats.org/drawingml/2006/main">
            <a:off x="1575432" y="1504950"/>
            <a:ext cx="8983985" cy="4248150"/>
          </a:xfrm>
          <a:prstGeom xmlns:a="http://schemas.openxmlformats.org/drawingml/2006/main" prst="roundRect">
            <a:avLst>
              <a:gd name="adj" fmla="val 1794"/>
            </a:avLst>
          </a:prstGeom>
        </p:spPr>
      </p:pic>
      <p:sp>
        <p:nvSpPr>
          <p:cNvPr id="11" name="">
            <a:extLst xmlns:a="http://schemas.openxmlformats.org/drawingml/2006/main">
              <a:ext uri="{FF2B5EF4-FFF2-40B4-BE49-F238E27FC236}">
                <a16:creationId xmlns:a16="http://schemas.microsoft.com/office/drawing/2014/main" id="{F7F15F52-063D-4128-8F42-BBA72A143159}"/>
              </a:ext>
            </a:extLst>
          </p:cNvPr>
          <p:cNvSpPr>
            <a:spLocks xmlns:a="http://schemas.openxmlformats.org/drawingml/2006/main" noGrp="1"/>
          </p:cNvSpPr>
          <p:nvPr/>
        </p:nvSpPr>
        <p:spPr>
          <a:xfrm xmlns:a="http://schemas.openxmlformats.org/drawingml/2006/main">
            <a:off x="647700" y="5943600"/>
            <a:ext cx="10839450" cy="400050"/>
          </a:xfrm>
          <a:prstGeom xmlns:a="http://schemas.openxmlformats.org/drawingml/2006/main" prst="rect">
            <a:avLst/>
          </a:prstGeom>
          <a:solidFill xmlns:a="http://schemas.openxmlformats.org/drawingml/2006/main">
            <a:srgbClr val="FFF0E2"/>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4E6742BD-8329-4718-87D4-DCEA0845F0EE}"/>
              </a:ext>
            </a:extLst>
          </p:cNvPr>
          <p:cNvSpPr>
            <a:spLocks xmlns:a="http://schemas.openxmlformats.org/drawingml/2006/main" noGrp="1"/>
          </p:cNvSpPr>
          <p:nvPr/>
        </p:nvSpPr>
        <p:spPr>
          <a:xfrm xmlns:a="http://schemas.openxmlformats.org/drawingml/2006/main">
            <a:off x="647700" y="5943600"/>
            <a:ext cx="57150" cy="400050"/>
          </a:xfrm>
          <a:prstGeom xmlns:a="http://schemas.openxmlformats.org/drawingml/2006/main" prst="rect">
            <a:avLst/>
          </a:prstGeom>
          <a:solidFill xmlns:a="http://schemas.openxmlformats.org/drawingml/2006/main">
            <a:srgbClr val="ED7F0D"/>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33FDBA8A-0CBE-443F-BB1C-2C3852ECF7BA}"/>
              </a:ext>
            </a:extLst>
          </p:cNvPr>
          <p:cNvSpPr>
            <a:spLocks xmlns:a="http://schemas.openxmlformats.org/drawingml/2006/main" noGrp="1"/>
          </p:cNvSpPr>
          <p:nvPr/>
        </p:nvSpPr>
        <p:spPr>
          <a:xfrm xmlns:a="http://schemas.openxmlformats.org/drawingml/2006/main">
            <a:off x="838200" y="5981700"/>
            <a:ext cx="10458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152538"/>
                </a:solidFill>
              </a:defRPr>
            </a:pPr>
            <a:r>
              <a:rPr sz="1275" b="1">
                <a:solidFill>
                  <a:srgbClr val="152538"/>
                </a:solidFill>
              </a:rPr>
              <a:t>Blue learns, green plans, black executes and red guards.</a:t>
            </a:r>
          </a:p>
        </p:txBody>
      </p:sp>
    </p:spTree>
    <p:extLst>
      <p:ext uri="{BB962C8B-B14F-4D97-AF65-F5344CB8AC3E}">
        <p14:creationId xmlns:p14="http://schemas.microsoft.com/office/powerpoint/2010/main" val="1849494403"/>
      </p:ext>
    </p:extLst>
  </p:cSld>
</p:sld>
</file>

<file path=ppt/slides/slide15.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EAF8F59-5776-4A23-8731-9BAEF602926A}"/>
              </a:ext>
            </a:extLst>
          </p:cNvPr>
          <p:cNvSpPr>
            <a:spLocks xmlns:a="http://schemas.openxmlformats.org/drawingml/2006/main" noGrp="1"/>
          </p:cNvSpPr>
          <p:nvPr/>
        </p:nvSpPr>
        <p:spPr>
          <a:xfrm xmlns:a="http://schemas.openxmlformats.org/drawingml/2006/main">
            <a:off x="647700" y="2286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ED7F0D"/>
                </a:solidFill>
              </a:defRPr>
            </a:pPr>
            <a:r>
              <a:rPr sz="1050" b="1">
                <a:solidFill>
                  <a:srgbClr val="ED7F0D"/>
                </a:solidFill>
              </a:rPr>
              <a:t>15</a:t>
            </a:r>
          </a:p>
        </p:txBody>
      </p:sp>
      <p:sp>
        <p:nvSpPr>
          <p:cNvPr id="2" name="">
            <a:extLst xmlns:a="http://schemas.openxmlformats.org/drawingml/2006/main">
              <a:ext uri="{FF2B5EF4-FFF2-40B4-BE49-F238E27FC236}">
                <a16:creationId xmlns:a16="http://schemas.microsoft.com/office/drawing/2014/main" id="{4755535E-D846-424E-9830-BA96592B0B0E}"/>
              </a:ext>
            </a:extLst>
          </p:cNvPr>
          <p:cNvSpPr>
            <a:spLocks xmlns:a="http://schemas.openxmlformats.org/drawingml/2006/main" noGrp="1"/>
          </p:cNvSpPr>
          <p:nvPr/>
        </p:nvSpPr>
        <p:spPr>
          <a:xfrm xmlns:a="http://schemas.openxmlformats.org/drawingml/2006/main">
            <a:off x="1104900" y="22860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6B7580"/>
                </a:solidFill>
              </a:defRPr>
            </a:pPr>
            <a:r>
              <a:rPr sz="975" b="1">
                <a:solidFill>
                  <a:srgbClr val="6B7580"/>
                </a:solidFill>
              </a:rPr>
              <a:t>FRAMEWORK</a:t>
            </a:r>
          </a:p>
        </p:txBody>
      </p:sp>
      <p:sp>
        <p:nvSpPr>
          <p:cNvPr id="3" name="">
            <a:extLst xmlns:a="http://schemas.openxmlformats.org/drawingml/2006/main">
              <a:ext uri="{FF2B5EF4-FFF2-40B4-BE49-F238E27FC236}">
                <a16:creationId xmlns:a16="http://schemas.microsoft.com/office/drawing/2014/main" id="{48DC59C4-D379-4B25-B0A5-08685C023F3F}"/>
              </a:ext>
            </a:extLst>
          </p:cNvPr>
          <p:cNvSpPr>
            <a:spLocks xmlns:a="http://schemas.openxmlformats.org/drawingml/2006/main" noGrp="1"/>
          </p:cNvSpPr>
          <p:nvPr/>
        </p:nvSpPr>
        <p:spPr>
          <a:xfrm xmlns:a="http://schemas.openxmlformats.org/drawingml/2006/main">
            <a:off x="6191250" y="228600"/>
            <a:ext cx="5353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0">
                <a:solidFill>
                  <a:srgbClr val="6B7580"/>
                </a:solidFill>
              </a:defRPr>
            </a:pPr>
            <a:r>
              <a:rPr sz="825" b="0">
                <a:solidFill>
                  <a:srgbClr val="6B7580"/>
                </a:solidFill>
              </a:rPr>
              <a:t>Problem   Task   ● Framework   Simulation   Hardware   Discussion</a:t>
            </a:r>
          </a:p>
        </p:txBody>
      </p:sp>
      <p:sp>
        <p:nvSpPr>
          <p:cNvPr id="4" name="">
            <a:extLst xmlns:a="http://schemas.openxmlformats.org/drawingml/2006/main">
              <a:ext uri="{FF2B5EF4-FFF2-40B4-BE49-F238E27FC236}">
                <a16:creationId xmlns:a16="http://schemas.microsoft.com/office/drawing/2014/main" id="{4CE5A2BC-8D1B-4F81-96A9-D5557796EB88}"/>
              </a:ext>
            </a:extLst>
          </p:cNvPr>
          <p:cNvSpPr>
            <a:spLocks xmlns:a="http://schemas.openxmlformats.org/drawingml/2006/main" noGrp="1"/>
          </p:cNvSpPr>
          <p:nvPr/>
        </p:nvSpPr>
        <p:spPr>
          <a:xfrm xmlns:a="http://schemas.openxmlformats.org/drawingml/2006/main">
            <a:off x="647700" y="533400"/>
            <a:ext cx="108394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700" b="1">
                <a:solidFill>
                  <a:srgbClr val="004282"/>
                </a:solidFill>
              </a:defRPr>
            </a:pPr>
            <a:r>
              <a:rPr sz="2700" b="1">
                <a:solidFill>
                  <a:srgbClr val="004282"/>
                </a:solidFill>
              </a:rPr>
              <a:t>A 15-degree conical scan creates a repeatable contact fingerprint</a:t>
            </a:r>
          </a:p>
        </p:txBody>
      </p:sp>
      <p:sp>
        <p:nvSpPr>
          <p:cNvPr id="5" name="">
            <a:extLst xmlns:a="http://schemas.openxmlformats.org/drawingml/2006/main">
              <a:ext uri="{FF2B5EF4-FFF2-40B4-BE49-F238E27FC236}">
                <a16:creationId xmlns:a16="http://schemas.microsoft.com/office/drawing/2014/main" id="{4797C20B-5017-44EA-BB24-E2E27123F619}"/>
              </a:ext>
            </a:extLst>
          </p:cNvPr>
          <p:cNvSpPr>
            <a:spLocks xmlns:a="http://schemas.openxmlformats.org/drawingml/2006/main" noGrp="1"/>
          </p:cNvSpPr>
          <p:nvPr/>
        </p:nvSpPr>
        <p:spPr>
          <a:xfrm xmlns:a="http://schemas.openxmlformats.org/drawingml/2006/main">
            <a:off x="647700" y="1257300"/>
            <a:ext cx="609600" cy="47625"/>
          </a:xfrm>
          <a:prstGeom xmlns:a="http://schemas.openxmlformats.org/drawingml/2006/main" prst="rect">
            <a:avLst/>
          </a:prstGeom>
          <a:solidFill xmlns:a="http://schemas.openxmlformats.org/drawingml/2006/main">
            <a:srgbClr val="ED7F0D"/>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7FC0FCD1-0459-46D2-A504-08F90A4B138C}"/>
              </a:ext>
            </a:extLst>
          </p:cNvPr>
          <p:cNvSpPr>
            <a:spLocks xmlns:a="http://schemas.openxmlformats.org/drawingml/2006/main" noGrp="1"/>
          </p:cNvSpPr>
          <p:nvPr/>
        </p:nvSpPr>
        <p:spPr>
          <a:xfrm xmlns:a="http://schemas.openxmlformats.org/drawingml/2006/main">
            <a:off x="647700" y="6486525"/>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6B7580"/>
                </a:solidFill>
              </a:defRPr>
            </a:pPr>
            <a:r>
              <a:rPr sz="825" b="0">
                <a:solidFill>
                  <a:srgbClr val="6B7580"/>
                </a:solidFill>
              </a:rPr>
              <a:t>Nan Jinyao · Paper-aligned group review</a:t>
            </a:r>
          </a:p>
        </p:txBody>
      </p:sp>
      <p:sp>
        <p:nvSpPr>
          <p:cNvPr id="7" name="">
            <a:extLst xmlns:a="http://schemas.openxmlformats.org/drawingml/2006/main">
              <a:ext uri="{FF2B5EF4-FFF2-40B4-BE49-F238E27FC236}">
                <a16:creationId xmlns:a16="http://schemas.microsoft.com/office/drawing/2014/main" id="{0FED5823-8D24-4D13-90F2-96EA3BA510C4}"/>
              </a:ext>
            </a:extLst>
          </p:cNvPr>
          <p:cNvSpPr>
            <a:spLocks xmlns:a="http://schemas.openxmlformats.org/drawingml/2006/main" noGrp="1"/>
          </p:cNvSpPr>
          <p:nvPr/>
        </p:nvSpPr>
        <p:spPr>
          <a:xfrm xmlns:a="http://schemas.openxmlformats.org/drawingml/2006/main">
            <a:off x="4476750" y="6486525"/>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0">
                <a:solidFill>
                  <a:srgbClr val="6B7580"/>
                </a:solidFill>
              </a:defRPr>
            </a:pPr>
            <a:r>
              <a:rPr sz="825" b="0">
                <a:solidFill>
                  <a:srgbClr val="6B7580"/>
                </a:solidFill>
              </a:rPr>
              <a:t>Sec. II-A · Fig. 3</a:t>
            </a:r>
          </a:p>
        </p:txBody>
      </p:sp>
      <p:sp>
        <p:nvSpPr>
          <p:cNvPr id="8" name="">
            <a:extLst xmlns:a="http://schemas.openxmlformats.org/drawingml/2006/main">
              <a:ext uri="{FF2B5EF4-FFF2-40B4-BE49-F238E27FC236}">
                <a16:creationId xmlns:a16="http://schemas.microsoft.com/office/drawing/2014/main" id="{B981DEB3-EE3E-4F1F-B5DD-5CF8326B442E}"/>
              </a:ext>
            </a:extLst>
          </p:cNvPr>
          <p:cNvSpPr>
            <a:spLocks xmlns:a="http://schemas.openxmlformats.org/drawingml/2006/main" noGrp="1"/>
          </p:cNvSpPr>
          <p:nvPr/>
        </p:nvSpPr>
        <p:spPr>
          <a:xfrm xmlns:a="http://schemas.openxmlformats.org/drawingml/2006/main">
            <a:off x="11049000" y="648652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004282"/>
                </a:solidFill>
              </a:defRPr>
            </a:pPr>
            <a:r>
              <a:rPr sz="825" b="1">
                <a:solidFill>
                  <a:srgbClr val="004282"/>
                </a:solidFill>
              </a:rPr>
              <a:t>15</a:t>
            </a:r>
          </a:p>
        </p:txBody>
      </p:sp>
      <p:sp>
        <p:nvSpPr>
          <p:cNvPr id="9" name="">
            <a:extLst xmlns:a="http://schemas.openxmlformats.org/drawingml/2006/main">
              <a:ext uri="{FF2B5EF4-FFF2-40B4-BE49-F238E27FC236}">
                <a16:creationId xmlns:a16="http://schemas.microsoft.com/office/drawing/2014/main" id="{B743F5C1-372A-4110-904F-F24E15ECF6CF}"/>
              </a:ext>
            </a:extLst>
          </p:cNvPr>
          <p:cNvSpPr>
            <a:spLocks xmlns:a="http://schemas.openxmlformats.org/drawingml/2006/main" noGrp="1"/>
          </p:cNvSpPr>
          <p:nvPr/>
        </p:nvSpPr>
        <p:spPr>
          <a:xfrm xmlns:a="http://schemas.openxmlformats.org/drawingml/2006/main">
            <a:off x="781050" y="1866900"/>
            <a:ext cx="76200" cy="76200"/>
          </a:xfrm>
          <a:prstGeom xmlns:a="http://schemas.openxmlformats.org/drawingml/2006/main" prst="ellipse">
            <a:avLst/>
          </a:prstGeom>
          <a:solidFill xmlns:a="http://schemas.openxmlformats.org/drawingml/2006/main">
            <a:srgbClr val="ED7F0D"/>
          </a:solidFill>
          <a:ln xmlns:a="http://schemas.openxmlformats.org/drawingml/2006/main" w="9525">
            <a:solidFill>
              <a:srgbClr val="ED7F0D"/>
            </a:solidFill>
            <a:prstDash val="solid"/>
          </a:ln>
        </p:spPr>
      </p:sp>
      <p:sp>
        <p:nvSpPr>
          <p:cNvPr id="10" name="">
            <a:extLst xmlns:a="http://schemas.openxmlformats.org/drawingml/2006/main">
              <a:ext uri="{FF2B5EF4-FFF2-40B4-BE49-F238E27FC236}">
                <a16:creationId xmlns:a16="http://schemas.microsoft.com/office/drawing/2014/main" id="{9A086220-5A59-4069-90C2-D0E61BF063DE}"/>
              </a:ext>
            </a:extLst>
          </p:cNvPr>
          <p:cNvSpPr>
            <a:spLocks xmlns:a="http://schemas.openxmlformats.org/drawingml/2006/main" noGrp="1"/>
          </p:cNvSpPr>
          <p:nvPr/>
        </p:nvSpPr>
        <p:spPr>
          <a:xfrm xmlns:a="http://schemas.openxmlformats.org/drawingml/2006/main">
            <a:off x="990600" y="1771650"/>
            <a:ext cx="35052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152538"/>
                </a:solidFill>
              </a:defRPr>
            </a:pPr>
            <a:r>
              <a:rPr sz="1500" b="0">
                <a:solidFill>
                  <a:srgbClr val="152538"/>
                </a:solidFill>
              </a:rPr>
              <a:t>Start from stable top contact.</a:t>
            </a:r>
          </a:p>
        </p:txBody>
      </p:sp>
      <p:sp>
        <p:nvSpPr>
          <p:cNvPr id="11" name="">
            <a:extLst xmlns:a="http://schemas.openxmlformats.org/drawingml/2006/main">
              <a:ext uri="{FF2B5EF4-FFF2-40B4-BE49-F238E27FC236}">
                <a16:creationId xmlns:a16="http://schemas.microsoft.com/office/drawing/2014/main" id="{F0F4C527-6413-4F73-96CA-C35BD716AE37}"/>
              </a:ext>
            </a:extLst>
          </p:cNvPr>
          <p:cNvSpPr>
            <a:spLocks xmlns:a="http://schemas.openxmlformats.org/drawingml/2006/main" noGrp="1"/>
          </p:cNvSpPr>
          <p:nvPr/>
        </p:nvSpPr>
        <p:spPr>
          <a:xfrm xmlns:a="http://schemas.openxmlformats.org/drawingml/2006/main">
            <a:off x="781050" y="2876550"/>
            <a:ext cx="76200" cy="76200"/>
          </a:xfrm>
          <a:prstGeom xmlns:a="http://schemas.openxmlformats.org/drawingml/2006/main" prst="ellipse">
            <a:avLst/>
          </a:prstGeom>
          <a:solidFill xmlns:a="http://schemas.openxmlformats.org/drawingml/2006/main">
            <a:srgbClr val="ED7F0D"/>
          </a:solidFill>
          <a:ln xmlns:a="http://schemas.openxmlformats.org/drawingml/2006/main" w="9525">
            <a:solidFill>
              <a:srgbClr val="ED7F0D"/>
            </a:solidFill>
            <a:prstDash val="solid"/>
          </a:ln>
        </p:spPr>
      </p:sp>
      <p:sp>
        <p:nvSpPr>
          <p:cNvPr id="12" name="">
            <a:extLst xmlns:a="http://schemas.openxmlformats.org/drawingml/2006/main">
              <a:ext uri="{FF2B5EF4-FFF2-40B4-BE49-F238E27FC236}">
                <a16:creationId xmlns:a16="http://schemas.microsoft.com/office/drawing/2014/main" id="{D8991E53-248D-4658-936D-F361BDF749A4}"/>
              </a:ext>
            </a:extLst>
          </p:cNvPr>
          <p:cNvSpPr>
            <a:spLocks xmlns:a="http://schemas.openxmlformats.org/drawingml/2006/main" noGrp="1"/>
          </p:cNvSpPr>
          <p:nvPr/>
        </p:nvSpPr>
        <p:spPr>
          <a:xfrm xmlns:a="http://schemas.openxmlformats.org/drawingml/2006/main">
            <a:off x="990600" y="2781300"/>
            <a:ext cx="35052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152538"/>
                </a:solidFill>
              </a:defRPr>
            </a:pPr>
            <a:r>
              <a:rPr sz="1500" b="0">
                <a:solidFill>
                  <a:srgbClr val="152538"/>
                </a:solidFill>
              </a:rPr>
              <a:t>Run a low-force 15° conical motion.</a:t>
            </a:r>
          </a:p>
        </p:txBody>
      </p:sp>
      <p:sp>
        <p:nvSpPr>
          <p:cNvPr id="13" name="">
            <a:extLst xmlns:a="http://schemas.openxmlformats.org/drawingml/2006/main">
              <a:ext uri="{FF2B5EF4-FFF2-40B4-BE49-F238E27FC236}">
                <a16:creationId xmlns:a16="http://schemas.microsoft.com/office/drawing/2014/main" id="{09749626-9CC5-43EA-979E-A928F9D375CF}"/>
              </a:ext>
            </a:extLst>
          </p:cNvPr>
          <p:cNvSpPr>
            <a:spLocks xmlns:a="http://schemas.openxmlformats.org/drawingml/2006/main" noGrp="1"/>
          </p:cNvSpPr>
          <p:nvPr/>
        </p:nvSpPr>
        <p:spPr>
          <a:xfrm xmlns:a="http://schemas.openxmlformats.org/drawingml/2006/main">
            <a:off x="781050" y="3886200"/>
            <a:ext cx="76200" cy="76200"/>
          </a:xfrm>
          <a:prstGeom xmlns:a="http://schemas.openxmlformats.org/drawingml/2006/main" prst="ellipse">
            <a:avLst/>
          </a:prstGeom>
          <a:solidFill xmlns:a="http://schemas.openxmlformats.org/drawingml/2006/main">
            <a:srgbClr val="ED7F0D"/>
          </a:solidFill>
          <a:ln xmlns:a="http://schemas.openxmlformats.org/drawingml/2006/main" w="9525">
            <a:solidFill>
              <a:srgbClr val="ED7F0D"/>
            </a:solidFill>
            <a:prstDash val="solid"/>
          </a:ln>
        </p:spPr>
      </p:sp>
      <p:sp>
        <p:nvSpPr>
          <p:cNvPr id="14" name="">
            <a:extLst xmlns:a="http://schemas.openxmlformats.org/drawingml/2006/main">
              <a:ext uri="{FF2B5EF4-FFF2-40B4-BE49-F238E27FC236}">
                <a16:creationId xmlns:a16="http://schemas.microsoft.com/office/drawing/2014/main" id="{D66C352D-0F11-41AF-9A44-7DDDD9350649}"/>
              </a:ext>
            </a:extLst>
          </p:cNvPr>
          <p:cNvSpPr>
            <a:spLocks xmlns:a="http://schemas.openxmlformats.org/drawingml/2006/main" noGrp="1"/>
          </p:cNvSpPr>
          <p:nvPr/>
        </p:nvSpPr>
        <p:spPr>
          <a:xfrm xmlns:a="http://schemas.openxmlformats.org/drawingml/2006/main">
            <a:off x="990600" y="3790950"/>
            <a:ext cx="35052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152538"/>
                </a:solidFill>
              </a:defRPr>
            </a:pPr>
            <a:r>
              <a:rPr sz="1500" b="0">
                <a:solidFill>
                  <a:srgbClr val="152538"/>
                </a:solidFill>
              </a:rPr>
              <a:t>Use probe phase ϕ to organize the observation.</a:t>
            </a:r>
          </a:p>
        </p:txBody>
      </p:sp>
      <p:sp>
        <p:nvSpPr>
          <p:cNvPr id="15" name="">
            <a:extLst xmlns:a="http://schemas.openxmlformats.org/drawingml/2006/main">
              <a:ext uri="{FF2B5EF4-FFF2-40B4-BE49-F238E27FC236}">
                <a16:creationId xmlns:a16="http://schemas.microsoft.com/office/drawing/2014/main" id="{1BFBFEFA-6781-4080-A597-610150EB109C}"/>
              </a:ext>
            </a:extLst>
          </p:cNvPr>
          <p:cNvSpPr>
            <a:spLocks xmlns:a="http://schemas.openxmlformats.org/drawingml/2006/main" noGrp="1"/>
          </p:cNvSpPr>
          <p:nvPr/>
        </p:nvSpPr>
        <p:spPr>
          <a:xfrm xmlns:a="http://schemas.openxmlformats.org/drawingml/2006/main">
            <a:off x="4686300" y="1485900"/>
            <a:ext cx="6705600" cy="4248150"/>
          </a:xfrm>
          <a:prstGeom xmlns:a="http://schemas.openxmlformats.org/drawingml/2006/main" prst="roundRect">
            <a:avLst>
              <a:gd name="adj" fmla="val 1794"/>
            </a:avLst>
          </a:prstGeom>
          <a:solidFill xmlns:a="http://schemas.openxmlformats.org/drawingml/2006/main">
            <a:srgbClr val="FFFFFF"/>
          </a:solidFill>
          <a:ln xmlns:a="http://schemas.openxmlformats.org/drawingml/2006/main" w="9525">
            <a:solidFill>
              <a:srgbClr val="D9E0E6"/>
            </a:solidFill>
            <a:prstDash val="solid"/>
          </a:ln>
        </p:spPr>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71b9e241db864c13"/>
          <a:stretch xmlns:a="http://schemas.openxmlformats.org/drawingml/2006/main"/>
        </p:blipFill>
        <p:spPr>
          <a:xfrm xmlns:a="http://schemas.openxmlformats.org/drawingml/2006/main">
            <a:off x="4762500" y="1895101"/>
            <a:ext cx="6553200" cy="3429747"/>
          </a:xfrm>
          <a:prstGeom xmlns:a="http://schemas.openxmlformats.org/drawingml/2006/main" prst="roundRect">
            <a:avLst>
              <a:gd name="adj" fmla="val 1860"/>
            </a:avLst>
          </a:prstGeom>
        </p:spPr>
      </p:pic>
      <p:sp>
        <p:nvSpPr>
          <p:cNvPr id="17" name="">
            <a:extLst xmlns:a="http://schemas.openxmlformats.org/drawingml/2006/main">
              <a:ext uri="{FF2B5EF4-FFF2-40B4-BE49-F238E27FC236}">
                <a16:creationId xmlns:a16="http://schemas.microsoft.com/office/drawing/2014/main" id="{8245FCBE-9664-4F2C-9EC2-D937F0B049CD}"/>
              </a:ext>
            </a:extLst>
          </p:cNvPr>
          <p:cNvSpPr>
            <a:spLocks xmlns:a="http://schemas.openxmlformats.org/drawingml/2006/main" noGrp="1"/>
          </p:cNvSpPr>
          <p:nvPr/>
        </p:nvSpPr>
        <p:spPr>
          <a:xfrm xmlns:a="http://schemas.openxmlformats.org/drawingml/2006/main">
            <a:off x="647700" y="5943600"/>
            <a:ext cx="10839450" cy="400050"/>
          </a:xfrm>
          <a:prstGeom xmlns:a="http://schemas.openxmlformats.org/drawingml/2006/main" prst="rect">
            <a:avLst/>
          </a:prstGeom>
          <a:solidFill xmlns:a="http://schemas.openxmlformats.org/drawingml/2006/main">
            <a:srgbClr val="FFF0E2"/>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5C9E0EC1-BDA1-4323-8616-85BD8E2972CD}"/>
              </a:ext>
            </a:extLst>
          </p:cNvPr>
          <p:cNvSpPr>
            <a:spLocks xmlns:a="http://schemas.openxmlformats.org/drawingml/2006/main" noGrp="1"/>
          </p:cNvSpPr>
          <p:nvPr/>
        </p:nvSpPr>
        <p:spPr>
          <a:xfrm xmlns:a="http://schemas.openxmlformats.org/drawingml/2006/main">
            <a:off x="647700" y="5943600"/>
            <a:ext cx="57150" cy="400050"/>
          </a:xfrm>
          <a:prstGeom xmlns:a="http://schemas.openxmlformats.org/drawingml/2006/main" prst="rect">
            <a:avLst/>
          </a:prstGeom>
          <a:solidFill xmlns:a="http://schemas.openxmlformats.org/drawingml/2006/main">
            <a:srgbClr val="ED7F0D"/>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7BA4E4BD-2A69-4887-B8CE-14A7D8E52708}"/>
              </a:ext>
            </a:extLst>
          </p:cNvPr>
          <p:cNvSpPr>
            <a:spLocks xmlns:a="http://schemas.openxmlformats.org/drawingml/2006/main" noGrp="1"/>
          </p:cNvSpPr>
          <p:nvPr/>
        </p:nvSpPr>
        <p:spPr>
          <a:xfrm xmlns:a="http://schemas.openxmlformats.org/drawingml/2006/main">
            <a:off x="838200" y="5981700"/>
            <a:ext cx="10458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152538"/>
                </a:solidFill>
              </a:defRPr>
            </a:pPr>
            <a:r>
              <a:rPr sz="1275" b="1">
                <a:solidFill>
                  <a:srgbClr val="152538"/>
                </a:solidFill>
              </a:rPr>
              <a:t>Probe phase is an observation coordinate, not the direction to the socket center.</a:t>
            </a:r>
          </a:p>
        </p:txBody>
      </p:sp>
    </p:spTree>
    <p:extLst>
      <p:ext uri="{BB962C8B-B14F-4D97-AF65-F5344CB8AC3E}">
        <p14:creationId xmlns:p14="http://schemas.microsoft.com/office/powerpoint/2010/main" val="83645990"/>
      </p:ext>
    </p:extLst>
  </p:cSld>
</p:sld>
</file>

<file path=ppt/slides/slide16.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0ABED7D-8DD5-4EB6-BD92-641D26643AA0}"/>
              </a:ext>
            </a:extLst>
          </p:cNvPr>
          <p:cNvSpPr>
            <a:spLocks xmlns:a="http://schemas.openxmlformats.org/drawingml/2006/main" noGrp="1"/>
          </p:cNvSpPr>
          <p:nvPr/>
        </p:nvSpPr>
        <p:spPr>
          <a:xfrm xmlns:a="http://schemas.openxmlformats.org/drawingml/2006/main">
            <a:off x="647700" y="2286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ED7F0D"/>
                </a:solidFill>
              </a:defRPr>
            </a:pPr>
            <a:r>
              <a:rPr sz="1050" b="1">
                <a:solidFill>
                  <a:srgbClr val="ED7F0D"/>
                </a:solidFill>
              </a:rPr>
              <a:t>16</a:t>
            </a:r>
          </a:p>
        </p:txBody>
      </p:sp>
      <p:sp>
        <p:nvSpPr>
          <p:cNvPr id="2" name="">
            <a:extLst xmlns:a="http://schemas.openxmlformats.org/drawingml/2006/main">
              <a:ext uri="{FF2B5EF4-FFF2-40B4-BE49-F238E27FC236}">
                <a16:creationId xmlns:a16="http://schemas.microsoft.com/office/drawing/2014/main" id="{25F0264A-81AB-48C1-9E42-47F837F67208}"/>
              </a:ext>
            </a:extLst>
          </p:cNvPr>
          <p:cNvSpPr>
            <a:spLocks xmlns:a="http://schemas.openxmlformats.org/drawingml/2006/main" noGrp="1"/>
          </p:cNvSpPr>
          <p:nvPr/>
        </p:nvSpPr>
        <p:spPr>
          <a:xfrm xmlns:a="http://schemas.openxmlformats.org/drawingml/2006/main">
            <a:off x="1104900" y="22860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6B7580"/>
                </a:solidFill>
              </a:defRPr>
            </a:pPr>
            <a:r>
              <a:rPr sz="975" b="1">
                <a:solidFill>
                  <a:srgbClr val="6B7580"/>
                </a:solidFill>
              </a:rPr>
              <a:t>FRAMEWORK</a:t>
            </a:r>
          </a:p>
        </p:txBody>
      </p:sp>
      <p:sp>
        <p:nvSpPr>
          <p:cNvPr id="3" name="">
            <a:extLst xmlns:a="http://schemas.openxmlformats.org/drawingml/2006/main">
              <a:ext uri="{FF2B5EF4-FFF2-40B4-BE49-F238E27FC236}">
                <a16:creationId xmlns:a16="http://schemas.microsoft.com/office/drawing/2014/main" id="{B10E7D75-4CF8-4D1E-9332-B807365C5167}"/>
              </a:ext>
            </a:extLst>
          </p:cNvPr>
          <p:cNvSpPr>
            <a:spLocks xmlns:a="http://schemas.openxmlformats.org/drawingml/2006/main" noGrp="1"/>
          </p:cNvSpPr>
          <p:nvPr/>
        </p:nvSpPr>
        <p:spPr>
          <a:xfrm xmlns:a="http://schemas.openxmlformats.org/drawingml/2006/main">
            <a:off x="6191250" y="228600"/>
            <a:ext cx="5353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0">
                <a:solidFill>
                  <a:srgbClr val="6B7580"/>
                </a:solidFill>
              </a:defRPr>
            </a:pPr>
            <a:r>
              <a:rPr sz="825" b="0">
                <a:solidFill>
                  <a:srgbClr val="6B7580"/>
                </a:solidFill>
              </a:rPr>
              <a:t>Problem   Task   ● Framework   Simulation   Hardware   Discussion</a:t>
            </a:r>
          </a:p>
        </p:txBody>
      </p:sp>
      <p:sp>
        <p:nvSpPr>
          <p:cNvPr id="4" name="">
            <a:extLst xmlns:a="http://schemas.openxmlformats.org/drawingml/2006/main">
              <a:ext uri="{FF2B5EF4-FFF2-40B4-BE49-F238E27FC236}">
                <a16:creationId xmlns:a16="http://schemas.microsoft.com/office/drawing/2014/main" id="{FEB576CD-3DF2-40FF-AA04-F7D9BD72CB55}"/>
              </a:ext>
            </a:extLst>
          </p:cNvPr>
          <p:cNvSpPr>
            <a:spLocks xmlns:a="http://schemas.openxmlformats.org/drawingml/2006/main" noGrp="1"/>
          </p:cNvSpPr>
          <p:nvPr/>
        </p:nvSpPr>
        <p:spPr>
          <a:xfrm xmlns:a="http://schemas.openxmlformats.org/drawingml/2006/main">
            <a:off x="647700" y="533400"/>
            <a:ext cx="108394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004282"/>
                </a:solidFill>
              </a:defRPr>
            </a:pPr>
            <a:r>
              <a:rPr sz="2850" b="1">
                <a:solidFill>
                  <a:srgbClr val="004282"/>
                </a:solidFill>
              </a:rPr>
              <a:t>Four phase-aligned channels describe one touch</a:t>
            </a:r>
          </a:p>
        </p:txBody>
      </p:sp>
      <p:sp>
        <p:nvSpPr>
          <p:cNvPr id="5" name="">
            <a:extLst xmlns:a="http://schemas.openxmlformats.org/drawingml/2006/main">
              <a:ext uri="{FF2B5EF4-FFF2-40B4-BE49-F238E27FC236}">
                <a16:creationId xmlns:a16="http://schemas.microsoft.com/office/drawing/2014/main" id="{4055719E-0769-4719-9F99-7390E5802B40}"/>
              </a:ext>
            </a:extLst>
          </p:cNvPr>
          <p:cNvSpPr>
            <a:spLocks xmlns:a="http://schemas.openxmlformats.org/drawingml/2006/main" noGrp="1"/>
          </p:cNvSpPr>
          <p:nvPr/>
        </p:nvSpPr>
        <p:spPr>
          <a:xfrm xmlns:a="http://schemas.openxmlformats.org/drawingml/2006/main">
            <a:off x="647700" y="1257300"/>
            <a:ext cx="609600" cy="47625"/>
          </a:xfrm>
          <a:prstGeom xmlns:a="http://schemas.openxmlformats.org/drawingml/2006/main" prst="rect">
            <a:avLst/>
          </a:prstGeom>
          <a:solidFill xmlns:a="http://schemas.openxmlformats.org/drawingml/2006/main">
            <a:srgbClr val="ED7F0D"/>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520BA0D3-25B5-43A5-89B3-B0C0278F857E}"/>
              </a:ext>
            </a:extLst>
          </p:cNvPr>
          <p:cNvSpPr>
            <a:spLocks xmlns:a="http://schemas.openxmlformats.org/drawingml/2006/main" noGrp="1"/>
          </p:cNvSpPr>
          <p:nvPr/>
        </p:nvSpPr>
        <p:spPr>
          <a:xfrm xmlns:a="http://schemas.openxmlformats.org/drawingml/2006/main">
            <a:off x="647700" y="6486525"/>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6B7580"/>
                </a:solidFill>
              </a:defRPr>
            </a:pPr>
            <a:r>
              <a:rPr sz="825" b="0">
                <a:solidFill>
                  <a:srgbClr val="6B7580"/>
                </a:solidFill>
              </a:rPr>
              <a:t>Nan Jinyao · Paper-aligned group review</a:t>
            </a:r>
          </a:p>
        </p:txBody>
      </p:sp>
      <p:sp>
        <p:nvSpPr>
          <p:cNvPr id="7" name="">
            <a:extLst xmlns:a="http://schemas.openxmlformats.org/drawingml/2006/main">
              <a:ext uri="{FF2B5EF4-FFF2-40B4-BE49-F238E27FC236}">
                <a16:creationId xmlns:a16="http://schemas.microsoft.com/office/drawing/2014/main" id="{8F7BE2BE-BFAC-41FF-B0FF-736B1FCE8176}"/>
              </a:ext>
            </a:extLst>
          </p:cNvPr>
          <p:cNvSpPr>
            <a:spLocks xmlns:a="http://schemas.openxmlformats.org/drawingml/2006/main" noGrp="1"/>
          </p:cNvSpPr>
          <p:nvPr/>
        </p:nvSpPr>
        <p:spPr>
          <a:xfrm xmlns:a="http://schemas.openxmlformats.org/drawingml/2006/main">
            <a:off x="4476750" y="6486525"/>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0">
                <a:solidFill>
                  <a:srgbClr val="6B7580"/>
                </a:solidFill>
              </a:defRPr>
            </a:pPr>
            <a:r>
              <a:rPr sz="825" b="0">
                <a:solidFill>
                  <a:srgbClr val="6B7580"/>
                </a:solidFill>
              </a:rPr>
              <a:t>Sec. II-A · Eqs. (2)–(3)</a:t>
            </a:r>
          </a:p>
        </p:txBody>
      </p:sp>
      <p:sp>
        <p:nvSpPr>
          <p:cNvPr id="8" name="">
            <a:extLst xmlns:a="http://schemas.openxmlformats.org/drawingml/2006/main">
              <a:ext uri="{FF2B5EF4-FFF2-40B4-BE49-F238E27FC236}">
                <a16:creationId xmlns:a16="http://schemas.microsoft.com/office/drawing/2014/main" id="{ECB6028E-475D-4F68-913E-827957487F72}"/>
              </a:ext>
            </a:extLst>
          </p:cNvPr>
          <p:cNvSpPr>
            <a:spLocks xmlns:a="http://schemas.openxmlformats.org/drawingml/2006/main" noGrp="1"/>
          </p:cNvSpPr>
          <p:nvPr/>
        </p:nvSpPr>
        <p:spPr>
          <a:xfrm xmlns:a="http://schemas.openxmlformats.org/drawingml/2006/main">
            <a:off x="11049000" y="648652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004282"/>
                </a:solidFill>
              </a:defRPr>
            </a:pPr>
            <a:r>
              <a:rPr sz="825" b="1">
                <a:solidFill>
                  <a:srgbClr val="004282"/>
                </a:solidFill>
              </a:rPr>
              <a:t>16</a:t>
            </a:r>
          </a:p>
        </p:txBody>
      </p:sp>
      <p:sp>
        <p:nvSpPr>
          <p:cNvPr id="9" name="">
            <a:extLst xmlns:a="http://schemas.openxmlformats.org/drawingml/2006/main">
              <a:ext uri="{FF2B5EF4-FFF2-40B4-BE49-F238E27FC236}">
                <a16:creationId xmlns:a16="http://schemas.microsoft.com/office/drawing/2014/main" id="{2AB03F1F-34FC-42FA-BEB6-508742466C8D}"/>
              </a:ext>
            </a:extLst>
          </p:cNvPr>
          <p:cNvSpPr>
            <a:spLocks xmlns:a="http://schemas.openxmlformats.org/drawingml/2006/main" noGrp="1"/>
          </p:cNvSpPr>
          <p:nvPr/>
        </p:nvSpPr>
        <p:spPr>
          <a:xfrm xmlns:a="http://schemas.openxmlformats.org/drawingml/2006/main">
            <a:off x="704850" y="1428750"/>
            <a:ext cx="10725150" cy="4400550"/>
          </a:xfrm>
          <a:prstGeom xmlns:a="http://schemas.openxmlformats.org/drawingml/2006/main" prst="roundRect">
            <a:avLst>
              <a:gd name="adj" fmla="val 1732"/>
            </a:avLst>
          </a:prstGeom>
          <a:solidFill xmlns:a="http://schemas.openxmlformats.org/drawingml/2006/main">
            <a:srgbClr val="FFFFFF"/>
          </a:solidFill>
          <a:ln xmlns:a="http://schemas.openxmlformats.org/drawingml/2006/main" w="9525">
            <a:solidFill>
              <a:srgbClr val="D9E0E6"/>
            </a:solidFill>
            <a:prstDash val="solid"/>
          </a:ln>
        </p:spPr>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0653b63a1f774cd5"/>
          <a:stretch xmlns:a="http://schemas.openxmlformats.org/drawingml/2006/main"/>
        </p:blipFill>
        <p:spPr>
          <a:xfrm xmlns:a="http://schemas.openxmlformats.org/drawingml/2006/main">
            <a:off x="1959663" y="1504950"/>
            <a:ext cx="8215523" cy="4248150"/>
          </a:xfrm>
          <a:prstGeom xmlns:a="http://schemas.openxmlformats.org/drawingml/2006/main" prst="roundRect">
            <a:avLst>
              <a:gd name="adj" fmla="val 1794"/>
            </a:avLst>
          </a:prstGeom>
        </p:spPr>
      </p:pic>
      <p:sp>
        <p:nvSpPr>
          <p:cNvPr id="11" name="">
            <a:extLst xmlns:a="http://schemas.openxmlformats.org/drawingml/2006/main">
              <a:ext uri="{FF2B5EF4-FFF2-40B4-BE49-F238E27FC236}">
                <a16:creationId xmlns:a16="http://schemas.microsoft.com/office/drawing/2014/main" id="{EB818242-D1E7-4F8A-901D-50ADD53E5B85}"/>
              </a:ext>
            </a:extLst>
          </p:cNvPr>
          <p:cNvSpPr>
            <a:spLocks xmlns:a="http://schemas.openxmlformats.org/drawingml/2006/main" noGrp="1"/>
          </p:cNvSpPr>
          <p:nvPr/>
        </p:nvSpPr>
        <p:spPr>
          <a:xfrm xmlns:a="http://schemas.openxmlformats.org/drawingml/2006/main">
            <a:off x="647700" y="5943600"/>
            <a:ext cx="10839450" cy="400050"/>
          </a:xfrm>
          <a:prstGeom xmlns:a="http://schemas.openxmlformats.org/drawingml/2006/main" prst="rect">
            <a:avLst/>
          </a:prstGeom>
          <a:solidFill xmlns:a="http://schemas.openxmlformats.org/drawingml/2006/main">
            <a:srgbClr val="FFF0E2"/>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76D14770-3B62-4254-9413-4E7271C184B1}"/>
              </a:ext>
            </a:extLst>
          </p:cNvPr>
          <p:cNvSpPr>
            <a:spLocks xmlns:a="http://schemas.openxmlformats.org/drawingml/2006/main" noGrp="1"/>
          </p:cNvSpPr>
          <p:nvPr/>
        </p:nvSpPr>
        <p:spPr>
          <a:xfrm xmlns:a="http://schemas.openxmlformats.org/drawingml/2006/main">
            <a:off x="647700" y="5943600"/>
            <a:ext cx="57150" cy="400050"/>
          </a:xfrm>
          <a:prstGeom xmlns:a="http://schemas.openxmlformats.org/drawingml/2006/main" prst="rect">
            <a:avLst/>
          </a:prstGeom>
          <a:solidFill xmlns:a="http://schemas.openxmlformats.org/drawingml/2006/main">
            <a:srgbClr val="ED7F0D"/>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A4C61560-1CD6-49E2-81E4-8B16EA4AD8E0}"/>
              </a:ext>
            </a:extLst>
          </p:cNvPr>
          <p:cNvSpPr>
            <a:spLocks xmlns:a="http://schemas.openxmlformats.org/drawingml/2006/main" noGrp="1"/>
          </p:cNvSpPr>
          <p:nvPr/>
        </p:nvSpPr>
        <p:spPr>
          <a:xfrm xmlns:a="http://schemas.openxmlformats.org/drawingml/2006/main">
            <a:off x="838200" y="5981700"/>
            <a:ext cx="10458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152538"/>
                </a:solidFill>
              </a:defRPr>
            </a:pPr>
            <a:r>
              <a:rPr sz="1275" b="1">
                <a:solidFill>
                  <a:srgbClr val="152538"/>
                </a:solidFill>
              </a:rPr>
              <a:t>Hardware records 240 raw samples; periodic interpolation creates the 4×360 input without smoothing the raw signal.</a:t>
            </a:r>
          </a:p>
        </p:txBody>
      </p:sp>
    </p:spTree>
    <p:extLst>
      <p:ext uri="{BB962C8B-B14F-4D97-AF65-F5344CB8AC3E}">
        <p14:creationId xmlns:p14="http://schemas.microsoft.com/office/powerpoint/2010/main" val="219796431"/>
      </p:ext>
    </p:extLst>
  </p:cSld>
</p:sld>
</file>

<file path=ppt/slides/slide17.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41B7C95-FFE3-4888-9D39-42C8426C5A7C}"/>
              </a:ext>
            </a:extLst>
          </p:cNvPr>
          <p:cNvSpPr>
            <a:spLocks xmlns:a="http://schemas.openxmlformats.org/drawingml/2006/main" noGrp="1"/>
          </p:cNvSpPr>
          <p:nvPr/>
        </p:nvSpPr>
        <p:spPr>
          <a:xfrm xmlns:a="http://schemas.openxmlformats.org/drawingml/2006/main">
            <a:off x="647700" y="2286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ED7F0D"/>
                </a:solidFill>
              </a:defRPr>
            </a:pPr>
            <a:r>
              <a:rPr sz="1050" b="1">
                <a:solidFill>
                  <a:srgbClr val="ED7F0D"/>
                </a:solidFill>
              </a:rPr>
              <a:t>17</a:t>
            </a:r>
          </a:p>
        </p:txBody>
      </p:sp>
      <p:sp>
        <p:nvSpPr>
          <p:cNvPr id="2" name="">
            <a:extLst xmlns:a="http://schemas.openxmlformats.org/drawingml/2006/main">
              <a:ext uri="{FF2B5EF4-FFF2-40B4-BE49-F238E27FC236}">
                <a16:creationId xmlns:a16="http://schemas.microsoft.com/office/drawing/2014/main" id="{06BD3864-10E6-4269-AFE1-5410070C160A}"/>
              </a:ext>
            </a:extLst>
          </p:cNvPr>
          <p:cNvSpPr>
            <a:spLocks xmlns:a="http://schemas.openxmlformats.org/drawingml/2006/main" noGrp="1"/>
          </p:cNvSpPr>
          <p:nvPr/>
        </p:nvSpPr>
        <p:spPr>
          <a:xfrm xmlns:a="http://schemas.openxmlformats.org/drawingml/2006/main">
            <a:off x="1104900" y="22860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6B7580"/>
                </a:solidFill>
              </a:defRPr>
            </a:pPr>
            <a:r>
              <a:rPr sz="975" b="1">
                <a:solidFill>
                  <a:srgbClr val="6B7580"/>
                </a:solidFill>
              </a:rPr>
              <a:t>FRAMEWORK</a:t>
            </a:r>
          </a:p>
        </p:txBody>
      </p:sp>
      <p:sp>
        <p:nvSpPr>
          <p:cNvPr id="3" name="">
            <a:extLst xmlns:a="http://schemas.openxmlformats.org/drawingml/2006/main">
              <a:ext uri="{FF2B5EF4-FFF2-40B4-BE49-F238E27FC236}">
                <a16:creationId xmlns:a16="http://schemas.microsoft.com/office/drawing/2014/main" id="{B6F5F694-ADFA-471E-AD13-5988E992554F}"/>
              </a:ext>
            </a:extLst>
          </p:cNvPr>
          <p:cNvSpPr>
            <a:spLocks xmlns:a="http://schemas.openxmlformats.org/drawingml/2006/main" noGrp="1"/>
          </p:cNvSpPr>
          <p:nvPr/>
        </p:nvSpPr>
        <p:spPr>
          <a:xfrm xmlns:a="http://schemas.openxmlformats.org/drawingml/2006/main">
            <a:off x="6191250" y="228600"/>
            <a:ext cx="5353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0">
                <a:solidFill>
                  <a:srgbClr val="6B7580"/>
                </a:solidFill>
              </a:defRPr>
            </a:pPr>
            <a:r>
              <a:rPr sz="825" b="0">
                <a:solidFill>
                  <a:srgbClr val="6B7580"/>
                </a:solidFill>
              </a:rPr>
              <a:t>Problem   Task   ● Framework   Simulation   Hardware   Discussion</a:t>
            </a:r>
          </a:p>
        </p:txBody>
      </p:sp>
      <p:sp>
        <p:nvSpPr>
          <p:cNvPr id="4" name="">
            <a:extLst xmlns:a="http://schemas.openxmlformats.org/drawingml/2006/main">
              <a:ext uri="{FF2B5EF4-FFF2-40B4-BE49-F238E27FC236}">
                <a16:creationId xmlns:a16="http://schemas.microsoft.com/office/drawing/2014/main" id="{29EDB143-6005-4649-A800-0ED534E1638E}"/>
              </a:ext>
            </a:extLst>
          </p:cNvPr>
          <p:cNvSpPr>
            <a:spLocks xmlns:a="http://schemas.openxmlformats.org/drawingml/2006/main" noGrp="1"/>
          </p:cNvSpPr>
          <p:nvPr/>
        </p:nvSpPr>
        <p:spPr>
          <a:xfrm xmlns:a="http://schemas.openxmlformats.org/drawingml/2006/main">
            <a:off x="647700" y="533400"/>
            <a:ext cx="108394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700" b="1">
                <a:solidFill>
                  <a:srgbClr val="004282"/>
                </a:solidFill>
              </a:defRPr>
            </a:pPr>
            <a:r>
              <a:rPr sz="2700" b="1">
                <a:solidFill>
                  <a:srgbClr val="004282"/>
                </a:solidFill>
              </a:rPr>
              <a:t>Three calibrated models produce a circular direction posterior</a:t>
            </a:r>
          </a:p>
        </p:txBody>
      </p:sp>
      <p:sp>
        <p:nvSpPr>
          <p:cNvPr id="5" name="">
            <a:extLst xmlns:a="http://schemas.openxmlformats.org/drawingml/2006/main">
              <a:ext uri="{FF2B5EF4-FFF2-40B4-BE49-F238E27FC236}">
                <a16:creationId xmlns:a16="http://schemas.microsoft.com/office/drawing/2014/main" id="{87E5347E-34E3-430F-8ABC-FEDA33D5E684}"/>
              </a:ext>
            </a:extLst>
          </p:cNvPr>
          <p:cNvSpPr>
            <a:spLocks xmlns:a="http://schemas.openxmlformats.org/drawingml/2006/main" noGrp="1"/>
          </p:cNvSpPr>
          <p:nvPr/>
        </p:nvSpPr>
        <p:spPr>
          <a:xfrm xmlns:a="http://schemas.openxmlformats.org/drawingml/2006/main">
            <a:off x="647700" y="1257300"/>
            <a:ext cx="609600" cy="47625"/>
          </a:xfrm>
          <a:prstGeom xmlns:a="http://schemas.openxmlformats.org/drawingml/2006/main" prst="rect">
            <a:avLst/>
          </a:prstGeom>
          <a:solidFill xmlns:a="http://schemas.openxmlformats.org/drawingml/2006/main">
            <a:srgbClr val="ED7F0D"/>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A9C0AAE8-045F-4E08-9A9B-C0004AD4A949}"/>
              </a:ext>
            </a:extLst>
          </p:cNvPr>
          <p:cNvSpPr>
            <a:spLocks xmlns:a="http://schemas.openxmlformats.org/drawingml/2006/main" noGrp="1"/>
          </p:cNvSpPr>
          <p:nvPr/>
        </p:nvSpPr>
        <p:spPr>
          <a:xfrm xmlns:a="http://schemas.openxmlformats.org/drawingml/2006/main">
            <a:off x="647700" y="6486525"/>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6B7580"/>
                </a:solidFill>
              </a:defRPr>
            </a:pPr>
            <a:r>
              <a:rPr sz="825" b="0">
                <a:solidFill>
                  <a:srgbClr val="6B7580"/>
                </a:solidFill>
              </a:rPr>
              <a:t>Nan Jinyao · Paper-aligned group review</a:t>
            </a:r>
          </a:p>
        </p:txBody>
      </p:sp>
      <p:sp>
        <p:nvSpPr>
          <p:cNvPr id="7" name="">
            <a:extLst xmlns:a="http://schemas.openxmlformats.org/drawingml/2006/main">
              <a:ext uri="{FF2B5EF4-FFF2-40B4-BE49-F238E27FC236}">
                <a16:creationId xmlns:a16="http://schemas.microsoft.com/office/drawing/2014/main" id="{9CD5A59F-BE1F-4DAD-83CD-72643258DEA6}"/>
              </a:ext>
            </a:extLst>
          </p:cNvPr>
          <p:cNvSpPr>
            <a:spLocks xmlns:a="http://schemas.openxmlformats.org/drawingml/2006/main" noGrp="1"/>
          </p:cNvSpPr>
          <p:nvPr/>
        </p:nvSpPr>
        <p:spPr>
          <a:xfrm xmlns:a="http://schemas.openxmlformats.org/drawingml/2006/main">
            <a:off x="4476750" y="6486525"/>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0">
                <a:solidFill>
                  <a:srgbClr val="6B7580"/>
                </a:solidFill>
              </a:defRPr>
            </a:pPr>
            <a:r>
              <a:rPr sz="825" b="0">
                <a:solidFill>
                  <a:srgbClr val="6B7580"/>
                </a:solidFill>
              </a:rPr>
              <a:t>Sec. III-A · Eqs. (8)–(12)</a:t>
            </a:r>
          </a:p>
        </p:txBody>
      </p:sp>
      <p:sp>
        <p:nvSpPr>
          <p:cNvPr id="8" name="">
            <a:extLst xmlns:a="http://schemas.openxmlformats.org/drawingml/2006/main">
              <a:ext uri="{FF2B5EF4-FFF2-40B4-BE49-F238E27FC236}">
                <a16:creationId xmlns:a16="http://schemas.microsoft.com/office/drawing/2014/main" id="{32312B04-FBA8-4B64-A923-3068A1FF1516}"/>
              </a:ext>
            </a:extLst>
          </p:cNvPr>
          <p:cNvSpPr>
            <a:spLocks xmlns:a="http://schemas.openxmlformats.org/drawingml/2006/main" noGrp="1"/>
          </p:cNvSpPr>
          <p:nvPr/>
        </p:nvSpPr>
        <p:spPr>
          <a:xfrm xmlns:a="http://schemas.openxmlformats.org/drawingml/2006/main">
            <a:off x="11049000" y="648652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004282"/>
                </a:solidFill>
              </a:defRPr>
            </a:pPr>
            <a:r>
              <a:rPr sz="825" b="1">
                <a:solidFill>
                  <a:srgbClr val="004282"/>
                </a:solidFill>
              </a:rPr>
              <a:t>17</a:t>
            </a:r>
          </a:p>
        </p:txBody>
      </p:sp>
      <p:sp>
        <p:nvSpPr>
          <p:cNvPr id="9" name="">
            <a:extLst xmlns:a="http://schemas.openxmlformats.org/drawingml/2006/main">
              <a:ext uri="{FF2B5EF4-FFF2-40B4-BE49-F238E27FC236}">
                <a16:creationId xmlns:a16="http://schemas.microsoft.com/office/drawing/2014/main" id="{5CA7333D-67A7-4CC1-888B-BE9F309D7DEB}"/>
              </a:ext>
            </a:extLst>
          </p:cNvPr>
          <p:cNvSpPr>
            <a:spLocks xmlns:a="http://schemas.openxmlformats.org/drawingml/2006/main" noGrp="1"/>
          </p:cNvSpPr>
          <p:nvPr/>
        </p:nvSpPr>
        <p:spPr>
          <a:xfrm xmlns:a="http://schemas.openxmlformats.org/drawingml/2006/main">
            <a:off x="704850" y="1447800"/>
            <a:ext cx="10725150" cy="3619500"/>
          </a:xfrm>
          <a:prstGeom xmlns:a="http://schemas.openxmlformats.org/drawingml/2006/main" prst="roundRect">
            <a:avLst>
              <a:gd name="adj" fmla="val 2105"/>
            </a:avLst>
          </a:prstGeom>
          <a:solidFill xmlns:a="http://schemas.openxmlformats.org/drawingml/2006/main">
            <a:srgbClr val="FFFFFF"/>
          </a:solidFill>
          <a:ln xmlns:a="http://schemas.openxmlformats.org/drawingml/2006/main" w="9525">
            <a:solidFill>
              <a:srgbClr val="D9E0E6"/>
            </a:solidFill>
            <a:prstDash val="solid"/>
          </a:ln>
        </p:spPr>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a7f0f71c20fb4647"/>
          <a:stretch xmlns:a="http://schemas.openxmlformats.org/drawingml/2006/main"/>
        </p:blipFill>
        <p:spPr>
          <a:xfrm xmlns:a="http://schemas.openxmlformats.org/drawingml/2006/main">
            <a:off x="2232207" y="1524000"/>
            <a:ext cx="7670437" cy="3467100"/>
          </a:xfrm>
          <a:prstGeom xmlns:a="http://schemas.openxmlformats.org/drawingml/2006/main" prst="roundRect">
            <a:avLst>
              <a:gd name="adj" fmla="val 2198"/>
            </a:avLst>
          </a:prstGeom>
        </p:spPr>
      </p:pic>
      <p:sp>
        <p:nvSpPr>
          <p:cNvPr id="11" name="">
            <a:extLst xmlns:a="http://schemas.openxmlformats.org/drawingml/2006/main">
              <a:ext uri="{FF2B5EF4-FFF2-40B4-BE49-F238E27FC236}">
                <a16:creationId xmlns:a16="http://schemas.microsoft.com/office/drawing/2014/main" id="{CA808A30-4B4A-42B8-A88C-70157E2908CD}"/>
              </a:ext>
            </a:extLst>
          </p:cNvPr>
          <p:cNvSpPr>
            <a:spLocks xmlns:a="http://schemas.openxmlformats.org/drawingml/2006/main" noGrp="1"/>
          </p:cNvSpPr>
          <p:nvPr/>
        </p:nvSpPr>
        <p:spPr>
          <a:xfrm xmlns:a="http://schemas.openxmlformats.org/drawingml/2006/main">
            <a:off x="876300" y="5162550"/>
            <a:ext cx="2190750" cy="419100"/>
          </a:xfrm>
          <a:prstGeom xmlns:a="http://schemas.openxmlformats.org/drawingml/2006/main" prst="rect">
            <a:avLst/>
          </a:prstGeom>
          <a:solidFill xmlns:a="http://schemas.openxmlformats.org/drawingml/2006/main">
            <a:srgbClr val="E8F1F8"/>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004282"/>
                </a:solidFill>
              </a:defRPr>
            </a:pPr>
            <a:r>
              <a:rPr sz="1275" b="1">
                <a:solidFill>
                  <a:srgbClr val="004282"/>
                </a:solidFill>
              </a:rPr>
              <a:t>4 × 360 signal</a:t>
            </a:r>
          </a:p>
        </p:txBody>
      </p:sp>
      <p:sp>
        <p:nvSpPr>
          <p:cNvPr id="12" name="">
            <a:extLst xmlns:a="http://schemas.openxmlformats.org/drawingml/2006/main">
              <a:ext uri="{FF2B5EF4-FFF2-40B4-BE49-F238E27FC236}">
                <a16:creationId xmlns:a16="http://schemas.microsoft.com/office/drawing/2014/main" id="{94643FFD-B91E-4ABE-8DAD-7998D9559FFB}"/>
              </a:ext>
            </a:extLst>
          </p:cNvPr>
          <p:cNvSpPr>
            <a:spLocks xmlns:a="http://schemas.openxmlformats.org/drawingml/2006/main" noGrp="1"/>
          </p:cNvSpPr>
          <p:nvPr/>
        </p:nvSpPr>
        <p:spPr>
          <a:xfrm xmlns:a="http://schemas.openxmlformats.org/drawingml/2006/main">
            <a:off x="3114675" y="5238750"/>
            <a:ext cx="323850" cy="266700"/>
          </a:xfrm>
          <a:prstGeom xmlns:a="http://schemas.openxmlformats.org/drawingml/2006/main" prst="rightArrow">
            <a:avLst/>
          </a:prstGeom>
          <a:solidFill xmlns:a="http://schemas.openxmlformats.org/drawingml/2006/main">
            <a:srgbClr val="ED7F0D"/>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45D1301C-20AC-4FF3-820A-8788E99F0D5F}"/>
              </a:ext>
            </a:extLst>
          </p:cNvPr>
          <p:cNvSpPr>
            <a:spLocks xmlns:a="http://schemas.openxmlformats.org/drawingml/2006/main" noGrp="1"/>
          </p:cNvSpPr>
          <p:nvPr/>
        </p:nvSpPr>
        <p:spPr>
          <a:xfrm xmlns:a="http://schemas.openxmlformats.org/drawingml/2006/main">
            <a:off x="3524250" y="5162550"/>
            <a:ext cx="2190750" cy="419100"/>
          </a:xfrm>
          <a:prstGeom xmlns:a="http://schemas.openxmlformats.org/drawingml/2006/main" prst="rect">
            <a:avLst/>
          </a:prstGeom>
          <a:solidFill xmlns:a="http://schemas.openxmlformats.org/drawingml/2006/main">
            <a:srgbClr val="E8F1F8"/>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004282"/>
                </a:solidFill>
              </a:defRPr>
            </a:pPr>
            <a:r>
              <a:rPr sz="1275" b="1">
                <a:solidFill>
                  <a:srgbClr val="004282"/>
                </a:solidFill>
              </a:rPr>
              <a:t>3 calibrated models</a:t>
            </a:r>
          </a:p>
        </p:txBody>
      </p:sp>
      <p:sp>
        <p:nvSpPr>
          <p:cNvPr id="14" name="">
            <a:extLst xmlns:a="http://schemas.openxmlformats.org/drawingml/2006/main">
              <a:ext uri="{FF2B5EF4-FFF2-40B4-BE49-F238E27FC236}">
                <a16:creationId xmlns:a16="http://schemas.microsoft.com/office/drawing/2014/main" id="{BA639889-10DC-4620-8B11-7E9679C6AF34}"/>
              </a:ext>
            </a:extLst>
          </p:cNvPr>
          <p:cNvSpPr>
            <a:spLocks xmlns:a="http://schemas.openxmlformats.org/drawingml/2006/main" noGrp="1"/>
          </p:cNvSpPr>
          <p:nvPr/>
        </p:nvSpPr>
        <p:spPr>
          <a:xfrm xmlns:a="http://schemas.openxmlformats.org/drawingml/2006/main">
            <a:off x="5762625" y="5238750"/>
            <a:ext cx="323850" cy="266700"/>
          </a:xfrm>
          <a:prstGeom xmlns:a="http://schemas.openxmlformats.org/drawingml/2006/main" prst="rightArrow">
            <a:avLst/>
          </a:prstGeom>
          <a:solidFill xmlns:a="http://schemas.openxmlformats.org/drawingml/2006/main">
            <a:srgbClr val="ED7F0D"/>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A0DB935B-9685-464F-9968-44EAAA6E6548}"/>
              </a:ext>
            </a:extLst>
          </p:cNvPr>
          <p:cNvSpPr>
            <a:spLocks xmlns:a="http://schemas.openxmlformats.org/drawingml/2006/main" noGrp="1"/>
          </p:cNvSpPr>
          <p:nvPr/>
        </p:nvSpPr>
        <p:spPr>
          <a:xfrm xmlns:a="http://schemas.openxmlformats.org/drawingml/2006/main">
            <a:off x="6172200" y="5162550"/>
            <a:ext cx="2190750" cy="419100"/>
          </a:xfrm>
          <a:prstGeom xmlns:a="http://schemas.openxmlformats.org/drawingml/2006/main" prst="rect">
            <a:avLst/>
          </a:prstGeom>
          <a:solidFill xmlns:a="http://schemas.openxmlformats.org/drawingml/2006/main">
            <a:srgbClr val="E6F5EF"/>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009E73"/>
                </a:solidFill>
              </a:defRPr>
            </a:pPr>
            <a:r>
              <a:rPr sz="1275" b="1">
                <a:solidFill>
                  <a:srgbClr val="009E73"/>
                </a:solidFill>
              </a:rPr>
              <a:t>48 direction bins</a:t>
            </a:r>
          </a:p>
        </p:txBody>
      </p:sp>
      <p:sp>
        <p:nvSpPr>
          <p:cNvPr id="16" name="">
            <a:extLst xmlns:a="http://schemas.openxmlformats.org/drawingml/2006/main">
              <a:ext uri="{FF2B5EF4-FFF2-40B4-BE49-F238E27FC236}">
                <a16:creationId xmlns:a16="http://schemas.microsoft.com/office/drawing/2014/main" id="{0BD20462-C5BF-435F-A037-1BA7DE16D58E}"/>
              </a:ext>
            </a:extLst>
          </p:cNvPr>
          <p:cNvSpPr>
            <a:spLocks xmlns:a="http://schemas.openxmlformats.org/drawingml/2006/main" noGrp="1"/>
          </p:cNvSpPr>
          <p:nvPr/>
        </p:nvSpPr>
        <p:spPr>
          <a:xfrm xmlns:a="http://schemas.openxmlformats.org/drawingml/2006/main">
            <a:off x="8410575" y="5238750"/>
            <a:ext cx="323850" cy="266700"/>
          </a:xfrm>
          <a:prstGeom xmlns:a="http://schemas.openxmlformats.org/drawingml/2006/main" prst="rightArrow">
            <a:avLst/>
          </a:prstGeom>
          <a:solidFill xmlns:a="http://schemas.openxmlformats.org/drawingml/2006/main">
            <a:srgbClr val="ED7F0D"/>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E14B2CCE-2D2D-48F2-AA53-092815B389E0}"/>
              </a:ext>
            </a:extLst>
          </p:cNvPr>
          <p:cNvSpPr>
            <a:spLocks xmlns:a="http://schemas.openxmlformats.org/drawingml/2006/main" noGrp="1"/>
          </p:cNvSpPr>
          <p:nvPr/>
        </p:nvSpPr>
        <p:spPr>
          <a:xfrm xmlns:a="http://schemas.openxmlformats.org/drawingml/2006/main">
            <a:off x="8820150" y="5162550"/>
            <a:ext cx="2190750" cy="419100"/>
          </a:xfrm>
          <a:prstGeom xmlns:a="http://schemas.openxmlformats.org/drawingml/2006/main" prst="rect">
            <a:avLst/>
          </a:prstGeom>
          <a:solidFill xmlns:a="http://schemas.openxmlformats.org/drawingml/2006/main">
            <a:srgbClr val="E6F5EF"/>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009E73"/>
                </a:solidFill>
              </a:defRPr>
            </a:pPr>
            <a:r>
              <a:rPr sz="1275" b="1">
                <a:solidFill>
                  <a:srgbClr val="009E73"/>
                </a:solidFill>
              </a:rPr>
              <a:t>posterior + contact support</a:t>
            </a:r>
          </a:p>
        </p:txBody>
      </p:sp>
      <p:sp>
        <p:nvSpPr>
          <p:cNvPr id="18" name="">
            <a:extLst xmlns:a="http://schemas.openxmlformats.org/drawingml/2006/main">
              <a:ext uri="{FF2B5EF4-FFF2-40B4-BE49-F238E27FC236}">
                <a16:creationId xmlns:a16="http://schemas.microsoft.com/office/drawing/2014/main" id="{99DB0F67-BE9C-4C47-9FDC-7F399952248B}"/>
              </a:ext>
            </a:extLst>
          </p:cNvPr>
          <p:cNvSpPr>
            <a:spLocks xmlns:a="http://schemas.openxmlformats.org/drawingml/2006/main" noGrp="1"/>
          </p:cNvSpPr>
          <p:nvPr/>
        </p:nvSpPr>
        <p:spPr>
          <a:xfrm xmlns:a="http://schemas.openxmlformats.org/drawingml/2006/main">
            <a:off x="647700" y="5943600"/>
            <a:ext cx="10839450" cy="400050"/>
          </a:xfrm>
          <a:prstGeom xmlns:a="http://schemas.openxmlformats.org/drawingml/2006/main" prst="rect">
            <a:avLst/>
          </a:prstGeom>
          <a:solidFill xmlns:a="http://schemas.openxmlformats.org/drawingml/2006/main">
            <a:srgbClr val="FFF0E2"/>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F5DD5AFD-A5CF-49D4-81D2-9A78DBC60C70}"/>
              </a:ext>
            </a:extLst>
          </p:cNvPr>
          <p:cNvSpPr>
            <a:spLocks xmlns:a="http://schemas.openxmlformats.org/drawingml/2006/main" noGrp="1"/>
          </p:cNvSpPr>
          <p:nvPr/>
        </p:nvSpPr>
        <p:spPr>
          <a:xfrm xmlns:a="http://schemas.openxmlformats.org/drawingml/2006/main">
            <a:off x="647700" y="5943600"/>
            <a:ext cx="57150" cy="400050"/>
          </a:xfrm>
          <a:prstGeom xmlns:a="http://schemas.openxmlformats.org/drawingml/2006/main" prst="rect">
            <a:avLst/>
          </a:prstGeom>
          <a:solidFill xmlns:a="http://schemas.openxmlformats.org/drawingml/2006/main">
            <a:srgbClr val="ED7F0D"/>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311496BB-9378-4035-AC22-9AE4A48671E7}"/>
              </a:ext>
            </a:extLst>
          </p:cNvPr>
          <p:cNvSpPr>
            <a:spLocks xmlns:a="http://schemas.openxmlformats.org/drawingml/2006/main" noGrp="1"/>
          </p:cNvSpPr>
          <p:nvPr/>
        </p:nvSpPr>
        <p:spPr>
          <a:xfrm xmlns:a="http://schemas.openxmlformats.org/drawingml/2006/main">
            <a:off x="838200" y="5981700"/>
            <a:ext cx="10458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152538"/>
                </a:solidFill>
              </a:defRPr>
            </a:pPr>
            <a:r>
              <a:rPr sz="1275" b="1">
                <a:solidFill>
                  <a:srgbClr val="152538"/>
                </a:solidFill>
              </a:rPr>
              <a:t>The model describes direction evidence. It does not estimate the socket center.</a:t>
            </a:r>
          </a:p>
        </p:txBody>
      </p:sp>
    </p:spTree>
    <p:extLst>
      <p:ext uri="{BB962C8B-B14F-4D97-AF65-F5344CB8AC3E}">
        <p14:creationId xmlns:p14="http://schemas.microsoft.com/office/powerpoint/2010/main" val="1358240368"/>
      </p:ext>
    </p:extLst>
  </p:cSld>
</p:sld>
</file>

<file path=ppt/slides/slide18.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8393175-3C1D-4182-B148-26FDEC8DCA43}"/>
              </a:ext>
            </a:extLst>
          </p:cNvPr>
          <p:cNvSpPr>
            <a:spLocks xmlns:a="http://schemas.openxmlformats.org/drawingml/2006/main" noGrp="1"/>
          </p:cNvSpPr>
          <p:nvPr/>
        </p:nvSpPr>
        <p:spPr>
          <a:xfrm xmlns:a="http://schemas.openxmlformats.org/drawingml/2006/main">
            <a:off x="647700" y="2286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ED7F0D"/>
                </a:solidFill>
              </a:defRPr>
            </a:pPr>
            <a:r>
              <a:rPr sz="1050" b="1">
                <a:solidFill>
                  <a:srgbClr val="ED7F0D"/>
                </a:solidFill>
              </a:rPr>
              <a:t>18</a:t>
            </a:r>
          </a:p>
        </p:txBody>
      </p:sp>
      <p:sp>
        <p:nvSpPr>
          <p:cNvPr id="2" name="">
            <a:extLst xmlns:a="http://schemas.openxmlformats.org/drawingml/2006/main">
              <a:ext uri="{FF2B5EF4-FFF2-40B4-BE49-F238E27FC236}">
                <a16:creationId xmlns:a16="http://schemas.microsoft.com/office/drawing/2014/main" id="{15110CC6-4D6E-4C90-92C4-F3C5CAA9C018}"/>
              </a:ext>
            </a:extLst>
          </p:cNvPr>
          <p:cNvSpPr>
            <a:spLocks xmlns:a="http://schemas.openxmlformats.org/drawingml/2006/main" noGrp="1"/>
          </p:cNvSpPr>
          <p:nvPr/>
        </p:nvSpPr>
        <p:spPr>
          <a:xfrm xmlns:a="http://schemas.openxmlformats.org/drawingml/2006/main">
            <a:off x="1104900" y="22860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6B7580"/>
                </a:solidFill>
              </a:defRPr>
            </a:pPr>
            <a:r>
              <a:rPr sz="975" b="1">
                <a:solidFill>
                  <a:srgbClr val="6B7580"/>
                </a:solidFill>
              </a:rPr>
              <a:t>FRAMEWORK</a:t>
            </a:r>
          </a:p>
        </p:txBody>
      </p:sp>
      <p:sp>
        <p:nvSpPr>
          <p:cNvPr id="3" name="">
            <a:extLst xmlns:a="http://schemas.openxmlformats.org/drawingml/2006/main">
              <a:ext uri="{FF2B5EF4-FFF2-40B4-BE49-F238E27FC236}">
                <a16:creationId xmlns:a16="http://schemas.microsoft.com/office/drawing/2014/main" id="{266C6C83-2EDA-4598-9062-943CB8F748F7}"/>
              </a:ext>
            </a:extLst>
          </p:cNvPr>
          <p:cNvSpPr>
            <a:spLocks xmlns:a="http://schemas.openxmlformats.org/drawingml/2006/main" noGrp="1"/>
          </p:cNvSpPr>
          <p:nvPr/>
        </p:nvSpPr>
        <p:spPr>
          <a:xfrm xmlns:a="http://schemas.openxmlformats.org/drawingml/2006/main">
            <a:off x="6191250" y="228600"/>
            <a:ext cx="5353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0">
                <a:solidFill>
                  <a:srgbClr val="6B7580"/>
                </a:solidFill>
              </a:defRPr>
            </a:pPr>
            <a:r>
              <a:rPr sz="825" b="0">
                <a:solidFill>
                  <a:srgbClr val="6B7580"/>
                </a:solidFill>
              </a:rPr>
              <a:t>Problem   Task   ● Framework   Simulation   Hardware   Discussion</a:t>
            </a:r>
          </a:p>
        </p:txBody>
      </p:sp>
      <p:sp>
        <p:nvSpPr>
          <p:cNvPr id="4" name="">
            <a:extLst xmlns:a="http://schemas.openxmlformats.org/drawingml/2006/main">
              <a:ext uri="{FF2B5EF4-FFF2-40B4-BE49-F238E27FC236}">
                <a16:creationId xmlns:a16="http://schemas.microsoft.com/office/drawing/2014/main" id="{DC8DAF7C-A298-4181-93E6-C4158D0BF978}"/>
              </a:ext>
            </a:extLst>
          </p:cNvPr>
          <p:cNvSpPr>
            <a:spLocks xmlns:a="http://schemas.openxmlformats.org/drawingml/2006/main" noGrp="1"/>
          </p:cNvSpPr>
          <p:nvPr/>
        </p:nvSpPr>
        <p:spPr>
          <a:xfrm xmlns:a="http://schemas.openxmlformats.org/drawingml/2006/main">
            <a:off x="647700" y="533400"/>
            <a:ext cx="108394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700" b="1">
                <a:solidFill>
                  <a:srgbClr val="004282"/>
                </a:solidFill>
              </a:defRPr>
            </a:pPr>
            <a:r>
              <a:rPr sz="2700" b="1">
                <a:solidFill>
                  <a:srgbClr val="004282"/>
                </a:solidFill>
              </a:rPr>
              <a:t>The posterior updates the CAD prior without inventing distance</a:t>
            </a:r>
          </a:p>
        </p:txBody>
      </p:sp>
      <p:sp>
        <p:nvSpPr>
          <p:cNvPr id="5" name="">
            <a:extLst xmlns:a="http://schemas.openxmlformats.org/drawingml/2006/main">
              <a:ext uri="{FF2B5EF4-FFF2-40B4-BE49-F238E27FC236}">
                <a16:creationId xmlns:a16="http://schemas.microsoft.com/office/drawing/2014/main" id="{D8ADCB7D-C81E-4AEA-A455-F07C120F8063}"/>
              </a:ext>
            </a:extLst>
          </p:cNvPr>
          <p:cNvSpPr>
            <a:spLocks xmlns:a="http://schemas.openxmlformats.org/drawingml/2006/main" noGrp="1"/>
          </p:cNvSpPr>
          <p:nvPr/>
        </p:nvSpPr>
        <p:spPr>
          <a:xfrm xmlns:a="http://schemas.openxmlformats.org/drawingml/2006/main">
            <a:off x="647700" y="1257300"/>
            <a:ext cx="609600" cy="47625"/>
          </a:xfrm>
          <a:prstGeom xmlns:a="http://schemas.openxmlformats.org/drawingml/2006/main" prst="rect">
            <a:avLst/>
          </a:prstGeom>
          <a:solidFill xmlns:a="http://schemas.openxmlformats.org/drawingml/2006/main">
            <a:srgbClr val="ED7F0D"/>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4E5B3588-6ED7-4B45-A870-65547B6AC30F}"/>
              </a:ext>
            </a:extLst>
          </p:cNvPr>
          <p:cNvSpPr>
            <a:spLocks xmlns:a="http://schemas.openxmlformats.org/drawingml/2006/main" noGrp="1"/>
          </p:cNvSpPr>
          <p:nvPr/>
        </p:nvSpPr>
        <p:spPr>
          <a:xfrm xmlns:a="http://schemas.openxmlformats.org/drawingml/2006/main">
            <a:off x="647700" y="6486525"/>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6B7580"/>
                </a:solidFill>
              </a:defRPr>
            </a:pPr>
            <a:r>
              <a:rPr sz="825" b="0">
                <a:solidFill>
                  <a:srgbClr val="6B7580"/>
                </a:solidFill>
              </a:rPr>
              <a:t>Nan Jinyao · Paper-aligned group review</a:t>
            </a:r>
          </a:p>
        </p:txBody>
      </p:sp>
      <p:sp>
        <p:nvSpPr>
          <p:cNvPr id="7" name="">
            <a:extLst xmlns:a="http://schemas.openxmlformats.org/drawingml/2006/main">
              <a:ext uri="{FF2B5EF4-FFF2-40B4-BE49-F238E27FC236}">
                <a16:creationId xmlns:a16="http://schemas.microsoft.com/office/drawing/2014/main" id="{5FEBA7B1-AE2E-46CA-8F6C-A5EA5AF77005}"/>
              </a:ext>
            </a:extLst>
          </p:cNvPr>
          <p:cNvSpPr>
            <a:spLocks xmlns:a="http://schemas.openxmlformats.org/drawingml/2006/main" noGrp="1"/>
          </p:cNvSpPr>
          <p:nvPr/>
        </p:nvSpPr>
        <p:spPr>
          <a:xfrm xmlns:a="http://schemas.openxmlformats.org/drawingml/2006/main">
            <a:off x="4476750" y="6486525"/>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0">
                <a:solidFill>
                  <a:srgbClr val="6B7580"/>
                </a:solidFill>
              </a:defRPr>
            </a:pPr>
            <a:r>
              <a:rPr sz="825" b="0">
                <a:solidFill>
                  <a:srgbClr val="6B7580"/>
                </a:solidFill>
              </a:rPr>
              <a:t>Sec. III-B · Eqs. (13)–(15)</a:t>
            </a:r>
          </a:p>
        </p:txBody>
      </p:sp>
      <p:sp>
        <p:nvSpPr>
          <p:cNvPr id="8" name="">
            <a:extLst xmlns:a="http://schemas.openxmlformats.org/drawingml/2006/main">
              <a:ext uri="{FF2B5EF4-FFF2-40B4-BE49-F238E27FC236}">
                <a16:creationId xmlns:a16="http://schemas.microsoft.com/office/drawing/2014/main" id="{99D7864D-62FB-40F3-998B-D4BCE89B4A50}"/>
              </a:ext>
            </a:extLst>
          </p:cNvPr>
          <p:cNvSpPr>
            <a:spLocks xmlns:a="http://schemas.openxmlformats.org/drawingml/2006/main" noGrp="1"/>
          </p:cNvSpPr>
          <p:nvPr/>
        </p:nvSpPr>
        <p:spPr>
          <a:xfrm xmlns:a="http://schemas.openxmlformats.org/drawingml/2006/main">
            <a:off x="11049000" y="648652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004282"/>
                </a:solidFill>
              </a:defRPr>
            </a:pPr>
            <a:r>
              <a:rPr sz="825" b="1">
                <a:solidFill>
                  <a:srgbClr val="004282"/>
                </a:solidFill>
              </a:rPr>
              <a:t>18</a:t>
            </a:r>
          </a:p>
        </p:txBody>
      </p:sp>
      <p:sp>
        <p:nvSpPr>
          <p:cNvPr id="9" name="">
            <a:extLst xmlns:a="http://schemas.openxmlformats.org/drawingml/2006/main">
              <a:ext uri="{FF2B5EF4-FFF2-40B4-BE49-F238E27FC236}">
                <a16:creationId xmlns:a16="http://schemas.microsoft.com/office/drawing/2014/main" id="{36C9A950-574F-487A-B7D6-2ACDF27F1C3F}"/>
              </a:ext>
            </a:extLst>
          </p:cNvPr>
          <p:cNvSpPr>
            <a:spLocks xmlns:a="http://schemas.openxmlformats.org/drawingml/2006/main" noGrp="1"/>
          </p:cNvSpPr>
          <p:nvPr/>
        </p:nvSpPr>
        <p:spPr>
          <a:xfrm xmlns:a="http://schemas.openxmlformats.org/drawingml/2006/main">
            <a:off x="1076325" y="1809750"/>
            <a:ext cx="3143250" cy="3143250"/>
          </a:xfrm>
          <a:prstGeom xmlns:a="http://schemas.openxmlformats.org/drawingml/2006/main" prst="ellipse">
            <a:avLst/>
          </a:prstGeom>
          <a:solidFill xmlns:a="http://schemas.openxmlformats.org/drawingml/2006/main">
            <a:srgbClr val="FFFFFF"/>
          </a:solidFill>
          <a:ln xmlns:a="http://schemas.openxmlformats.org/drawingml/2006/main" w="9525">
            <a:solidFill>
              <a:srgbClr val="D9E0E6"/>
            </a:solidFill>
            <a:prstDash val="solid"/>
          </a:ln>
        </p:spPr>
      </p:sp>
      <p:sp>
        <p:nvSpPr>
          <p:cNvPr id="10" name="">
            <a:extLst xmlns:a="http://schemas.openxmlformats.org/drawingml/2006/main">
              <a:ext uri="{FF2B5EF4-FFF2-40B4-BE49-F238E27FC236}">
                <a16:creationId xmlns:a16="http://schemas.microsoft.com/office/drawing/2014/main" id="{0F21539E-13CE-4F80-ADDC-32C191C73AFA}"/>
              </a:ext>
            </a:extLst>
          </p:cNvPr>
          <p:cNvSpPr>
            <a:spLocks xmlns:a="http://schemas.openxmlformats.org/drawingml/2006/main" noGrp="1"/>
          </p:cNvSpPr>
          <p:nvPr/>
        </p:nvSpPr>
        <p:spPr>
          <a:xfrm xmlns:a="http://schemas.openxmlformats.org/drawingml/2006/main">
            <a:off x="2819400" y="3343275"/>
            <a:ext cx="76200" cy="76200"/>
          </a:xfrm>
          <a:prstGeom xmlns:a="http://schemas.openxmlformats.org/drawingml/2006/main" prst="ellipse">
            <a:avLst/>
          </a:prstGeom>
          <a:solidFill xmlns:a="http://schemas.openxmlformats.org/drawingml/2006/main">
            <a:srgbClr val="6B7580"/>
          </a:solidFill>
          <a:ln xmlns:a="http://schemas.openxmlformats.org/drawingml/2006/main" w="9525">
            <a:solidFill>
              <a:srgbClr val="6B7580"/>
            </a:solidFill>
            <a:prstDash val="solid"/>
          </a:ln>
        </p:spPr>
      </p:sp>
      <p:sp>
        <p:nvSpPr>
          <p:cNvPr id="11" name="">
            <a:extLst xmlns:a="http://schemas.openxmlformats.org/drawingml/2006/main">
              <a:ext uri="{FF2B5EF4-FFF2-40B4-BE49-F238E27FC236}">
                <a16:creationId xmlns:a16="http://schemas.microsoft.com/office/drawing/2014/main" id="{D56C59B5-EE55-468F-B246-16A4180D331D}"/>
              </a:ext>
            </a:extLst>
          </p:cNvPr>
          <p:cNvSpPr>
            <a:spLocks xmlns:a="http://schemas.openxmlformats.org/drawingml/2006/main" noGrp="1"/>
          </p:cNvSpPr>
          <p:nvPr/>
        </p:nvSpPr>
        <p:spPr>
          <a:xfrm xmlns:a="http://schemas.openxmlformats.org/drawingml/2006/main">
            <a:off x="2125293" y="3787290"/>
            <a:ext cx="76200" cy="76200"/>
          </a:xfrm>
          <a:prstGeom xmlns:a="http://schemas.openxmlformats.org/drawingml/2006/main" prst="ellipse">
            <a:avLst/>
          </a:prstGeom>
          <a:solidFill xmlns:a="http://schemas.openxmlformats.org/drawingml/2006/main">
            <a:srgbClr val="6B7580"/>
          </a:solidFill>
          <a:ln xmlns:a="http://schemas.openxmlformats.org/drawingml/2006/main" w="9525">
            <a:solidFill>
              <a:srgbClr val="6B7580"/>
            </a:solidFill>
            <a:prstDash val="solid"/>
          </a:ln>
        </p:spPr>
      </p:sp>
      <p:sp>
        <p:nvSpPr>
          <p:cNvPr id="12" name="">
            <a:extLst xmlns:a="http://schemas.openxmlformats.org/drawingml/2006/main">
              <a:ext uri="{FF2B5EF4-FFF2-40B4-BE49-F238E27FC236}">
                <a16:creationId xmlns:a16="http://schemas.microsoft.com/office/drawing/2014/main" id="{A36FBC2B-547D-4DE3-ABAD-7D18A93C40F0}"/>
              </a:ext>
            </a:extLst>
          </p:cNvPr>
          <p:cNvSpPr>
            <a:spLocks xmlns:a="http://schemas.openxmlformats.org/drawingml/2006/main" noGrp="1"/>
          </p:cNvSpPr>
          <p:nvPr/>
        </p:nvSpPr>
        <p:spPr>
          <a:xfrm xmlns:a="http://schemas.openxmlformats.org/drawingml/2006/main">
            <a:off x="2706148" y="2242579"/>
            <a:ext cx="76200" cy="76200"/>
          </a:xfrm>
          <a:prstGeom xmlns:a="http://schemas.openxmlformats.org/drawingml/2006/main" prst="ellipse">
            <a:avLst/>
          </a:prstGeom>
          <a:solidFill xmlns:a="http://schemas.openxmlformats.org/drawingml/2006/main">
            <a:srgbClr val="6B7580"/>
          </a:solidFill>
          <a:ln xmlns:a="http://schemas.openxmlformats.org/drawingml/2006/main" w="9525">
            <a:solidFill>
              <a:srgbClr val="6B7580"/>
            </a:solidFill>
            <a:prstDash val="solid"/>
          </a:ln>
        </p:spPr>
      </p:sp>
      <p:sp>
        <p:nvSpPr>
          <p:cNvPr id="13" name="">
            <a:extLst xmlns:a="http://schemas.openxmlformats.org/drawingml/2006/main">
              <a:ext uri="{FF2B5EF4-FFF2-40B4-BE49-F238E27FC236}">
                <a16:creationId xmlns:a16="http://schemas.microsoft.com/office/drawing/2014/main" id="{2A070710-73A8-47F7-9235-804CB54310D4}"/>
              </a:ext>
            </a:extLst>
          </p:cNvPr>
          <p:cNvSpPr>
            <a:spLocks xmlns:a="http://schemas.openxmlformats.org/drawingml/2006/main" noGrp="1"/>
          </p:cNvSpPr>
          <p:nvPr/>
        </p:nvSpPr>
        <p:spPr>
          <a:xfrm xmlns:a="http://schemas.openxmlformats.org/drawingml/2006/main">
            <a:off x="2830191" y="3630429"/>
            <a:ext cx="76200" cy="76200"/>
          </a:xfrm>
          <a:prstGeom xmlns:a="http://schemas.openxmlformats.org/drawingml/2006/main" prst="ellipse">
            <a:avLst/>
          </a:prstGeom>
          <a:solidFill xmlns:a="http://schemas.openxmlformats.org/drawingml/2006/main">
            <a:srgbClr val="6B7580"/>
          </a:solidFill>
          <a:ln xmlns:a="http://schemas.openxmlformats.org/drawingml/2006/main" w="9525">
            <a:solidFill>
              <a:srgbClr val="6B7580"/>
            </a:solidFill>
            <a:prstDash val="solid"/>
          </a:ln>
        </p:spPr>
      </p:sp>
      <p:sp>
        <p:nvSpPr>
          <p:cNvPr id="14" name="">
            <a:extLst xmlns:a="http://schemas.openxmlformats.org/drawingml/2006/main">
              <a:ext uri="{FF2B5EF4-FFF2-40B4-BE49-F238E27FC236}">
                <a16:creationId xmlns:a16="http://schemas.microsoft.com/office/drawing/2014/main" id="{4FBF3C68-66F0-4AE7-A006-1AE27EE94F7F}"/>
              </a:ext>
            </a:extLst>
          </p:cNvPr>
          <p:cNvSpPr>
            <a:spLocks xmlns:a="http://schemas.openxmlformats.org/drawingml/2006/main" noGrp="1"/>
          </p:cNvSpPr>
          <p:nvPr/>
        </p:nvSpPr>
        <p:spPr>
          <a:xfrm xmlns:a="http://schemas.openxmlformats.org/drawingml/2006/main">
            <a:off x="1812525" y="3202685"/>
            <a:ext cx="76200" cy="76200"/>
          </a:xfrm>
          <a:prstGeom xmlns:a="http://schemas.openxmlformats.org/drawingml/2006/main" prst="ellipse">
            <a:avLst/>
          </a:prstGeom>
          <a:solidFill xmlns:a="http://schemas.openxmlformats.org/drawingml/2006/main">
            <a:srgbClr val="6B7580"/>
          </a:solidFill>
          <a:ln xmlns:a="http://schemas.openxmlformats.org/drawingml/2006/main" w="9525">
            <a:solidFill>
              <a:srgbClr val="6B7580"/>
            </a:solidFill>
            <a:prstDash val="solid"/>
          </a:ln>
        </p:spPr>
      </p:sp>
      <p:sp>
        <p:nvSpPr>
          <p:cNvPr id="15" name="">
            <a:extLst xmlns:a="http://schemas.openxmlformats.org/drawingml/2006/main">
              <a:ext uri="{FF2B5EF4-FFF2-40B4-BE49-F238E27FC236}">
                <a16:creationId xmlns:a16="http://schemas.microsoft.com/office/drawing/2014/main" id="{9851FE2E-240B-4CD4-9650-43E6BEF66D87}"/>
              </a:ext>
            </a:extLst>
          </p:cNvPr>
          <p:cNvSpPr>
            <a:spLocks xmlns:a="http://schemas.openxmlformats.org/drawingml/2006/main" noGrp="1"/>
          </p:cNvSpPr>
          <p:nvPr/>
        </p:nvSpPr>
        <p:spPr>
          <a:xfrm xmlns:a="http://schemas.openxmlformats.org/drawingml/2006/main">
            <a:off x="3670246" y="2667728"/>
            <a:ext cx="76200" cy="76200"/>
          </a:xfrm>
          <a:prstGeom xmlns:a="http://schemas.openxmlformats.org/drawingml/2006/main" prst="ellipse">
            <a:avLst/>
          </a:prstGeom>
          <a:solidFill xmlns:a="http://schemas.openxmlformats.org/drawingml/2006/main">
            <a:srgbClr val="6B7580"/>
          </a:solidFill>
          <a:ln xmlns:a="http://schemas.openxmlformats.org/drawingml/2006/main" w="9525">
            <a:solidFill>
              <a:srgbClr val="6B7580"/>
            </a:solidFill>
            <a:prstDash val="solid"/>
          </a:ln>
        </p:spPr>
      </p:sp>
      <p:sp>
        <p:nvSpPr>
          <p:cNvPr id="16" name="">
            <a:extLst xmlns:a="http://schemas.openxmlformats.org/drawingml/2006/main">
              <a:ext uri="{FF2B5EF4-FFF2-40B4-BE49-F238E27FC236}">
                <a16:creationId xmlns:a16="http://schemas.microsoft.com/office/drawing/2014/main" id="{DE530599-96F1-401B-9450-A17B8B45C711}"/>
              </a:ext>
            </a:extLst>
          </p:cNvPr>
          <p:cNvSpPr>
            <a:spLocks xmlns:a="http://schemas.openxmlformats.org/drawingml/2006/main" noGrp="1"/>
          </p:cNvSpPr>
          <p:nvPr/>
        </p:nvSpPr>
        <p:spPr>
          <a:xfrm xmlns:a="http://schemas.openxmlformats.org/drawingml/2006/main">
            <a:off x="2476726" y="3840099"/>
            <a:ext cx="76200" cy="76200"/>
          </a:xfrm>
          <a:prstGeom xmlns:a="http://schemas.openxmlformats.org/drawingml/2006/main" prst="ellipse">
            <a:avLst/>
          </a:prstGeom>
          <a:solidFill xmlns:a="http://schemas.openxmlformats.org/drawingml/2006/main">
            <a:srgbClr val="6B7580"/>
          </a:solidFill>
          <a:ln xmlns:a="http://schemas.openxmlformats.org/drawingml/2006/main" w="9525">
            <a:solidFill>
              <a:srgbClr val="6B7580"/>
            </a:solidFill>
            <a:prstDash val="solid"/>
          </a:ln>
        </p:spPr>
      </p:sp>
      <p:sp>
        <p:nvSpPr>
          <p:cNvPr id="17" name="">
            <a:extLst xmlns:a="http://schemas.openxmlformats.org/drawingml/2006/main">
              <a:ext uri="{FF2B5EF4-FFF2-40B4-BE49-F238E27FC236}">
                <a16:creationId xmlns:a16="http://schemas.microsoft.com/office/drawing/2014/main" id="{FCAFF7C2-8D1A-47E4-90E5-ACACAB089E2C}"/>
              </a:ext>
            </a:extLst>
          </p:cNvPr>
          <p:cNvSpPr>
            <a:spLocks xmlns:a="http://schemas.openxmlformats.org/drawingml/2006/main" noGrp="1"/>
          </p:cNvSpPr>
          <p:nvPr/>
        </p:nvSpPr>
        <p:spPr>
          <a:xfrm xmlns:a="http://schemas.openxmlformats.org/drawingml/2006/main">
            <a:off x="2165636" y="2489948"/>
            <a:ext cx="76200" cy="76200"/>
          </a:xfrm>
          <a:prstGeom xmlns:a="http://schemas.openxmlformats.org/drawingml/2006/main" prst="ellipse">
            <a:avLst/>
          </a:prstGeom>
          <a:solidFill xmlns:a="http://schemas.openxmlformats.org/drawingml/2006/main">
            <a:srgbClr val="6B7580"/>
          </a:solidFill>
          <a:ln xmlns:a="http://schemas.openxmlformats.org/drawingml/2006/main" w="9525">
            <a:solidFill>
              <a:srgbClr val="6B7580"/>
            </a:solidFill>
            <a:prstDash val="solid"/>
          </a:ln>
        </p:spPr>
      </p:sp>
      <p:sp>
        <p:nvSpPr>
          <p:cNvPr id="18" name="">
            <a:extLst xmlns:a="http://schemas.openxmlformats.org/drawingml/2006/main">
              <a:ext uri="{FF2B5EF4-FFF2-40B4-BE49-F238E27FC236}">
                <a16:creationId xmlns:a16="http://schemas.microsoft.com/office/drawing/2014/main" id="{1D7FCCD8-907D-458E-8992-9CAC9C249AC9}"/>
              </a:ext>
            </a:extLst>
          </p:cNvPr>
          <p:cNvSpPr>
            <a:spLocks xmlns:a="http://schemas.openxmlformats.org/drawingml/2006/main" noGrp="1"/>
          </p:cNvSpPr>
          <p:nvPr/>
        </p:nvSpPr>
        <p:spPr>
          <a:xfrm xmlns:a="http://schemas.openxmlformats.org/drawingml/2006/main">
            <a:off x="2815713" y="3418203"/>
            <a:ext cx="76200" cy="76200"/>
          </a:xfrm>
          <a:prstGeom xmlns:a="http://schemas.openxmlformats.org/drawingml/2006/main" prst="ellipse">
            <a:avLst/>
          </a:prstGeom>
          <a:solidFill xmlns:a="http://schemas.openxmlformats.org/drawingml/2006/main">
            <a:srgbClr val="6B7580"/>
          </a:solidFill>
          <a:ln xmlns:a="http://schemas.openxmlformats.org/drawingml/2006/main" w="9525">
            <a:solidFill>
              <a:srgbClr val="6B7580"/>
            </a:solidFill>
            <a:prstDash val="solid"/>
          </a:ln>
        </p:spPr>
      </p:sp>
      <p:sp>
        <p:nvSpPr>
          <p:cNvPr id="19" name="">
            <a:extLst xmlns:a="http://schemas.openxmlformats.org/drawingml/2006/main">
              <a:ext uri="{FF2B5EF4-FFF2-40B4-BE49-F238E27FC236}">
                <a16:creationId xmlns:a16="http://schemas.microsoft.com/office/drawing/2014/main" id="{985590C8-C1FB-4EAC-AD0F-3E22ED63677E}"/>
              </a:ext>
            </a:extLst>
          </p:cNvPr>
          <p:cNvSpPr>
            <a:spLocks xmlns:a="http://schemas.openxmlformats.org/drawingml/2006/main" noGrp="1"/>
          </p:cNvSpPr>
          <p:nvPr/>
        </p:nvSpPr>
        <p:spPr>
          <a:xfrm xmlns:a="http://schemas.openxmlformats.org/drawingml/2006/main">
            <a:off x="1993853" y="3598429"/>
            <a:ext cx="76200" cy="76200"/>
          </a:xfrm>
          <a:prstGeom xmlns:a="http://schemas.openxmlformats.org/drawingml/2006/main" prst="ellipse">
            <a:avLst/>
          </a:prstGeom>
          <a:solidFill xmlns:a="http://schemas.openxmlformats.org/drawingml/2006/main">
            <a:srgbClr val="6B7580"/>
          </a:solidFill>
          <a:ln xmlns:a="http://schemas.openxmlformats.org/drawingml/2006/main" w="9525">
            <a:solidFill>
              <a:srgbClr val="6B7580"/>
            </a:solidFill>
            <a:prstDash val="solid"/>
          </a:ln>
        </p:spPr>
      </p:sp>
      <p:sp>
        <p:nvSpPr>
          <p:cNvPr id="20" name="">
            <a:extLst xmlns:a="http://schemas.openxmlformats.org/drawingml/2006/main">
              <a:ext uri="{FF2B5EF4-FFF2-40B4-BE49-F238E27FC236}">
                <a16:creationId xmlns:a16="http://schemas.microsoft.com/office/drawing/2014/main" id="{755701D6-ABCE-41DB-85CF-04DC96C5C11F}"/>
              </a:ext>
            </a:extLst>
          </p:cNvPr>
          <p:cNvSpPr>
            <a:spLocks xmlns:a="http://schemas.openxmlformats.org/drawingml/2006/main" noGrp="1"/>
          </p:cNvSpPr>
          <p:nvPr/>
        </p:nvSpPr>
        <p:spPr>
          <a:xfrm xmlns:a="http://schemas.openxmlformats.org/drawingml/2006/main">
            <a:off x="3080826" y="2333263"/>
            <a:ext cx="76200" cy="76200"/>
          </a:xfrm>
          <a:prstGeom xmlns:a="http://schemas.openxmlformats.org/drawingml/2006/main" prst="ellipse">
            <a:avLst/>
          </a:prstGeom>
          <a:solidFill xmlns:a="http://schemas.openxmlformats.org/drawingml/2006/main">
            <a:srgbClr val="6B7580"/>
          </a:solidFill>
          <a:ln xmlns:a="http://schemas.openxmlformats.org/drawingml/2006/main" w="9525">
            <a:solidFill>
              <a:srgbClr val="6B7580"/>
            </a:solidFill>
            <a:prstDash val="solid"/>
          </a:ln>
        </p:spPr>
      </p:sp>
      <p:sp>
        <p:nvSpPr>
          <p:cNvPr id="21" name="">
            <a:extLst xmlns:a="http://schemas.openxmlformats.org/drawingml/2006/main">
              <a:ext uri="{FF2B5EF4-FFF2-40B4-BE49-F238E27FC236}">
                <a16:creationId xmlns:a16="http://schemas.microsoft.com/office/drawing/2014/main" id="{4FF9AA41-7356-49ED-9615-5E7C69DC4199}"/>
              </a:ext>
            </a:extLst>
          </p:cNvPr>
          <p:cNvSpPr>
            <a:spLocks xmlns:a="http://schemas.openxmlformats.org/drawingml/2006/main" noGrp="1"/>
          </p:cNvSpPr>
          <p:nvPr/>
        </p:nvSpPr>
        <p:spPr>
          <a:xfrm xmlns:a="http://schemas.openxmlformats.org/drawingml/2006/main">
            <a:off x="2721555" y="3697557"/>
            <a:ext cx="76200" cy="76200"/>
          </a:xfrm>
          <a:prstGeom xmlns:a="http://schemas.openxmlformats.org/drawingml/2006/main" prst="ellipse">
            <a:avLst/>
          </a:prstGeom>
          <a:solidFill xmlns:a="http://schemas.openxmlformats.org/drawingml/2006/main">
            <a:srgbClr val="6B7580"/>
          </a:solidFill>
          <a:ln xmlns:a="http://schemas.openxmlformats.org/drawingml/2006/main" w="9525">
            <a:solidFill>
              <a:srgbClr val="6B7580"/>
            </a:solidFill>
            <a:prstDash val="solid"/>
          </a:ln>
        </p:spPr>
      </p:sp>
      <p:sp>
        <p:nvSpPr>
          <p:cNvPr id="22" name="">
            <a:extLst xmlns:a="http://schemas.openxmlformats.org/drawingml/2006/main">
              <a:ext uri="{FF2B5EF4-FFF2-40B4-BE49-F238E27FC236}">
                <a16:creationId xmlns:a16="http://schemas.microsoft.com/office/drawing/2014/main" id="{12688C09-157D-40AC-9CE8-965520C3DF8D}"/>
              </a:ext>
            </a:extLst>
          </p:cNvPr>
          <p:cNvSpPr>
            <a:spLocks xmlns:a="http://schemas.openxmlformats.org/drawingml/2006/main" noGrp="1"/>
          </p:cNvSpPr>
          <p:nvPr/>
        </p:nvSpPr>
        <p:spPr>
          <a:xfrm xmlns:a="http://schemas.openxmlformats.org/drawingml/2006/main">
            <a:off x="1900445" y="2933700"/>
            <a:ext cx="76200" cy="76200"/>
          </a:xfrm>
          <a:prstGeom xmlns:a="http://schemas.openxmlformats.org/drawingml/2006/main" prst="ellipse">
            <a:avLst/>
          </a:prstGeom>
          <a:solidFill xmlns:a="http://schemas.openxmlformats.org/drawingml/2006/main">
            <a:srgbClr val="6B7580"/>
          </a:solidFill>
          <a:ln xmlns:a="http://schemas.openxmlformats.org/drawingml/2006/main" w="9525">
            <a:solidFill>
              <a:srgbClr val="6B7580"/>
            </a:solidFill>
            <a:prstDash val="solid"/>
          </a:ln>
        </p:spPr>
      </p:sp>
      <p:sp>
        <p:nvSpPr>
          <p:cNvPr id="23" name="">
            <a:extLst xmlns:a="http://schemas.openxmlformats.org/drawingml/2006/main">
              <a:ext uri="{FF2B5EF4-FFF2-40B4-BE49-F238E27FC236}">
                <a16:creationId xmlns:a16="http://schemas.microsoft.com/office/drawing/2014/main" id="{F4A4C828-693F-48D2-9EA1-D0459E5F2D43}"/>
              </a:ext>
            </a:extLst>
          </p:cNvPr>
          <p:cNvSpPr>
            <a:spLocks xmlns:a="http://schemas.openxmlformats.org/drawingml/2006/main" noGrp="1"/>
          </p:cNvSpPr>
          <p:nvPr/>
        </p:nvSpPr>
        <p:spPr>
          <a:xfrm xmlns:a="http://schemas.openxmlformats.org/drawingml/2006/main">
            <a:off x="3846646" y="3069084"/>
            <a:ext cx="76200" cy="76200"/>
          </a:xfrm>
          <a:prstGeom xmlns:a="http://schemas.openxmlformats.org/drawingml/2006/main" prst="ellipse">
            <a:avLst/>
          </a:prstGeom>
          <a:solidFill xmlns:a="http://schemas.openxmlformats.org/drawingml/2006/main">
            <a:srgbClr val="6B7580"/>
          </a:solidFill>
          <a:ln xmlns:a="http://schemas.openxmlformats.org/drawingml/2006/main" w="9525">
            <a:solidFill>
              <a:srgbClr val="6B7580"/>
            </a:solidFill>
            <a:prstDash val="solid"/>
          </a:ln>
        </p:spPr>
      </p:sp>
      <p:sp>
        <p:nvSpPr>
          <p:cNvPr id="24" name="">
            <a:extLst xmlns:a="http://schemas.openxmlformats.org/drawingml/2006/main">
              <a:ext uri="{FF2B5EF4-FFF2-40B4-BE49-F238E27FC236}">
                <a16:creationId xmlns:a16="http://schemas.microsoft.com/office/drawing/2014/main" id="{A1B26742-77EE-4EFB-9FB9-25809CDBCFE4}"/>
              </a:ext>
            </a:extLst>
          </p:cNvPr>
          <p:cNvSpPr>
            <a:spLocks xmlns:a="http://schemas.openxmlformats.org/drawingml/2006/main" noGrp="1"/>
          </p:cNvSpPr>
          <p:nvPr/>
        </p:nvSpPr>
        <p:spPr>
          <a:xfrm xmlns:a="http://schemas.openxmlformats.org/drawingml/2006/main">
            <a:off x="2309368" y="3772408"/>
            <a:ext cx="76200" cy="76200"/>
          </a:xfrm>
          <a:prstGeom xmlns:a="http://schemas.openxmlformats.org/drawingml/2006/main" prst="ellipse">
            <a:avLst/>
          </a:prstGeom>
          <a:solidFill xmlns:a="http://schemas.openxmlformats.org/drawingml/2006/main">
            <a:srgbClr val="6B7580"/>
          </a:solidFill>
          <a:ln xmlns:a="http://schemas.openxmlformats.org/drawingml/2006/main" w="9525">
            <a:solidFill>
              <a:srgbClr val="6B7580"/>
            </a:solidFill>
            <a:prstDash val="solid"/>
          </a:ln>
        </p:spPr>
      </p:sp>
      <p:sp>
        <p:nvSpPr>
          <p:cNvPr id="25" name="">
            <a:extLst xmlns:a="http://schemas.openxmlformats.org/drawingml/2006/main">
              <a:ext uri="{FF2B5EF4-FFF2-40B4-BE49-F238E27FC236}">
                <a16:creationId xmlns:a16="http://schemas.microsoft.com/office/drawing/2014/main" id="{122417AA-DC34-4614-B547-ABF4C270C225}"/>
              </a:ext>
            </a:extLst>
          </p:cNvPr>
          <p:cNvSpPr>
            <a:spLocks xmlns:a="http://schemas.openxmlformats.org/drawingml/2006/main" noGrp="1"/>
          </p:cNvSpPr>
          <p:nvPr/>
        </p:nvSpPr>
        <p:spPr>
          <a:xfrm xmlns:a="http://schemas.openxmlformats.org/drawingml/2006/main">
            <a:off x="2483037" y="2380037"/>
            <a:ext cx="76200" cy="76200"/>
          </a:xfrm>
          <a:prstGeom xmlns:a="http://schemas.openxmlformats.org/drawingml/2006/main" prst="ellipse">
            <a:avLst/>
          </a:prstGeom>
          <a:solidFill xmlns:a="http://schemas.openxmlformats.org/drawingml/2006/main">
            <a:srgbClr val="6B7580"/>
          </a:solidFill>
          <a:ln xmlns:a="http://schemas.openxmlformats.org/drawingml/2006/main" w="9525">
            <a:solidFill>
              <a:srgbClr val="6B7580"/>
            </a:solidFill>
            <a:prstDash val="solid"/>
          </a:ln>
        </p:spPr>
      </p:sp>
      <p:sp>
        <p:nvSpPr>
          <p:cNvPr id="26" name="">
            <a:extLst xmlns:a="http://schemas.openxmlformats.org/drawingml/2006/main">
              <a:ext uri="{FF2B5EF4-FFF2-40B4-BE49-F238E27FC236}">
                <a16:creationId xmlns:a16="http://schemas.microsoft.com/office/drawing/2014/main" id="{DF868EB9-CD71-4441-A25A-0CC1A9654FC8}"/>
              </a:ext>
            </a:extLst>
          </p:cNvPr>
          <p:cNvSpPr>
            <a:spLocks xmlns:a="http://schemas.openxmlformats.org/drawingml/2006/main" noGrp="1"/>
          </p:cNvSpPr>
          <p:nvPr/>
        </p:nvSpPr>
        <p:spPr>
          <a:xfrm xmlns:a="http://schemas.openxmlformats.org/drawingml/2006/main">
            <a:off x="2784968" y="3490216"/>
            <a:ext cx="76200" cy="76200"/>
          </a:xfrm>
          <a:prstGeom xmlns:a="http://schemas.openxmlformats.org/drawingml/2006/main" prst="ellipse">
            <a:avLst/>
          </a:prstGeom>
          <a:solidFill xmlns:a="http://schemas.openxmlformats.org/drawingml/2006/main">
            <a:srgbClr val="6B7580"/>
          </a:solidFill>
          <a:ln xmlns:a="http://schemas.openxmlformats.org/drawingml/2006/main" w="9525">
            <a:solidFill>
              <a:srgbClr val="6B7580"/>
            </a:solidFill>
            <a:prstDash val="solid"/>
          </a:ln>
        </p:spPr>
      </p:sp>
      <p:sp>
        <p:nvSpPr>
          <p:cNvPr id="27" name="">
            <a:extLst xmlns:a="http://schemas.openxmlformats.org/drawingml/2006/main">
              <a:ext uri="{FF2B5EF4-FFF2-40B4-BE49-F238E27FC236}">
                <a16:creationId xmlns:a16="http://schemas.microsoft.com/office/drawing/2014/main" id="{BBE4C4E1-FDE7-46A9-9073-7C5B44DE3035}"/>
              </a:ext>
            </a:extLst>
          </p:cNvPr>
          <p:cNvSpPr>
            <a:spLocks xmlns:a="http://schemas.openxmlformats.org/drawingml/2006/main" noGrp="1"/>
          </p:cNvSpPr>
          <p:nvPr/>
        </p:nvSpPr>
        <p:spPr>
          <a:xfrm xmlns:a="http://schemas.openxmlformats.org/drawingml/2006/main">
            <a:off x="1934219" y="3372774"/>
            <a:ext cx="76200" cy="76200"/>
          </a:xfrm>
          <a:prstGeom xmlns:a="http://schemas.openxmlformats.org/drawingml/2006/main" prst="ellipse">
            <a:avLst/>
          </a:prstGeom>
          <a:solidFill xmlns:a="http://schemas.openxmlformats.org/drawingml/2006/main">
            <a:srgbClr val="6B7580"/>
          </a:solidFill>
          <a:ln xmlns:a="http://schemas.openxmlformats.org/drawingml/2006/main" w="9525">
            <a:solidFill>
              <a:srgbClr val="6B7580"/>
            </a:solidFill>
            <a:prstDash val="solid"/>
          </a:ln>
        </p:spPr>
      </p:sp>
      <p:sp>
        <p:nvSpPr>
          <p:cNvPr id="28" name="">
            <a:extLst xmlns:a="http://schemas.openxmlformats.org/drawingml/2006/main">
              <a:ext uri="{FF2B5EF4-FFF2-40B4-BE49-F238E27FC236}">
                <a16:creationId xmlns:a16="http://schemas.microsoft.com/office/drawing/2014/main" id="{2043F291-568B-4148-BD0E-AA03803A2F22}"/>
              </a:ext>
            </a:extLst>
          </p:cNvPr>
          <p:cNvSpPr>
            <a:spLocks xmlns:a="http://schemas.openxmlformats.org/drawingml/2006/main" noGrp="1"/>
          </p:cNvSpPr>
          <p:nvPr/>
        </p:nvSpPr>
        <p:spPr>
          <a:xfrm xmlns:a="http://schemas.openxmlformats.org/drawingml/2006/main">
            <a:off x="3404603" y="2548522"/>
            <a:ext cx="76200" cy="76200"/>
          </a:xfrm>
          <a:prstGeom xmlns:a="http://schemas.openxmlformats.org/drawingml/2006/main" prst="ellipse">
            <a:avLst/>
          </a:prstGeom>
          <a:solidFill xmlns:a="http://schemas.openxmlformats.org/drawingml/2006/main">
            <a:srgbClr val="6B7580"/>
          </a:solidFill>
          <a:ln xmlns:a="http://schemas.openxmlformats.org/drawingml/2006/main" w="9525">
            <a:solidFill>
              <a:srgbClr val="6B7580"/>
            </a:solidFill>
            <a:prstDash val="solid"/>
          </a:ln>
        </p:spPr>
      </p:sp>
      <p:sp>
        <p:nvSpPr>
          <p:cNvPr id="29" name="">
            <a:extLst xmlns:a="http://schemas.openxmlformats.org/drawingml/2006/main">
              <a:ext uri="{FF2B5EF4-FFF2-40B4-BE49-F238E27FC236}">
                <a16:creationId xmlns:a16="http://schemas.microsoft.com/office/drawing/2014/main" id="{0E902438-4473-4887-8AA5-E52728EC1A1E}"/>
              </a:ext>
            </a:extLst>
          </p:cNvPr>
          <p:cNvSpPr>
            <a:spLocks xmlns:a="http://schemas.openxmlformats.org/drawingml/2006/main" noGrp="1"/>
          </p:cNvSpPr>
          <p:nvPr/>
        </p:nvSpPr>
        <p:spPr>
          <a:xfrm xmlns:a="http://schemas.openxmlformats.org/drawingml/2006/main">
            <a:off x="2593231" y="3723912"/>
            <a:ext cx="76200" cy="76200"/>
          </a:xfrm>
          <a:prstGeom xmlns:a="http://schemas.openxmlformats.org/drawingml/2006/main" prst="ellipse">
            <a:avLst/>
          </a:prstGeom>
          <a:solidFill xmlns:a="http://schemas.openxmlformats.org/drawingml/2006/main">
            <a:srgbClr val="6B7580"/>
          </a:solidFill>
          <a:ln xmlns:a="http://schemas.openxmlformats.org/drawingml/2006/main" w="9525">
            <a:solidFill>
              <a:srgbClr val="6B7580"/>
            </a:solidFill>
            <a:prstDash val="solid"/>
          </a:ln>
        </p:spPr>
      </p:sp>
      <p:sp>
        <p:nvSpPr>
          <p:cNvPr id="30" name="">
            <a:extLst xmlns:a="http://schemas.openxmlformats.org/drawingml/2006/main">
              <a:ext uri="{FF2B5EF4-FFF2-40B4-BE49-F238E27FC236}">
                <a16:creationId xmlns:a16="http://schemas.microsoft.com/office/drawing/2014/main" id="{C771F953-9971-4322-8D58-B136636A9BE9}"/>
              </a:ext>
            </a:extLst>
          </p:cNvPr>
          <p:cNvSpPr>
            <a:spLocks xmlns:a="http://schemas.openxmlformats.org/drawingml/2006/main" noGrp="1"/>
          </p:cNvSpPr>
          <p:nvPr/>
        </p:nvSpPr>
        <p:spPr>
          <a:xfrm xmlns:a="http://schemas.openxmlformats.org/drawingml/2006/main">
            <a:off x="2077188" y="2708473"/>
            <a:ext cx="76200" cy="76200"/>
          </a:xfrm>
          <a:prstGeom xmlns:a="http://schemas.openxmlformats.org/drawingml/2006/main" prst="ellipse">
            <a:avLst/>
          </a:prstGeom>
          <a:solidFill xmlns:a="http://schemas.openxmlformats.org/drawingml/2006/main">
            <a:srgbClr val="6B7580"/>
          </a:solidFill>
          <a:ln xmlns:a="http://schemas.openxmlformats.org/drawingml/2006/main" w="9525">
            <a:solidFill>
              <a:srgbClr val="6B7580"/>
            </a:solidFill>
            <a:prstDash val="solid"/>
          </a:ln>
        </p:spPr>
      </p:sp>
      <p:sp>
        <p:nvSpPr>
          <p:cNvPr id="31" name="">
            <a:extLst xmlns:a="http://schemas.openxmlformats.org/drawingml/2006/main">
              <a:ext uri="{FF2B5EF4-FFF2-40B4-BE49-F238E27FC236}">
                <a16:creationId xmlns:a16="http://schemas.microsoft.com/office/drawing/2014/main" id="{34802D79-A9BA-40D1-8DEF-B6FF7FE86F48}"/>
              </a:ext>
            </a:extLst>
          </p:cNvPr>
          <p:cNvSpPr>
            <a:spLocks xmlns:a="http://schemas.openxmlformats.org/drawingml/2006/main" noGrp="1"/>
          </p:cNvSpPr>
          <p:nvPr/>
        </p:nvSpPr>
        <p:spPr>
          <a:xfrm xmlns:a="http://schemas.openxmlformats.org/drawingml/2006/main">
            <a:off x="3875281" y="3509872"/>
            <a:ext cx="76200" cy="76200"/>
          </a:xfrm>
          <a:prstGeom xmlns:a="http://schemas.openxmlformats.org/drawingml/2006/main" prst="ellipse">
            <a:avLst/>
          </a:prstGeom>
          <a:solidFill xmlns:a="http://schemas.openxmlformats.org/drawingml/2006/main">
            <a:srgbClr val="6B7580"/>
          </a:solidFill>
          <a:ln xmlns:a="http://schemas.openxmlformats.org/drawingml/2006/main" w="9525">
            <a:solidFill>
              <a:srgbClr val="6B7580"/>
            </a:solidFill>
            <a:prstDash val="solid"/>
          </a:ln>
        </p:spPr>
      </p:sp>
      <p:sp>
        <p:nvSpPr>
          <p:cNvPr id="32" name="">
            <a:extLst xmlns:a="http://schemas.openxmlformats.org/drawingml/2006/main">
              <a:ext uri="{FF2B5EF4-FFF2-40B4-BE49-F238E27FC236}">
                <a16:creationId xmlns:a16="http://schemas.microsoft.com/office/drawing/2014/main" id="{B51F995D-272E-4314-97B5-D006D34E6169}"/>
              </a:ext>
            </a:extLst>
          </p:cNvPr>
          <p:cNvSpPr>
            <a:spLocks xmlns:a="http://schemas.openxmlformats.org/drawingml/2006/main" noGrp="1"/>
          </p:cNvSpPr>
          <p:nvPr/>
        </p:nvSpPr>
        <p:spPr>
          <a:xfrm xmlns:a="http://schemas.openxmlformats.org/drawingml/2006/main">
            <a:off x="2172914" y="3649221"/>
            <a:ext cx="76200" cy="76200"/>
          </a:xfrm>
          <a:prstGeom xmlns:a="http://schemas.openxmlformats.org/drawingml/2006/main" prst="ellipse">
            <a:avLst/>
          </a:prstGeom>
          <a:solidFill xmlns:a="http://schemas.openxmlformats.org/drawingml/2006/main">
            <a:srgbClr val="6B7580"/>
          </a:solidFill>
          <a:ln xmlns:a="http://schemas.openxmlformats.org/drawingml/2006/main" w="9525">
            <a:solidFill>
              <a:srgbClr val="6B7580"/>
            </a:solidFill>
            <a:prstDash val="solid"/>
          </a:ln>
        </p:spPr>
      </p:sp>
      <p:sp>
        <p:nvSpPr>
          <p:cNvPr id="33" name="">
            <a:extLst xmlns:a="http://schemas.openxmlformats.org/drawingml/2006/main">
              <a:ext uri="{FF2B5EF4-FFF2-40B4-BE49-F238E27FC236}">
                <a16:creationId xmlns:a16="http://schemas.microsoft.com/office/drawing/2014/main" id="{60802222-8D46-48B4-9A4C-F453ACEF0475}"/>
              </a:ext>
            </a:extLst>
          </p:cNvPr>
          <p:cNvSpPr>
            <a:spLocks xmlns:a="http://schemas.openxmlformats.org/drawingml/2006/main" noGrp="1"/>
          </p:cNvSpPr>
          <p:nvPr/>
        </p:nvSpPr>
        <p:spPr>
          <a:xfrm xmlns:a="http://schemas.openxmlformats.org/drawingml/2006/main">
            <a:off x="2822193" y="2385455"/>
            <a:ext cx="76200" cy="76200"/>
          </a:xfrm>
          <a:prstGeom xmlns:a="http://schemas.openxmlformats.org/drawingml/2006/main" prst="ellipse">
            <a:avLst/>
          </a:prstGeom>
          <a:solidFill xmlns:a="http://schemas.openxmlformats.org/drawingml/2006/main">
            <a:srgbClr val="6B7580"/>
          </a:solidFill>
          <a:ln xmlns:a="http://schemas.openxmlformats.org/drawingml/2006/main" w="9525">
            <a:solidFill>
              <a:srgbClr val="6B7580"/>
            </a:solidFill>
            <a:prstDash val="solid"/>
          </a:ln>
        </p:spPr>
      </p:sp>
      <p:sp>
        <p:nvSpPr>
          <p:cNvPr id="34" name="">
            <a:extLst xmlns:a="http://schemas.openxmlformats.org/drawingml/2006/main">
              <a:ext uri="{FF2B5EF4-FFF2-40B4-BE49-F238E27FC236}">
                <a16:creationId xmlns:a16="http://schemas.microsoft.com/office/drawing/2014/main" id="{49AC9792-5F2F-47A7-94B0-AFA73D9A75CA}"/>
              </a:ext>
            </a:extLst>
          </p:cNvPr>
          <p:cNvSpPr>
            <a:spLocks xmlns:a="http://schemas.openxmlformats.org/drawingml/2006/main" noGrp="1"/>
          </p:cNvSpPr>
          <p:nvPr/>
        </p:nvSpPr>
        <p:spPr>
          <a:xfrm xmlns:a="http://schemas.openxmlformats.org/drawingml/2006/main">
            <a:off x="2728912" y="3549497"/>
            <a:ext cx="76200" cy="76200"/>
          </a:xfrm>
          <a:prstGeom xmlns:a="http://schemas.openxmlformats.org/drawingml/2006/main" prst="ellipse">
            <a:avLst/>
          </a:prstGeom>
          <a:solidFill xmlns:a="http://schemas.openxmlformats.org/drawingml/2006/main">
            <a:srgbClr val="6B7580"/>
          </a:solidFill>
          <a:ln xmlns:a="http://schemas.openxmlformats.org/drawingml/2006/main" w="9525">
            <a:solidFill>
              <a:srgbClr val="6B7580"/>
            </a:solidFill>
            <a:prstDash val="solid"/>
          </a:ln>
        </p:spPr>
      </p:sp>
      <p:sp>
        <p:nvSpPr>
          <p:cNvPr id="35" name="">
            <a:extLst xmlns:a="http://schemas.openxmlformats.org/drawingml/2006/main">
              <a:ext uri="{FF2B5EF4-FFF2-40B4-BE49-F238E27FC236}">
                <a16:creationId xmlns:a16="http://schemas.microsoft.com/office/drawing/2014/main" id="{FAEDEC5A-2942-4BCA-9B3A-5494A866242D}"/>
              </a:ext>
            </a:extLst>
          </p:cNvPr>
          <p:cNvSpPr>
            <a:spLocks xmlns:a="http://schemas.openxmlformats.org/drawingml/2006/main" noGrp="1"/>
          </p:cNvSpPr>
          <p:nvPr/>
        </p:nvSpPr>
        <p:spPr>
          <a:xfrm xmlns:a="http://schemas.openxmlformats.org/drawingml/2006/main">
            <a:off x="1955791" y="3137051"/>
            <a:ext cx="76200" cy="76200"/>
          </a:xfrm>
          <a:prstGeom xmlns:a="http://schemas.openxmlformats.org/drawingml/2006/main" prst="ellipse">
            <a:avLst/>
          </a:prstGeom>
          <a:solidFill xmlns:a="http://schemas.openxmlformats.org/drawingml/2006/main">
            <a:srgbClr val="6B7580"/>
          </a:solidFill>
          <a:ln xmlns:a="http://schemas.openxmlformats.org/drawingml/2006/main" w="9525">
            <a:solidFill>
              <a:srgbClr val="6B7580"/>
            </a:solidFill>
            <a:prstDash val="solid"/>
          </a:ln>
        </p:spPr>
      </p:sp>
      <p:sp>
        <p:nvSpPr>
          <p:cNvPr id="36" name="">
            <a:extLst xmlns:a="http://schemas.openxmlformats.org/drawingml/2006/main">
              <a:ext uri="{FF2B5EF4-FFF2-40B4-BE49-F238E27FC236}">
                <a16:creationId xmlns:a16="http://schemas.microsoft.com/office/drawing/2014/main" id="{A9EA882B-9764-46BC-83B7-F3D4BE678447}"/>
              </a:ext>
            </a:extLst>
          </p:cNvPr>
          <p:cNvSpPr>
            <a:spLocks xmlns:a="http://schemas.openxmlformats.org/drawingml/2006/main" noGrp="1"/>
          </p:cNvSpPr>
          <p:nvPr/>
        </p:nvSpPr>
        <p:spPr>
          <a:xfrm xmlns:a="http://schemas.openxmlformats.org/drawingml/2006/main">
            <a:off x="3637127" y="2864248"/>
            <a:ext cx="76200" cy="76200"/>
          </a:xfrm>
          <a:prstGeom xmlns:a="http://schemas.openxmlformats.org/drawingml/2006/main" prst="ellipse">
            <a:avLst/>
          </a:prstGeom>
          <a:solidFill xmlns:a="http://schemas.openxmlformats.org/drawingml/2006/main">
            <a:srgbClr val="6B7580"/>
          </a:solidFill>
          <a:ln xmlns:a="http://schemas.openxmlformats.org/drawingml/2006/main" w="9525">
            <a:solidFill>
              <a:srgbClr val="6B7580"/>
            </a:solidFill>
            <a:prstDash val="solid"/>
          </a:ln>
        </p:spPr>
      </p:sp>
      <p:sp>
        <p:nvSpPr>
          <p:cNvPr id="37" name="">
            <a:extLst xmlns:a="http://schemas.openxmlformats.org/drawingml/2006/main">
              <a:ext uri="{FF2B5EF4-FFF2-40B4-BE49-F238E27FC236}">
                <a16:creationId xmlns:a16="http://schemas.microsoft.com/office/drawing/2014/main" id="{BEABEE26-1CE8-4087-AD67-ABBE796E0CB7}"/>
              </a:ext>
            </a:extLst>
          </p:cNvPr>
          <p:cNvSpPr>
            <a:spLocks xmlns:a="http://schemas.openxmlformats.org/drawingml/2006/main" noGrp="1"/>
          </p:cNvSpPr>
          <p:nvPr/>
        </p:nvSpPr>
        <p:spPr>
          <a:xfrm xmlns:a="http://schemas.openxmlformats.org/drawingml/2006/main">
            <a:off x="2460403" y="3704073"/>
            <a:ext cx="76200" cy="76200"/>
          </a:xfrm>
          <a:prstGeom xmlns:a="http://schemas.openxmlformats.org/drawingml/2006/main" prst="ellipse">
            <a:avLst/>
          </a:prstGeom>
          <a:solidFill xmlns:a="http://schemas.openxmlformats.org/drawingml/2006/main">
            <a:srgbClr val="6B7580"/>
          </a:solidFill>
          <a:ln xmlns:a="http://schemas.openxmlformats.org/drawingml/2006/main" w="9525">
            <a:solidFill>
              <a:srgbClr val="6B7580"/>
            </a:solidFill>
            <a:prstDash val="solid"/>
          </a:ln>
        </p:spPr>
      </p:sp>
      <p:sp>
        <p:nvSpPr>
          <p:cNvPr id="38" name="">
            <a:extLst xmlns:a="http://schemas.openxmlformats.org/drawingml/2006/main">
              <a:ext uri="{FF2B5EF4-FFF2-40B4-BE49-F238E27FC236}">
                <a16:creationId xmlns:a16="http://schemas.microsoft.com/office/drawing/2014/main" id="{A13C00B9-ABCA-4DA7-9586-BECFD8F01F0A}"/>
              </a:ext>
            </a:extLst>
          </p:cNvPr>
          <p:cNvSpPr>
            <a:spLocks xmlns:a="http://schemas.openxmlformats.org/drawingml/2006/main" noGrp="1"/>
          </p:cNvSpPr>
          <p:nvPr/>
        </p:nvSpPr>
        <p:spPr>
          <a:xfrm xmlns:a="http://schemas.openxmlformats.org/drawingml/2006/main">
            <a:off x="2323169" y="2555625"/>
            <a:ext cx="76200" cy="76200"/>
          </a:xfrm>
          <a:prstGeom xmlns:a="http://schemas.openxmlformats.org/drawingml/2006/main" prst="ellipse">
            <a:avLst/>
          </a:prstGeom>
          <a:solidFill xmlns:a="http://schemas.openxmlformats.org/drawingml/2006/main">
            <a:srgbClr val="6B7580"/>
          </a:solidFill>
          <a:ln xmlns:a="http://schemas.openxmlformats.org/drawingml/2006/main" w="9525">
            <a:solidFill>
              <a:srgbClr val="6B7580"/>
            </a:solidFill>
            <a:prstDash val="solid"/>
          </a:ln>
        </p:spPr>
      </p:sp>
      <p:sp>
        <p:nvSpPr>
          <p:cNvPr id="39" name="">
            <a:extLst xmlns:a="http://schemas.openxmlformats.org/drawingml/2006/main">
              <a:ext uri="{FF2B5EF4-FFF2-40B4-BE49-F238E27FC236}">
                <a16:creationId xmlns:a16="http://schemas.microsoft.com/office/drawing/2014/main" id="{20E6A447-9B21-4C7E-8331-6D62BF3A5A9F}"/>
              </a:ext>
            </a:extLst>
          </p:cNvPr>
          <p:cNvSpPr>
            <a:spLocks xmlns:a="http://schemas.openxmlformats.org/drawingml/2006/main" noGrp="1"/>
          </p:cNvSpPr>
          <p:nvPr/>
        </p:nvSpPr>
        <p:spPr>
          <a:xfrm xmlns:a="http://schemas.openxmlformats.org/drawingml/2006/main">
            <a:off x="3750435" y="3937026"/>
            <a:ext cx="76200" cy="76200"/>
          </a:xfrm>
          <a:prstGeom xmlns:a="http://schemas.openxmlformats.org/drawingml/2006/main" prst="ellipse">
            <a:avLst/>
          </a:prstGeom>
          <a:solidFill xmlns:a="http://schemas.openxmlformats.org/drawingml/2006/main">
            <a:srgbClr val="6B7580"/>
          </a:solidFill>
          <a:ln xmlns:a="http://schemas.openxmlformats.org/drawingml/2006/main" w="9525">
            <a:solidFill>
              <a:srgbClr val="6B7580"/>
            </a:solidFill>
            <a:prstDash val="solid"/>
          </a:ln>
        </p:spPr>
      </p:sp>
      <p:sp>
        <p:nvSpPr>
          <p:cNvPr id="40" name="">
            <a:extLst xmlns:a="http://schemas.openxmlformats.org/drawingml/2006/main">
              <a:ext uri="{FF2B5EF4-FFF2-40B4-BE49-F238E27FC236}">
                <a16:creationId xmlns:a16="http://schemas.microsoft.com/office/drawing/2014/main" id="{8D6488A0-9685-4411-9BC8-F9C3931AE011}"/>
              </a:ext>
            </a:extLst>
          </p:cNvPr>
          <p:cNvSpPr>
            <a:spLocks xmlns:a="http://schemas.openxmlformats.org/drawingml/2006/main" noGrp="1"/>
          </p:cNvSpPr>
          <p:nvPr/>
        </p:nvSpPr>
        <p:spPr>
          <a:xfrm xmlns:a="http://schemas.openxmlformats.org/drawingml/2006/main">
            <a:off x="2085425" y="3483794"/>
            <a:ext cx="76200" cy="76200"/>
          </a:xfrm>
          <a:prstGeom xmlns:a="http://schemas.openxmlformats.org/drawingml/2006/main" prst="ellipse">
            <a:avLst/>
          </a:prstGeom>
          <a:solidFill xmlns:a="http://schemas.openxmlformats.org/drawingml/2006/main">
            <a:srgbClr val="6B7580"/>
          </a:solidFill>
          <a:ln xmlns:a="http://schemas.openxmlformats.org/drawingml/2006/main" w="9525">
            <a:solidFill>
              <a:srgbClr val="6B7580"/>
            </a:solidFill>
            <a:prstDash val="solid"/>
          </a:ln>
        </p:spPr>
      </p:sp>
      <p:sp>
        <p:nvSpPr>
          <p:cNvPr id="41" name="">
            <a:extLst xmlns:a="http://schemas.openxmlformats.org/drawingml/2006/main">
              <a:ext uri="{FF2B5EF4-FFF2-40B4-BE49-F238E27FC236}">
                <a16:creationId xmlns:a16="http://schemas.microsoft.com/office/drawing/2014/main" id="{80C84247-0C57-4C1A-8695-AD68E1B8BAED}"/>
              </a:ext>
            </a:extLst>
          </p:cNvPr>
          <p:cNvSpPr>
            <a:spLocks xmlns:a="http://schemas.openxmlformats.org/drawingml/2006/main" noGrp="1"/>
          </p:cNvSpPr>
          <p:nvPr/>
        </p:nvSpPr>
        <p:spPr>
          <a:xfrm xmlns:a="http://schemas.openxmlformats.org/drawingml/2006/main">
            <a:off x="3142099" y="2507811"/>
            <a:ext cx="76200" cy="76200"/>
          </a:xfrm>
          <a:prstGeom xmlns:a="http://schemas.openxmlformats.org/drawingml/2006/main" prst="ellipse">
            <a:avLst/>
          </a:prstGeom>
          <a:solidFill xmlns:a="http://schemas.openxmlformats.org/drawingml/2006/main">
            <a:srgbClr val="6B7580"/>
          </a:solidFill>
          <a:ln xmlns:a="http://schemas.openxmlformats.org/drawingml/2006/main" w="9525">
            <a:solidFill>
              <a:srgbClr val="6B7580"/>
            </a:solidFill>
            <a:prstDash val="solid"/>
          </a:ln>
        </p:spPr>
      </p:sp>
      <p:sp>
        <p:nvSpPr>
          <p:cNvPr id="42" name="">
            <a:extLst xmlns:a="http://schemas.openxmlformats.org/drawingml/2006/main">
              <a:ext uri="{FF2B5EF4-FFF2-40B4-BE49-F238E27FC236}">
                <a16:creationId xmlns:a16="http://schemas.microsoft.com/office/drawing/2014/main" id="{D3922A1C-8B71-402A-A0C8-89C0DFF56156}"/>
              </a:ext>
            </a:extLst>
          </p:cNvPr>
          <p:cNvSpPr>
            <a:spLocks xmlns:a="http://schemas.openxmlformats.org/drawingml/2006/main" noGrp="1"/>
          </p:cNvSpPr>
          <p:nvPr/>
        </p:nvSpPr>
        <p:spPr>
          <a:xfrm xmlns:a="http://schemas.openxmlformats.org/drawingml/2006/main">
            <a:off x="2652854" y="3587163"/>
            <a:ext cx="76200" cy="76200"/>
          </a:xfrm>
          <a:prstGeom xmlns:a="http://schemas.openxmlformats.org/drawingml/2006/main" prst="ellipse">
            <a:avLst/>
          </a:prstGeom>
          <a:solidFill xmlns:a="http://schemas.openxmlformats.org/drawingml/2006/main">
            <a:srgbClr val="6B7580"/>
          </a:solidFill>
          <a:ln xmlns:a="http://schemas.openxmlformats.org/drawingml/2006/main" w="9525">
            <a:solidFill>
              <a:srgbClr val="6B7580"/>
            </a:solidFill>
            <a:prstDash val="solid"/>
          </a:ln>
        </p:spPr>
      </p:sp>
      <p:sp>
        <p:nvSpPr>
          <p:cNvPr id="43" name="">
            <a:extLst xmlns:a="http://schemas.openxmlformats.org/drawingml/2006/main">
              <a:ext uri="{FF2B5EF4-FFF2-40B4-BE49-F238E27FC236}">
                <a16:creationId xmlns:a16="http://schemas.microsoft.com/office/drawing/2014/main" id="{C0704C0A-118A-4E2C-8C07-08C71BC283C0}"/>
              </a:ext>
            </a:extLst>
          </p:cNvPr>
          <p:cNvSpPr>
            <a:spLocks xmlns:a="http://schemas.openxmlformats.org/drawingml/2006/main" noGrp="1"/>
          </p:cNvSpPr>
          <p:nvPr/>
        </p:nvSpPr>
        <p:spPr>
          <a:xfrm xmlns:a="http://schemas.openxmlformats.org/drawingml/2006/main">
            <a:off x="2058212" y="2919988"/>
            <a:ext cx="76200" cy="76200"/>
          </a:xfrm>
          <a:prstGeom xmlns:a="http://schemas.openxmlformats.org/drawingml/2006/main" prst="ellipse">
            <a:avLst/>
          </a:prstGeom>
          <a:solidFill xmlns:a="http://schemas.openxmlformats.org/drawingml/2006/main">
            <a:srgbClr val="6B7580"/>
          </a:solidFill>
          <a:ln xmlns:a="http://schemas.openxmlformats.org/drawingml/2006/main" w="9525">
            <a:solidFill>
              <a:srgbClr val="6B7580"/>
            </a:solidFill>
            <a:prstDash val="solid"/>
          </a:ln>
        </p:spPr>
      </p:sp>
      <p:sp>
        <p:nvSpPr>
          <p:cNvPr id="44" name="">
            <a:extLst xmlns:a="http://schemas.openxmlformats.org/drawingml/2006/main">
              <a:ext uri="{FF2B5EF4-FFF2-40B4-BE49-F238E27FC236}">
                <a16:creationId xmlns:a16="http://schemas.microsoft.com/office/drawing/2014/main" id="{590D95AF-2DA0-4E18-AF12-072A9AD2AEE2}"/>
              </a:ext>
            </a:extLst>
          </p:cNvPr>
          <p:cNvSpPr>
            <a:spLocks xmlns:a="http://schemas.openxmlformats.org/drawingml/2006/main" noGrp="1"/>
          </p:cNvSpPr>
          <p:nvPr/>
        </p:nvSpPr>
        <p:spPr>
          <a:xfrm xmlns:a="http://schemas.openxmlformats.org/drawingml/2006/main">
            <a:off x="3748501" y="3243656"/>
            <a:ext cx="76200" cy="76200"/>
          </a:xfrm>
          <a:prstGeom xmlns:a="http://schemas.openxmlformats.org/drawingml/2006/main" prst="ellipse">
            <a:avLst/>
          </a:prstGeom>
          <a:solidFill xmlns:a="http://schemas.openxmlformats.org/drawingml/2006/main">
            <a:srgbClr val="6B7580"/>
          </a:solidFill>
          <a:ln xmlns:a="http://schemas.openxmlformats.org/drawingml/2006/main" w="9525">
            <a:solidFill>
              <a:srgbClr val="6B7580"/>
            </a:solidFill>
            <a:prstDash val="solid"/>
          </a:ln>
        </p:spPr>
      </p:sp>
      <p:sp>
        <p:nvSpPr>
          <p:cNvPr id="45" name="">
            <a:extLst xmlns:a="http://schemas.openxmlformats.org/drawingml/2006/main">
              <a:ext uri="{FF2B5EF4-FFF2-40B4-BE49-F238E27FC236}">
                <a16:creationId xmlns:a16="http://schemas.microsoft.com/office/drawing/2014/main" id="{4390AD52-DF2C-4DC1-84BA-5DF2EA23334B}"/>
              </a:ext>
            </a:extLst>
          </p:cNvPr>
          <p:cNvSpPr>
            <a:spLocks xmlns:a="http://schemas.openxmlformats.org/drawingml/2006/main" noGrp="1"/>
          </p:cNvSpPr>
          <p:nvPr/>
        </p:nvSpPr>
        <p:spPr>
          <a:xfrm xmlns:a="http://schemas.openxmlformats.org/drawingml/2006/main">
            <a:off x="2339580" y="3638223"/>
            <a:ext cx="76200" cy="76200"/>
          </a:xfrm>
          <a:prstGeom xmlns:a="http://schemas.openxmlformats.org/drawingml/2006/main" prst="ellipse">
            <a:avLst/>
          </a:prstGeom>
          <a:solidFill xmlns:a="http://schemas.openxmlformats.org/drawingml/2006/main">
            <a:srgbClr val="6B7580"/>
          </a:solidFill>
          <a:ln xmlns:a="http://schemas.openxmlformats.org/drawingml/2006/main" w="9525">
            <a:solidFill>
              <a:srgbClr val="6B7580"/>
            </a:solidFill>
            <a:prstDash val="solid"/>
          </a:ln>
        </p:spPr>
      </p:sp>
      <p:sp>
        <p:nvSpPr>
          <p:cNvPr id="46" name="">
            <a:extLst xmlns:a="http://schemas.openxmlformats.org/drawingml/2006/main">
              <a:ext uri="{FF2B5EF4-FFF2-40B4-BE49-F238E27FC236}">
                <a16:creationId xmlns:a16="http://schemas.microsoft.com/office/drawing/2014/main" id="{6743DA64-8C59-4216-8D8E-0F5AE2DB9764}"/>
              </a:ext>
            </a:extLst>
          </p:cNvPr>
          <p:cNvSpPr>
            <a:spLocks xmlns:a="http://schemas.openxmlformats.org/drawingml/2006/main" noGrp="1"/>
          </p:cNvSpPr>
          <p:nvPr/>
        </p:nvSpPr>
        <p:spPr>
          <a:xfrm xmlns:a="http://schemas.openxmlformats.org/drawingml/2006/main">
            <a:off x="2609850" y="2495550"/>
            <a:ext cx="76200" cy="76200"/>
          </a:xfrm>
          <a:prstGeom xmlns:a="http://schemas.openxmlformats.org/drawingml/2006/main" prst="ellipse">
            <a:avLst/>
          </a:prstGeom>
          <a:solidFill xmlns:a="http://schemas.openxmlformats.org/drawingml/2006/main">
            <a:srgbClr val="6B7580"/>
          </a:solidFill>
          <a:ln xmlns:a="http://schemas.openxmlformats.org/drawingml/2006/main" w="9525">
            <a:solidFill>
              <a:srgbClr val="6B7580"/>
            </a:solidFill>
            <a:prstDash val="solid"/>
          </a:ln>
        </p:spPr>
      </p:sp>
      <p:sp>
        <p:nvSpPr>
          <p:cNvPr id="47" name="">
            <a:extLst xmlns:a="http://schemas.openxmlformats.org/drawingml/2006/main">
              <a:ext uri="{FF2B5EF4-FFF2-40B4-BE49-F238E27FC236}">
                <a16:creationId xmlns:a16="http://schemas.microsoft.com/office/drawing/2014/main" id="{CA614B5F-A59B-4D32-8129-1EEF6CFACA43}"/>
              </a:ext>
            </a:extLst>
          </p:cNvPr>
          <p:cNvSpPr>
            <a:spLocks xmlns:a="http://schemas.openxmlformats.org/drawingml/2006/main" noGrp="1"/>
          </p:cNvSpPr>
          <p:nvPr/>
        </p:nvSpPr>
        <p:spPr>
          <a:xfrm xmlns:a="http://schemas.openxmlformats.org/drawingml/2006/main">
            <a:off x="3485010" y="4298344"/>
            <a:ext cx="76200" cy="76200"/>
          </a:xfrm>
          <a:prstGeom xmlns:a="http://schemas.openxmlformats.org/drawingml/2006/main" prst="ellipse">
            <a:avLst/>
          </a:prstGeom>
          <a:solidFill xmlns:a="http://schemas.openxmlformats.org/drawingml/2006/main">
            <a:srgbClr val="6B7580"/>
          </a:solidFill>
          <a:ln xmlns:a="http://schemas.openxmlformats.org/drawingml/2006/main" w="9525">
            <a:solidFill>
              <a:srgbClr val="6B7580"/>
            </a:solidFill>
            <a:prstDash val="solid"/>
          </a:ln>
        </p:spPr>
      </p:sp>
      <p:sp>
        <p:nvSpPr>
          <p:cNvPr id="48" name="">
            <a:extLst xmlns:a="http://schemas.openxmlformats.org/drawingml/2006/main">
              <a:ext uri="{FF2B5EF4-FFF2-40B4-BE49-F238E27FC236}">
                <a16:creationId xmlns:a16="http://schemas.microsoft.com/office/drawing/2014/main" id="{83912113-773B-4836-81F1-F70557DF66BE}"/>
              </a:ext>
            </a:extLst>
          </p:cNvPr>
          <p:cNvSpPr>
            <a:spLocks xmlns:a="http://schemas.openxmlformats.org/drawingml/2006/main" noGrp="1"/>
          </p:cNvSpPr>
          <p:nvPr/>
        </p:nvSpPr>
        <p:spPr>
          <a:xfrm xmlns:a="http://schemas.openxmlformats.org/drawingml/2006/main">
            <a:off x="2059502" y="3295126"/>
            <a:ext cx="76200" cy="76200"/>
          </a:xfrm>
          <a:prstGeom xmlns:a="http://schemas.openxmlformats.org/drawingml/2006/main" prst="ellipse">
            <a:avLst/>
          </a:prstGeom>
          <a:solidFill xmlns:a="http://schemas.openxmlformats.org/drawingml/2006/main">
            <a:srgbClr val="6B7580"/>
          </a:solidFill>
          <a:ln xmlns:a="http://schemas.openxmlformats.org/drawingml/2006/main" w="9525">
            <a:solidFill>
              <a:srgbClr val="6B7580"/>
            </a:solidFill>
            <a:prstDash val="solid"/>
          </a:ln>
        </p:spPr>
      </p:sp>
      <p:sp>
        <p:nvSpPr>
          <p:cNvPr id="49" name="">
            <a:extLst xmlns:a="http://schemas.openxmlformats.org/drawingml/2006/main">
              <a:ext uri="{FF2B5EF4-FFF2-40B4-BE49-F238E27FC236}">
                <a16:creationId xmlns:a16="http://schemas.microsoft.com/office/drawing/2014/main" id="{A24E61E2-08CD-4F1C-AABE-07E6BBE86DA6}"/>
              </a:ext>
            </a:extLst>
          </p:cNvPr>
          <p:cNvSpPr>
            <a:spLocks xmlns:a="http://schemas.openxmlformats.org/drawingml/2006/main" noGrp="1"/>
          </p:cNvSpPr>
          <p:nvPr/>
        </p:nvSpPr>
        <p:spPr>
          <a:xfrm xmlns:a="http://schemas.openxmlformats.org/drawingml/2006/main">
            <a:off x="3403303" y="2734437"/>
            <a:ext cx="76200" cy="76200"/>
          </a:xfrm>
          <a:prstGeom xmlns:a="http://schemas.openxmlformats.org/drawingml/2006/main" prst="ellipse">
            <a:avLst/>
          </a:prstGeom>
          <a:solidFill xmlns:a="http://schemas.openxmlformats.org/drawingml/2006/main">
            <a:srgbClr val="6B7580"/>
          </a:solidFill>
          <a:ln xmlns:a="http://schemas.openxmlformats.org/drawingml/2006/main" w="9525">
            <a:solidFill>
              <a:srgbClr val="6B7580"/>
            </a:solidFill>
            <a:prstDash val="solid"/>
          </a:ln>
        </p:spPr>
      </p:sp>
      <p:sp>
        <p:nvSpPr>
          <p:cNvPr id="50" name="">
            <a:extLst xmlns:a="http://schemas.openxmlformats.org/drawingml/2006/main">
              <a:ext uri="{FF2B5EF4-FFF2-40B4-BE49-F238E27FC236}">
                <a16:creationId xmlns:a16="http://schemas.microsoft.com/office/drawing/2014/main" id="{1D630B04-20E0-48F1-BB62-E9D3A5EEFBE0}"/>
              </a:ext>
            </a:extLst>
          </p:cNvPr>
          <p:cNvSpPr>
            <a:spLocks xmlns:a="http://schemas.openxmlformats.org/drawingml/2006/main" noGrp="1"/>
          </p:cNvSpPr>
          <p:nvPr/>
        </p:nvSpPr>
        <p:spPr>
          <a:xfrm xmlns:a="http://schemas.openxmlformats.org/drawingml/2006/main">
            <a:off x="2565192" y="3596543"/>
            <a:ext cx="76200" cy="76200"/>
          </a:xfrm>
          <a:prstGeom xmlns:a="http://schemas.openxmlformats.org/drawingml/2006/main" prst="ellipse">
            <a:avLst/>
          </a:prstGeom>
          <a:solidFill xmlns:a="http://schemas.openxmlformats.org/drawingml/2006/main">
            <a:srgbClr val="6B7580"/>
          </a:solidFill>
          <a:ln xmlns:a="http://schemas.openxmlformats.org/drawingml/2006/main" w="9525">
            <a:solidFill>
              <a:srgbClr val="6B7580"/>
            </a:solidFill>
            <a:prstDash val="solid"/>
          </a:ln>
        </p:spPr>
      </p:sp>
      <p:sp>
        <p:nvSpPr>
          <p:cNvPr id="51" name="">
            <a:extLst xmlns:a="http://schemas.openxmlformats.org/drawingml/2006/main">
              <a:ext uri="{FF2B5EF4-FFF2-40B4-BE49-F238E27FC236}">
                <a16:creationId xmlns:a16="http://schemas.microsoft.com/office/drawing/2014/main" id="{D886A9F3-0D08-4F00-8BD3-80A660BE785B}"/>
              </a:ext>
            </a:extLst>
          </p:cNvPr>
          <p:cNvSpPr>
            <a:spLocks xmlns:a="http://schemas.openxmlformats.org/drawingml/2006/main" noGrp="1"/>
          </p:cNvSpPr>
          <p:nvPr/>
        </p:nvSpPr>
        <p:spPr>
          <a:xfrm xmlns:a="http://schemas.openxmlformats.org/drawingml/2006/main">
            <a:off x="2231134" y="2748811"/>
            <a:ext cx="76200" cy="76200"/>
          </a:xfrm>
          <a:prstGeom xmlns:a="http://schemas.openxmlformats.org/drawingml/2006/main" prst="ellipse">
            <a:avLst/>
          </a:prstGeom>
          <a:solidFill xmlns:a="http://schemas.openxmlformats.org/drawingml/2006/main">
            <a:srgbClr val="6B7580"/>
          </a:solidFill>
          <a:ln xmlns:a="http://schemas.openxmlformats.org/drawingml/2006/main" w="9525">
            <a:solidFill>
              <a:srgbClr val="6B7580"/>
            </a:solidFill>
            <a:prstDash val="solid"/>
          </a:ln>
        </p:spPr>
      </p:sp>
      <p:sp>
        <p:nvSpPr>
          <p:cNvPr id="52" name="">
            <a:extLst xmlns:a="http://schemas.openxmlformats.org/drawingml/2006/main">
              <a:ext uri="{FF2B5EF4-FFF2-40B4-BE49-F238E27FC236}">
                <a16:creationId xmlns:a16="http://schemas.microsoft.com/office/drawing/2014/main" id="{022EB601-0265-4F6E-AD8C-177D1CEBFFCF}"/>
              </a:ext>
            </a:extLst>
          </p:cNvPr>
          <p:cNvSpPr>
            <a:spLocks xmlns:a="http://schemas.openxmlformats.org/drawingml/2006/main" noGrp="1"/>
          </p:cNvSpPr>
          <p:nvPr/>
        </p:nvSpPr>
        <p:spPr>
          <a:xfrm xmlns:a="http://schemas.openxmlformats.org/drawingml/2006/main">
            <a:off x="3723104" y="3641570"/>
            <a:ext cx="76200" cy="76200"/>
          </a:xfrm>
          <a:prstGeom xmlns:a="http://schemas.openxmlformats.org/drawingml/2006/main" prst="ellipse">
            <a:avLst/>
          </a:prstGeom>
          <a:solidFill xmlns:a="http://schemas.openxmlformats.org/drawingml/2006/main">
            <a:srgbClr val="6B7580"/>
          </a:solidFill>
          <a:ln xmlns:a="http://schemas.openxmlformats.org/drawingml/2006/main" w="9525">
            <a:solidFill>
              <a:srgbClr val="6B7580"/>
            </a:solidFill>
            <a:prstDash val="solid"/>
          </a:ln>
        </p:spPr>
      </p:sp>
      <p:sp>
        <p:nvSpPr>
          <p:cNvPr id="53" name="">
            <a:extLst xmlns:a="http://schemas.openxmlformats.org/drawingml/2006/main">
              <a:ext uri="{FF2B5EF4-FFF2-40B4-BE49-F238E27FC236}">
                <a16:creationId xmlns:a16="http://schemas.microsoft.com/office/drawing/2014/main" id="{0362D2F7-285E-4F9F-871E-189321B054FD}"/>
              </a:ext>
            </a:extLst>
          </p:cNvPr>
          <p:cNvSpPr>
            <a:spLocks xmlns:a="http://schemas.openxmlformats.org/drawingml/2006/main" noGrp="1"/>
          </p:cNvSpPr>
          <p:nvPr/>
        </p:nvSpPr>
        <p:spPr>
          <a:xfrm xmlns:a="http://schemas.openxmlformats.org/drawingml/2006/main">
            <a:off x="2246553" y="3532396"/>
            <a:ext cx="76200" cy="76200"/>
          </a:xfrm>
          <a:prstGeom xmlns:a="http://schemas.openxmlformats.org/drawingml/2006/main" prst="ellipse">
            <a:avLst/>
          </a:prstGeom>
          <a:solidFill xmlns:a="http://schemas.openxmlformats.org/drawingml/2006/main">
            <a:srgbClr val="6B7580"/>
          </a:solidFill>
          <a:ln xmlns:a="http://schemas.openxmlformats.org/drawingml/2006/main" w="9525">
            <a:solidFill>
              <a:srgbClr val="6B7580"/>
            </a:solidFill>
            <a:prstDash val="solid"/>
          </a:ln>
        </p:spPr>
      </p:sp>
      <p:sp>
        <p:nvSpPr>
          <p:cNvPr id="54" name="">
            <a:extLst xmlns:a="http://schemas.openxmlformats.org/drawingml/2006/main">
              <a:ext uri="{FF2B5EF4-FFF2-40B4-BE49-F238E27FC236}">
                <a16:creationId xmlns:a16="http://schemas.microsoft.com/office/drawing/2014/main" id="{8AD00164-2D60-4F2D-8E73-0235DFB92557}"/>
              </a:ext>
            </a:extLst>
          </p:cNvPr>
          <p:cNvSpPr>
            <a:spLocks xmlns:a="http://schemas.openxmlformats.org/drawingml/2006/main" noGrp="1"/>
          </p:cNvSpPr>
          <p:nvPr/>
        </p:nvSpPr>
        <p:spPr>
          <a:xfrm xmlns:a="http://schemas.openxmlformats.org/drawingml/2006/main">
            <a:off x="2903047" y="2537724"/>
            <a:ext cx="76200" cy="76200"/>
          </a:xfrm>
          <a:prstGeom xmlns:a="http://schemas.openxmlformats.org/drawingml/2006/main" prst="ellipse">
            <a:avLst/>
          </a:prstGeom>
          <a:solidFill xmlns:a="http://schemas.openxmlformats.org/drawingml/2006/main">
            <a:srgbClr val="6B7580"/>
          </a:solidFill>
          <a:ln xmlns:a="http://schemas.openxmlformats.org/drawingml/2006/main" w="9525">
            <a:solidFill>
              <a:srgbClr val="6B7580"/>
            </a:solidFill>
            <a:prstDash val="solid"/>
          </a:ln>
        </p:spPr>
      </p:sp>
      <p:sp>
        <p:nvSpPr>
          <p:cNvPr id="55" name="">
            <a:extLst xmlns:a="http://schemas.openxmlformats.org/drawingml/2006/main">
              <a:ext uri="{FF2B5EF4-FFF2-40B4-BE49-F238E27FC236}">
                <a16:creationId xmlns:a16="http://schemas.microsoft.com/office/drawing/2014/main" id="{AB818B00-6B60-4566-B1B3-2B94C7C56D5F}"/>
              </a:ext>
            </a:extLst>
          </p:cNvPr>
          <p:cNvSpPr>
            <a:spLocks xmlns:a="http://schemas.openxmlformats.org/drawingml/2006/main" noGrp="1"/>
          </p:cNvSpPr>
          <p:nvPr/>
        </p:nvSpPr>
        <p:spPr>
          <a:xfrm xmlns:a="http://schemas.openxmlformats.org/drawingml/2006/main">
            <a:off x="3109223" y="4548868"/>
            <a:ext cx="76200" cy="76200"/>
          </a:xfrm>
          <a:prstGeom xmlns:a="http://schemas.openxmlformats.org/drawingml/2006/main" prst="ellipse">
            <a:avLst/>
          </a:prstGeom>
          <a:solidFill xmlns:a="http://schemas.openxmlformats.org/drawingml/2006/main">
            <a:srgbClr val="6B7580"/>
          </a:solidFill>
          <a:ln xmlns:a="http://schemas.openxmlformats.org/drawingml/2006/main" w="9525">
            <a:solidFill>
              <a:srgbClr val="6B7580"/>
            </a:solidFill>
            <a:prstDash val="solid"/>
          </a:ln>
        </p:spPr>
      </p:sp>
      <p:sp>
        <p:nvSpPr>
          <p:cNvPr id="56" name="">
            <a:extLst xmlns:a="http://schemas.openxmlformats.org/drawingml/2006/main">
              <a:ext uri="{FF2B5EF4-FFF2-40B4-BE49-F238E27FC236}">
                <a16:creationId xmlns:a16="http://schemas.microsoft.com/office/drawing/2014/main" id="{862D0C5A-8798-4455-8008-0F0662DB3E35}"/>
              </a:ext>
            </a:extLst>
          </p:cNvPr>
          <p:cNvSpPr>
            <a:spLocks xmlns:a="http://schemas.openxmlformats.org/drawingml/2006/main" noGrp="1"/>
          </p:cNvSpPr>
          <p:nvPr/>
        </p:nvSpPr>
        <p:spPr>
          <a:xfrm xmlns:a="http://schemas.openxmlformats.org/drawingml/2006/main">
            <a:off x="2100528" y="3105774"/>
            <a:ext cx="76200" cy="76200"/>
          </a:xfrm>
          <a:prstGeom xmlns:a="http://schemas.openxmlformats.org/drawingml/2006/main" prst="ellipse">
            <a:avLst/>
          </a:prstGeom>
          <a:solidFill xmlns:a="http://schemas.openxmlformats.org/drawingml/2006/main">
            <a:srgbClr val="6B7580"/>
          </a:solidFill>
          <a:ln xmlns:a="http://schemas.openxmlformats.org/drawingml/2006/main" w="9525">
            <a:solidFill>
              <a:srgbClr val="6B7580"/>
            </a:solidFill>
            <a:prstDash val="solid"/>
          </a:ln>
        </p:spPr>
      </p:sp>
      <p:sp>
        <p:nvSpPr>
          <p:cNvPr id="57" name="">
            <a:extLst xmlns:a="http://schemas.openxmlformats.org/drawingml/2006/main">
              <a:ext uri="{FF2B5EF4-FFF2-40B4-BE49-F238E27FC236}">
                <a16:creationId xmlns:a16="http://schemas.microsoft.com/office/drawing/2014/main" id="{8E8B0BA2-70DA-4C2A-B08F-5C0E720D2DFB}"/>
              </a:ext>
            </a:extLst>
          </p:cNvPr>
          <p:cNvSpPr>
            <a:spLocks xmlns:a="http://schemas.openxmlformats.org/drawingml/2006/main" noGrp="1"/>
          </p:cNvSpPr>
          <p:nvPr/>
        </p:nvSpPr>
        <p:spPr>
          <a:xfrm xmlns:a="http://schemas.openxmlformats.org/drawingml/2006/main">
            <a:off x="3572770" y="3039667"/>
            <a:ext cx="76200" cy="76200"/>
          </a:xfrm>
          <a:prstGeom xmlns:a="http://schemas.openxmlformats.org/drawingml/2006/main" prst="ellipse">
            <a:avLst/>
          </a:prstGeom>
          <a:solidFill xmlns:a="http://schemas.openxmlformats.org/drawingml/2006/main">
            <a:srgbClr val="6B7580"/>
          </a:solidFill>
          <a:ln xmlns:a="http://schemas.openxmlformats.org/drawingml/2006/main" w="9525">
            <a:solidFill>
              <a:srgbClr val="6B7580"/>
            </a:solidFill>
            <a:prstDash val="solid"/>
          </a:ln>
        </p:spPr>
      </p:sp>
      <p:sp>
        <p:nvSpPr>
          <p:cNvPr id="58" name="">
            <a:extLst xmlns:a="http://schemas.openxmlformats.org/drawingml/2006/main">
              <a:ext uri="{FF2B5EF4-FFF2-40B4-BE49-F238E27FC236}">
                <a16:creationId xmlns:a16="http://schemas.microsoft.com/office/drawing/2014/main" id="{4C46288F-1867-48F9-B209-962276ADC55D}"/>
              </a:ext>
            </a:extLst>
          </p:cNvPr>
          <p:cNvSpPr>
            <a:spLocks xmlns:a="http://schemas.openxmlformats.org/drawingml/2006/main" noGrp="1"/>
          </p:cNvSpPr>
          <p:nvPr/>
        </p:nvSpPr>
        <p:spPr>
          <a:xfrm xmlns:a="http://schemas.openxmlformats.org/drawingml/2006/main">
            <a:off x="2476500" y="3574244"/>
            <a:ext cx="76200" cy="76200"/>
          </a:xfrm>
          <a:prstGeom xmlns:a="http://schemas.openxmlformats.org/drawingml/2006/main" prst="ellipse">
            <a:avLst/>
          </a:prstGeom>
          <a:solidFill xmlns:a="http://schemas.openxmlformats.org/drawingml/2006/main">
            <a:srgbClr val="6B7580"/>
          </a:solidFill>
          <a:ln xmlns:a="http://schemas.openxmlformats.org/drawingml/2006/main" w="9525">
            <a:solidFill>
              <a:srgbClr val="6B7580"/>
            </a:solidFill>
            <a:prstDash val="solid"/>
          </a:ln>
        </p:spPr>
      </p:sp>
      <p:sp>
        <p:nvSpPr>
          <p:cNvPr id="59" name="">
            <a:extLst xmlns:a="http://schemas.openxmlformats.org/drawingml/2006/main">
              <a:ext uri="{FF2B5EF4-FFF2-40B4-BE49-F238E27FC236}">
                <a16:creationId xmlns:a16="http://schemas.microsoft.com/office/drawing/2014/main" id="{3E0FD891-D434-4754-9847-C6C6444C9B35}"/>
              </a:ext>
            </a:extLst>
          </p:cNvPr>
          <p:cNvSpPr>
            <a:spLocks xmlns:a="http://schemas.openxmlformats.org/drawingml/2006/main" noGrp="1"/>
          </p:cNvSpPr>
          <p:nvPr/>
        </p:nvSpPr>
        <p:spPr>
          <a:xfrm xmlns:a="http://schemas.openxmlformats.org/drawingml/2006/main">
            <a:off x="2455231" y="2645834"/>
            <a:ext cx="76200" cy="76200"/>
          </a:xfrm>
          <a:prstGeom xmlns:a="http://schemas.openxmlformats.org/drawingml/2006/main" prst="ellipse">
            <a:avLst/>
          </a:prstGeom>
          <a:solidFill xmlns:a="http://schemas.openxmlformats.org/drawingml/2006/main">
            <a:srgbClr val="6B7580"/>
          </a:solidFill>
          <a:ln xmlns:a="http://schemas.openxmlformats.org/drawingml/2006/main" w="9525">
            <a:solidFill>
              <a:srgbClr val="6B7580"/>
            </a:solidFill>
            <a:prstDash val="solid"/>
          </a:ln>
        </p:spPr>
      </p:sp>
      <p:sp>
        <p:nvSpPr>
          <p:cNvPr id="60" name="">
            <a:extLst xmlns:a="http://schemas.openxmlformats.org/drawingml/2006/main">
              <a:ext uri="{FF2B5EF4-FFF2-40B4-BE49-F238E27FC236}">
                <a16:creationId xmlns:a16="http://schemas.microsoft.com/office/drawing/2014/main" id="{A3DC4B68-63CD-4819-A98B-260E375D77D6}"/>
              </a:ext>
            </a:extLst>
          </p:cNvPr>
          <p:cNvSpPr>
            <a:spLocks xmlns:a="http://schemas.openxmlformats.org/drawingml/2006/main" noGrp="1"/>
          </p:cNvSpPr>
          <p:nvPr/>
        </p:nvSpPr>
        <p:spPr>
          <a:xfrm xmlns:a="http://schemas.openxmlformats.org/drawingml/2006/main">
            <a:off x="3561746" y="4009799"/>
            <a:ext cx="76200" cy="76200"/>
          </a:xfrm>
          <a:prstGeom xmlns:a="http://schemas.openxmlformats.org/drawingml/2006/main" prst="ellipse">
            <a:avLst/>
          </a:prstGeom>
          <a:solidFill xmlns:a="http://schemas.openxmlformats.org/drawingml/2006/main">
            <a:srgbClr val="6B7580"/>
          </a:solidFill>
          <a:ln xmlns:a="http://schemas.openxmlformats.org/drawingml/2006/main" w="9525">
            <a:solidFill>
              <a:srgbClr val="6B7580"/>
            </a:solidFill>
            <a:prstDash val="solid"/>
          </a:ln>
        </p:spPr>
      </p:sp>
      <p:sp>
        <p:nvSpPr>
          <p:cNvPr id="61" name="">
            <a:extLst xmlns:a="http://schemas.openxmlformats.org/drawingml/2006/main">
              <a:ext uri="{FF2B5EF4-FFF2-40B4-BE49-F238E27FC236}">
                <a16:creationId xmlns:a16="http://schemas.microsoft.com/office/drawing/2014/main" id="{65361D6E-7761-44B1-AF2E-0B1B80CE41FD}"/>
              </a:ext>
            </a:extLst>
          </p:cNvPr>
          <p:cNvSpPr>
            <a:spLocks xmlns:a="http://schemas.openxmlformats.org/drawingml/2006/main" noGrp="1"/>
          </p:cNvSpPr>
          <p:nvPr/>
        </p:nvSpPr>
        <p:spPr>
          <a:xfrm xmlns:a="http://schemas.openxmlformats.org/drawingml/2006/main">
            <a:off x="2194335" y="3397979"/>
            <a:ext cx="76200" cy="76200"/>
          </a:xfrm>
          <a:prstGeom xmlns:a="http://schemas.openxmlformats.org/drawingml/2006/main" prst="ellipse">
            <a:avLst/>
          </a:prstGeom>
          <a:solidFill xmlns:a="http://schemas.openxmlformats.org/drawingml/2006/main">
            <a:srgbClr val="6B7580"/>
          </a:solidFill>
          <a:ln xmlns:a="http://schemas.openxmlformats.org/drawingml/2006/main" w="9525">
            <a:solidFill>
              <a:srgbClr val="6B7580"/>
            </a:solidFill>
            <a:prstDash val="solid"/>
          </a:ln>
        </p:spPr>
      </p:sp>
      <p:sp>
        <p:nvSpPr>
          <p:cNvPr id="62" name="">
            <a:extLst xmlns:a="http://schemas.openxmlformats.org/drawingml/2006/main">
              <a:ext uri="{FF2B5EF4-FFF2-40B4-BE49-F238E27FC236}">
                <a16:creationId xmlns:a16="http://schemas.microsoft.com/office/drawing/2014/main" id="{77143C1A-D83C-4E5F-8BB2-AE5FCDE974A2}"/>
              </a:ext>
            </a:extLst>
          </p:cNvPr>
          <p:cNvSpPr>
            <a:spLocks xmlns:a="http://schemas.openxmlformats.org/drawingml/2006/main" noGrp="1"/>
          </p:cNvSpPr>
          <p:nvPr/>
        </p:nvSpPr>
        <p:spPr>
          <a:xfrm xmlns:a="http://schemas.openxmlformats.org/drawingml/2006/main">
            <a:off x="2581275" y="3314700"/>
            <a:ext cx="133350" cy="133350"/>
          </a:xfrm>
          <a:prstGeom xmlns:a="http://schemas.openxmlformats.org/drawingml/2006/main" prst="ellipse">
            <a:avLst/>
          </a:prstGeom>
          <a:solidFill xmlns:a="http://schemas.openxmlformats.org/drawingml/2006/main">
            <a:srgbClr val="ED7F0D"/>
          </a:solidFill>
          <a:ln xmlns:a="http://schemas.openxmlformats.org/drawingml/2006/main" w="9525">
            <a:solidFill>
              <a:srgbClr val="ED7F0D"/>
            </a:solidFill>
            <a:prstDash val="solid"/>
          </a:ln>
        </p:spPr>
      </p:sp>
      <p:sp>
        <p:nvSpPr>
          <p:cNvPr id="63" name="">
            <a:extLst xmlns:a="http://schemas.openxmlformats.org/drawingml/2006/main">
              <a:ext uri="{FF2B5EF4-FFF2-40B4-BE49-F238E27FC236}">
                <a16:creationId xmlns:a16="http://schemas.microsoft.com/office/drawing/2014/main" id="{AEA90AE4-52AF-4572-B83C-A476F9A29085}"/>
              </a:ext>
            </a:extLst>
          </p:cNvPr>
          <p:cNvSpPr>
            <a:spLocks xmlns:a="http://schemas.openxmlformats.org/drawingml/2006/main" noGrp="1"/>
          </p:cNvSpPr>
          <p:nvPr/>
        </p:nvSpPr>
        <p:spPr>
          <a:xfrm xmlns:a="http://schemas.openxmlformats.org/drawingml/2006/main">
            <a:off x="6467475" y="1809750"/>
            <a:ext cx="3143250" cy="3143250"/>
          </a:xfrm>
          <a:prstGeom xmlns:a="http://schemas.openxmlformats.org/drawingml/2006/main" prst="ellipse">
            <a:avLst/>
          </a:prstGeom>
          <a:solidFill xmlns:a="http://schemas.openxmlformats.org/drawingml/2006/main">
            <a:srgbClr val="FFFFFF"/>
          </a:solidFill>
          <a:ln xmlns:a="http://schemas.openxmlformats.org/drawingml/2006/main" w="9525">
            <a:solidFill>
              <a:srgbClr val="D9E0E6"/>
            </a:solidFill>
            <a:prstDash val="solid"/>
          </a:ln>
        </p:spPr>
      </p:sp>
      <p:sp>
        <p:nvSpPr>
          <p:cNvPr id="64" name="">
            <a:extLst xmlns:a="http://schemas.openxmlformats.org/drawingml/2006/main">
              <a:ext uri="{FF2B5EF4-FFF2-40B4-BE49-F238E27FC236}">
                <a16:creationId xmlns:a16="http://schemas.microsoft.com/office/drawing/2014/main" id="{F4F1AC0E-E089-4E4C-A5C3-574501C605B5}"/>
              </a:ext>
            </a:extLst>
          </p:cNvPr>
          <p:cNvSpPr>
            <a:spLocks xmlns:a="http://schemas.openxmlformats.org/drawingml/2006/main" noGrp="1"/>
          </p:cNvSpPr>
          <p:nvPr/>
        </p:nvSpPr>
        <p:spPr>
          <a:xfrm xmlns:a="http://schemas.openxmlformats.org/drawingml/2006/main">
            <a:off x="8210550" y="3343275"/>
            <a:ext cx="76200" cy="76200"/>
          </a:xfrm>
          <a:prstGeom xmlns:a="http://schemas.openxmlformats.org/drawingml/2006/main" prst="ellipse">
            <a:avLst/>
          </a:prstGeom>
          <a:solidFill xmlns:a="http://schemas.openxmlformats.org/drawingml/2006/main">
            <a:srgbClr val="009E73"/>
          </a:solidFill>
          <a:ln xmlns:a="http://schemas.openxmlformats.org/drawingml/2006/main" w="9525">
            <a:solidFill>
              <a:srgbClr val="009E73"/>
            </a:solidFill>
            <a:prstDash val="solid"/>
          </a:ln>
        </p:spPr>
      </p:sp>
      <p:sp>
        <p:nvSpPr>
          <p:cNvPr id="65" name="">
            <a:extLst xmlns:a="http://schemas.openxmlformats.org/drawingml/2006/main">
              <a:ext uri="{FF2B5EF4-FFF2-40B4-BE49-F238E27FC236}">
                <a16:creationId xmlns:a16="http://schemas.microsoft.com/office/drawing/2014/main" id="{4D089CC7-96DF-43EE-AF6F-FB2D74D25848}"/>
              </a:ext>
            </a:extLst>
          </p:cNvPr>
          <p:cNvSpPr>
            <a:spLocks xmlns:a="http://schemas.openxmlformats.org/drawingml/2006/main" noGrp="1"/>
          </p:cNvSpPr>
          <p:nvPr/>
        </p:nvSpPr>
        <p:spPr>
          <a:xfrm xmlns:a="http://schemas.openxmlformats.org/drawingml/2006/main">
            <a:off x="7516443" y="3787290"/>
            <a:ext cx="47625" cy="47625"/>
          </a:xfrm>
          <a:prstGeom xmlns:a="http://schemas.openxmlformats.org/drawingml/2006/main" prst="ellipse">
            <a:avLst/>
          </a:prstGeom>
          <a:solidFill xmlns:a="http://schemas.openxmlformats.org/drawingml/2006/main">
            <a:srgbClr val="D9E0E6"/>
          </a:solidFill>
          <a:ln xmlns:a="http://schemas.openxmlformats.org/drawingml/2006/main" w="9525">
            <a:solidFill>
              <a:srgbClr val="D9E0E6"/>
            </a:solidFill>
            <a:prstDash val="solid"/>
          </a:ln>
        </p:spPr>
      </p:sp>
      <p:sp>
        <p:nvSpPr>
          <p:cNvPr id="66" name="">
            <a:extLst xmlns:a="http://schemas.openxmlformats.org/drawingml/2006/main">
              <a:ext uri="{FF2B5EF4-FFF2-40B4-BE49-F238E27FC236}">
                <a16:creationId xmlns:a16="http://schemas.microsoft.com/office/drawing/2014/main" id="{7AEC183F-A402-4396-B9D9-88F01ECDC4DD}"/>
              </a:ext>
            </a:extLst>
          </p:cNvPr>
          <p:cNvSpPr>
            <a:spLocks xmlns:a="http://schemas.openxmlformats.org/drawingml/2006/main" noGrp="1"/>
          </p:cNvSpPr>
          <p:nvPr/>
        </p:nvSpPr>
        <p:spPr>
          <a:xfrm xmlns:a="http://schemas.openxmlformats.org/drawingml/2006/main">
            <a:off x="8097298" y="2242579"/>
            <a:ext cx="76200" cy="76200"/>
          </a:xfrm>
          <a:prstGeom xmlns:a="http://schemas.openxmlformats.org/drawingml/2006/main" prst="ellipse">
            <a:avLst/>
          </a:prstGeom>
          <a:solidFill xmlns:a="http://schemas.openxmlformats.org/drawingml/2006/main">
            <a:srgbClr val="009E73"/>
          </a:solidFill>
          <a:ln xmlns:a="http://schemas.openxmlformats.org/drawingml/2006/main" w="9525">
            <a:solidFill>
              <a:srgbClr val="009E73"/>
            </a:solidFill>
            <a:prstDash val="solid"/>
          </a:ln>
        </p:spPr>
      </p:sp>
      <p:sp>
        <p:nvSpPr>
          <p:cNvPr id="67" name="">
            <a:extLst xmlns:a="http://schemas.openxmlformats.org/drawingml/2006/main">
              <a:ext uri="{FF2B5EF4-FFF2-40B4-BE49-F238E27FC236}">
                <a16:creationId xmlns:a16="http://schemas.microsoft.com/office/drawing/2014/main" id="{67036B86-50AD-4C13-BFA9-4352B12DA053}"/>
              </a:ext>
            </a:extLst>
          </p:cNvPr>
          <p:cNvSpPr>
            <a:spLocks xmlns:a="http://schemas.openxmlformats.org/drawingml/2006/main" noGrp="1"/>
          </p:cNvSpPr>
          <p:nvPr/>
        </p:nvSpPr>
        <p:spPr>
          <a:xfrm xmlns:a="http://schemas.openxmlformats.org/drawingml/2006/main">
            <a:off x="8221341" y="3630429"/>
            <a:ext cx="76200" cy="76200"/>
          </a:xfrm>
          <a:prstGeom xmlns:a="http://schemas.openxmlformats.org/drawingml/2006/main" prst="ellipse">
            <a:avLst/>
          </a:prstGeom>
          <a:solidFill xmlns:a="http://schemas.openxmlformats.org/drawingml/2006/main">
            <a:srgbClr val="009E73"/>
          </a:solidFill>
          <a:ln xmlns:a="http://schemas.openxmlformats.org/drawingml/2006/main" w="9525">
            <a:solidFill>
              <a:srgbClr val="009E73"/>
            </a:solidFill>
            <a:prstDash val="solid"/>
          </a:ln>
        </p:spPr>
      </p:sp>
      <p:sp>
        <p:nvSpPr>
          <p:cNvPr id="68" name="">
            <a:extLst xmlns:a="http://schemas.openxmlformats.org/drawingml/2006/main">
              <a:ext uri="{FF2B5EF4-FFF2-40B4-BE49-F238E27FC236}">
                <a16:creationId xmlns:a16="http://schemas.microsoft.com/office/drawing/2014/main" id="{C8D8DB59-BA95-4D04-ADDE-13BF7EAD8145}"/>
              </a:ext>
            </a:extLst>
          </p:cNvPr>
          <p:cNvSpPr>
            <a:spLocks xmlns:a="http://schemas.openxmlformats.org/drawingml/2006/main" noGrp="1"/>
          </p:cNvSpPr>
          <p:nvPr/>
        </p:nvSpPr>
        <p:spPr>
          <a:xfrm xmlns:a="http://schemas.openxmlformats.org/drawingml/2006/main">
            <a:off x="7203675" y="3202685"/>
            <a:ext cx="47625" cy="47625"/>
          </a:xfrm>
          <a:prstGeom xmlns:a="http://schemas.openxmlformats.org/drawingml/2006/main" prst="ellipse">
            <a:avLst/>
          </a:prstGeom>
          <a:solidFill xmlns:a="http://schemas.openxmlformats.org/drawingml/2006/main">
            <a:srgbClr val="D9E0E6"/>
          </a:solidFill>
          <a:ln xmlns:a="http://schemas.openxmlformats.org/drawingml/2006/main" w="9525">
            <a:solidFill>
              <a:srgbClr val="D9E0E6"/>
            </a:solidFill>
            <a:prstDash val="solid"/>
          </a:ln>
        </p:spPr>
      </p:sp>
      <p:sp>
        <p:nvSpPr>
          <p:cNvPr id="69" name="">
            <a:extLst xmlns:a="http://schemas.openxmlformats.org/drawingml/2006/main">
              <a:ext uri="{FF2B5EF4-FFF2-40B4-BE49-F238E27FC236}">
                <a16:creationId xmlns:a16="http://schemas.microsoft.com/office/drawing/2014/main" id="{6C7C559E-6C01-4F72-9AE4-D22B090E3EA4}"/>
              </a:ext>
            </a:extLst>
          </p:cNvPr>
          <p:cNvSpPr>
            <a:spLocks xmlns:a="http://schemas.openxmlformats.org/drawingml/2006/main" noGrp="1"/>
          </p:cNvSpPr>
          <p:nvPr/>
        </p:nvSpPr>
        <p:spPr>
          <a:xfrm xmlns:a="http://schemas.openxmlformats.org/drawingml/2006/main">
            <a:off x="9061396" y="2667728"/>
            <a:ext cx="76200" cy="76200"/>
          </a:xfrm>
          <a:prstGeom xmlns:a="http://schemas.openxmlformats.org/drawingml/2006/main" prst="ellipse">
            <a:avLst/>
          </a:prstGeom>
          <a:solidFill xmlns:a="http://schemas.openxmlformats.org/drawingml/2006/main">
            <a:srgbClr val="009E73"/>
          </a:solidFill>
          <a:ln xmlns:a="http://schemas.openxmlformats.org/drawingml/2006/main" w="9525">
            <a:solidFill>
              <a:srgbClr val="009E73"/>
            </a:solidFill>
            <a:prstDash val="solid"/>
          </a:ln>
        </p:spPr>
      </p:sp>
      <p:sp>
        <p:nvSpPr>
          <p:cNvPr id="70" name="">
            <a:extLst xmlns:a="http://schemas.openxmlformats.org/drawingml/2006/main">
              <a:ext uri="{FF2B5EF4-FFF2-40B4-BE49-F238E27FC236}">
                <a16:creationId xmlns:a16="http://schemas.microsoft.com/office/drawing/2014/main" id="{197AAF29-BDC2-474E-B011-091ADD6B7BBA}"/>
              </a:ext>
            </a:extLst>
          </p:cNvPr>
          <p:cNvSpPr>
            <a:spLocks xmlns:a="http://schemas.openxmlformats.org/drawingml/2006/main" noGrp="1"/>
          </p:cNvSpPr>
          <p:nvPr/>
        </p:nvSpPr>
        <p:spPr>
          <a:xfrm xmlns:a="http://schemas.openxmlformats.org/drawingml/2006/main">
            <a:off x="7867876" y="3840099"/>
            <a:ext cx="47625" cy="47625"/>
          </a:xfrm>
          <a:prstGeom xmlns:a="http://schemas.openxmlformats.org/drawingml/2006/main" prst="ellipse">
            <a:avLst/>
          </a:prstGeom>
          <a:solidFill xmlns:a="http://schemas.openxmlformats.org/drawingml/2006/main">
            <a:srgbClr val="D9E0E6"/>
          </a:solidFill>
          <a:ln xmlns:a="http://schemas.openxmlformats.org/drawingml/2006/main" w="9525">
            <a:solidFill>
              <a:srgbClr val="D9E0E6"/>
            </a:solidFill>
            <a:prstDash val="solid"/>
          </a:ln>
        </p:spPr>
      </p:sp>
      <p:sp>
        <p:nvSpPr>
          <p:cNvPr id="71" name="">
            <a:extLst xmlns:a="http://schemas.openxmlformats.org/drawingml/2006/main">
              <a:ext uri="{FF2B5EF4-FFF2-40B4-BE49-F238E27FC236}">
                <a16:creationId xmlns:a16="http://schemas.microsoft.com/office/drawing/2014/main" id="{219AB5F4-F934-458D-BB10-2027E7569508}"/>
              </a:ext>
            </a:extLst>
          </p:cNvPr>
          <p:cNvSpPr>
            <a:spLocks xmlns:a="http://schemas.openxmlformats.org/drawingml/2006/main" noGrp="1"/>
          </p:cNvSpPr>
          <p:nvPr/>
        </p:nvSpPr>
        <p:spPr>
          <a:xfrm xmlns:a="http://schemas.openxmlformats.org/drawingml/2006/main">
            <a:off x="7556786" y="2489948"/>
            <a:ext cx="47625" cy="47625"/>
          </a:xfrm>
          <a:prstGeom xmlns:a="http://schemas.openxmlformats.org/drawingml/2006/main" prst="ellipse">
            <a:avLst/>
          </a:prstGeom>
          <a:solidFill xmlns:a="http://schemas.openxmlformats.org/drawingml/2006/main">
            <a:srgbClr val="D9E0E6"/>
          </a:solidFill>
          <a:ln xmlns:a="http://schemas.openxmlformats.org/drawingml/2006/main" w="9525">
            <a:solidFill>
              <a:srgbClr val="D9E0E6"/>
            </a:solidFill>
            <a:prstDash val="solid"/>
          </a:ln>
        </p:spPr>
      </p:sp>
      <p:sp>
        <p:nvSpPr>
          <p:cNvPr id="72" name="">
            <a:extLst xmlns:a="http://schemas.openxmlformats.org/drawingml/2006/main">
              <a:ext uri="{FF2B5EF4-FFF2-40B4-BE49-F238E27FC236}">
                <a16:creationId xmlns:a16="http://schemas.microsoft.com/office/drawing/2014/main" id="{21B9DF3A-D79E-45E8-9D64-EE7EDD2A787C}"/>
              </a:ext>
            </a:extLst>
          </p:cNvPr>
          <p:cNvSpPr>
            <a:spLocks xmlns:a="http://schemas.openxmlformats.org/drawingml/2006/main" noGrp="1"/>
          </p:cNvSpPr>
          <p:nvPr/>
        </p:nvSpPr>
        <p:spPr>
          <a:xfrm xmlns:a="http://schemas.openxmlformats.org/drawingml/2006/main">
            <a:off x="8206863" y="3418203"/>
            <a:ext cx="76200" cy="76200"/>
          </a:xfrm>
          <a:prstGeom xmlns:a="http://schemas.openxmlformats.org/drawingml/2006/main" prst="ellipse">
            <a:avLst/>
          </a:prstGeom>
          <a:solidFill xmlns:a="http://schemas.openxmlformats.org/drawingml/2006/main">
            <a:srgbClr val="009E73"/>
          </a:solidFill>
          <a:ln xmlns:a="http://schemas.openxmlformats.org/drawingml/2006/main" w="9525">
            <a:solidFill>
              <a:srgbClr val="009E73"/>
            </a:solidFill>
            <a:prstDash val="solid"/>
          </a:ln>
        </p:spPr>
      </p:sp>
      <p:sp>
        <p:nvSpPr>
          <p:cNvPr id="73" name="">
            <a:extLst xmlns:a="http://schemas.openxmlformats.org/drawingml/2006/main">
              <a:ext uri="{FF2B5EF4-FFF2-40B4-BE49-F238E27FC236}">
                <a16:creationId xmlns:a16="http://schemas.microsoft.com/office/drawing/2014/main" id="{EFFAEC98-2C1E-4930-8AC6-F71C057E8915}"/>
              </a:ext>
            </a:extLst>
          </p:cNvPr>
          <p:cNvSpPr>
            <a:spLocks xmlns:a="http://schemas.openxmlformats.org/drawingml/2006/main" noGrp="1"/>
          </p:cNvSpPr>
          <p:nvPr/>
        </p:nvSpPr>
        <p:spPr>
          <a:xfrm xmlns:a="http://schemas.openxmlformats.org/drawingml/2006/main">
            <a:off x="7385003" y="3598429"/>
            <a:ext cx="47625" cy="47625"/>
          </a:xfrm>
          <a:prstGeom xmlns:a="http://schemas.openxmlformats.org/drawingml/2006/main" prst="ellipse">
            <a:avLst/>
          </a:prstGeom>
          <a:solidFill xmlns:a="http://schemas.openxmlformats.org/drawingml/2006/main">
            <a:srgbClr val="D9E0E6"/>
          </a:solidFill>
          <a:ln xmlns:a="http://schemas.openxmlformats.org/drawingml/2006/main" w="9525">
            <a:solidFill>
              <a:srgbClr val="D9E0E6"/>
            </a:solidFill>
            <a:prstDash val="solid"/>
          </a:ln>
        </p:spPr>
      </p:sp>
      <p:sp>
        <p:nvSpPr>
          <p:cNvPr id="74" name="">
            <a:extLst xmlns:a="http://schemas.openxmlformats.org/drawingml/2006/main">
              <a:ext uri="{FF2B5EF4-FFF2-40B4-BE49-F238E27FC236}">
                <a16:creationId xmlns:a16="http://schemas.microsoft.com/office/drawing/2014/main" id="{53093384-98E3-46E0-972C-998CA45AE3A9}"/>
              </a:ext>
            </a:extLst>
          </p:cNvPr>
          <p:cNvSpPr>
            <a:spLocks xmlns:a="http://schemas.openxmlformats.org/drawingml/2006/main" noGrp="1"/>
          </p:cNvSpPr>
          <p:nvPr/>
        </p:nvSpPr>
        <p:spPr>
          <a:xfrm xmlns:a="http://schemas.openxmlformats.org/drawingml/2006/main">
            <a:off x="8471976" y="2333263"/>
            <a:ext cx="76200" cy="76200"/>
          </a:xfrm>
          <a:prstGeom xmlns:a="http://schemas.openxmlformats.org/drawingml/2006/main" prst="ellipse">
            <a:avLst/>
          </a:prstGeom>
          <a:solidFill xmlns:a="http://schemas.openxmlformats.org/drawingml/2006/main">
            <a:srgbClr val="009E73"/>
          </a:solidFill>
          <a:ln xmlns:a="http://schemas.openxmlformats.org/drawingml/2006/main" w="9525">
            <a:solidFill>
              <a:srgbClr val="009E73"/>
            </a:solidFill>
            <a:prstDash val="solid"/>
          </a:ln>
        </p:spPr>
      </p:sp>
      <p:sp>
        <p:nvSpPr>
          <p:cNvPr id="75" name="">
            <a:extLst xmlns:a="http://schemas.openxmlformats.org/drawingml/2006/main">
              <a:ext uri="{FF2B5EF4-FFF2-40B4-BE49-F238E27FC236}">
                <a16:creationId xmlns:a16="http://schemas.microsoft.com/office/drawing/2014/main" id="{B953DA3A-E470-417E-B808-B36D5D8002B4}"/>
              </a:ext>
            </a:extLst>
          </p:cNvPr>
          <p:cNvSpPr>
            <a:spLocks xmlns:a="http://schemas.openxmlformats.org/drawingml/2006/main" noGrp="1"/>
          </p:cNvSpPr>
          <p:nvPr/>
        </p:nvSpPr>
        <p:spPr>
          <a:xfrm xmlns:a="http://schemas.openxmlformats.org/drawingml/2006/main">
            <a:off x="8112705" y="3697557"/>
            <a:ext cx="76200" cy="76200"/>
          </a:xfrm>
          <a:prstGeom xmlns:a="http://schemas.openxmlformats.org/drawingml/2006/main" prst="ellipse">
            <a:avLst/>
          </a:prstGeom>
          <a:solidFill xmlns:a="http://schemas.openxmlformats.org/drawingml/2006/main">
            <a:srgbClr val="009E73"/>
          </a:solidFill>
          <a:ln xmlns:a="http://schemas.openxmlformats.org/drawingml/2006/main" w="9525">
            <a:solidFill>
              <a:srgbClr val="009E73"/>
            </a:solidFill>
            <a:prstDash val="solid"/>
          </a:ln>
        </p:spPr>
      </p:sp>
      <p:sp>
        <p:nvSpPr>
          <p:cNvPr id="76" name="">
            <a:extLst xmlns:a="http://schemas.openxmlformats.org/drawingml/2006/main">
              <a:ext uri="{FF2B5EF4-FFF2-40B4-BE49-F238E27FC236}">
                <a16:creationId xmlns:a16="http://schemas.microsoft.com/office/drawing/2014/main" id="{40FDC637-E73D-4957-B6BB-5E236EECA778}"/>
              </a:ext>
            </a:extLst>
          </p:cNvPr>
          <p:cNvSpPr>
            <a:spLocks xmlns:a="http://schemas.openxmlformats.org/drawingml/2006/main" noGrp="1"/>
          </p:cNvSpPr>
          <p:nvPr/>
        </p:nvSpPr>
        <p:spPr>
          <a:xfrm xmlns:a="http://schemas.openxmlformats.org/drawingml/2006/main">
            <a:off x="7291595" y="2933700"/>
            <a:ext cx="47625" cy="47625"/>
          </a:xfrm>
          <a:prstGeom xmlns:a="http://schemas.openxmlformats.org/drawingml/2006/main" prst="ellipse">
            <a:avLst/>
          </a:prstGeom>
          <a:solidFill xmlns:a="http://schemas.openxmlformats.org/drawingml/2006/main">
            <a:srgbClr val="D9E0E6"/>
          </a:solidFill>
          <a:ln xmlns:a="http://schemas.openxmlformats.org/drawingml/2006/main" w="9525">
            <a:solidFill>
              <a:srgbClr val="D9E0E6"/>
            </a:solidFill>
            <a:prstDash val="solid"/>
          </a:ln>
        </p:spPr>
      </p:sp>
      <p:sp>
        <p:nvSpPr>
          <p:cNvPr id="77" name="">
            <a:extLst xmlns:a="http://schemas.openxmlformats.org/drawingml/2006/main">
              <a:ext uri="{FF2B5EF4-FFF2-40B4-BE49-F238E27FC236}">
                <a16:creationId xmlns:a16="http://schemas.microsoft.com/office/drawing/2014/main" id="{3B74C90A-8B82-465B-A294-9DC505FC9C18}"/>
              </a:ext>
            </a:extLst>
          </p:cNvPr>
          <p:cNvSpPr>
            <a:spLocks xmlns:a="http://schemas.openxmlformats.org/drawingml/2006/main" noGrp="1"/>
          </p:cNvSpPr>
          <p:nvPr/>
        </p:nvSpPr>
        <p:spPr>
          <a:xfrm xmlns:a="http://schemas.openxmlformats.org/drawingml/2006/main">
            <a:off x="9237796" y="3069084"/>
            <a:ext cx="76200" cy="76200"/>
          </a:xfrm>
          <a:prstGeom xmlns:a="http://schemas.openxmlformats.org/drawingml/2006/main" prst="ellipse">
            <a:avLst/>
          </a:prstGeom>
          <a:solidFill xmlns:a="http://schemas.openxmlformats.org/drawingml/2006/main">
            <a:srgbClr val="009E73"/>
          </a:solidFill>
          <a:ln xmlns:a="http://schemas.openxmlformats.org/drawingml/2006/main" w="9525">
            <a:solidFill>
              <a:srgbClr val="009E73"/>
            </a:solidFill>
            <a:prstDash val="solid"/>
          </a:ln>
        </p:spPr>
      </p:sp>
      <p:sp>
        <p:nvSpPr>
          <p:cNvPr id="78" name="">
            <a:extLst xmlns:a="http://schemas.openxmlformats.org/drawingml/2006/main">
              <a:ext uri="{FF2B5EF4-FFF2-40B4-BE49-F238E27FC236}">
                <a16:creationId xmlns:a16="http://schemas.microsoft.com/office/drawing/2014/main" id="{94708A2A-B231-46B2-AF33-C41A794B67D3}"/>
              </a:ext>
            </a:extLst>
          </p:cNvPr>
          <p:cNvSpPr>
            <a:spLocks xmlns:a="http://schemas.openxmlformats.org/drawingml/2006/main" noGrp="1"/>
          </p:cNvSpPr>
          <p:nvPr/>
        </p:nvSpPr>
        <p:spPr>
          <a:xfrm xmlns:a="http://schemas.openxmlformats.org/drawingml/2006/main">
            <a:off x="7700518" y="3772408"/>
            <a:ext cx="47625" cy="47625"/>
          </a:xfrm>
          <a:prstGeom xmlns:a="http://schemas.openxmlformats.org/drawingml/2006/main" prst="ellipse">
            <a:avLst/>
          </a:prstGeom>
          <a:solidFill xmlns:a="http://schemas.openxmlformats.org/drawingml/2006/main">
            <a:srgbClr val="D9E0E6"/>
          </a:solidFill>
          <a:ln xmlns:a="http://schemas.openxmlformats.org/drawingml/2006/main" w="9525">
            <a:solidFill>
              <a:srgbClr val="D9E0E6"/>
            </a:solidFill>
            <a:prstDash val="solid"/>
          </a:ln>
        </p:spPr>
      </p:sp>
      <p:sp>
        <p:nvSpPr>
          <p:cNvPr id="79" name="">
            <a:extLst xmlns:a="http://schemas.openxmlformats.org/drawingml/2006/main">
              <a:ext uri="{FF2B5EF4-FFF2-40B4-BE49-F238E27FC236}">
                <a16:creationId xmlns:a16="http://schemas.microsoft.com/office/drawing/2014/main" id="{4167CE14-7D52-4C38-A152-82ABC1908EE0}"/>
              </a:ext>
            </a:extLst>
          </p:cNvPr>
          <p:cNvSpPr>
            <a:spLocks xmlns:a="http://schemas.openxmlformats.org/drawingml/2006/main" noGrp="1"/>
          </p:cNvSpPr>
          <p:nvPr/>
        </p:nvSpPr>
        <p:spPr>
          <a:xfrm xmlns:a="http://schemas.openxmlformats.org/drawingml/2006/main">
            <a:off x="7874187" y="2380037"/>
            <a:ext cx="76200" cy="76200"/>
          </a:xfrm>
          <a:prstGeom xmlns:a="http://schemas.openxmlformats.org/drawingml/2006/main" prst="ellipse">
            <a:avLst/>
          </a:prstGeom>
          <a:solidFill xmlns:a="http://schemas.openxmlformats.org/drawingml/2006/main">
            <a:srgbClr val="009E73"/>
          </a:solidFill>
          <a:ln xmlns:a="http://schemas.openxmlformats.org/drawingml/2006/main" w="9525">
            <a:solidFill>
              <a:srgbClr val="009E73"/>
            </a:solidFill>
            <a:prstDash val="solid"/>
          </a:ln>
        </p:spPr>
      </p:sp>
      <p:sp>
        <p:nvSpPr>
          <p:cNvPr id="80" name="">
            <a:extLst xmlns:a="http://schemas.openxmlformats.org/drawingml/2006/main">
              <a:ext uri="{FF2B5EF4-FFF2-40B4-BE49-F238E27FC236}">
                <a16:creationId xmlns:a16="http://schemas.microsoft.com/office/drawing/2014/main" id="{A3FCF6A0-1426-4CC5-B59C-3F9DDA2B187F}"/>
              </a:ext>
            </a:extLst>
          </p:cNvPr>
          <p:cNvSpPr>
            <a:spLocks xmlns:a="http://schemas.openxmlformats.org/drawingml/2006/main" noGrp="1"/>
          </p:cNvSpPr>
          <p:nvPr/>
        </p:nvSpPr>
        <p:spPr>
          <a:xfrm xmlns:a="http://schemas.openxmlformats.org/drawingml/2006/main">
            <a:off x="8176118" y="3490216"/>
            <a:ext cx="76200" cy="76200"/>
          </a:xfrm>
          <a:prstGeom xmlns:a="http://schemas.openxmlformats.org/drawingml/2006/main" prst="ellipse">
            <a:avLst/>
          </a:prstGeom>
          <a:solidFill xmlns:a="http://schemas.openxmlformats.org/drawingml/2006/main">
            <a:srgbClr val="009E73"/>
          </a:solidFill>
          <a:ln xmlns:a="http://schemas.openxmlformats.org/drawingml/2006/main" w="9525">
            <a:solidFill>
              <a:srgbClr val="009E73"/>
            </a:solidFill>
            <a:prstDash val="solid"/>
          </a:ln>
        </p:spPr>
      </p:sp>
      <p:sp>
        <p:nvSpPr>
          <p:cNvPr id="81" name="">
            <a:extLst xmlns:a="http://schemas.openxmlformats.org/drawingml/2006/main">
              <a:ext uri="{FF2B5EF4-FFF2-40B4-BE49-F238E27FC236}">
                <a16:creationId xmlns:a16="http://schemas.microsoft.com/office/drawing/2014/main" id="{6B0C5579-AB83-4C5F-B2DA-4C179E1C5A63}"/>
              </a:ext>
            </a:extLst>
          </p:cNvPr>
          <p:cNvSpPr>
            <a:spLocks xmlns:a="http://schemas.openxmlformats.org/drawingml/2006/main" noGrp="1"/>
          </p:cNvSpPr>
          <p:nvPr/>
        </p:nvSpPr>
        <p:spPr>
          <a:xfrm xmlns:a="http://schemas.openxmlformats.org/drawingml/2006/main">
            <a:off x="7325369" y="3372774"/>
            <a:ext cx="47625" cy="47625"/>
          </a:xfrm>
          <a:prstGeom xmlns:a="http://schemas.openxmlformats.org/drawingml/2006/main" prst="ellipse">
            <a:avLst/>
          </a:prstGeom>
          <a:solidFill xmlns:a="http://schemas.openxmlformats.org/drawingml/2006/main">
            <a:srgbClr val="D9E0E6"/>
          </a:solidFill>
          <a:ln xmlns:a="http://schemas.openxmlformats.org/drawingml/2006/main" w="9525">
            <a:solidFill>
              <a:srgbClr val="D9E0E6"/>
            </a:solidFill>
            <a:prstDash val="solid"/>
          </a:ln>
        </p:spPr>
      </p:sp>
      <p:sp>
        <p:nvSpPr>
          <p:cNvPr id="82" name="">
            <a:extLst xmlns:a="http://schemas.openxmlformats.org/drawingml/2006/main">
              <a:ext uri="{FF2B5EF4-FFF2-40B4-BE49-F238E27FC236}">
                <a16:creationId xmlns:a16="http://schemas.microsoft.com/office/drawing/2014/main" id="{7454C180-92D1-46CC-B404-7D35C2797801}"/>
              </a:ext>
            </a:extLst>
          </p:cNvPr>
          <p:cNvSpPr>
            <a:spLocks xmlns:a="http://schemas.openxmlformats.org/drawingml/2006/main" noGrp="1"/>
          </p:cNvSpPr>
          <p:nvPr/>
        </p:nvSpPr>
        <p:spPr>
          <a:xfrm xmlns:a="http://schemas.openxmlformats.org/drawingml/2006/main">
            <a:off x="8795753" y="2548522"/>
            <a:ext cx="76200" cy="76200"/>
          </a:xfrm>
          <a:prstGeom xmlns:a="http://schemas.openxmlformats.org/drawingml/2006/main" prst="ellipse">
            <a:avLst/>
          </a:prstGeom>
          <a:solidFill xmlns:a="http://schemas.openxmlformats.org/drawingml/2006/main">
            <a:srgbClr val="009E73"/>
          </a:solidFill>
          <a:ln xmlns:a="http://schemas.openxmlformats.org/drawingml/2006/main" w="9525">
            <a:solidFill>
              <a:srgbClr val="009E73"/>
            </a:solidFill>
            <a:prstDash val="solid"/>
          </a:ln>
        </p:spPr>
      </p:sp>
      <p:sp>
        <p:nvSpPr>
          <p:cNvPr id="83" name="">
            <a:extLst xmlns:a="http://schemas.openxmlformats.org/drawingml/2006/main">
              <a:ext uri="{FF2B5EF4-FFF2-40B4-BE49-F238E27FC236}">
                <a16:creationId xmlns:a16="http://schemas.microsoft.com/office/drawing/2014/main" id="{1BD71412-E9C2-450E-B0E6-7E87621150D7}"/>
              </a:ext>
            </a:extLst>
          </p:cNvPr>
          <p:cNvSpPr>
            <a:spLocks xmlns:a="http://schemas.openxmlformats.org/drawingml/2006/main" noGrp="1"/>
          </p:cNvSpPr>
          <p:nvPr/>
        </p:nvSpPr>
        <p:spPr>
          <a:xfrm xmlns:a="http://schemas.openxmlformats.org/drawingml/2006/main">
            <a:off x="7984381" y="3723912"/>
            <a:ext cx="76200" cy="76200"/>
          </a:xfrm>
          <a:prstGeom xmlns:a="http://schemas.openxmlformats.org/drawingml/2006/main" prst="ellipse">
            <a:avLst/>
          </a:prstGeom>
          <a:solidFill xmlns:a="http://schemas.openxmlformats.org/drawingml/2006/main">
            <a:srgbClr val="009E73"/>
          </a:solidFill>
          <a:ln xmlns:a="http://schemas.openxmlformats.org/drawingml/2006/main" w="9525">
            <a:solidFill>
              <a:srgbClr val="009E73"/>
            </a:solidFill>
            <a:prstDash val="solid"/>
          </a:ln>
        </p:spPr>
      </p:sp>
      <p:sp>
        <p:nvSpPr>
          <p:cNvPr id="84" name="">
            <a:extLst xmlns:a="http://schemas.openxmlformats.org/drawingml/2006/main">
              <a:ext uri="{FF2B5EF4-FFF2-40B4-BE49-F238E27FC236}">
                <a16:creationId xmlns:a16="http://schemas.microsoft.com/office/drawing/2014/main" id="{5A272982-699E-45A5-A4E4-EB3949283886}"/>
              </a:ext>
            </a:extLst>
          </p:cNvPr>
          <p:cNvSpPr>
            <a:spLocks xmlns:a="http://schemas.openxmlformats.org/drawingml/2006/main" noGrp="1"/>
          </p:cNvSpPr>
          <p:nvPr/>
        </p:nvSpPr>
        <p:spPr>
          <a:xfrm xmlns:a="http://schemas.openxmlformats.org/drawingml/2006/main">
            <a:off x="7468338" y="2708473"/>
            <a:ext cx="47625" cy="47625"/>
          </a:xfrm>
          <a:prstGeom xmlns:a="http://schemas.openxmlformats.org/drawingml/2006/main" prst="ellipse">
            <a:avLst/>
          </a:prstGeom>
          <a:solidFill xmlns:a="http://schemas.openxmlformats.org/drawingml/2006/main">
            <a:srgbClr val="D9E0E6"/>
          </a:solidFill>
          <a:ln xmlns:a="http://schemas.openxmlformats.org/drawingml/2006/main" w="9525">
            <a:solidFill>
              <a:srgbClr val="D9E0E6"/>
            </a:solidFill>
            <a:prstDash val="solid"/>
          </a:ln>
        </p:spPr>
      </p:sp>
      <p:sp>
        <p:nvSpPr>
          <p:cNvPr id="85" name="">
            <a:extLst xmlns:a="http://schemas.openxmlformats.org/drawingml/2006/main">
              <a:ext uri="{FF2B5EF4-FFF2-40B4-BE49-F238E27FC236}">
                <a16:creationId xmlns:a16="http://schemas.microsoft.com/office/drawing/2014/main" id="{5F6C166C-65ED-4ECA-8530-232965B2B589}"/>
              </a:ext>
            </a:extLst>
          </p:cNvPr>
          <p:cNvSpPr>
            <a:spLocks xmlns:a="http://schemas.openxmlformats.org/drawingml/2006/main" noGrp="1"/>
          </p:cNvSpPr>
          <p:nvPr/>
        </p:nvSpPr>
        <p:spPr>
          <a:xfrm xmlns:a="http://schemas.openxmlformats.org/drawingml/2006/main">
            <a:off x="9266431" y="3509872"/>
            <a:ext cx="76200" cy="76200"/>
          </a:xfrm>
          <a:prstGeom xmlns:a="http://schemas.openxmlformats.org/drawingml/2006/main" prst="ellipse">
            <a:avLst/>
          </a:prstGeom>
          <a:solidFill xmlns:a="http://schemas.openxmlformats.org/drawingml/2006/main">
            <a:srgbClr val="009E73"/>
          </a:solidFill>
          <a:ln xmlns:a="http://schemas.openxmlformats.org/drawingml/2006/main" w="9525">
            <a:solidFill>
              <a:srgbClr val="009E73"/>
            </a:solidFill>
            <a:prstDash val="solid"/>
          </a:ln>
        </p:spPr>
      </p:sp>
      <p:sp>
        <p:nvSpPr>
          <p:cNvPr id="86" name="">
            <a:extLst xmlns:a="http://schemas.openxmlformats.org/drawingml/2006/main">
              <a:ext uri="{FF2B5EF4-FFF2-40B4-BE49-F238E27FC236}">
                <a16:creationId xmlns:a16="http://schemas.microsoft.com/office/drawing/2014/main" id="{FB158CB9-2FB6-4F29-9EE7-373018932727}"/>
              </a:ext>
            </a:extLst>
          </p:cNvPr>
          <p:cNvSpPr>
            <a:spLocks xmlns:a="http://schemas.openxmlformats.org/drawingml/2006/main" noGrp="1"/>
          </p:cNvSpPr>
          <p:nvPr/>
        </p:nvSpPr>
        <p:spPr>
          <a:xfrm xmlns:a="http://schemas.openxmlformats.org/drawingml/2006/main">
            <a:off x="7564064" y="3649221"/>
            <a:ext cx="47625" cy="47625"/>
          </a:xfrm>
          <a:prstGeom xmlns:a="http://schemas.openxmlformats.org/drawingml/2006/main" prst="ellipse">
            <a:avLst/>
          </a:prstGeom>
          <a:solidFill xmlns:a="http://schemas.openxmlformats.org/drawingml/2006/main">
            <a:srgbClr val="D9E0E6"/>
          </a:solidFill>
          <a:ln xmlns:a="http://schemas.openxmlformats.org/drawingml/2006/main" w="9525">
            <a:solidFill>
              <a:srgbClr val="D9E0E6"/>
            </a:solidFill>
            <a:prstDash val="solid"/>
          </a:ln>
        </p:spPr>
      </p:sp>
      <p:sp>
        <p:nvSpPr>
          <p:cNvPr id="87" name="">
            <a:extLst xmlns:a="http://schemas.openxmlformats.org/drawingml/2006/main">
              <a:ext uri="{FF2B5EF4-FFF2-40B4-BE49-F238E27FC236}">
                <a16:creationId xmlns:a16="http://schemas.microsoft.com/office/drawing/2014/main" id="{3AEEA36E-1852-4770-B416-FEBED8354EAD}"/>
              </a:ext>
            </a:extLst>
          </p:cNvPr>
          <p:cNvSpPr>
            <a:spLocks xmlns:a="http://schemas.openxmlformats.org/drawingml/2006/main" noGrp="1"/>
          </p:cNvSpPr>
          <p:nvPr/>
        </p:nvSpPr>
        <p:spPr>
          <a:xfrm xmlns:a="http://schemas.openxmlformats.org/drawingml/2006/main">
            <a:off x="8213343" y="2385455"/>
            <a:ext cx="76200" cy="76200"/>
          </a:xfrm>
          <a:prstGeom xmlns:a="http://schemas.openxmlformats.org/drawingml/2006/main" prst="ellipse">
            <a:avLst/>
          </a:prstGeom>
          <a:solidFill xmlns:a="http://schemas.openxmlformats.org/drawingml/2006/main">
            <a:srgbClr val="009E73"/>
          </a:solidFill>
          <a:ln xmlns:a="http://schemas.openxmlformats.org/drawingml/2006/main" w="9525">
            <a:solidFill>
              <a:srgbClr val="009E73"/>
            </a:solidFill>
            <a:prstDash val="solid"/>
          </a:ln>
        </p:spPr>
      </p:sp>
      <p:sp>
        <p:nvSpPr>
          <p:cNvPr id="88" name="">
            <a:extLst xmlns:a="http://schemas.openxmlformats.org/drawingml/2006/main">
              <a:ext uri="{FF2B5EF4-FFF2-40B4-BE49-F238E27FC236}">
                <a16:creationId xmlns:a16="http://schemas.microsoft.com/office/drawing/2014/main" id="{6A841FC3-EEF9-4B0F-B2E6-EC0F95BDC253}"/>
              </a:ext>
            </a:extLst>
          </p:cNvPr>
          <p:cNvSpPr>
            <a:spLocks xmlns:a="http://schemas.openxmlformats.org/drawingml/2006/main" noGrp="1"/>
          </p:cNvSpPr>
          <p:nvPr/>
        </p:nvSpPr>
        <p:spPr>
          <a:xfrm xmlns:a="http://schemas.openxmlformats.org/drawingml/2006/main">
            <a:off x="8120062" y="3549497"/>
            <a:ext cx="76200" cy="76200"/>
          </a:xfrm>
          <a:prstGeom xmlns:a="http://schemas.openxmlformats.org/drawingml/2006/main" prst="ellipse">
            <a:avLst/>
          </a:prstGeom>
          <a:solidFill xmlns:a="http://schemas.openxmlformats.org/drawingml/2006/main">
            <a:srgbClr val="009E73"/>
          </a:solidFill>
          <a:ln xmlns:a="http://schemas.openxmlformats.org/drawingml/2006/main" w="9525">
            <a:solidFill>
              <a:srgbClr val="009E73"/>
            </a:solidFill>
            <a:prstDash val="solid"/>
          </a:ln>
        </p:spPr>
      </p:sp>
      <p:sp>
        <p:nvSpPr>
          <p:cNvPr id="89" name="">
            <a:extLst xmlns:a="http://schemas.openxmlformats.org/drawingml/2006/main">
              <a:ext uri="{FF2B5EF4-FFF2-40B4-BE49-F238E27FC236}">
                <a16:creationId xmlns:a16="http://schemas.microsoft.com/office/drawing/2014/main" id="{247F6017-E4A0-4AEB-B24D-DDB3BF17DB88}"/>
              </a:ext>
            </a:extLst>
          </p:cNvPr>
          <p:cNvSpPr>
            <a:spLocks xmlns:a="http://schemas.openxmlformats.org/drawingml/2006/main" noGrp="1"/>
          </p:cNvSpPr>
          <p:nvPr/>
        </p:nvSpPr>
        <p:spPr>
          <a:xfrm xmlns:a="http://schemas.openxmlformats.org/drawingml/2006/main">
            <a:off x="7346941" y="3137051"/>
            <a:ext cx="47625" cy="47625"/>
          </a:xfrm>
          <a:prstGeom xmlns:a="http://schemas.openxmlformats.org/drawingml/2006/main" prst="ellipse">
            <a:avLst/>
          </a:prstGeom>
          <a:solidFill xmlns:a="http://schemas.openxmlformats.org/drawingml/2006/main">
            <a:srgbClr val="D9E0E6"/>
          </a:solidFill>
          <a:ln xmlns:a="http://schemas.openxmlformats.org/drawingml/2006/main" w="9525">
            <a:solidFill>
              <a:srgbClr val="D9E0E6"/>
            </a:solidFill>
            <a:prstDash val="solid"/>
          </a:ln>
        </p:spPr>
      </p:sp>
      <p:sp>
        <p:nvSpPr>
          <p:cNvPr id="90" name="">
            <a:extLst xmlns:a="http://schemas.openxmlformats.org/drawingml/2006/main">
              <a:ext uri="{FF2B5EF4-FFF2-40B4-BE49-F238E27FC236}">
                <a16:creationId xmlns:a16="http://schemas.microsoft.com/office/drawing/2014/main" id="{B7B8FF9C-974F-49E5-975A-4C7C4895FEF5}"/>
              </a:ext>
            </a:extLst>
          </p:cNvPr>
          <p:cNvSpPr>
            <a:spLocks xmlns:a="http://schemas.openxmlformats.org/drawingml/2006/main" noGrp="1"/>
          </p:cNvSpPr>
          <p:nvPr/>
        </p:nvSpPr>
        <p:spPr>
          <a:xfrm xmlns:a="http://schemas.openxmlformats.org/drawingml/2006/main">
            <a:off x="9028277" y="2864248"/>
            <a:ext cx="76200" cy="76200"/>
          </a:xfrm>
          <a:prstGeom xmlns:a="http://schemas.openxmlformats.org/drawingml/2006/main" prst="ellipse">
            <a:avLst/>
          </a:prstGeom>
          <a:solidFill xmlns:a="http://schemas.openxmlformats.org/drawingml/2006/main">
            <a:srgbClr val="009E73"/>
          </a:solidFill>
          <a:ln xmlns:a="http://schemas.openxmlformats.org/drawingml/2006/main" w="9525">
            <a:solidFill>
              <a:srgbClr val="009E73"/>
            </a:solidFill>
            <a:prstDash val="solid"/>
          </a:ln>
        </p:spPr>
      </p:sp>
      <p:sp>
        <p:nvSpPr>
          <p:cNvPr id="91" name="">
            <a:extLst xmlns:a="http://schemas.openxmlformats.org/drawingml/2006/main">
              <a:ext uri="{FF2B5EF4-FFF2-40B4-BE49-F238E27FC236}">
                <a16:creationId xmlns:a16="http://schemas.microsoft.com/office/drawing/2014/main" id="{40FEBDE8-A4DD-4B62-89D9-668633CBA9E5}"/>
              </a:ext>
            </a:extLst>
          </p:cNvPr>
          <p:cNvSpPr>
            <a:spLocks xmlns:a="http://schemas.openxmlformats.org/drawingml/2006/main" noGrp="1"/>
          </p:cNvSpPr>
          <p:nvPr/>
        </p:nvSpPr>
        <p:spPr>
          <a:xfrm xmlns:a="http://schemas.openxmlformats.org/drawingml/2006/main">
            <a:off x="7851553" y="3704073"/>
            <a:ext cx="47625" cy="47625"/>
          </a:xfrm>
          <a:prstGeom xmlns:a="http://schemas.openxmlformats.org/drawingml/2006/main" prst="ellipse">
            <a:avLst/>
          </a:prstGeom>
          <a:solidFill xmlns:a="http://schemas.openxmlformats.org/drawingml/2006/main">
            <a:srgbClr val="D9E0E6"/>
          </a:solidFill>
          <a:ln xmlns:a="http://schemas.openxmlformats.org/drawingml/2006/main" w="9525">
            <a:solidFill>
              <a:srgbClr val="D9E0E6"/>
            </a:solidFill>
            <a:prstDash val="solid"/>
          </a:ln>
        </p:spPr>
      </p:sp>
      <p:sp>
        <p:nvSpPr>
          <p:cNvPr id="92" name="">
            <a:extLst xmlns:a="http://schemas.openxmlformats.org/drawingml/2006/main">
              <a:ext uri="{FF2B5EF4-FFF2-40B4-BE49-F238E27FC236}">
                <a16:creationId xmlns:a16="http://schemas.microsoft.com/office/drawing/2014/main" id="{D3339428-2735-4904-8D6A-9B39663538C8}"/>
              </a:ext>
            </a:extLst>
          </p:cNvPr>
          <p:cNvSpPr>
            <a:spLocks xmlns:a="http://schemas.openxmlformats.org/drawingml/2006/main" noGrp="1"/>
          </p:cNvSpPr>
          <p:nvPr/>
        </p:nvSpPr>
        <p:spPr>
          <a:xfrm xmlns:a="http://schemas.openxmlformats.org/drawingml/2006/main">
            <a:off x="7714319" y="2555625"/>
            <a:ext cx="47625" cy="47625"/>
          </a:xfrm>
          <a:prstGeom xmlns:a="http://schemas.openxmlformats.org/drawingml/2006/main" prst="ellipse">
            <a:avLst/>
          </a:prstGeom>
          <a:solidFill xmlns:a="http://schemas.openxmlformats.org/drawingml/2006/main">
            <a:srgbClr val="D9E0E6"/>
          </a:solidFill>
          <a:ln xmlns:a="http://schemas.openxmlformats.org/drawingml/2006/main" w="9525">
            <a:solidFill>
              <a:srgbClr val="D9E0E6"/>
            </a:solidFill>
            <a:prstDash val="solid"/>
          </a:ln>
        </p:spPr>
      </p:sp>
      <p:sp>
        <p:nvSpPr>
          <p:cNvPr id="93" name="">
            <a:extLst xmlns:a="http://schemas.openxmlformats.org/drawingml/2006/main">
              <a:ext uri="{FF2B5EF4-FFF2-40B4-BE49-F238E27FC236}">
                <a16:creationId xmlns:a16="http://schemas.microsoft.com/office/drawing/2014/main" id="{9C322F58-7C95-40A9-876E-257AEE5DF9C9}"/>
              </a:ext>
            </a:extLst>
          </p:cNvPr>
          <p:cNvSpPr>
            <a:spLocks xmlns:a="http://schemas.openxmlformats.org/drawingml/2006/main" noGrp="1"/>
          </p:cNvSpPr>
          <p:nvPr/>
        </p:nvSpPr>
        <p:spPr>
          <a:xfrm xmlns:a="http://schemas.openxmlformats.org/drawingml/2006/main">
            <a:off x="9141585" y="3937026"/>
            <a:ext cx="76200" cy="76200"/>
          </a:xfrm>
          <a:prstGeom xmlns:a="http://schemas.openxmlformats.org/drawingml/2006/main" prst="ellipse">
            <a:avLst/>
          </a:prstGeom>
          <a:solidFill xmlns:a="http://schemas.openxmlformats.org/drawingml/2006/main">
            <a:srgbClr val="009E73"/>
          </a:solidFill>
          <a:ln xmlns:a="http://schemas.openxmlformats.org/drawingml/2006/main" w="9525">
            <a:solidFill>
              <a:srgbClr val="009E73"/>
            </a:solidFill>
            <a:prstDash val="solid"/>
          </a:ln>
        </p:spPr>
      </p:sp>
      <p:sp>
        <p:nvSpPr>
          <p:cNvPr id="94" name="">
            <a:extLst xmlns:a="http://schemas.openxmlformats.org/drawingml/2006/main">
              <a:ext uri="{FF2B5EF4-FFF2-40B4-BE49-F238E27FC236}">
                <a16:creationId xmlns:a16="http://schemas.microsoft.com/office/drawing/2014/main" id="{20761722-B22E-4F26-A6FA-F6B5BA26BC71}"/>
              </a:ext>
            </a:extLst>
          </p:cNvPr>
          <p:cNvSpPr>
            <a:spLocks xmlns:a="http://schemas.openxmlformats.org/drawingml/2006/main" noGrp="1"/>
          </p:cNvSpPr>
          <p:nvPr/>
        </p:nvSpPr>
        <p:spPr>
          <a:xfrm xmlns:a="http://schemas.openxmlformats.org/drawingml/2006/main">
            <a:off x="7476575" y="3483794"/>
            <a:ext cx="47625" cy="47625"/>
          </a:xfrm>
          <a:prstGeom xmlns:a="http://schemas.openxmlformats.org/drawingml/2006/main" prst="ellipse">
            <a:avLst/>
          </a:prstGeom>
          <a:solidFill xmlns:a="http://schemas.openxmlformats.org/drawingml/2006/main">
            <a:srgbClr val="D9E0E6"/>
          </a:solidFill>
          <a:ln xmlns:a="http://schemas.openxmlformats.org/drawingml/2006/main" w="9525">
            <a:solidFill>
              <a:srgbClr val="D9E0E6"/>
            </a:solidFill>
            <a:prstDash val="solid"/>
          </a:ln>
        </p:spPr>
      </p:sp>
      <p:sp>
        <p:nvSpPr>
          <p:cNvPr id="95" name="">
            <a:extLst xmlns:a="http://schemas.openxmlformats.org/drawingml/2006/main">
              <a:ext uri="{FF2B5EF4-FFF2-40B4-BE49-F238E27FC236}">
                <a16:creationId xmlns:a16="http://schemas.microsoft.com/office/drawing/2014/main" id="{7882594E-15CF-4581-9E58-658650FB1C28}"/>
              </a:ext>
            </a:extLst>
          </p:cNvPr>
          <p:cNvSpPr>
            <a:spLocks xmlns:a="http://schemas.openxmlformats.org/drawingml/2006/main" noGrp="1"/>
          </p:cNvSpPr>
          <p:nvPr/>
        </p:nvSpPr>
        <p:spPr>
          <a:xfrm xmlns:a="http://schemas.openxmlformats.org/drawingml/2006/main">
            <a:off x="8533249" y="2507811"/>
            <a:ext cx="76200" cy="76200"/>
          </a:xfrm>
          <a:prstGeom xmlns:a="http://schemas.openxmlformats.org/drawingml/2006/main" prst="ellipse">
            <a:avLst/>
          </a:prstGeom>
          <a:solidFill xmlns:a="http://schemas.openxmlformats.org/drawingml/2006/main">
            <a:srgbClr val="009E73"/>
          </a:solidFill>
          <a:ln xmlns:a="http://schemas.openxmlformats.org/drawingml/2006/main" w="9525">
            <a:solidFill>
              <a:srgbClr val="009E73"/>
            </a:solidFill>
            <a:prstDash val="solid"/>
          </a:ln>
        </p:spPr>
      </p:sp>
      <p:sp>
        <p:nvSpPr>
          <p:cNvPr id="96" name="">
            <a:extLst xmlns:a="http://schemas.openxmlformats.org/drawingml/2006/main">
              <a:ext uri="{FF2B5EF4-FFF2-40B4-BE49-F238E27FC236}">
                <a16:creationId xmlns:a16="http://schemas.microsoft.com/office/drawing/2014/main" id="{53D4B98B-4B36-4E90-8B08-150CC476DA4B}"/>
              </a:ext>
            </a:extLst>
          </p:cNvPr>
          <p:cNvSpPr>
            <a:spLocks xmlns:a="http://schemas.openxmlformats.org/drawingml/2006/main" noGrp="1"/>
          </p:cNvSpPr>
          <p:nvPr/>
        </p:nvSpPr>
        <p:spPr>
          <a:xfrm xmlns:a="http://schemas.openxmlformats.org/drawingml/2006/main">
            <a:off x="8044004" y="3587163"/>
            <a:ext cx="76200" cy="76200"/>
          </a:xfrm>
          <a:prstGeom xmlns:a="http://schemas.openxmlformats.org/drawingml/2006/main" prst="ellipse">
            <a:avLst/>
          </a:prstGeom>
          <a:solidFill xmlns:a="http://schemas.openxmlformats.org/drawingml/2006/main">
            <a:srgbClr val="009E73"/>
          </a:solidFill>
          <a:ln xmlns:a="http://schemas.openxmlformats.org/drawingml/2006/main" w="9525">
            <a:solidFill>
              <a:srgbClr val="009E73"/>
            </a:solidFill>
            <a:prstDash val="solid"/>
          </a:ln>
        </p:spPr>
      </p:sp>
      <p:sp>
        <p:nvSpPr>
          <p:cNvPr id="97" name="">
            <a:extLst xmlns:a="http://schemas.openxmlformats.org/drawingml/2006/main">
              <a:ext uri="{FF2B5EF4-FFF2-40B4-BE49-F238E27FC236}">
                <a16:creationId xmlns:a16="http://schemas.microsoft.com/office/drawing/2014/main" id="{72A8AD69-6E45-4CE7-81F2-6FCC380B039E}"/>
              </a:ext>
            </a:extLst>
          </p:cNvPr>
          <p:cNvSpPr>
            <a:spLocks xmlns:a="http://schemas.openxmlformats.org/drawingml/2006/main" noGrp="1"/>
          </p:cNvSpPr>
          <p:nvPr/>
        </p:nvSpPr>
        <p:spPr>
          <a:xfrm xmlns:a="http://schemas.openxmlformats.org/drawingml/2006/main">
            <a:off x="7449362" y="2919988"/>
            <a:ext cx="47625" cy="47625"/>
          </a:xfrm>
          <a:prstGeom xmlns:a="http://schemas.openxmlformats.org/drawingml/2006/main" prst="ellipse">
            <a:avLst/>
          </a:prstGeom>
          <a:solidFill xmlns:a="http://schemas.openxmlformats.org/drawingml/2006/main">
            <a:srgbClr val="D9E0E6"/>
          </a:solidFill>
          <a:ln xmlns:a="http://schemas.openxmlformats.org/drawingml/2006/main" w="9525">
            <a:solidFill>
              <a:srgbClr val="D9E0E6"/>
            </a:solidFill>
            <a:prstDash val="solid"/>
          </a:ln>
        </p:spPr>
      </p:sp>
      <p:sp>
        <p:nvSpPr>
          <p:cNvPr id="98" name="">
            <a:extLst xmlns:a="http://schemas.openxmlformats.org/drawingml/2006/main">
              <a:ext uri="{FF2B5EF4-FFF2-40B4-BE49-F238E27FC236}">
                <a16:creationId xmlns:a16="http://schemas.microsoft.com/office/drawing/2014/main" id="{A16CA76A-0BB3-48FD-96F7-EB41544F6A37}"/>
              </a:ext>
            </a:extLst>
          </p:cNvPr>
          <p:cNvSpPr>
            <a:spLocks xmlns:a="http://schemas.openxmlformats.org/drawingml/2006/main" noGrp="1"/>
          </p:cNvSpPr>
          <p:nvPr/>
        </p:nvSpPr>
        <p:spPr>
          <a:xfrm xmlns:a="http://schemas.openxmlformats.org/drawingml/2006/main">
            <a:off x="9139651" y="3243656"/>
            <a:ext cx="76200" cy="76200"/>
          </a:xfrm>
          <a:prstGeom xmlns:a="http://schemas.openxmlformats.org/drawingml/2006/main" prst="ellipse">
            <a:avLst/>
          </a:prstGeom>
          <a:solidFill xmlns:a="http://schemas.openxmlformats.org/drawingml/2006/main">
            <a:srgbClr val="009E73"/>
          </a:solidFill>
          <a:ln xmlns:a="http://schemas.openxmlformats.org/drawingml/2006/main" w="9525">
            <a:solidFill>
              <a:srgbClr val="009E73"/>
            </a:solidFill>
            <a:prstDash val="solid"/>
          </a:ln>
        </p:spPr>
      </p:sp>
      <p:sp>
        <p:nvSpPr>
          <p:cNvPr id="99" name="">
            <a:extLst xmlns:a="http://schemas.openxmlformats.org/drawingml/2006/main">
              <a:ext uri="{FF2B5EF4-FFF2-40B4-BE49-F238E27FC236}">
                <a16:creationId xmlns:a16="http://schemas.microsoft.com/office/drawing/2014/main" id="{711B8BED-C8CB-4D9D-A25C-23CA62977DAE}"/>
              </a:ext>
            </a:extLst>
          </p:cNvPr>
          <p:cNvSpPr>
            <a:spLocks xmlns:a="http://schemas.openxmlformats.org/drawingml/2006/main" noGrp="1"/>
          </p:cNvSpPr>
          <p:nvPr/>
        </p:nvSpPr>
        <p:spPr>
          <a:xfrm xmlns:a="http://schemas.openxmlformats.org/drawingml/2006/main">
            <a:off x="7730730" y="3638223"/>
            <a:ext cx="47625" cy="47625"/>
          </a:xfrm>
          <a:prstGeom xmlns:a="http://schemas.openxmlformats.org/drawingml/2006/main" prst="ellipse">
            <a:avLst/>
          </a:prstGeom>
          <a:solidFill xmlns:a="http://schemas.openxmlformats.org/drawingml/2006/main">
            <a:srgbClr val="D9E0E6"/>
          </a:solidFill>
          <a:ln xmlns:a="http://schemas.openxmlformats.org/drawingml/2006/main" w="9525">
            <a:solidFill>
              <a:srgbClr val="D9E0E6"/>
            </a:solidFill>
            <a:prstDash val="solid"/>
          </a:ln>
        </p:spPr>
      </p:sp>
      <p:sp>
        <p:nvSpPr>
          <p:cNvPr id="100" name="">
            <a:extLst xmlns:a="http://schemas.openxmlformats.org/drawingml/2006/main">
              <a:ext uri="{FF2B5EF4-FFF2-40B4-BE49-F238E27FC236}">
                <a16:creationId xmlns:a16="http://schemas.microsoft.com/office/drawing/2014/main" id="{7F85514C-8530-4593-B918-96D7572DE9F4}"/>
              </a:ext>
            </a:extLst>
          </p:cNvPr>
          <p:cNvSpPr>
            <a:spLocks xmlns:a="http://schemas.openxmlformats.org/drawingml/2006/main" noGrp="1"/>
          </p:cNvSpPr>
          <p:nvPr/>
        </p:nvSpPr>
        <p:spPr>
          <a:xfrm xmlns:a="http://schemas.openxmlformats.org/drawingml/2006/main">
            <a:off x="8001000" y="2495550"/>
            <a:ext cx="76200" cy="76200"/>
          </a:xfrm>
          <a:prstGeom xmlns:a="http://schemas.openxmlformats.org/drawingml/2006/main" prst="ellipse">
            <a:avLst/>
          </a:prstGeom>
          <a:solidFill xmlns:a="http://schemas.openxmlformats.org/drawingml/2006/main">
            <a:srgbClr val="009E73"/>
          </a:solidFill>
          <a:ln xmlns:a="http://schemas.openxmlformats.org/drawingml/2006/main" w="9525">
            <a:solidFill>
              <a:srgbClr val="009E73"/>
            </a:solidFill>
            <a:prstDash val="solid"/>
          </a:ln>
        </p:spPr>
      </p:sp>
      <p:sp>
        <p:nvSpPr>
          <p:cNvPr id="101" name="">
            <a:extLst xmlns:a="http://schemas.openxmlformats.org/drawingml/2006/main">
              <a:ext uri="{FF2B5EF4-FFF2-40B4-BE49-F238E27FC236}">
                <a16:creationId xmlns:a16="http://schemas.microsoft.com/office/drawing/2014/main" id="{35734EF6-8DBC-4B1A-A86B-0671A13CFC32}"/>
              </a:ext>
            </a:extLst>
          </p:cNvPr>
          <p:cNvSpPr>
            <a:spLocks xmlns:a="http://schemas.openxmlformats.org/drawingml/2006/main" noGrp="1"/>
          </p:cNvSpPr>
          <p:nvPr/>
        </p:nvSpPr>
        <p:spPr>
          <a:xfrm xmlns:a="http://schemas.openxmlformats.org/drawingml/2006/main">
            <a:off x="8876160" y="4298344"/>
            <a:ext cx="76200" cy="76200"/>
          </a:xfrm>
          <a:prstGeom xmlns:a="http://schemas.openxmlformats.org/drawingml/2006/main" prst="ellipse">
            <a:avLst/>
          </a:prstGeom>
          <a:solidFill xmlns:a="http://schemas.openxmlformats.org/drawingml/2006/main">
            <a:srgbClr val="009E73"/>
          </a:solidFill>
          <a:ln xmlns:a="http://schemas.openxmlformats.org/drawingml/2006/main" w="9525">
            <a:solidFill>
              <a:srgbClr val="009E73"/>
            </a:solidFill>
            <a:prstDash val="solid"/>
          </a:ln>
        </p:spPr>
      </p:sp>
      <p:sp>
        <p:nvSpPr>
          <p:cNvPr id="102" name="">
            <a:extLst xmlns:a="http://schemas.openxmlformats.org/drawingml/2006/main">
              <a:ext uri="{FF2B5EF4-FFF2-40B4-BE49-F238E27FC236}">
                <a16:creationId xmlns:a16="http://schemas.microsoft.com/office/drawing/2014/main" id="{2260B378-6EB0-4163-8A10-6180998C7207}"/>
              </a:ext>
            </a:extLst>
          </p:cNvPr>
          <p:cNvSpPr>
            <a:spLocks xmlns:a="http://schemas.openxmlformats.org/drawingml/2006/main" noGrp="1"/>
          </p:cNvSpPr>
          <p:nvPr/>
        </p:nvSpPr>
        <p:spPr>
          <a:xfrm xmlns:a="http://schemas.openxmlformats.org/drawingml/2006/main">
            <a:off x="7450652" y="3295126"/>
            <a:ext cx="47625" cy="47625"/>
          </a:xfrm>
          <a:prstGeom xmlns:a="http://schemas.openxmlformats.org/drawingml/2006/main" prst="ellipse">
            <a:avLst/>
          </a:prstGeom>
          <a:solidFill xmlns:a="http://schemas.openxmlformats.org/drawingml/2006/main">
            <a:srgbClr val="D9E0E6"/>
          </a:solidFill>
          <a:ln xmlns:a="http://schemas.openxmlformats.org/drawingml/2006/main" w="9525">
            <a:solidFill>
              <a:srgbClr val="D9E0E6"/>
            </a:solidFill>
            <a:prstDash val="solid"/>
          </a:ln>
        </p:spPr>
      </p:sp>
      <p:sp>
        <p:nvSpPr>
          <p:cNvPr id="103" name="">
            <a:extLst xmlns:a="http://schemas.openxmlformats.org/drawingml/2006/main">
              <a:ext uri="{FF2B5EF4-FFF2-40B4-BE49-F238E27FC236}">
                <a16:creationId xmlns:a16="http://schemas.microsoft.com/office/drawing/2014/main" id="{84555197-41C3-4C18-957E-917E89C83EF5}"/>
              </a:ext>
            </a:extLst>
          </p:cNvPr>
          <p:cNvSpPr>
            <a:spLocks xmlns:a="http://schemas.openxmlformats.org/drawingml/2006/main" noGrp="1"/>
          </p:cNvSpPr>
          <p:nvPr/>
        </p:nvSpPr>
        <p:spPr>
          <a:xfrm xmlns:a="http://schemas.openxmlformats.org/drawingml/2006/main">
            <a:off x="8794453" y="2734437"/>
            <a:ext cx="76200" cy="76200"/>
          </a:xfrm>
          <a:prstGeom xmlns:a="http://schemas.openxmlformats.org/drawingml/2006/main" prst="ellipse">
            <a:avLst/>
          </a:prstGeom>
          <a:solidFill xmlns:a="http://schemas.openxmlformats.org/drawingml/2006/main">
            <a:srgbClr val="009E73"/>
          </a:solidFill>
          <a:ln xmlns:a="http://schemas.openxmlformats.org/drawingml/2006/main" w="9525">
            <a:solidFill>
              <a:srgbClr val="009E73"/>
            </a:solidFill>
            <a:prstDash val="solid"/>
          </a:ln>
        </p:spPr>
      </p:sp>
      <p:sp>
        <p:nvSpPr>
          <p:cNvPr id="104" name="">
            <a:extLst xmlns:a="http://schemas.openxmlformats.org/drawingml/2006/main">
              <a:ext uri="{FF2B5EF4-FFF2-40B4-BE49-F238E27FC236}">
                <a16:creationId xmlns:a16="http://schemas.microsoft.com/office/drawing/2014/main" id="{C51E9952-3298-4631-B12C-2EB2796D7BA2}"/>
              </a:ext>
            </a:extLst>
          </p:cNvPr>
          <p:cNvSpPr>
            <a:spLocks xmlns:a="http://schemas.openxmlformats.org/drawingml/2006/main" noGrp="1"/>
          </p:cNvSpPr>
          <p:nvPr/>
        </p:nvSpPr>
        <p:spPr>
          <a:xfrm xmlns:a="http://schemas.openxmlformats.org/drawingml/2006/main">
            <a:off x="7956342" y="3596543"/>
            <a:ext cx="47625" cy="47625"/>
          </a:xfrm>
          <a:prstGeom xmlns:a="http://schemas.openxmlformats.org/drawingml/2006/main" prst="ellipse">
            <a:avLst/>
          </a:prstGeom>
          <a:solidFill xmlns:a="http://schemas.openxmlformats.org/drawingml/2006/main">
            <a:srgbClr val="D9E0E6"/>
          </a:solidFill>
          <a:ln xmlns:a="http://schemas.openxmlformats.org/drawingml/2006/main" w="9525">
            <a:solidFill>
              <a:srgbClr val="D9E0E6"/>
            </a:solidFill>
            <a:prstDash val="solid"/>
          </a:ln>
        </p:spPr>
      </p:sp>
      <p:sp>
        <p:nvSpPr>
          <p:cNvPr id="105" name="">
            <a:extLst xmlns:a="http://schemas.openxmlformats.org/drawingml/2006/main">
              <a:ext uri="{FF2B5EF4-FFF2-40B4-BE49-F238E27FC236}">
                <a16:creationId xmlns:a16="http://schemas.microsoft.com/office/drawing/2014/main" id="{1B2D4958-2462-4CEC-AB84-B09F5303964D}"/>
              </a:ext>
            </a:extLst>
          </p:cNvPr>
          <p:cNvSpPr>
            <a:spLocks xmlns:a="http://schemas.openxmlformats.org/drawingml/2006/main" noGrp="1"/>
          </p:cNvSpPr>
          <p:nvPr/>
        </p:nvSpPr>
        <p:spPr>
          <a:xfrm xmlns:a="http://schemas.openxmlformats.org/drawingml/2006/main">
            <a:off x="7622284" y="2748811"/>
            <a:ext cx="47625" cy="47625"/>
          </a:xfrm>
          <a:prstGeom xmlns:a="http://schemas.openxmlformats.org/drawingml/2006/main" prst="ellipse">
            <a:avLst/>
          </a:prstGeom>
          <a:solidFill xmlns:a="http://schemas.openxmlformats.org/drawingml/2006/main">
            <a:srgbClr val="D9E0E6"/>
          </a:solidFill>
          <a:ln xmlns:a="http://schemas.openxmlformats.org/drawingml/2006/main" w="9525">
            <a:solidFill>
              <a:srgbClr val="D9E0E6"/>
            </a:solidFill>
            <a:prstDash val="solid"/>
          </a:ln>
        </p:spPr>
      </p:sp>
      <p:sp>
        <p:nvSpPr>
          <p:cNvPr id="106" name="">
            <a:extLst xmlns:a="http://schemas.openxmlformats.org/drawingml/2006/main">
              <a:ext uri="{FF2B5EF4-FFF2-40B4-BE49-F238E27FC236}">
                <a16:creationId xmlns:a16="http://schemas.microsoft.com/office/drawing/2014/main" id="{0D7E28BC-19B2-4144-ABAC-0A0B4BC28D3A}"/>
              </a:ext>
            </a:extLst>
          </p:cNvPr>
          <p:cNvSpPr>
            <a:spLocks xmlns:a="http://schemas.openxmlformats.org/drawingml/2006/main" noGrp="1"/>
          </p:cNvSpPr>
          <p:nvPr/>
        </p:nvSpPr>
        <p:spPr>
          <a:xfrm xmlns:a="http://schemas.openxmlformats.org/drawingml/2006/main">
            <a:off x="9114254" y="3641570"/>
            <a:ext cx="76200" cy="76200"/>
          </a:xfrm>
          <a:prstGeom xmlns:a="http://schemas.openxmlformats.org/drawingml/2006/main" prst="ellipse">
            <a:avLst/>
          </a:prstGeom>
          <a:solidFill xmlns:a="http://schemas.openxmlformats.org/drawingml/2006/main">
            <a:srgbClr val="009E73"/>
          </a:solidFill>
          <a:ln xmlns:a="http://schemas.openxmlformats.org/drawingml/2006/main" w="9525">
            <a:solidFill>
              <a:srgbClr val="009E73"/>
            </a:solidFill>
            <a:prstDash val="solid"/>
          </a:ln>
        </p:spPr>
      </p:sp>
      <p:sp>
        <p:nvSpPr>
          <p:cNvPr id="107" name="">
            <a:extLst xmlns:a="http://schemas.openxmlformats.org/drawingml/2006/main">
              <a:ext uri="{FF2B5EF4-FFF2-40B4-BE49-F238E27FC236}">
                <a16:creationId xmlns:a16="http://schemas.microsoft.com/office/drawing/2014/main" id="{8A0AF63B-017F-4C0D-AD50-B9E4D289C40C}"/>
              </a:ext>
            </a:extLst>
          </p:cNvPr>
          <p:cNvSpPr>
            <a:spLocks xmlns:a="http://schemas.openxmlformats.org/drawingml/2006/main" noGrp="1"/>
          </p:cNvSpPr>
          <p:nvPr/>
        </p:nvSpPr>
        <p:spPr>
          <a:xfrm xmlns:a="http://schemas.openxmlformats.org/drawingml/2006/main">
            <a:off x="7637703" y="3532396"/>
            <a:ext cx="47625" cy="47625"/>
          </a:xfrm>
          <a:prstGeom xmlns:a="http://schemas.openxmlformats.org/drawingml/2006/main" prst="ellipse">
            <a:avLst/>
          </a:prstGeom>
          <a:solidFill xmlns:a="http://schemas.openxmlformats.org/drawingml/2006/main">
            <a:srgbClr val="D9E0E6"/>
          </a:solidFill>
          <a:ln xmlns:a="http://schemas.openxmlformats.org/drawingml/2006/main" w="9525">
            <a:solidFill>
              <a:srgbClr val="D9E0E6"/>
            </a:solidFill>
            <a:prstDash val="solid"/>
          </a:ln>
        </p:spPr>
      </p:sp>
      <p:sp>
        <p:nvSpPr>
          <p:cNvPr id="108" name="">
            <a:extLst xmlns:a="http://schemas.openxmlformats.org/drawingml/2006/main">
              <a:ext uri="{FF2B5EF4-FFF2-40B4-BE49-F238E27FC236}">
                <a16:creationId xmlns:a16="http://schemas.microsoft.com/office/drawing/2014/main" id="{4B68203E-8AB0-4D07-A54F-2C1008F6B0E3}"/>
              </a:ext>
            </a:extLst>
          </p:cNvPr>
          <p:cNvSpPr>
            <a:spLocks xmlns:a="http://schemas.openxmlformats.org/drawingml/2006/main" noGrp="1"/>
          </p:cNvSpPr>
          <p:nvPr/>
        </p:nvSpPr>
        <p:spPr>
          <a:xfrm xmlns:a="http://schemas.openxmlformats.org/drawingml/2006/main">
            <a:off x="8294197" y="2537724"/>
            <a:ext cx="76200" cy="76200"/>
          </a:xfrm>
          <a:prstGeom xmlns:a="http://schemas.openxmlformats.org/drawingml/2006/main" prst="ellipse">
            <a:avLst/>
          </a:prstGeom>
          <a:solidFill xmlns:a="http://schemas.openxmlformats.org/drawingml/2006/main">
            <a:srgbClr val="009E73"/>
          </a:solidFill>
          <a:ln xmlns:a="http://schemas.openxmlformats.org/drawingml/2006/main" w="9525">
            <a:solidFill>
              <a:srgbClr val="009E73"/>
            </a:solidFill>
            <a:prstDash val="solid"/>
          </a:ln>
        </p:spPr>
      </p:sp>
      <p:sp>
        <p:nvSpPr>
          <p:cNvPr id="109" name="">
            <a:extLst xmlns:a="http://schemas.openxmlformats.org/drawingml/2006/main">
              <a:ext uri="{FF2B5EF4-FFF2-40B4-BE49-F238E27FC236}">
                <a16:creationId xmlns:a16="http://schemas.microsoft.com/office/drawing/2014/main" id="{E1BFC5DC-82FE-4F27-8D99-0A45DA579293}"/>
              </a:ext>
            </a:extLst>
          </p:cNvPr>
          <p:cNvSpPr>
            <a:spLocks xmlns:a="http://schemas.openxmlformats.org/drawingml/2006/main" noGrp="1"/>
          </p:cNvSpPr>
          <p:nvPr/>
        </p:nvSpPr>
        <p:spPr>
          <a:xfrm xmlns:a="http://schemas.openxmlformats.org/drawingml/2006/main">
            <a:off x="8500373" y="4548868"/>
            <a:ext cx="76200" cy="76200"/>
          </a:xfrm>
          <a:prstGeom xmlns:a="http://schemas.openxmlformats.org/drawingml/2006/main" prst="ellipse">
            <a:avLst/>
          </a:prstGeom>
          <a:solidFill xmlns:a="http://schemas.openxmlformats.org/drawingml/2006/main">
            <a:srgbClr val="009E73"/>
          </a:solidFill>
          <a:ln xmlns:a="http://schemas.openxmlformats.org/drawingml/2006/main" w="9525">
            <a:solidFill>
              <a:srgbClr val="009E73"/>
            </a:solidFill>
            <a:prstDash val="solid"/>
          </a:ln>
        </p:spPr>
      </p:sp>
      <p:sp>
        <p:nvSpPr>
          <p:cNvPr id="110" name="">
            <a:extLst xmlns:a="http://schemas.openxmlformats.org/drawingml/2006/main">
              <a:ext uri="{FF2B5EF4-FFF2-40B4-BE49-F238E27FC236}">
                <a16:creationId xmlns:a16="http://schemas.microsoft.com/office/drawing/2014/main" id="{AC1C24EB-651B-47E5-A898-30C637EEABE3}"/>
              </a:ext>
            </a:extLst>
          </p:cNvPr>
          <p:cNvSpPr>
            <a:spLocks xmlns:a="http://schemas.openxmlformats.org/drawingml/2006/main" noGrp="1"/>
          </p:cNvSpPr>
          <p:nvPr/>
        </p:nvSpPr>
        <p:spPr>
          <a:xfrm xmlns:a="http://schemas.openxmlformats.org/drawingml/2006/main">
            <a:off x="7491678" y="3105774"/>
            <a:ext cx="47625" cy="47625"/>
          </a:xfrm>
          <a:prstGeom xmlns:a="http://schemas.openxmlformats.org/drawingml/2006/main" prst="ellipse">
            <a:avLst/>
          </a:prstGeom>
          <a:solidFill xmlns:a="http://schemas.openxmlformats.org/drawingml/2006/main">
            <a:srgbClr val="D9E0E6"/>
          </a:solidFill>
          <a:ln xmlns:a="http://schemas.openxmlformats.org/drawingml/2006/main" w="9525">
            <a:solidFill>
              <a:srgbClr val="D9E0E6"/>
            </a:solidFill>
            <a:prstDash val="solid"/>
          </a:ln>
        </p:spPr>
      </p:sp>
      <p:sp>
        <p:nvSpPr>
          <p:cNvPr id="111" name="">
            <a:extLst xmlns:a="http://schemas.openxmlformats.org/drawingml/2006/main">
              <a:ext uri="{FF2B5EF4-FFF2-40B4-BE49-F238E27FC236}">
                <a16:creationId xmlns:a16="http://schemas.microsoft.com/office/drawing/2014/main" id="{7CF9F4BF-788A-4A5B-AD39-63F76455130D}"/>
              </a:ext>
            </a:extLst>
          </p:cNvPr>
          <p:cNvSpPr>
            <a:spLocks xmlns:a="http://schemas.openxmlformats.org/drawingml/2006/main" noGrp="1"/>
          </p:cNvSpPr>
          <p:nvPr/>
        </p:nvSpPr>
        <p:spPr>
          <a:xfrm xmlns:a="http://schemas.openxmlformats.org/drawingml/2006/main">
            <a:off x="8963920" y="3039667"/>
            <a:ext cx="76200" cy="76200"/>
          </a:xfrm>
          <a:prstGeom xmlns:a="http://schemas.openxmlformats.org/drawingml/2006/main" prst="ellipse">
            <a:avLst/>
          </a:prstGeom>
          <a:solidFill xmlns:a="http://schemas.openxmlformats.org/drawingml/2006/main">
            <a:srgbClr val="009E73"/>
          </a:solidFill>
          <a:ln xmlns:a="http://schemas.openxmlformats.org/drawingml/2006/main" w="9525">
            <a:solidFill>
              <a:srgbClr val="009E73"/>
            </a:solidFill>
            <a:prstDash val="solid"/>
          </a:ln>
        </p:spPr>
      </p:sp>
      <p:sp>
        <p:nvSpPr>
          <p:cNvPr id="112" name="">
            <a:extLst xmlns:a="http://schemas.openxmlformats.org/drawingml/2006/main">
              <a:ext uri="{FF2B5EF4-FFF2-40B4-BE49-F238E27FC236}">
                <a16:creationId xmlns:a16="http://schemas.microsoft.com/office/drawing/2014/main" id="{D5360B0D-3AAF-4CCF-B5A3-0433D3FAC625}"/>
              </a:ext>
            </a:extLst>
          </p:cNvPr>
          <p:cNvSpPr>
            <a:spLocks xmlns:a="http://schemas.openxmlformats.org/drawingml/2006/main" noGrp="1"/>
          </p:cNvSpPr>
          <p:nvPr/>
        </p:nvSpPr>
        <p:spPr>
          <a:xfrm xmlns:a="http://schemas.openxmlformats.org/drawingml/2006/main">
            <a:off x="7867650" y="3574244"/>
            <a:ext cx="47625" cy="47625"/>
          </a:xfrm>
          <a:prstGeom xmlns:a="http://schemas.openxmlformats.org/drawingml/2006/main" prst="ellipse">
            <a:avLst/>
          </a:prstGeom>
          <a:solidFill xmlns:a="http://schemas.openxmlformats.org/drawingml/2006/main">
            <a:srgbClr val="D9E0E6"/>
          </a:solidFill>
          <a:ln xmlns:a="http://schemas.openxmlformats.org/drawingml/2006/main" w="9525">
            <a:solidFill>
              <a:srgbClr val="D9E0E6"/>
            </a:solidFill>
            <a:prstDash val="solid"/>
          </a:ln>
        </p:spPr>
      </p:sp>
      <p:sp>
        <p:nvSpPr>
          <p:cNvPr id="113" name="">
            <a:extLst xmlns:a="http://schemas.openxmlformats.org/drawingml/2006/main">
              <a:ext uri="{FF2B5EF4-FFF2-40B4-BE49-F238E27FC236}">
                <a16:creationId xmlns:a16="http://schemas.microsoft.com/office/drawing/2014/main" id="{74AD987A-01DB-402A-899C-ADDCDDE5644F}"/>
              </a:ext>
            </a:extLst>
          </p:cNvPr>
          <p:cNvSpPr>
            <a:spLocks xmlns:a="http://schemas.openxmlformats.org/drawingml/2006/main" noGrp="1"/>
          </p:cNvSpPr>
          <p:nvPr/>
        </p:nvSpPr>
        <p:spPr>
          <a:xfrm xmlns:a="http://schemas.openxmlformats.org/drawingml/2006/main">
            <a:off x="7846381" y="2645834"/>
            <a:ext cx="47625" cy="47625"/>
          </a:xfrm>
          <a:prstGeom xmlns:a="http://schemas.openxmlformats.org/drawingml/2006/main" prst="ellipse">
            <a:avLst/>
          </a:prstGeom>
          <a:solidFill xmlns:a="http://schemas.openxmlformats.org/drawingml/2006/main">
            <a:srgbClr val="D9E0E6"/>
          </a:solidFill>
          <a:ln xmlns:a="http://schemas.openxmlformats.org/drawingml/2006/main" w="9525">
            <a:solidFill>
              <a:srgbClr val="D9E0E6"/>
            </a:solidFill>
            <a:prstDash val="solid"/>
          </a:ln>
        </p:spPr>
      </p:sp>
      <p:sp>
        <p:nvSpPr>
          <p:cNvPr id="114" name="">
            <a:extLst xmlns:a="http://schemas.openxmlformats.org/drawingml/2006/main">
              <a:ext uri="{FF2B5EF4-FFF2-40B4-BE49-F238E27FC236}">
                <a16:creationId xmlns:a16="http://schemas.microsoft.com/office/drawing/2014/main" id="{2995B017-DA7E-4E40-A232-4ED07E96E218}"/>
              </a:ext>
            </a:extLst>
          </p:cNvPr>
          <p:cNvSpPr>
            <a:spLocks xmlns:a="http://schemas.openxmlformats.org/drawingml/2006/main" noGrp="1"/>
          </p:cNvSpPr>
          <p:nvPr/>
        </p:nvSpPr>
        <p:spPr>
          <a:xfrm xmlns:a="http://schemas.openxmlformats.org/drawingml/2006/main">
            <a:off x="8952896" y="4009799"/>
            <a:ext cx="76200" cy="76200"/>
          </a:xfrm>
          <a:prstGeom xmlns:a="http://schemas.openxmlformats.org/drawingml/2006/main" prst="ellipse">
            <a:avLst/>
          </a:prstGeom>
          <a:solidFill xmlns:a="http://schemas.openxmlformats.org/drawingml/2006/main">
            <a:srgbClr val="009E73"/>
          </a:solidFill>
          <a:ln xmlns:a="http://schemas.openxmlformats.org/drawingml/2006/main" w="9525">
            <a:solidFill>
              <a:srgbClr val="009E73"/>
            </a:solidFill>
            <a:prstDash val="solid"/>
          </a:ln>
        </p:spPr>
      </p:sp>
      <p:sp>
        <p:nvSpPr>
          <p:cNvPr id="115" name="">
            <a:extLst xmlns:a="http://schemas.openxmlformats.org/drawingml/2006/main">
              <a:ext uri="{FF2B5EF4-FFF2-40B4-BE49-F238E27FC236}">
                <a16:creationId xmlns:a16="http://schemas.microsoft.com/office/drawing/2014/main" id="{EB172ABE-16B3-4AB1-ACE8-517CD49D7082}"/>
              </a:ext>
            </a:extLst>
          </p:cNvPr>
          <p:cNvSpPr>
            <a:spLocks xmlns:a="http://schemas.openxmlformats.org/drawingml/2006/main" noGrp="1"/>
          </p:cNvSpPr>
          <p:nvPr/>
        </p:nvSpPr>
        <p:spPr>
          <a:xfrm xmlns:a="http://schemas.openxmlformats.org/drawingml/2006/main">
            <a:off x="7585485" y="3397979"/>
            <a:ext cx="47625" cy="47625"/>
          </a:xfrm>
          <a:prstGeom xmlns:a="http://schemas.openxmlformats.org/drawingml/2006/main" prst="ellipse">
            <a:avLst/>
          </a:prstGeom>
          <a:solidFill xmlns:a="http://schemas.openxmlformats.org/drawingml/2006/main">
            <a:srgbClr val="D9E0E6"/>
          </a:solidFill>
          <a:ln xmlns:a="http://schemas.openxmlformats.org/drawingml/2006/main" w="9525">
            <a:solidFill>
              <a:srgbClr val="D9E0E6"/>
            </a:solidFill>
            <a:prstDash val="solid"/>
          </a:ln>
        </p:spPr>
      </p:sp>
      <p:sp>
        <p:nvSpPr>
          <p:cNvPr id="116" name="">
            <a:extLst xmlns:a="http://schemas.openxmlformats.org/drawingml/2006/main">
              <a:ext uri="{FF2B5EF4-FFF2-40B4-BE49-F238E27FC236}">
                <a16:creationId xmlns:a16="http://schemas.microsoft.com/office/drawing/2014/main" id="{6D7C2ABA-1C2E-44DA-99B6-1EE8842592ED}"/>
              </a:ext>
            </a:extLst>
          </p:cNvPr>
          <p:cNvSpPr>
            <a:spLocks xmlns:a="http://schemas.openxmlformats.org/drawingml/2006/main" noGrp="1"/>
          </p:cNvSpPr>
          <p:nvPr/>
        </p:nvSpPr>
        <p:spPr>
          <a:xfrm xmlns:a="http://schemas.openxmlformats.org/drawingml/2006/main">
            <a:off x="7972425" y="3314700"/>
            <a:ext cx="133350" cy="133350"/>
          </a:xfrm>
          <a:prstGeom xmlns:a="http://schemas.openxmlformats.org/drawingml/2006/main" prst="ellipse">
            <a:avLst/>
          </a:prstGeom>
          <a:solidFill xmlns:a="http://schemas.openxmlformats.org/drawingml/2006/main">
            <a:srgbClr val="ED7F0D"/>
          </a:solidFill>
          <a:ln xmlns:a="http://schemas.openxmlformats.org/drawingml/2006/main" w="9525">
            <a:solidFill>
              <a:srgbClr val="ED7F0D"/>
            </a:solidFill>
            <a:prstDash val="solid"/>
          </a:ln>
        </p:spPr>
      </p:sp>
      <p:sp>
        <p:nvSpPr>
          <p:cNvPr id="117" name="">
            <a:extLst xmlns:a="http://schemas.openxmlformats.org/drawingml/2006/main">
              <a:ext uri="{FF2B5EF4-FFF2-40B4-BE49-F238E27FC236}">
                <a16:creationId xmlns:a16="http://schemas.microsoft.com/office/drawing/2014/main" id="{BF7DEFE2-C97A-4FB4-933E-8A7D0F8AD1C4}"/>
              </a:ext>
            </a:extLst>
          </p:cNvPr>
          <p:cNvSpPr>
            <a:spLocks xmlns:a="http://schemas.openxmlformats.org/drawingml/2006/main" noGrp="1"/>
          </p:cNvSpPr>
          <p:nvPr/>
        </p:nvSpPr>
        <p:spPr>
          <a:xfrm xmlns:a="http://schemas.openxmlformats.org/drawingml/2006/main">
            <a:off x="1219200" y="1666875"/>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75" b="1">
                <a:solidFill>
                  <a:srgbClr val="004282"/>
                </a:solidFill>
              </a:defRPr>
            </a:pPr>
            <a:r>
              <a:rPr sz="1575" b="1">
                <a:solidFill>
                  <a:srgbClr val="004282"/>
                </a:solidFill>
              </a:rPr>
              <a:t>TRUNCATED CAD PRIOR</a:t>
            </a:r>
          </a:p>
        </p:txBody>
      </p:sp>
      <p:sp>
        <p:nvSpPr>
          <p:cNvPr id="118" name="">
            <a:extLst xmlns:a="http://schemas.openxmlformats.org/drawingml/2006/main">
              <a:ext uri="{FF2B5EF4-FFF2-40B4-BE49-F238E27FC236}">
                <a16:creationId xmlns:a16="http://schemas.microsoft.com/office/drawing/2014/main" id="{795D4627-38A9-4EB3-89A1-157C67085DEB}"/>
              </a:ext>
            </a:extLst>
          </p:cNvPr>
          <p:cNvSpPr>
            <a:spLocks xmlns:a="http://schemas.openxmlformats.org/drawingml/2006/main" noGrp="1"/>
          </p:cNvSpPr>
          <p:nvPr/>
        </p:nvSpPr>
        <p:spPr>
          <a:xfrm xmlns:a="http://schemas.openxmlformats.org/drawingml/2006/main">
            <a:off x="6419850" y="1666875"/>
            <a:ext cx="3238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75" b="1">
                <a:solidFill>
                  <a:srgbClr val="009E73"/>
                </a:solidFill>
              </a:defRPr>
            </a:pPr>
            <a:r>
              <a:rPr sz="1575" b="1">
                <a:solidFill>
                  <a:srgbClr val="009E73"/>
                </a:solidFill>
              </a:rPr>
              <a:t>TACTILE-REWEIGHTED BELIEF</a:t>
            </a:r>
          </a:p>
        </p:txBody>
      </p:sp>
      <p:sp>
        <p:nvSpPr>
          <p:cNvPr id="119" name="">
            <a:extLst xmlns:a="http://schemas.openxmlformats.org/drawingml/2006/main">
              <a:ext uri="{FF2B5EF4-FFF2-40B4-BE49-F238E27FC236}">
                <a16:creationId xmlns:a16="http://schemas.microsoft.com/office/drawing/2014/main" id="{3945EAC8-B90B-4A77-9182-517AA9E1129B}"/>
              </a:ext>
            </a:extLst>
          </p:cNvPr>
          <p:cNvSpPr>
            <a:spLocks xmlns:a="http://schemas.openxmlformats.org/drawingml/2006/main" noGrp="1"/>
          </p:cNvSpPr>
          <p:nvPr/>
        </p:nvSpPr>
        <p:spPr>
          <a:xfrm xmlns:a="http://schemas.openxmlformats.org/drawingml/2006/main">
            <a:off x="4876800" y="3257550"/>
            <a:ext cx="1143000" cy="266700"/>
          </a:xfrm>
          <a:prstGeom xmlns:a="http://schemas.openxmlformats.org/drawingml/2006/main" prst="rightArrow">
            <a:avLst/>
          </a:prstGeom>
          <a:solidFill xmlns:a="http://schemas.openxmlformats.org/drawingml/2006/main">
            <a:srgbClr val="ED7F0D"/>
          </a:solidFill>
          <a:ln xmlns:a="http://schemas.openxmlformats.org/drawingml/2006/main" w="0">
            <a:noFill/>
            <a:prstDash val="solid"/>
          </a:ln>
        </p:spPr>
      </p:sp>
      <p:sp>
        <p:nvSpPr>
          <p:cNvPr id="120" name="">
            <a:extLst xmlns:a="http://schemas.openxmlformats.org/drawingml/2006/main">
              <a:ext uri="{FF2B5EF4-FFF2-40B4-BE49-F238E27FC236}">
                <a16:creationId xmlns:a16="http://schemas.microsoft.com/office/drawing/2014/main" id="{D4E05516-48A9-4742-B84B-899609C45DFB}"/>
              </a:ext>
            </a:extLst>
          </p:cNvPr>
          <p:cNvSpPr>
            <a:spLocks xmlns:a="http://schemas.openxmlformats.org/drawingml/2006/main" noGrp="1"/>
          </p:cNvSpPr>
          <p:nvPr/>
        </p:nvSpPr>
        <p:spPr>
          <a:xfrm xmlns:a="http://schemas.openxmlformats.org/drawingml/2006/main">
            <a:off x="4457700" y="2724150"/>
            <a:ext cx="2000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ED7F0D"/>
                </a:solidFill>
              </a:defRPr>
            </a:pPr>
            <a:r>
              <a:rPr sz="1125" b="1">
                <a:solidFill>
                  <a:srgbClr val="ED7F0D"/>
                </a:solidFill>
              </a:rPr>
              <a:t>angular + contact-support weighting</a:t>
            </a:r>
          </a:p>
        </p:txBody>
      </p:sp>
      <p:sp>
        <p:nvSpPr>
          <p:cNvPr id="121" name="">
            <a:extLst xmlns:a="http://schemas.openxmlformats.org/drawingml/2006/main">
              <a:ext uri="{FF2B5EF4-FFF2-40B4-BE49-F238E27FC236}">
                <a16:creationId xmlns:a16="http://schemas.microsoft.com/office/drawing/2014/main" id="{5D32B283-EE76-4ADC-A1D9-15FB5A2A4B7C}"/>
              </a:ext>
            </a:extLst>
          </p:cNvPr>
          <p:cNvSpPr>
            <a:spLocks xmlns:a="http://schemas.openxmlformats.org/drawingml/2006/main" noGrp="1"/>
          </p:cNvSpPr>
          <p:nvPr/>
        </p:nvSpPr>
        <p:spPr>
          <a:xfrm xmlns:a="http://schemas.openxmlformats.org/drawingml/2006/main">
            <a:off x="9810750" y="1952625"/>
            <a:ext cx="1428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550" b="1">
                <a:solidFill>
                  <a:srgbClr val="004282"/>
                </a:solidFill>
              </a:defRPr>
            </a:pPr>
            <a:r>
              <a:rPr sz="2550" b="1">
                <a:solidFill>
                  <a:srgbClr val="004282"/>
                </a:solidFill>
              </a:rPr>
              <a:t>4096</a:t>
            </a:r>
          </a:p>
        </p:txBody>
      </p:sp>
      <p:sp>
        <p:nvSpPr>
          <p:cNvPr id="122" name="">
            <a:extLst xmlns:a="http://schemas.openxmlformats.org/drawingml/2006/main">
              <a:ext uri="{FF2B5EF4-FFF2-40B4-BE49-F238E27FC236}">
                <a16:creationId xmlns:a16="http://schemas.microsoft.com/office/drawing/2014/main" id="{77A5EEEE-F2A5-4403-ACD5-991F0B3F895C}"/>
              </a:ext>
            </a:extLst>
          </p:cNvPr>
          <p:cNvSpPr>
            <a:spLocks xmlns:a="http://schemas.openxmlformats.org/drawingml/2006/main" noGrp="1"/>
          </p:cNvSpPr>
          <p:nvPr/>
        </p:nvSpPr>
        <p:spPr>
          <a:xfrm xmlns:a="http://schemas.openxmlformats.org/drawingml/2006/main">
            <a:off x="9810750" y="2447925"/>
            <a:ext cx="1428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0">
                <a:solidFill>
                  <a:srgbClr val="6B7580"/>
                </a:solidFill>
              </a:defRPr>
            </a:pPr>
            <a:r>
              <a:rPr sz="1200" b="0">
                <a:solidFill>
                  <a:srgbClr val="6B7580"/>
                </a:solidFill>
              </a:rPr>
              <a:t>CAD-prior particles</a:t>
            </a:r>
          </a:p>
        </p:txBody>
      </p:sp>
      <p:sp>
        <p:nvSpPr>
          <p:cNvPr id="123" name="">
            <a:extLst xmlns:a="http://schemas.openxmlformats.org/drawingml/2006/main">
              <a:ext uri="{FF2B5EF4-FFF2-40B4-BE49-F238E27FC236}">
                <a16:creationId xmlns:a16="http://schemas.microsoft.com/office/drawing/2014/main" id="{8EB50034-0723-4AFF-B372-D2BE20FA0AFD}"/>
              </a:ext>
            </a:extLst>
          </p:cNvPr>
          <p:cNvSpPr>
            <a:spLocks xmlns:a="http://schemas.openxmlformats.org/drawingml/2006/main" noGrp="1"/>
          </p:cNvSpPr>
          <p:nvPr/>
        </p:nvSpPr>
        <p:spPr>
          <a:xfrm xmlns:a="http://schemas.openxmlformats.org/drawingml/2006/main">
            <a:off x="9810750" y="3019425"/>
            <a:ext cx="1428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550" b="1">
                <a:solidFill>
                  <a:srgbClr val="009E73"/>
                </a:solidFill>
              </a:defRPr>
            </a:pPr>
            <a:r>
              <a:rPr sz="2550" b="1">
                <a:solidFill>
                  <a:srgbClr val="009E73"/>
                </a:solidFill>
              </a:rPr>
              <a:t>direction</a:t>
            </a:r>
          </a:p>
        </p:txBody>
      </p:sp>
      <p:sp>
        <p:nvSpPr>
          <p:cNvPr id="124" name="">
            <a:extLst xmlns:a="http://schemas.openxmlformats.org/drawingml/2006/main">
              <a:ext uri="{FF2B5EF4-FFF2-40B4-BE49-F238E27FC236}">
                <a16:creationId xmlns:a16="http://schemas.microsoft.com/office/drawing/2014/main" id="{EB2A1EEA-A722-459E-AAAA-D3A697BD120A}"/>
              </a:ext>
            </a:extLst>
          </p:cNvPr>
          <p:cNvSpPr>
            <a:spLocks xmlns:a="http://schemas.openxmlformats.org/drawingml/2006/main" noGrp="1"/>
          </p:cNvSpPr>
          <p:nvPr/>
        </p:nvSpPr>
        <p:spPr>
          <a:xfrm xmlns:a="http://schemas.openxmlformats.org/drawingml/2006/main">
            <a:off x="9810750" y="3514725"/>
            <a:ext cx="1428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0">
                <a:solidFill>
                  <a:srgbClr val="6B7580"/>
                </a:solidFill>
              </a:defRPr>
            </a:pPr>
            <a:r>
              <a:rPr sz="1200" b="0">
                <a:solidFill>
                  <a:srgbClr val="6B7580"/>
                </a:solidFill>
              </a:rPr>
              <a:t>tactile reweighting</a:t>
            </a:r>
          </a:p>
        </p:txBody>
      </p:sp>
      <p:sp>
        <p:nvSpPr>
          <p:cNvPr id="125" name="">
            <a:extLst xmlns:a="http://schemas.openxmlformats.org/drawingml/2006/main">
              <a:ext uri="{FF2B5EF4-FFF2-40B4-BE49-F238E27FC236}">
                <a16:creationId xmlns:a16="http://schemas.microsoft.com/office/drawing/2014/main" id="{65EFE567-DAF1-4693-8AD5-4D10CFC16B2E}"/>
              </a:ext>
            </a:extLst>
          </p:cNvPr>
          <p:cNvSpPr>
            <a:spLocks xmlns:a="http://schemas.openxmlformats.org/drawingml/2006/main" noGrp="1"/>
          </p:cNvSpPr>
          <p:nvPr/>
        </p:nvSpPr>
        <p:spPr>
          <a:xfrm xmlns:a="http://schemas.openxmlformats.org/drawingml/2006/main">
            <a:off x="9810750" y="4086225"/>
            <a:ext cx="1428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550" b="1">
                <a:solidFill>
                  <a:srgbClr val="ED7F0D"/>
                </a:solidFill>
              </a:defRPr>
            </a:pPr>
            <a:r>
              <a:rPr sz="2550" b="1">
                <a:solidFill>
                  <a:srgbClr val="ED7F0D"/>
                </a:solidFill>
              </a:rPr>
              <a:t>distance</a:t>
            </a:r>
          </a:p>
        </p:txBody>
      </p:sp>
      <p:sp>
        <p:nvSpPr>
          <p:cNvPr id="126" name="">
            <a:extLst xmlns:a="http://schemas.openxmlformats.org/drawingml/2006/main">
              <a:ext uri="{FF2B5EF4-FFF2-40B4-BE49-F238E27FC236}">
                <a16:creationId xmlns:a16="http://schemas.microsoft.com/office/drawing/2014/main" id="{0965B8A5-68C0-4BDF-B90C-0E508332A2EE}"/>
              </a:ext>
            </a:extLst>
          </p:cNvPr>
          <p:cNvSpPr>
            <a:spLocks xmlns:a="http://schemas.openxmlformats.org/drawingml/2006/main" noGrp="1"/>
          </p:cNvSpPr>
          <p:nvPr/>
        </p:nvSpPr>
        <p:spPr>
          <a:xfrm xmlns:a="http://schemas.openxmlformats.org/drawingml/2006/main">
            <a:off x="9810750" y="4581525"/>
            <a:ext cx="1428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0">
                <a:solidFill>
                  <a:srgbClr val="6B7580"/>
                </a:solidFill>
              </a:defRPr>
            </a:pPr>
            <a:r>
              <a:rPr sz="1200" b="0">
                <a:solidFill>
                  <a:srgbClr val="6B7580"/>
                </a:solidFill>
              </a:rPr>
              <a:t>left uncertain</a:t>
            </a:r>
          </a:p>
        </p:txBody>
      </p:sp>
      <p:sp>
        <p:nvSpPr>
          <p:cNvPr id="127" name="">
            <a:extLst xmlns:a="http://schemas.openxmlformats.org/drawingml/2006/main">
              <a:ext uri="{FF2B5EF4-FFF2-40B4-BE49-F238E27FC236}">
                <a16:creationId xmlns:a16="http://schemas.microsoft.com/office/drawing/2014/main" id="{F255C8B7-7CFB-49CE-A247-457AD818F54A}"/>
              </a:ext>
            </a:extLst>
          </p:cNvPr>
          <p:cNvSpPr>
            <a:spLocks xmlns:a="http://schemas.openxmlformats.org/drawingml/2006/main" noGrp="1"/>
          </p:cNvSpPr>
          <p:nvPr/>
        </p:nvSpPr>
        <p:spPr>
          <a:xfrm xmlns:a="http://schemas.openxmlformats.org/drawingml/2006/main">
            <a:off x="647700" y="5943600"/>
            <a:ext cx="10839450" cy="400050"/>
          </a:xfrm>
          <a:prstGeom xmlns:a="http://schemas.openxmlformats.org/drawingml/2006/main" prst="rect">
            <a:avLst/>
          </a:prstGeom>
          <a:solidFill xmlns:a="http://schemas.openxmlformats.org/drawingml/2006/main">
            <a:srgbClr val="FFF0E2"/>
          </a:solidFill>
          <a:ln xmlns:a="http://schemas.openxmlformats.org/drawingml/2006/main" w="0">
            <a:noFill/>
            <a:prstDash val="solid"/>
          </a:ln>
        </p:spPr>
      </p:sp>
      <p:sp>
        <p:nvSpPr>
          <p:cNvPr id="128" name="">
            <a:extLst xmlns:a="http://schemas.openxmlformats.org/drawingml/2006/main">
              <a:ext uri="{FF2B5EF4-FFF2-40B4-BE49-F238E27FC236}">
                <a16:creationId xmlns:a16="http://schemas.microsoft.com/office/drawing/2014/main" id="{0DF62749-0A30-461A-A6B2-8FE0A4102591}"/>
              </a:ext>
            </a:extLst>
          </p:cNvPr>
          <p:cNvSpPr>
            <a:spLocks xmlns:a="http://schemas.openxmlformats.org/drawingml/2006/main" noGrp="1"/>
          </p:cNvSpPr>
          <p:nvPr/>
        </p:nvSpPr>
        <p:spPr>
          <a:xfrm xmlns:a="http://schemas.openxmlformats.org/drawingml/2006/main">
            <a:off x="647700" y="5943600"/>
            <a:ext cx="57150" cy="400050"/>
          </a:xfrm>
          <a:prstGeom xmlns:a="http://schemas.openxmlformats.org/drawingml/2006/main" prst="rect">
            <a:avLst/>
          </a:prstGeom>
          <a:solidFill xmlns:a="http://schemas.openxmlformats.org/drawingml/2006/main">
            <a:srgbClr val="ED7F0D"/>
          </a:solidFill>
          <a:ln xmlns:a="http://schemas.openxmlformats.org/drawingml/2006/main" w="0">
            <a:noFill/>
            <a:prstDash val="solid"/>
          </a:ln>
        </p:spPr>
      </p:sp>
      <p:sp>
        <p:nvSpPr>
          <p:cNvPr id="129" name="">
            <a:extLst xmlns:a="http://schemas.openxmlformats.org/drawingml/2006/main">
              <a:ext uri="{FF2B5EF4-FFF2-40B4-BE49-F238E27FC236}">
                <a16:creationId xmlns:a16="http://schemas.microsoft.com/office/drawing/2014/main" id="{F299FC24-D4CD-4529-BE28-206E01BABB5C}"/>
              </a:ext>
            </a:extLst>
          </p:cNvPr>
          <p:cNvSpPr>
            <a:spLocks xmlns:a="http://schemas.openxmlformats.org/drawingml/2006/main" noGrp="1"/>
          </p:cNvSpPr>
          <p:nvPr/>
        </p:nvSpPr>
        <p:spPr>
          <a:xfrm xmlns:a="http://schemas.openxmlformats.org/drawingml/2006/main">
            <a:off x="838200" y="5981700"/>
            <a:ext cx="10458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152538"/>
                </a:solidFill>
              </a:defRPr>
            </a:pPr>
            <a:r>
              <a:rPr sz="1275" b="1">
                <a:solidFill>
                  <a:srgbClr val="152538"/>
                </a:solidFill>
              </a:rPr>
              <a:t>The output is a weighted center belief, not a single predicted point.</a:t>
            </a:r>
          </a:p>
        </p:txBody>
      </p:sp>
    </p:spTree>
    <p:extLst>
      <p:ext uri="{BB962C8B-B14F-4D97-AF65-F5344CB8AC3E}">
        <p14:creationId xmlns:p14="http://schemas.microsoft.com/office/powerpoint/2010/main" val="297027480"/>
      </p:ext>
    </p:extLst>
  </p:cSld>
</p:sld>
</file>

<file path=ppt/slides/slide19.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5C36EEF-84A9-4F4A-9F1A-1A9B7489FA4E}"/>
              </a:ext>
            </a:extLst>
          </p:cNvPr>
          <p:cNvSpPr>
            <a:spLocks xmlns:a="http://schemas.openxmlformats.org/drawingml/2006/main" noGrp="1"/>
          </p:cNvSpPr>
          <p:nvPr/>
        </p:nvSpPr>
        <p:spPr>
          <a:xfrm xmlns:a="http://schemas.openxmlformats.org/drawingml/2006/main">
            <a:off x="647700" y="2286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ED7F0D"/>
                </a:solidFill>
              </a:defRPr>
            </a:pPr>
            <a:r>
              <a:rPr sz="1050" b="1">
                <a:solidFill>
                  <a:srgbClr val="ED7F0D"/>
                </a:solidFill>
              </a:rPr>
              <a:t>19</a:t>
            </a:r>
          </a:p>
        </p:txBody>
      </p:sp>
      <p:sp>
        <p:nvSpPr>
          <p:cNvPr id="2" name="">
            <a:extLst xmlns:a="http://schemas.openxmlformats.org/drawingml/2006/main">
              <a:ext uri="{FF2B5EF4-FFF2-40B4-BE49-F238E27FC236}">
                <a16:creationId xmlns:a16="http://schemas.microsoft.com/office/drawing/2014/main" id="{83BFBF16-989E-45A2-8A24-6C8A31E19B05}"/>
              </a:ext>
            </a:extLst>
          </p:cNvPr>
          <p:cNvSpPr>
            <a:spLocks xmlns:a="http://schemas.openxmlformats.org/drawingml/2006/main" noGrp="1"/>
          </p:cNvSpPr>
          <p:nvPr/>
        </p:nvSpPr>
        <p:spPr>
          <a:xfrm xmlns:a="http://schemas.openxmlformats.org/drawingml/2006/main">
            <a:off x="1104900" y="22860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6B7580"/>
                </a:solidFill>
              </a:defRPr>
            </a:pPr>
            <a:r>
              <a:rPr sz="975" b="1">
                <a:solidFill>
                  <a:srgbClr val="6B7580"/>
                </a:solidFill>
              </a:rPr>
              <a:t>FRAMEWORK</a:t>
            </a:r>
          </a:p>
        </p:txBody>
      </p:sp>
      <p:sp>
        <p:nvSpPr>
          <p:cNvPr id="3" name="">
            <a:extLst xmlns:a="http://schemas.openxmlformats.org/drawingml/2006/main">
              <a:ext uri="{FF2B5EF4-FFF2-40B4-BE49-F238E27FC236}">
                <a16:creationId xmlns:a16="http://schemas.microsoft.com/office/drawing/2014/main" id="{0D15FC7A-7BF8-412A-8743-420B336EA850}"/>
              </a:ext>
            </a:extLst>
          </p:cNvPr>
          <p:cNvSpPr>
            <a:spLocks xmlns:a="http://schemas.openxmlformats.org/drawingml/2006/main" noGrp="1"/>
          </p:cNvSpPr>
          <p:nvPr/>
        </p:nvSpPr>
        <p:spPr>
          <a:xfrm xmlns:a="http://schemas.openxmlformats.org/drawingml/2006/main">
            <a:off x="6191250" y="228600"/>
            <a:ext cx="5353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0">
                <a:solidFill>
                  <a:srgbClr val="6B7580"/>
                </a:solidFill>
              </a:defRPr>
            </a:pPr>
            <a:r>
              <a:rPr sz="825" b="0">
                <a:solidFill>
                  <a:srgbClr val="6B7580"/>
                </a:solidFill>
              </a:rPr>
              <a:t>Problem   Task   ● Framework   Simulation   Hardware   Discussion</a:t>
            </a:r>
          </a:p>
        </p:txBody>
      </p:sp>
      <p:sp>
        <p:nvSpPr>
          <p:cNvPr id="4" name="">
            <a:extLst xmlns:a="http://schemas.openxmlformats.org/drawingml/2006/main">
              <a:ext uri="{FF2B5EF4-FFF2-40B4-BE49-F238E27FC236}">
                <a16:creationId xmlns:a16="http://schemas.microsoft.com/office/drawing/2014/main" id="{F95F4805-7FA2-4832-9CBD-031C3E1A1917}"/>
              </a:ext>
            </a:extLst>
          </p:cNvPr>
          <p:cNvSpPr>
            <a:spLocks xmlns:a="http://schemas.openxmlformats.org/drawingml/2006/main" noGrp="1"/>
          </p:cNvSpPr>
          <p:nvPr/>
        </p:nvSpPr>
        <p:spPr>
          <a:xfrm xmlns:a="http://schemas.openxmlformats.org/drawingml/2006/main">
            <a:off x="647700" y="533400"/>
            <a:ext cx="108394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004282"/>
                </a:solidFill>
              </a:defRPr>
            </a:pPr>
            <a:r>
              <a:rPr sz="2850" b="1">
                <a:solidFill>
                  <a:srgbClr val="004282"/>
                </a:solidFill>
              </a:rPr>
              <a:t>Supported posterior mass becomes a short, capped move</a:t>
            </a:r>
          </a:p>
        </p:txBody>
      </p:sp>
      <p:sp>
        <p:nvSpPr>
          <p:cNvPr id="5" name="">
            <a:extLst xmlns:a="http://schemas.openxmlformats.org/drawingml/2006/main">
              <a:ext uri="{FF2B5EF4-FFF2-40B4-BE49-F238E27FC236}">
                <a16:creationId xmlns:a16="http://schemas.microsoft.com/office/drawing/2014/main" id="{ECE7022B-B95B-467A-9508-A6DC8DE3C856}"/>
              </a:ext>
            </a:extLst>
          </p:cNvPr>
          <p:cNvSpPr>
            <a:spLocks xmlns:a="http://schemas.openxmlformats.org/drawingml/2006/main" noGrp="1"/>
          </p:cNvSpPr>
          <p:nvPr/>
        </p:nvSpPr>
        <p:spPr>
          <a:xfrm xmlns:a="http://schemas.openxmlformats.org/drawingml/2006/main">
            <a:off x="647700" y="1257300"/>
            <a:ext cx="609600" cy="47625"/>
          </a:xfrm>
          <a:prstGeom xmlns:a="http://schemas.openxmlformats.org/drawingml/2006/main" prst="rect">
            <a:avLst/>
          </a:prstGeom>
          <a:solidFill xmlns:a="http://schemas.openxmlformats.org/drawingml/2006/main">
            <a:srgbClr val="ED7F0D"/>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C07A2083-563E-4E0B-B0AF-A46314EA126A}"/>
              </a:ext>
            </a:extLst>
          </p:cNvPr>
          <p:cNvSpPr>
            <a:spLocks xmlns:a="http://schemas.openxmlformats.org/drawingml/2006/main" noGrp="1"/>
          </p:cNvSpPr>
          <p:nvPr/>
        </p:nvSpPr>
        <p:spPr>
          <a:xfrm xmlns:a="http://schemas.openxmlformats.org/drawingml/2006/main">
            <a:off x="647700" y="6486525"/>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6B7580"/>
                </a:solidFill>
              </a:defRPr>
            </a:pPr>
            <a:r>
              <a:rPr sz="825" b="0">
                <a:solidFill>
                  <a:srgbClr val="6B7580"/>
                </a:solidFill>
              </a:rPr>
              <a:t>Nan Jinyao · Paper-aligned group review</a:t>
            </a:r>
          </a:p>
        </p:txBody>
      </p:sp>
      <p:sp>
        <p:nvSpPr>
          <p:cNvPr id="7" name="">
            <a:extLst xmlns:a="http://schemas.openxmlformats.org/drawingml/2006/main">
              <a:ext uri="{FF2B5EF4-FFF2-40B4-BE49-F238E27FC236}">
                <a16:creationId xmlns:a16="http://schemas.microsoft.com/office/drawing/2014/main" id="{7ACA881A-7934-4709-8731-F2A9C2643359}"/>
              </a:ext>
            </a:extLst>
          </p:cNvPr>
          <p:cNvSpPr>
            <a:spLocks xmlns:a="http://schemas.openxmlformats.org/drawingml/2006/main" noGrp="1"/>
          </p:cNvSpPr>
          <p:nvPr/>
        </p:nvSpPr>
        <p:spPr>
          <a:xfrm xmlns:a="http://schemas.openxmlformats.org/drawingml/2006/main">
            <a:off x="4476750" y="6486525"/>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0">
                <a:solidFill>
                  <a:srgbClr val="6B7580"/>
                </a:solidFill>
              </a:defRPr>
            </a:pPr>
            <a:r>
              <a:rPr sz="825" b="0">
                <a:solidFill>
                  <a:srgbClr val="6B7580"/>
                </a:solidFill>
              </a:rPr>
              <a:t>Sec. III-C · Eqs. (16)–(19)</a:t>
            </a:r>
          </a:p>
        </p:txBody>
      </p:sp>
      <p:sp>
        <p:nvSpPr>
          <p:cNvPr id="8" name="">
            <a:extLst xmlns:a="http://schemas.openxmlformats.org/drawingml/2006/main">
              <a:ext uri="{FF2B5EF4-FFF2-40B4-BE49-F238E27FC236}">
                <a16:creationId xmlns:a16="http://schemas.microsoft.com/office/drawing/2014/main" id="{7920DF03-0386-4D2C-AFDA-6499FF1C7C5F}"/>
              </a:ext>
            </a:extLst>
          </p:cNvPr>
          <p:cNvSpPr>
            <a:spLocks xmlns:a="http://schemas.openxmlformats.org/drawingml/2006/main" noGrp="1"/>
          </p:cNvSpPr>
          <p:nvPr/>
        </p:nvSpPr>
        <p:spPr>
          <a:xfrm xmlns:a="http://schemas.openxmlformats.org/drawingml/2006/main">
            <a:off x="11049000" y="648652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004282"/>
                </a:solidFill>
              </a:defRPr>
            </a:pPr>
            <a:r>
              <a:rPr sz="825" b="1">
                <a:solidFill>
                  <a:srgbClr val="004282"/>
                </a:solidFill>
              </a:rPr>
              <a:t>19</a:t>
            </a:r>
          </a:p>
        </p:txBody>
      </p:sp>
      <p:sp>
        <p:nvSpPr>
          <p:cNvPr id="9" name="">
            <a:extLst xmlns:a="http://schemas.openxmlformats.org/drawingml/2006/main">
              <a:ext uri="{FF2B5EF4-FFF2-40B4-BE49-F238E27FC236}">
                <a16:creationId xmlns:a16="http://schemas.microsoft.com/office/drawing/2014/main" id="{F1B47587-8C92-49E2-BCE9-7F5FFBC6F2FF}"/>
              </a:ext>
            </a:extLst>
          </p:cNvPr>
          <p:cNvSpPr>
            <a:spLocks xmlns:a="http://schemas.openxmlformats.org/drawingml/2006/main" noGrp="1"/>
          </p:cNvSpPr>
          <p:nvPr/>
        </p:nvSpPr>
        <p:spPr>
          <a:xfrm xmlns:a="http://schemas.openxmlformats.org/drawingml/2006/main">
            <a:off x="704850" y="1428750"/>
            <a:ext cx="10725150" cy="4400550"/>
          </a:xfrm>
          <a:prstGeom xmlns:a="http://schemas.openxmlformats.org/drawingml/2006/main" prst="roundRect">
            <a:avLst>
              <a:gd name="adj" fmla="val 1732"/>
            </a:avLst>
          </a:prstGeom>
          <a:solidFill xmlns:a="http://schemas.openxmlformats.org/drawingml/2006/main">
            <a:srgbClr val="FFFFFF"/>
          </a:solidFill>
          <a:ln xmlns:a="http://schemas.openxmlformats.org/drawingml/2006/main" w="9525">
            <a:solidFill>
              <a:srgbClr val="D9E0E6"/>
            </a:solidFill>
            <a:prstDash val="solid"/>
          </a:ln>
        </p:spPr>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04d2d10df4124592"/>
          <a:stretch xmlns:a="http://schemas.openxmlformats.org/drawingml/2006/main"/>
        </p:blipFill>
        <p:spPr>
          <a:xfrm xmlns:a="http://schemas.openxmlformats.org/drawingml/2006/main">
            <a:off x="781050" y="1536963"/>
            <a:ext cx="10572750" cy="4184123"/>
          </a:xfrm>
          <a:prstGeom xmlns:a="http://schemas.openxmlformats.org/drawingml/2006/main" prst="roundRect">
            <a:avLst>
              <a:gd name="adj" fmla="val 1794"/>
            </a:avLst>
          </a:prstGeom>
        </p:spPr>
      </p:pic>
      <p:sp>
        <p:nvSpPr>
          <p:cNvPr id="11" name="">
            <a:extLst xmlns:a="http://schemas.openxmlformats.org/drawingml/2006/main">
              <a:ext uri="{FF2B5EF4-FFF2-40B4-BE49-F238E27FC236}">
                <a16:creationId xmlns:a16="http://schemas.microsoft.com/office/drawing/2014/main" id="{B98242CC-CDEF-4313-992A-C16D9DBF5344}"/>
              </a:ext>
            </a:extLst>
          </p:cNvPr>
          <p:cNvSpPr>
            <a:spLocks xmlns:a="http://schemas.openxmlformats.org/drawingml/2006/main" noGrp="1"/>
          </p:cNvSpPr>
          <p:nvPr/>
        </p:nvSpPr>
        <p:spPr>
          <a:xfrm xmlns:a="http://schemas.openxmlformats.org/drawingml/2006/main">
            <a:off x="647700" y="5943600"/>
            <a:ext cx="10839450" cy="400050"/>
          </a:xfrm>
          <a:prstGeom xmlns:a="http://schemas.openxmlformats.org/drawingml/2006/main" prst="rect">
            <a:avLst/>
          </a:prstGeom>
          <a:solidFill xmlns:a="http://schemas.openxmlformats.org/drawingml/2006/main">
            <a:srgbClr val="FFF0E2"/>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BA880E7E-7D42-4D9B-BA38-DCDB8A9E95B7}"/>
              </a:ext>
            </a:extLst>
          </p:cNvPr>
          <p:cNvSpPr>
            <a:spLocks xmlns:a="http://schemas.openxmlformats.org/drawingml/2006/main" noGrp="1"/>
          </p:cNvSpPr>
          <p:nvPr/>
        </p:nvSpPr>
        <p:spPr>
          <a:xfrm xmlns:a="http://schemas.openxmlformats.org/drawingml/2006/main">
            <a:off x="647700" y="5943600"/>
            <a:ext cx="57150" cy="400050"/>
          </a:xfrm>
          <a:prstGeom xmlns:a="http://schemas.openxmlformats.org/drawingml/2006/main" prst="rect">
            <a:avLst/>
          </a:prstGeom>
          <a:solidFill xmlns:a="http://schemas.openxmlformats.org/drawingml/2006/main">
            <a:srgbClr val="ED7F0D"/>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5683F21A-F242-487E-8A8E-3CDBCF9FB055}"/>
              </a:ext>
            </a:extLst>
          </p:cNvPr>
          <p:cNvSpPr>
            <a:spLocks xmlns:a="http://schemas.openxmlformats.org/drawingml/2006/main" noGrp="1"/>
          </p:cNvSpPr>
          <p:nvPr/>
        </p:nvSpPr>
        <p:spPr>
          <a:xfrm xmlns:a="http://schemas.openxmlformats.org/drawingml/2006/main">
            <a:off x="838200" y="5981700"/>
            <a:ext cx="10458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152538"/>
                </a:solidFill>
              </a:defRPr>
            </a:pPr>
            <a:r>
              <a:rPr sz="1275" b="1">
                <a:solidFill>
                  <a:srgbClr val="152538"/>
                </a:solidFill>
              </a:rPr>
              <a:t>Projected support, radial support and the command limit all cap the shortcut.</a:t>
            </a:r>
          </a:p>
        </p:txBody>
      </p:sp>
    </p:spTree>
    <p:extLst>
      <p:ext uri="{BB962C8B-B14F-4D97-AF65-F5344CB8AC3E}">
        <p14:creationId xmlns:p14="http://schemas.microsoft.com/office/powerpoint/2010/main" val="614870987"/>
      </p:ext>
    </p:extLst>
  </p:cSld>
</p:sld>
</file>

<file path=ppt/slides/slide20.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5B22D08-8694-498E-AA38-926596127566}"/>
              </a:ext>
            </a:extLst>
          </p:cNvPr>
          <p:cNvSpPr>
            <a:spLocks xmlns:a="http://schemas.openxmlformats.org/drawingml/2006/main" noGrp="1"/>
          </p:cNvSpPr>
          <p:nvPr/>
        </p:nvSpPr>
        <p:spPr>
          <a:xfrm xmlns:a="http://schemas.openxmlformats.org/drawingml/2006/main">
            <a:off x="647700" y="2286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ED7F0D"/>
                </a:solidFill>
              </a:defRPr>
            </a:pPr>
            <a:r>
              <a:rPr sz="1050" b="1">
                <a:solidFill>
                  <a:srgbClr val="ED7F0D"/>
                </a:solidFill>
              </a:rPr>
              <a:t>20</a:t>
            </a:r>
          </a:p>
        </p:txBody>
      </p:sp>
      <p:sp>
        <p:nvSpPr>
          <p:cNvPr id="2" name="">
            <a:extLst xmlns:a="http://schemas.openxmlformats.org/drawingml/2006/main">
              <a:ext uri="{FF2B5EF4-FFF2-40B4-BE49-F238E27FC236}">
                <a16:creationId xmlns:a16="http://schemas.microsoft.com/office/drawing/2014/main" id="{95F9810E-BAA0-4EAA-8D14-4172DD4F2CF7}"/>
              </a:ext>
            </a:extLst>
          </p:cNvPr>
          <p:cNvSpPr>
            <a:spLocks xmlns:a="http://schemas.openxmlformats.org/drawingml/2006/main" noGrp="1"/>
          </p:cNvSpPr>
          <p:nvPr/>
        </p:nvSpPr>
        <p:spPr>
          <a:xfrm xmlns:a="http://schemas.openxmlformats.org/drawingml/2006/main">
            <a:off x="1104900" y="22860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6B7580"/>
                </a:solidFill>
              </a:defRPr>
            </a:pPr>
            <a:r>
              <a:rPr sz="975" b="1">
                <a:solidFill>
                  <a:srgbClr val="6B7580"/>
                </a:solidFill>
              </a:rPr>
              <a:t>FRAMEWORK</a:t>
            </a:r>
          </a:p>
        </p:txBody>
      </p:sp>
      <p:sp>
        <p:nvSpPr>
          <p:cNvPr id="3" name="">
            <a:extLst xmlns:a="http://schemas.openxmlformats.org/drawingml/2006/main">
              <a:ext uri="{FF2B5EF4-FFF2-40B4-BE49-F238E27FC236}">
                <a16:creationId xmlns:a16="http://schemas.microsoft.com/office/drawing/2014/main" id="{2BE1F928-C568-4132-BB3D-E8E6D578AA84}"/>
              </a:ext>
            </a:extLst>
          </p:cNvPr>
          <p:cNvSpPr>
            <a:spLocks xmlns:a="http://schemas.openxmlformats.org/drawingml/2006/main" noGrp="1"/>
          </p:cNvSpPr>
          <p:nvPr/>
        </p:nvSpPr>
        <p:spPr>
          <a:xfrm xmlns:a="http://schemas.openxmlformats.org/drawingml/2006/main">
            <a:off x="6191250" y="228600"/>
            <a:ext cx="5353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0">
                <a:solidFill>
                  <a:srgbClr val="6B7580"/>
                </a:solidFill>
              </a:defRPr>
            </a:pPr>
            <a:r>
              <a:rPr sz="825" b="0">
                <a:solidFill>
                  <a:srgbClr val="6B7580"/>
                </a:solidFill>
              </a:rPr>
              <a:t>Problem   Task   ● Framework   Simulation   Hardware   Discussion</a:t>
            </a:r>
          </a:p>
        </p:txBody>
      </p:sp>
      <p:sp>
        <p:nvSpPr>
          <p:cNvPr id="4" name="">
            <a:extLst xmlns:a="http://schemas.openxmlformats.org/drawingml/2006/main">
              <a:ext uri="{FF2B5EF4-FFF2-40B4-BE49-F238E27FC236}">
                <a16:creationId xmlns:a16="http://schemas.microsoft.com/office/drawing/2014/main" id="{87796612-5E27-4CA1-9CEA-5CF4AB778598}"/>
              </a:ext>
            </a:extLst>
          </p:cNvPr>
          <p:cNvSpPr>
            <a:spLocks xmlns:a="http://schemas.openxmlformats.org/drawingml/2006/main" noGrp="1"/>
          </p:cNvSpPr>
          <p:nvPr/>
        </p:nvSpPr>
        <p:spPr>
          <a:xfrm xmlns:a="http://schemas.openxmlformats.org/drawingml/2006/main">
            <a:off x="647700" y="533400"/>
            <a:ext cx="108394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004282"/>
                </a:solidFill>
              </a:defRPr>
            </a:pPr>
            <a:r>
              <a:rPr sz="2850" b="1">
                <a:solidFill>
                  <a:srgbClr val="004282"/>
                </a:solidFill>
              </a:rPr>
              <a:t>Uncertain or reversed cues receive less authority</a:t>
            </a:r>
          </a:p>
        </p:txBody>
      </p:sp>
      <p:sp>
        <p:nvSpPr>
          <p:cNvPr id="5" name="">
            <a:extLst xmlns:a="http://schemas.openxmlformats.org/drawingml/2006/main">
              <a:ext uri="{FF2B5EF4-FFF2-40B4-BE49-F238E27FC236}">
                <a16:creationId xmlns:a16="http://schemas.microsoft.com/office/drawing/2014/main" id="{6B8BD3ED-50F1-4510-81AC-27EB3109404E}"/>
              </a:ext>
            </a:extLst>
          </p:cNvPr>
          <p:cNvSpPr>
            <a:spLocks xmlns:a="http://schemas.openxmlformats.org/drawingml/2006/main" noGrp="1"/>
          </p:cNvSpPr>
          <p:nvPr/>
        </p:nvSpPr>
        <p:spPr>
          <a:xfrm xmlns:a="http://schemas.openxmlformats.org/drawingml/2006/main">
            <a:off x="647700" y="1257300"/>
            <a:ext cx="609600" cy="47625"/>
          </a:xfrm>
          <a:prstGeom xmlns:a="http://schemas.openxmlformats.org/drawingml/2006/main" prst="rect">
            <a:avLst/>
          </a:prstGeom>
          <a:solidFill xmlns:a="http://schemas.openxmlformats.org/drawingml/2006/main">
            <a:srgbClr val="ED7F0D"/>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308917D5-60D0-407C-946E-EFBA2502FF54}"/>
              </a:ext>
            </a:extLst>
          </p:cNvPr>
          <p:cNvSpPr>
            <a:spLocks xmlns:a="http://schemas.openxmlformats.org/drawingml/2006/main" noGrp="1"/>
          </p:cNvSpPr>
          <p:nvPr/>
        </p:nvSpPr>
        <p:spPr>
          <a:xfrm xmlns:a="http://schemas.openxmlformats.org/drawingml/2006/main">
            <a:off x="647700" y="6486525"/>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6B7580"/>
                </a:solidFill>
              </a:defRPr>
            </a:pPr>
            <a:r>
              <a:rPr sz="825" b="0">
                <a:solidFill>
                  <a:srgbClr val="6B7580"/>
                </a:solidFill>
              </a:rPr>
              <a:t>Nan Jinyao · Paper-aligned group review</a:t>
            </a:r>
          </a:p>
        </p:txBody>
      </p:sp>
      <p:sp>
        <p:nvSpPr>
          <p:cNvPr id="7" name="">
            <a:extLst xmlns:a="http://schemas.openxmlformats.org/drawingml/2006/main">
              <a:ext uri="{FF2B5EF4-FFF2-40B4-BE49-F238E27FC236}">
                <a16:creationId xmlns:a16="http://schemas.microsoft.com/office/drawing/2014/main" id="{9B1ECDA9-1815-4071-86D4-1685E7C58167}"/>
              </a:ext>
            </a:extLst>
          </p:cNvPr>
          <p:cNvSpPr>
            <a:spLocks xmlns:a="http://schemas.openxmlformats.org/drawingml/2006/main" noGrp="1"/>
          </p:cNvSpPr>
          <p:nvPr/>
        </p:nvSpPr>
        <p:spPr>
          <a:xfrm xmlns:a="http://schemas.openxmlformats.org/drawingml/2006/main">
            <a:off x="4476750" y="6486525"/>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0">
                <a:solidFill>
                  <a:srgbClr val="6B7580"/>
                </a:solidFill>
              </a:defRPr>
            </a:pPr>
            <a:r>
              <a:rPr sz="825" b="0">
                <a:solidFill>
                  <a:srgbClr val="6B7580"/>
                </a:solidFill>
              </a:rPr>
              <a:t>Sec. III-C · Fig. 4</a:t>
            </a:r>
          </a:p>
        </p:txBody>
      </p:sp>
      <p:sp>
        <p:nvSpPr>
          <p:cNvPr id="8" name="">
            <a:extLst xmlns:a="http://schemas.openxmlformats.org/drawingml/2006/main">
              <a:ext uri="{FF2B5EF4-FFF2-40B4-BE49-F238E27FC236}">
                <a16:creationId xmlns:a16="http://schemas.microsoft.com/office/drawing/2014/main" id="{10A3FCE5-BCC2-485A-AFDE-47BD1BC9C3E9}"/>
              </a:ext>
            </a:extLst>
          </p:cNvPr>
          <p:cNvSpPr>
            <a:spLocks xmlns:a="http://schemas.openxmlformats.org/drawingml/2006/main" noGrp="1"/>
          </p:cNvSpPr>
          <p:nvPr/>
        </p:nvSpPr>
        <p:spPr>
          <a:xfrm xmlns:a="http://schemas.openxmlformats.org/drawingml/2006/main">
            <a:off x="11049000" y="648652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004282"/>
                </a:solidFill>
              </a:defRPr>
            </a:pPr>
            <a:r>
              <a:rPr sz="825" b="1">
                <a:solidFill>
                  <a:srgbClr val="004282"/>
                </a:solidFill>
              </a:rPr>
              <a:t>20</a:t>
            </a:r>
          </a:p>
        </p:txBody>
      </p:sp>
      <p:sp>
        <p:nvSpPr>
          <p:cNvPr id="9" name="">
            <a:extLst xmlns:a="http://schemas.openxmlformats.org/drawingml/2006/main">
              <a:ext uri="{FF2B5EF4-FFF2-40B4-BE49-F238E27FC236}">
                <a16:creationId xmlns:a16="http://schemas.microsoft.com/office/drawing/2014/main" id="{17B583FC-8987-4658-AF54-DA86C42EB5FE}"/>
              </a:ext>
            </a:extLst>
          </p:cNvPr>
          <p:cNvSpPr>
            <a:spLocks xmlns:a="http://schemas.openxmlformats.org/drawingml/2006/main" noGrp="1"/>
          </p:cNvSpPr>
          <p:nvPr/>
        </p:nvSpPr>
        <p:spPr>
          <a:xfrm xmlns:a="http://schemas.openxmlformats.org/drawingml/2006/main">
            <a:off x="666750" y="1504950"/>
            <a:ext cx="7391400" cy="4057650"/>
          </a:xfrm>
          <a:prstGeom xmlns:a="http://schemas.openxmlformats.org/drawingml/2006/main" prst="roundRect">
            <a:avLst>
              <a:gd name="adj" fmla="val 1878"/>
            </a:avLst>
          </a:prstGeom>
          <a:solidFill xmlns:a="http://schemas.openxmlformats.org/drawingml/2006/main">
            <a:srgbClr val="FFFFFF"/>
          </a:solidFill>
          <a:ln xmlns:a="http://schemas.openxmlformats.org/drawingml/2006/main" w="9525">
            <a:solidFill>
              <a:srgbClr val="D9E0E6"/>
            </a:solidFill>
            <a:prstDash val="solid"/>
          </a:ln>
        </p:spPr>
      </p:sp>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dbf0c56f226c4b2d"/>
          <a:stretch xmlns:a="http://schemas.openxmlformats.org/drawingml/2006/main"/>
        </p:blipFill>
        <p:spPr>
          <a:xfrm xmlns:a="http://schemas.openxmlformats.org/drawingml/2006/main">
            <a:off x="742950" y="2101373"/>
            <a:ext cx="7239000" cy="2864805"/>
          </a:xfrm>
          <a:prstGeom xmlns:a="http://schemas.openxmlformats.org/drawingml/2006/main" prst="roundRect">
            <a:avLst>
              <a:gd name="adj" fmla="val 1951"/>
            </a:avLst>
          </a:prstGeom>
        </p:spPr>
      </p:pic>
      <p:sp>
        <p:nvSpPr>
          <p:cNvPr id="11" name="">
            <a:extLst xmlns:a="http://schemas.openxmlformats.org/drawingml/2006/main">
              <a:ext uri="{FF2B5EF4-FFF2-40B4-BE49-F238E27FC236}">
                <a16:creationId xmlns:a16="http://schemas.microsoft.com/office/drawing/2014/main" id="{7EB455F7-0043-4F09-B4A0-283737008CF9}"/>
              </a:ext>
            </a:extLst>
          </p:cNvPr>
          <p:cNvSpPr>
            <a:spLocks xmlns:a="http://schemas.openxmlformats.org/drawingml/2006/main" noGrp="1"/>
          </p:cNvSpPr>
          <p:nvPr/>
        </p:nvSpPr>
        <p:spPr>
          <a:xfrm xmlns:a="http://schemas.openxmlformats.org/drawingml/2006/main">
            <a:off x="8305800" y="1657350"/>
            <a:ext cx="2667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550" b="1">
                <a:solidFill>
                  <a:srgbClr val="0072B2"/>
                </a:solidFill>
              </a:defRPr>
            </a:pPr>
            <a:r>
              <a:rPr sz="2550" b="1">
                <a:solidFill>
                  <a:srgbClr val="0072B2"/>
                </a:solidFill>
              </a:rPr>
              <a:t>2.873 mm</a:t>
            </a:r>
          </a:p>
        </p:txBody>
      </p:sp>
      <p:sp>
        <p:nvSpPr>
          <p:cNvPr id="12" name="">
            <a:extLst xmlns:a="http://schemas.openxmlformats.org/drawingml/2006/main">
              <a:ext uri="{FF2B5EF4-FFF2-40B4-BE49-F238E27FC236}">
                <a16:creationId xmlns:a16="http://schemas.microsoft.com/office/drawing/2014/main" id="{DE721E94-AB46-41E9-981E-A47FFE527B0F}"/>
              </a:ext>
            </a:extLst>
          </p:cNvPr>
          <p:cNvSpPr>
            <a:spLocks xmlns:a="http://schemas.openxmlformats.org/drawingml/2006/main" noGrp="1"/>
          </p:cNvSpPr>
          <p:nvPr/>
        </p:nvSpPr>
        <p:spPr>
          <a:xfrm xmlns:a="http://schemas.openxmlformats.org/drawingml/2006/main">
            <a:off x="8305800" y="2152650"/>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0">
                <a:solidFill>
                  <a:srgbClr val="6B7580"/>
                </a:solidFill>
              </a:defRPr>
            </a:pPr>
            <a:r>
              <a:rPr sz="1200" b="0">
                <a:solidFill>
                  <a:srgbClr val="6B7580"/>
                </a:solidFill>
              </a:rPr>
              <a:t>clear shortcut</a:t>
            </a:r>
          </a:p>
        </p:txBody>
      </p:sp>
      <p:sp>
        <p:nvSpPr>
          <p:cNvPr id="13" name="">
            <a:extLst xmlns:a="http://schemas.openxmlformats.org/drawingml/2006/main">
              <a:ext uri="{FF2B5EF4-FFF2-40B4-BE49-F238E27FC236}">
                <a16:creationId xmlns:a16="http://schemas.microsoft.com/office/drawing/2014/main" id="{ECDF8F7B-4768-4E3A-8C1E-0A339CCF8AF9}"/>
              </a:ext>
            </a:extLst>
          </p:cNvPr>
          <p:cNvSpPr>
            <a:spLocks xmlns:a="http://schemas.openxmlformats.org/drawingml/2006/main" noGrp="1"/>
          </p:cNvSpPr>
          <p:nvPr/>
        </p:nvSpPr>
        <p:spPr>
          <a:xfrm xmlns:a="http://schemas.openxmlformats.org/drawingml/2006/main">
            <a:off x="8305800" y="2400300"/>
            <a:ext cx="2667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550" b="1">
                <a:solidFill>
                  <a:srgbClr val="0072B2"/>
                </a:solidFill>
              </a:defRPr>
            </a:pPr>
            <a:r>
              <a:rPr sz="2550" b="1">
                <a:solidFill>
                  <a:srgbClr val="0072B2"/>
                </a:solidFill>
              </a:rPr>
              <a:t>1.732 mm</a:t>
            </a:r>
          </a:p>
        </p:txBody>
      </p:sp>
      <p:sp>
        <p:nvSpPr>
          <p:cNvPr id="14" name="">
            <a:extLst xmlns:a="http://schemas.openxmlformats.org/drawingml/2006/main">
              <a:ext uri="{FF2B5EF4-FFF2-40B4-BE49-F238E27FC236}">
                <a16:creationId xmlns:a16="http://schemas.microsoft.com/office/drawing/2014/main" id="{DC7A954D-5B80-44E6-8ECF-606B31B845EA}"/>
              </a:ext>
            </a:extLst>
          </p:cNvPr>
          <p:cNvSpPr>
            <a:spLocks xmlns:a="http://schemas.openxmlformats.org/drawingml/2006/main" noGrp="1"/>
          </p:cNvSpPr>
          <p:nvPr/>
        </p:nvSpPr>
        <p:spPr>
          <a:xfrm xmlns:a="http://schemas.openxmlformats.org/drawingml/2006/main">
            <a:off x="8305800" y="2895600"/>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0">
                <a:solidFill>
                  <a:srgbClr val="6B7580"/>
                </a:solidFill>
              </a:defRPr>
            </a:pPr>
            <a:r>
              <a:rPr sz="1200" b="0">
                <a:solidFill>
                  <a:srgbClr val="6B7580"/>
                </a:solidFill>
              </a:rPr>
              <a:t>clear residual</a:t>
            </a:r>
          </a:p>
        </p:txBody>
      </p:sp>
      <p:sp>
        <p:nvSpPr>
          <p:cNvPr id="15" name="">
            <a:extLst xmlns:a="http://schemas.openxmlformats.org/drawingml/2006/main">
              <a:ext uri="{FF2B5EF4-FFF2-40B4-BE49-F238E27FC236}">
                <a16:creationId xmlns:a16="http://schemas.microsoft.com/office/drawing/2014/main" id="{254758C3-B792-44F7-B3E2-2E922A1B44A6}"/>
              </a:ext>
            </a:extLst>
          </p:cNvPr>
          <p:cNvSpPr>
            <a:spLocks xmlns:a="http://schemas.openxmlformats.org/drawingml/2006/main" noGrp="1"/>
          </p:cNvSpPr>
          <p:nvPr/>
        </p:nvSpPr>
        <p:spPr>
          <a:xfrm xmlns:a="http://schemas.openxmlformats.org/drawingml/2006/main">
            <a:off x="8305800" y="3143250"/>
            <a:ext cx="2667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550" b="1">
                <a:solidFill>
                  <a:srgbClr val="ED7F0D"/>
                </a:solidFill>
              </a:defRPr>
            </a:pPr>
            <a:r>
              <a:rPr sz="2550" b="1">
                <a:solidFill>
                  <a:srgbClr val="ED7F0D"/>
                </a:solidFill>
              </a:rPr>
              <a:t>0.903 mm</a:t>
            </a:r>
          </a:p>
        </p:txBody>
      </p:sp>
      <p:sp>
        <p:nvSpPr>
          <p:cNvPr id="16" name="">
            <a:extLst xmlns:a="http://schemas.openxmlformats.org/drawingml/2006/main">
              <a:ext uri="{FF2B5EF4-FFF2-40B4-BE49-F238E27FC236}">
                <a16:creationId xmlns:a16="http://schemas.microsoft.com/office/drawing/2014/main" id="{F3C3D23E-3C9F-4C28-A832-05B67FA84469}"/>
              </a:ext>
            </a:extLst>
          </p:cNvPr>
          <p:cNvSpPr>
            <a:spLocks xmlns:a="http://schemas.openxmlformats.org/drawingml/2006/main" noGrp="1"/>
          </p:cNvSpPr>
          <p:nvPr/>
        </p:nvSpPr>
        <p:spPr>
          <a:xfrm xmlns:a="http://schemas.openxmlformats.org/drawingml/2006/main">
            <a:off x="8305800" y="3638550"/>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0">
                <a:solidFill>
                  <a:srgbClr val="6B7580"/>
                </a:solidFill>
              </a:defRPr>
            </a:pPr>
            <a:r>
              <a:rPr sz="1200" b="0">
                <a:solidFill>
                  <a:srgbClr val="6B7580"/>
                </a:solidFill>
              </a:rPr>
              <a:t>ambiguous shortcut</a:t>
            </a:r>
          </a:p>
        </p:txBody>
      </p:sp>
      <p:sp>
        <p:nvSpPr>
          <p:cNvPr id="17" name="">
            <a:extLst xmlns:a="http://schemas.openxmlformats.org/drawingml/2006/main">
              <a:ext uri="{FF2B5EF4-FFF2-40B4-BE49-F238E27FC236}">
                <a16:creationId xmlns:a16="http://schemas.microsoft.com/office/drawing/2014/main" id="{4A36A078-DBD4-4F86-AD6A-3D15FA664FA7}"/>
              </a:ext>
            </a:extLst>
          </p:cNvPr>
          <p:cNvSpPr>
            <a:spLocks xmlns:a="http://schemas.openxmlformats.org/drawingml/2006/main" noGrp="1"/>
          </p:cNvSpPr>
          <p:nvPr/>
        </p:nvSpPr>
        <p:spPr>
          <a:xfrm xmlns:a="http://schemas.openxmlformats.org/drawingml/2006/main">
            <a:off x="8305800" y="3886200"/>
            <a:ext cx="2667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550" b="1">
                <a:solidFill>
                  <a:srgbClr val="ED7F0D"/>
                </a:solidFill>
              </a:defRPr>
            </a:pPr>
            <a:r>
              <a:rPr sz="2550" b="1">
                <a:solidFill>
                  <a:srgbClr val="ED7F0D"/>
                </a:solidFill>
              </a:rPr>
              <a:t>3.402 mm</a:t>
            </a:r>
          </a:p>
        </p:txBody>
      </p:sp>
      <p:sp>
        <p:nvSpPr>
          <p:cNvPr id="18" name="">
            <a:extLst xmlns:a="http://schemas.openxmlformats.org/drawingml/2006/main">
              <a:ext uri="{FF2B5EF4-FFF2-40B4-BE49-F238E27FC236}">
                <a16:creationId xmlns:a16="http://schemas.microsoft.com/office/drawing/2014/main" id="{B7347F96-37FE-4D47-BC4A-F3CC940AFF00}"/>
              </a:ext>
            </a:extLst>
          </p:cNvPr>
          <p:cNvSpPr>
            <a:spLocks xmlns:a="http://schemas.openxmlformats.org/drawingml/2006/main" noGrp="1"/>
          </p:cNvSpPr>
          <p:nvPr/>
        </p:nvSpPr>
        <p:spPr>
          <a:xfrm xmlns:a="http://schemas.openxmlformats.org/drawingml/2006/main">
            <a:off x="8305800" y="4381500"/>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0">
                <a:solidFill>
                  <a:srgbClr val="6B7580"/>
                </a:solidFill>
              </a:defRPr>
            </a:pPr>
            <a:r>
              <a:rPr sz="1200" b="0">
                <a:solidFill>
                  <a:srgbClr val="6B7580"/>
                </a:solidFill>
              </a:rPr>
              <a:t>ambiguous residual</a:t>
            </a:r>
          </a:p>
        </p:txBody>
      </p:sp>
      <p:sp>
        <p:nvSpPr>
          <p:cNvPr id="19" name="">
            <a:extLst xmlns:a="http://schemas.openxmlformats.org/drawingml/2006/main">
              <a:ext uri="{FF2B5EF4-FFF2-40B4-BE49-F238E27FC236}">
                <a16:creationId xmlns:a16="http://schemas.microsoft.com/office/drawing/2014/main" id="{EEDDD93F-0909-4233-BC2C-1D1CFCFD8999}"/>
              </a:ext>
            </a:extLst>
          </p:cNvPr>
          <p:cNvSpPr>
            <a:spLocks xmlns:a="http://schemas.openxmlformats.org/drawingml/2006/main" noGrp="1"/>
          </p:cNvSpPr>
          <p:nvPr/>
        </p:nvSpPr>
        <p:spPr>
          <a:xfrm xmlns:a="http://schemas.openxmlformats.org/drawingml/2006/main">
            <a:off x="8305800" y="4629150"/>
            <a:ext cx="2667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550" b="1">
                <a:solidFill>
                  <a:srgbClr val="C74A4A"/>
                </a:solidFill>
              </a:defRPr>
            </a:pPr>
            <a:r>
              <a:rPr sz="2550" b="1">
                <a:solidFill>
                  <a:srgbClr val="C74A4A"/>
                </a:solidFill>
              </a:rPr>
              <a:t>0 mm</a:t>
            </a:r>
          </a:p>
        </p:txBody>
      </p:sp>
      <p:sp>
        <p:nvSpPr>
          <p:cNvPr id="20" name="">
            <a:extLst xmlns:a="http://schemas.openxmlformats.org/drawingml/2006/main">
              <a:ext uri="{FF2B5EF4-FFF2-40B4-BE49-F238E27FC236}">
                <a16:creationId xmlns:a16="http://schemas.microsoft.com/office/drawing/2014/main" id="{0345375D-06FB-42C4-BF83-075B2A46C5DE}"/>
              </a:ext>
            </a:extLst>
          </p:cNvPr>
          <p:cNvSpPr>
            <a:spLocks xmlns:a="http://schemas.openxmlformats.org/drawingml/2006/main" noGrp="1"/>
          </p:cNvSpPr>
          <p:nvPr/>
        </p:nvSpPr>
        <p:spPr>
          <a:xfrm xmlns:a="http://schemas.openxmlformats.org/drawingml/2006/main">
            <a:off x="8305800" y="5124450"/>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0">
                <a:solidFill>
                  <a:srgbClr val="6B7580"/>
                </a:solidFill>
              </a:defRPr>
            </a:pPr>
            <a:r>
              <a:rPr sz="1200" b="0">
                <a:solidFill>
                  <a:srgbClr val="6B7580"/>
                </a:solidFill>
              </a:rPr>
              <a:t>reverse-mass veto</a:t>
            </a:r>
          </a:p>
        </p:txBody>
      </p:sp>
      <p:sp>
        <p:nvSpPr>
          <p:cNvPr id="21" name="">
            <a:extLst xmlns:a="http://schemas.openxmlformats.org/drawingml/2006/main">
              <a:ext uri="{FF2B5EF4-FFF2-40B4-BE49-F238E27FC236}">
                <a16:creationId xmlns:a16="http://schemas.microsoft.com/office/drawing/2014/main" id="{7BAE27B7-F9DF-4543-ACFA-7561EA61BAE6}"/>
              </a:ext>
            </a:extLst>
          </p:cNvPr>
          <p:cNvSpPr>
            <a:spLocks xmlns:a="http://schemas.openxmlformats.org/drawingml/2006/main" noGrp="1"/>
          </p:cNvSpPr>
          <p:nvPr/>
        </p:nvSpPr>
        <p:spPr>
          <a:xfrm xmlns:a="http://schemas.openxmlformats.org/drawingml/2006/main">
            <a:off x="647700" y="5943600"/>
            <a:ext cx="10839450" cy="400050"/>
          </a:xfrm>
          <a:prstGeom xmlns:a="http://schemas.openxmlformats.org/drawingml/2006/main" prst="rect">
            <a:avLst/>
          </a:prstGeom>
          <a:solidFill xmlns:a="http://schemas.openxmlformats.org/drawingml/2006/main">
            <a:srgbClr val="FFF0E2"/>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B30632FB-686E-4E07-B21E-3857407D67CB}"/>
              </a:ext>
            </a:extLst>
          </p:cNvPr>
          <p:cNvSpPr>
            <a:spLocks xmlns:a="http://schemas.openxmlformats.org/drawingml/2006/main" noGrp="1"/>
          </p:cNvSpPr>
          <p:nvPr/>
        </p:nvSpPr>
        <p:spPr>
          <a:xfrm xmlns:a="http://schemas.openxmlformats.org/drawingml/2006/main">
            <a:off x="647700" y="5943600"/>
            <a:ext cx="57150" cy="400050"/>
          </a:xfrm>
          <a:prstGeom xmlns:a="http://schemas.openxmlformats.org/drawingml/2006/main" prst="rect">
            <a:avLst/>
          </a:prstGeom>
          <a:solidFill xmlns:a="http://schemas.openxmlformats.org/drawingml/2006/main">
            <a:srgbClr val="ED7F0D"/>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D78B0612-5BB7-4C5B-A90C-2DFDD2B4D6F3}"/>
              </a:ext>
            </a:extLst>
          </p:cNvPr>
          <p:cNvSpPr>
            <a:spLocks xmlns:a="http://schemas.openxmlformats.org/drawingml/2006/main" noGrp="1"/>
          </p:cNvSpPr>
          <p:nvPr/>
        </p:nvSpPr>
        <p:spPr>
          <a:xfrm xmlns:a="http://schemas.openxmlformats.org/drawingml/2006/main">
            <a:off x="838200" y="5981700"/>
            <a:ext cx="10458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152538"/>
                </a:solidFill>
              </a:defRPr>
            </a:pPr>
            <a:r>
              <a:rPr sz="1275" b="1">
                <a:solidFill>
                  <a:srgbClr val="152538"/>
                </a:solidFill>
              </a:rPr>
              <a:t>Clear evidence moves farther; ambiguous evidence moves less; reversed evidence turns the shortcut off.</a:t>
            </a:r>
          </a:p>
        </p:txBody>
      </p:sp>
    </p:spTree>
    <p:extLst>
      <p:ext uri="{BB962C8B-B14F-4D97-AF65-F5344CB8AC3E}">
        <p14:creationId xmlns:p14="http://schemas.microsoft.com/office/powerpoint/2010/main" val="1827000755"/>
      </p:ext>
    </p:extLst>
  </p:cSld>
</p:sld>
</file>

<file path=ppt/slides/slide21.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F97FC48-DAA5-4D3B-AC29-8137189884D2}"/>
              </a:ext>
            </a:extLst>
          </p:cNvPr>
          <p:cNvSpPr>
            <a:spLocks xmlns:a="http://schemas.openxmlformats.org/drawingml/2006/main" noGrp="1"/>
          </p:cNvSpPr>
          <p:nvPr/>
        </p:nvSpPr>
        <p:spPr>
          <a:xfrm xmlns:a="http://schemas.openxmlformats.org/drawingml/2006/main">
            <a:off x="647700" y="2286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ED7F0D"/>
                </a:solidFill>
              </a:defRPr>
            </a:pPr>
            <a:r>
              <a:rPr sz="1050" b="1">
                <a:solidFill>
                  <a:srgbClr val="ED7F0D"/>
                </a:solidFill>
              </a:rPr>
              <a:t>21</a:t>
            </a:r>
          </a:p>
        </p:txBody>
      </p:sp>
      <p:sp>
        <p:nvSpPr>
          <p:cNvPr id="2" name="">
            <a:extLst xmlns:a="http://schemas.openxmlformats.org/drawingml/2006/main">
              <a:ext uri="{FF2B5EF4-FFF2-40B4-BE49-F238E27FC236}">
                <a16:creationId xmlns:a16="http://schemas.microsoft.com/office/drawing/2014/main" id="{A185A747-33F3-4C29-BC77-7C68876F6815}"/>
              </a:ext>
            </a:extLst>
          </p:cNvPr>
          <p:cNvSpPr>
            <a:spLocks xmlns:a="http://schemas.openxmlformats.org/drawingml/2006/main" noGrp="1"/>
          </p:cNvSpPr>
          <p:nvPr/>
        </p:nvSpPr>
        <p:spPr>
          <a:xfrm xmlns:a="http://schemas.openxmlformats.org/drawingml/2006/main">
            <a:off x="1104900" y="22860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6B7580"/>
                </a:solidFill>
              </a:defRPr>
            </a:pPr>
            <a:r>
              <a:rPr sz="975" b="1">
                <a:solidFill>
                  <a:srgbClr val="6B7580"/>
                </a:solidFill>
              </a:rPr>
              <a:t>FRAMEWORK</a:t>
            </a:r>
          </a:p>
        </p:txBody>
      </p:sp>
      <p:sp>
        <p:nvSpPr>
          <p:cNvPr id="3" name="">
            <a:extLst xmlns:a="http://schemas.openxmlformats.org/drawingml/2006/main">
              <a:ext uri="{FF2B5EF4-FFF2-40B4-BE49-F238E27FC236}">
                <a16:creationId xmlns:a16="http://schemas.microsoft.com/office/drawing/2014/main" id="{61285988-1E70-4289-AEE8-1F2D64E90004}"/>
              </a:ext>
            </a:extLst>
          </p:cNvPr>
          <p:cNvSpPr>
            <a:spLocks xmlns:a="http://schemas.openxmlformats.org/drawingml/2006/main" noGrp="1"/>
          </p:cNvSpPr>
          <p:nvPr/>
        </p:nvSpPr>
        <p:spPr>
          <a:xfrm xmlns:a="http://schemas.openxmlformats.org/drawingml/2006/main">
            <a:off x="6191250" y="228600"/>
            <a:ext cx="5353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0">
                <a:solidFill>
                  <a:srgbClr val="6B7580"/>
                </a:solidFill>
              </a:defRPr>
            </a:pPr>
            <a:r>
              <a:rPr sz="825" b="0">
                <a:solidFill>
                  <a:srgbClr val="6B7580"/>
                </a:solidFill>
              </a:rPr>
              <a:t>Problem   Task   ● Framework   Simulation   Hardware   Discussion</a:t>
            </a:r>
          </a:p>
        </p:txBody>
      </p:sp>
      <p:sp>
        <p:nvSpPr>
          <p:cNvPr id="4" name="">
            <a:extLst xmlns:a="http://schemas.openxmlformats.org/drawingml/2006/main">
              <a:ext uri="{FF2B5EF4-FFF2-40B4-BE49-F238E27FC236}">
                <a16:creationId xmlns:a16="http://schemas.microsoft.com/office/drawing/2014/main" id="{36B45929-6ABB-4F64-900B-523FB99ED180}"/>
              </a:ext>
            </a:extLst>
          </p:cNvPr>
          <p:cNvSpPr>
            <a:spLocks xmlns:a="http://schemas.openxmlformats.org/drawingml/2006/main" noGrp="1"/>
          </p:cNvSpPr>
          <p:nvPr/>
        </p:nvSpPr>
        <p:spPr>
          <a:xfrm xmlns:a="http://schemas.openxmlformats.org/drawingml/2006/main">
            <a:off x="647700" y="533400"/>
            <a:ext cx="108394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004282"/>
                </a:solidFill>
              </a:defRPr>
            </a:pPr>
            <a:r>
              <a:rPr sz="2850" b="1">
                <a:solidFill>
                  <a:srgbClr val="004282"/>
                </a:solidFill>
              </a:rPr>
              <a:t>A missed shortcut removes inconsistent center hypotheses</a:t>
            </a:r>
          </a:p>
        </p:txBody>
      </p:sp>
      <p:sp>
        <p:nvSpPr>
          <p:cNvPr id="5" name="">
            <a:extLst xmlns:a="http://schemas.openxmlformats.org/drawingml/2006/main">
              <a:ext uri="{FF2B5EF4-FFF2-40B4-BE49-F238E27FC236}">
                <a16:creationId xmlns:a16="http://schemas.microsoft.com/office/drawing/2014/main" id="{BB3014B7-5E82-4EE2-A58C-D3A82CBE86C7}"/>
              </a:ext>
            </a:extLst>
          </p:cNvPr>
          <p:cNvSpPr>
            <a:spLocks xmlns:a="http://schemas.openxmlformats.org/drawingml/2006/main" noGrp="1"/>
          </p:cNvSpPr>
          <p:nvPr/>
        </p:nvSpPr>
        <p:spPr>
          <a:xfrm xmlns:a="http://schemas.openxmlformats.org/drawingml/2006/main">
            <a:off x="647700" y="1257300"/>
            <a:ext cx="609600" cy="47625"/>
          </a:xfrm>
          <a:prstGeom xmlns:a="http://schemas.openxmlformats.org/drawingml/2006/main" prst="rect">
            <a:avLst/>
          </a:prstGeom>
          <a:solidFill xmlns:a="http://schemas.openxmlformats.org/drawingml/2006/main">
            <a:srgbClr val="ED7F0D"/>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46EA688B-02A3-4135-8D6D-B851A048D629}"/>
              </a:ext>
            </a:extLst>
          </p:cNvPr>
          <p:cNvSpPr>
            <a:spLocks xmlns:a="http://schemas.openxmlformats.org/drawingml/2006/main" noGrp="1"/>
          </p:cNvSpPr>
          <p:nvPr/>
        </p:nvSpPr>
        <p:spPr>
          <a:xfrm xmlns:a="http://schemas.openxmlformats.org/drawingml/2006/main">
            <a:off x="647700" y="6486525"/>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6B7580"/>
                </a:solidFill>
              </a:defRPr>
            </a:pPr>
            <a:r>
              <a:rPr sz="825" b="0">
                <a:solidFill>
                  <a:srgbClr val="6B7580"/>
                </a:solidFill>
              </a:rPr>
              <a:t>Nan Jinyao · Paper-aligned group review</a:t>
            </a:r>
          </a:p>
        </p:txBody>
      </p:sp>
      <p:sp>
        <p:nvSpPr>
          <p:cNvPr id="7" name="">
            <a:extLst xmlns:a="http://schemas.openxmlformats.org/drawingml/2006/main">
              <a:ext uri="{FF2B5EF4-FFF2-40B4-BE49-F238E27FC236}">
                <a16:creationId xmlns:a16="http://schemas.microsoft.com/office/drawing/2014/main" id="{EFF63743-8E2C-4304-ABF6-98FF83B2A6A1}"/>
              </a:ext>
            </a:extLst>
          </p:cNvPr>
          <p:cNvSpPr>
            <a:spLocks xmlns:a="http://schemas.openxmlformats.org/drawingml/2006/main" noGrp="1"/>
          </p:cNvSpPr>
          <p:nvPr/>
        </p:nvSpPr>
        <p:spPr>
          <a:xfrm xmlns:a="http://schemas.openxmlformats.org/drawingml/2006/main">
            <a:off x="4476750" y="6486525"/>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0">
                <a:solidFill>
                  <a:srgbClr val="6B7580"/>
                </a:solidFill>
              </a:defRPr>
            </a:pPr>
            <a:r>
              <a:rPr sz="825" b="0">
                <a:solidFill>
                  <a:srgbClr val="6B7580"/>
                </a:solidFill>
              </a:rPr>
              <a:t>Sec. III-C · Eqs. (20)–(21)</a:t>
            </a:r>
          </a:p>
        </p:txBody>
      </p:sp>
      <p:sp>
        <p:nvSpPr>
          <p:cNvPr id="8" name="">
            <a:extLst xmlns:a="http://schemas.openxmlformats.org/drawingml/2006/main">
              <a:ext uri="{FF2B5EF4-FFF2-40B4-BE49-F238E27FC236}">
                <a16:creationId xmlns:a16="http://schemas.microsoft.com/office/drawing/2014/main" id="{A489B060-B18C-41FB-B0E7-5AEDE4A2D936}"/>
              </a:ext>
            </a:extLst>
          </p:cNvPr>
          <p:cNvSpPr>
            <a:spLocks xmlns:a="http://schemas.openxmlformats.org/drawingml/2006/main" noGrp="1"/>
          </p:cNvSpPr>
          <p:nvPr/>
        </p:nvSpPr>
        <p:spPr>
          <a:xfrm xmlns:a="http://schemas.openxmlformats.org/drawingml/2006/main">
            <a:off x="11049000" y="648652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004282"/>
                </a:solidFill>
              </a:defRPr>
            </a:pPr>
            <a:r>
              <a:rPr sz="825" b="1">
                <a:solidFill>
                  <a:srgbClr val="004282"/>
                </a:solidFill>
              </a:rPr>
              <a:t>21</a:t>
            </a:r>
          </a:p>
        </p:txBody>
      </p:sp>
      <p:sp>
        <p:nvSpPr>
          <p:cNvPr id="9" name="">
            <a:extLst xmlns:a="http://schemas.openxmlformats.org/drawingml/2006/main">
              <a:ext uri="{FF2B5EF4-FFF2-40B4-BE49-F238E27FC236}">
                <a16:creationId xmlns:a16="http://schemas.microsoft.com/office/drawing/2014/main" id="{1C6469E8-A016-4BD3-BB41-BB805337D9F5}"/>
              </a:ext>
            </a:extLst>
          </p:cNvPr>
          <p:cNvSpPr>
            <a:spLocks xmlns:a="http://schemas.openxmlformats.org/drawingml/2006/main" noGrp="1"/>
          </p:cNvSpPr>
          <p:nvPr/>
        </p:nvSpPr>
        <p:spPr>
          <a:xfrm xmlns:a="http://schemas.openxmlformats.org/drawingml/2006/main">
            <a:off x="666750" y="1600200"/>
            <a:ext cx="6343650" cy="3886200"/>
          </a:xfrm>
          <a:prstGeom xmlns:a="http://schemas.openxmlformats.org/drawingml/2006/main" prst="roundRect">
            <a:avLst>
              <a:gd name="adj" fmla="val 1961"/>
            </a:avLst>
          </a:prstGeom>
          <a:solidFill xmlns:a="http://schemas.openxmlformats.org/drawingml/2006/main">
            <a:srgbClr val="FFFFFF"/>
          </a:solidFill>
          <a:ln xmlns:a="http://schemas.openxmlformats.org/drawingml/2006/main" w="9525">
            <a:solidFill>
              <a:srgbClr val="D9E0E6"/>
            </a:solidFill>
            <a:prstDash val="solid"/>
          </a:ln>
        </p:spPr>
      </p:sp>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e7dfcf14990441d0"/>
          <a:stretch xmlns:a="http://schemas.openxmlformats.org/drawingml/2006/main"/>
        </p:blipFill>
        <p:spPr>
          <a:xfrm xmlns:a="http://schemas.openxmlformats.org/drawingml/2006/main">
            <a:off x="742950" y="2413308"/>
            <a:ext cx="6191250" cy="2259984"/>
          </a:xfrm>
          <a:prstGeom xmlns:a="http://schemas.openxmlformats.org/drawingml/2006/main" prst="roundRect">
            <a:avLst>
              <a:gd name="adj" fmla="val 2041"/>
            </a:avLst>
          </a:prstGeom>
        </p:spPr>
      </p:pic>
      <p:sp>
        <p:nvSpPr>
          <p:cNvPr id="11" name="">
            <a:extLst xmlns:a="http://schemas.openxmlformats.org/drawingml/2006/main">
              <a:ext uri="{FF2B5EF4-FFF2-40B4-BE49-F238E27FC236}">
                <a16:creationId xmlns:a16="http://schemas.microsoft.com/office/drawing/2014/main" id="{DDCF802E-5BF2-4A81-9893-D0E2A6FFE95B}"/>
              </a:ext>
            </a:extLst>
          </p:cNvPr>
          <p:cNvSpPr>
            <a:spLocks xmlns:a="http://schemas.openxmlformats.org/drawingml/2006/main" noGrp="1"/>
          </p:cNvSpPr>
          <p:nvPr/>
        </p:nvSpPr>
        <p:spPr>
          <a:xfrm xmlns:a="http://schemas.openxmlformats.org/drawingml/2006/main">
            <a:off x="7429500" y="1819275"/>
            <a:ext cx="304800" cy="304800"/>
          </a:xfrm>
          <a:prstGeom xmlns:a="http://schemas.openxmlformats.org/drawingml/2006/main" prst="ellipse">
            <a:avLst/>
          </a:prstGeom>
          <a:solidFill xmlns:a="http://schemas.openxmlformats.org/drawingml/2006/main">
            <a:srgbClr val="009E73"/>
          </a:solidFill>
          <a:ln xmlns:a="http://schemas.openxmlformats.org/drawingml/2006/main" w="9525">
            <a:solidFill>
              <a:srgbClr val="009E73"/>
            </a:solidFill>
            <a:prstDash val="solid"/>
          </a:ln>
        </p:spPr>
      </p:sp>
      <p:sp>
        <p:nvSpPr>
          <p:cNvPr id="12" name="">
            <a:extLst xmlns:a="http://schemas.openxmlformats.org/drawingml/2006/main">
              <a:ext uri="{FF2B5EF4-FFF2-40B4-BE49-F238E27FC236}">
                <a16:creationId xmlns:a16="http://schemas.microsoft.com/office/drawing/2014/main" id="{8BEF3039-9009-40CE-AA86-C3FE49FC814B}"/>
              </a:ext>
            </a:extLst>
          </p:cNvPr>
          <p:cNvSpPr>
            <a:spLocks xmlns:a="http://schemas.openxmlformats.org/drawingml/2006/main" noGrp="1"/>
          </p:cNvSpPr>
          <p:nvPr/>
        </p:nvSpPr>
        <p:spPr>
          <a:xfrm xmlns:a="http://schemas.openxmlformats.org/drawingml/2006/main">
            <a:off x="7429500" y="1866900"/>
            <a:ext cx="304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FFFFFF"/>
                </a:solidFill>
              </a:defRPr>
            </a:pPr>
            <a:r>
              <a:rPr sz="975" b="1">
                <a:solidFill>
                  <a:srgbClr val="FFFFFF"/>
                </a:solidFill>
              </a:rPr>
              <a:t>1</a:t>
            </a:r>
          </a:p>
        </p:txBody>
      </p:sp>
      <p:sp>
        <p:nvSpPr>
          <p:cNvPr id="13" name="">
            <a:extLst xmlns:a="http://schemas.openxmlformats.org/drawingml/2006/main">
              <a:ext uri="{FF2B5EF4-FFF2-40B4-BE49-F238E27FC236}">
                <a16:creationId xmlns:a16="http://schemas.microsoft.com/office/drawing/2014/main" id="{DE2553F6-EAE3-4E82-8AD4-49622061B38E}"/>
              </a:ext>
            </a:extLst>
          </p:cNvPr>
          <p:cNvSpPr>
            <a:spLocks xmlns:a="http://schemas.openxmlformats.org/drawingml/2006/main" noGrp="1"/>
          </p:cNvSpPr>
          <p:nvPr/>
        </p:nvSpPr>
        <p:spPr>
          <a:xfrm xmlns:a="http://schemas.openxmlformats.org/drawingml/2006/main">
            <a:off x="7924800" y="1733550"/>
            <a:ext cx="3143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152538"/>
                </a:solidFill>
              </a:defRPr>
            </a:pPr>
            <a:r>
              <a:rPr sz="1425" b="1">
                <a:solidFill>
                  <a:srgbClr val="152538"/>
                </a:solidFill>
              </a:rPr>
              <a:t>execute a guarded segment</a:t>
            </a:r>
          </a:p>
        </p:txBody>
      </p:sp>
      <p:sp>
        <p:nvSpPr>
          <p:cNvPr id="14" name="">
            <a:extLst xmlns:a="http://schemas.openxmlformats.org/drawingml/2006/main">
              <a:ext uri="{FF2B5EF4-FFF2-40B4-BE49-F238E27FC236}">
                <a16:creationId xmlns:a16="http://schemas.microsoft.com/office/drawing/2014/main" id="{C8724AED-6A11-4A13-B169-6D04E8F541CC}"/>
              </a:ext>
            </a:extLst>
          </p:cNvPr>
          <p:cNvSpPr>
            <a:spLocks xmlns:a="http://schemas.openxmlformats.org/drawingml/2006/main" noGrp="1"/>
          </p:cNvSpPr>
          <p:nvPr/>
        </p:nvSpPr>
        <p:spPr>
          <a:xfrm xmlns:a="http://schemas.openxmlformats.org/drawingml/2006/main">
            <a:off x="7572375" y="2133600"/>
            <a:ext cx="19050" cy="495300"/>
          </a:xfrm>
          <a:prstGeom xmlns:a="http://schemas.openxmlformats.org/drawingml/2006/main" prst="rect">
            <a:avLst/>
          </a:prstGeom>
          <a:solidFill xmlns:a="http://schemas.openxmlformats.org/drawingml/2006/main">
            <a:srgbClr val="D9E0E6"/>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ABA7D567-5DAE-47A9-9141-77429F88DCD4}"/>
              </a:ext>
            </a:extLst>
          </p:cNvPr>
          <p:cNvSpPr>
            <a:spLocks xmlns:a="http://schemas.openxmlformats.org/drawingml/2006/main" noGrp="1"/>
          </p:cNvSpPr>
          <p:nvPr/>
        </p:nvSpPr>
        <p:spPr>
          <a:xfrm xmlns:a="http://schemas.openxmlformats.org/drawingml/2006/main">
            <a:off x="7429500" y="2714625"/>
            <a:ext cx="304800" cy="304800"/>
          </a:xfrm>
          <a:prstGeom xmlns:a="http://schemas.openxmlformats.org/drawingml/2006/main" prst="ellipse">
            <a:avLst/>
          </a:prstGeom>
          <a:solidFill xmlns:a="http://schemas.openxmlformats.org/drawingml/2006/main">
            <a:srgbClr val="C74A4A"/>
          </a:solidFill>
          <a:ln xmlns:a="http://schemas.openxmlformats.org/drawingml/2006/main" w="9525">
            <a:solidFill>
              <a:srgbClr val="C74A4A"/>
            </a:solidFill>
            <a:prstDash val="solid"/>
          </a:ln>
        </p:spPr>
      </p:sp>
      <p:sp>
        <p:nvSpPr>
          <p:cNvPr id="16" name="">
            <a:extLst xmlns:a="http://schemas.openxmlformats.org/drawingml/2006/main">
              <a:ext uri="{FF2B5EF4-FFF2-40B4-BE49-F238E27FC236}">
                <a16:creationId xmlns:a16="http://schemas.microsoft.com/office/drawing/2014/main" id="{F679982E-5493-41AD-B1ED-FDB60C19FF8F}"/>
              </a:ext>
            </a:extLst>
          </p:cNvPr>
          <p:cNvSpPr>
            <a:spLocks xmlns:a="http://schemas.openxmlformats.org/drawingml/2006/main" noGrp="1"/>
          </p:cNvSpPr>
          <p:nvPr/>
        </p:nvSpPr>
        <p:spPr>
          <a:xfrm xmlns:a="http://schemas.openxmlformats.org/drawingml/2006/main">
            <a:off x="7429500" y="2762250"/>
            <a:ext cx="304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FFFFFF"/>
                </a:solidFill>
              </a:defRPr>
            </a:pPr>
            <a:r>
              <a:rPr sz="975" b="1">
                <a:solidFill>
                  <a:srgbClr val="FFFFFF"/>
                </a:solidFill>
              </a:rPr>
              <a:t>2</a:t>
            </a:r>
          </a:p>
        </p:txBody>
      </p:sp>
      <p:sp>
        <p:nvSpPr>
          <p:cNvPr id="17" name="">
            <a:extLst xmlns:a="http://schemas.openxmlformats.org/drawingml/2006/main">
              <a:ext uri="{FF2B5EF4-FFF2-40B4-BE49-F238E27FC236}">
                <a16:creationId xmlns:a16="http://schemas.microsoft.com/office/drawing/2014/main" id="{106D76E6-7301-4A5C-B78A-8DEC4E37962B}"/>
              </a:ext>
            </a:extLst>
          </p:cNvPr>
          <p:cNvSpPr>
            <a:spLocks xmlns:a="http://schemas.openxmlformats.org/drawingml/2006/main" noGrp="1"/>
          </p:cNvSpPr>
          <p:nvPr/>
        </p:nvSpPr>
        <p:spPr>
          <a:xfrm xmlns:a="http://schemas.openxmlformats.org/drawingml/2006/main">
            <a:off x="7924800" y="2628900"/>
            <a:ext cx="3143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152538"/>
                </a:solidFill>
              </a:defRPr>
            </a:pPr>
            <a:r>
              <a:rPr sz="1425" b="1">
                <a:solidFill>
                  <a:srgbClr val="152538"/>
                </a:solidFill>
              </a:rPr>
              <a:t>reject capture at a valid endpoint</a:t>
            </a:r>
          </a:p>
        </p:txBody>
      </p:sp>
      <p:sp>
        <p:nvSpPr>
          <p:cNvPr id="18" name="">
            <a:extLst xmlns:a="http://schemas.openxmlformats.org/drawingml/2006/main">
              <a:ext uri="{FF2B5EF4-FFF2-40B4-BE49-F238E27FC236}">
                <a16:creationId xmlns:a16="http://schemas.microsoft.com/office/drawing/2014/main" id="{2ACEF101-B13C-4793-A6D2-47B1F1CE2B4D}"/>
              </a:ext>
            </a:extLst>
          </p:cNvPr>
          <p:cNvSpPr>
            <a:spLocks xmlns:a="http://schemas.openxmlformats.org/drawingml/2006/main" noGrp="1"/>
          </p:cNvSpPr>
          <p:nvPr/>
        </p:nvSpPr>
        <p:spPr>
          <a:xfrm xmlns:a="http://schemas.openxmlformats.org/drawingml/2006/main">
            <a:off x="7572375" y="3028950"/>
            <a:ext cx="19050" cy="495300"/>
          </a:xfrm>
          <a:prstGeom xmlns:a="http://schemas.openxmlformats.org/drawingml/2006/main" prst="rect">
            <a:avLst/>
          </a:prstGeom>
          <a:solidFill xmlns:a="http://schemas.openxmlformats.org/drawingml/2006/main">
            <a:srgbClr val="D9E0E6"/>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C519DF20-7E76-43CE-8FB2-B1DDCB638EE5}"/>
              </a:ext>
            </a:extLst>
          </p:cNvPr>
          <p:cNvSpPr>
            <a:spLocks xmlns:a="http://schemas.openxmlformats.org/drawingml/2006/main" noGrp="1"/>
          </p:cNvSpPr>
          <p:nvPr/>
        </p:nvSpPr>
        <p:spPr>
          <a:xfrm xmlns:a="http://schemas.openxmlformats.org/drawingml/2006/main">
            <a:off x="7429500" y="3609975"/>
            <a:ext cx="304800" cy="304800"/>
          </a:xfrm>
          <a:prstGeom xmlns:a="http://schemas.openxmlformats.org/drawingml/2006/main" prst="ellipse">
            <a:avLst/>
          </a:prstGeom>
          <a:solidFill xmlns:a="http://schemas.openxmlformats.org/drawingml/2006/main">
            <a:srgbClr val="009E73"/>
          </a:solidFill>
          <a:ln xmlns:a="http://schemas.openxmlformats.org/drawingml/2006/main" w="9525">
            <a:solidFill>
              <a:srgbClr val="009E73"/>
            </a:solidFill>
            <a:prstDash val="solid"/>
          </a:ln>
        </p:spPr>
      </p:sp>
      <p:sp>
        <p:nvSpPr>
          <p:cNvPr id="20" name="">
            <a:extLst xmlns:a="http://schemas.openxmlformats.org/drawingml/2006/main">
              <a:ext uri="{FF2B5EF4-FFF2-40B4-BE49-F238E27FC236}">
                <a16:creationId xmlns:a16="http://schemas.microsoft.com/office/drawing/2014/main" id="{2B9403F8-3598-4A44-BDCD-B19A42F160B1}"/>
              </a:ext>
            </a:extLst>
          </p:cNvPr>
          <p:cNvSpPr>
            <a:spLocks xmlns:a="http://schemas.openxmlformats.org/drawingml/2006/main" noGrp="1"/>
          </p:cNvSpPr>
          <p:nvPr/>
        </p:nvSpPr>
        <p:spPr>
          <a:xfrm xmlns:a="http://schemas.openxmlformats.org/drawingml/2006/main">
            <a:off x="7429500" y="3657600"/>
            <a:ext cx="304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FFFFFF"/>
                </a:solidFill>
              </a:defRPr>
            </a:pPr>
            <a:r>
              <a:rPr sz="975" b="1">
                <a:solidFill>
                  <a:srgbClr val="FFFFFF"/>
                </a:solidFill>
              </a:rPr>
              <a:t>3</a:t>
            </a:r>
          </a:p>
        </p:txBody>
      </p:sp>
      <p:sp>
        <p:nvSpPr>
          <p:cNvPr id="21" name="">
            <a:extLst xmlns:a="http://schemas.openxmlformats.org/drawingml/2006/main">
              <a:ext uri="{FF2B5EF4-FFF2-40B4-BE49-F238E27FC236}">
                <a16:creationId xmlns:a16="http://schemas.microsoft.com/office/drawing/2014/main" id="{414ABC59-62CB-4CE6-8502-1C858F42DD88}"/>
              </a:ext>
            </a:extLst>
          </p:cNvPr>
          <p:cNvSpPr>
            <a:spLocks xmlns:a="http://schemas.openxmlformats.org/drawingml/2006/main" noGrp="1"/>
          </p:cNvSpPr>
          <p:nvPr/>
        </p:nvSpPr>
        <p:spPr>
          <a:xfrm xmlns:a="http://schemas.openxmlformats.org/drawingml/2006/main">
            <a:off x="7924800" y="3524250"/>
            <a:ext cx="3143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152538"/>
                </a:solidFill>
              </a:defRPr>
            </a:pPr>
            <a:r>
              <a:rPr sz="1425" b="1">
                <a:solidFill>
                  <a:srgbClr val="152538"/>
                </a:solidFill>
              </a:rPr>
              <a:t>downweight centers near the missed segment</a:t>
            </a:r>
          </a:p>
        </p:txBody>
      </p:sp>
      <p:sp>
        <p:nvSpPr>
          <p:cNvPr id="22" name="">
            <a:extLst xmlns:a="http://schemas.openxmlformats.org/drawingml/2006/main">
              <a:ext uri="{FF2B5EF4-FFF2-40B4-BE49-F238E27FC236}">
                <a16:creationId xmlns:a16="http://schemas.microsoft.com/office/drawing/2014/main" id="{C559F8DF-E427-434A-880A-253C8F794067}"/>
              </a:ext>
            </a:extLst>
          </p:cNvPr>
          <p:cNvSpPr>
            <a:spLocks xmlns:a="http://schemas.openxmlformats.org/drawingml/2006/main" noGrp="1"/>
          </p:cNvSpPr>
          <p:nvPr/>
        </p:nvSpPr>
        <p:spPr>
          <a:xfrm xmlns:a="http://schemas.openxmlformats.org/drawingml/2006/main">
            <a:off x="7572375" y="3924300"/>
            <a:ext cx="19050" cy="495300"/>
          </a:xfrm>
          <a:prstGeom xmlns:a="http://schemas.openxmlformats.org/drawingml/2006/main" prst="rect">
            <a:avLst/>
          </a:prstGeom>
          <a:solidFill xmlns:a="http://schemas.openxmlformats.org/drawingml/2006/main">
            <a:srgbClr val="D9E0E6"/>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4B7EFAFE-C76F-4431-A9DC-E1A2F16216F7}"/>
              </a:ext>
            </a:extLst>
          </p:cNvPr>
          <p:cNvSpPr>
            <a:spLocks xmlns:a="http://schemas.openxmlformats.org/drawingml/2006/main" noGrp="1"/>
          </p:cNvSpPr>
          <p:nvPr/>
        </p:nvSpPr>
        <p:spPr>
          <a:xfrm xmlns:a="http://schemas.openxmlformats.org/drawingml/2006/main">
            <a:off x="7429500" y="4505325"/>
            <a:ext cx="304800" cy="304800"/>
          </a:xfrm>
          <a:prstGeom xmlns:a="http://schemas.openxmlformats.org/drawingml/2006/main" prst="ellipse">
            <a:avLst/>
          </a:prstGeom>
          <a:solidFill xmlns:a="http://schemas.openxmlformats.org/drawingml/2006/main">
            <a:srgbClr val="009E73"/>
          </a:solidFill>
          <a:ln xmlns:a="http://schemas.openxmlformats.org/drawingml/2006/main" w="9525">
            <a:solidFill>
              <a:srgbClr val="009E73"/>
            </a:solidFill>
            <a:prstDash val="solid"/>
          </a:ln>
        </p:spPr>
      </p:sp>
      <p:sp>
        <p:nvSpPr>
          <p:cNvPr id="24" name="">
            <a:extLst xmlns:a="http://schemas.openxmlformats.org/drawingml/2006/main">
              <a:ext uri="{FF2B5EF4-FFF2-40B4-BE49-F238E27FC236}">
                <a16:creationId xmlns:a16="http://schemas.microsoft.com/office/drawing/2014/main" id="{781F193A-74B7-4E6B-9E70-BA1CECF7A955}"/>
              </a:ext>
            </a:extLst>
          </p:cNvPr>
          <p:cNvSpPr>
            <a:spLocks xmlns:a="http://schemas.openxmlformats.org/drawingml/2006/main" noGrp="1"/>
          </p:cNvSpPr>
          <p:nvPr/>
        </p:nvSpPr>
        <p:spPr>
          <a:xfrm xmlns:a="http://schemas.openxmlformats.org/drawingml/2006/main">
            <a:off x="7429500" y="4552950"/>
            <a:ext cx="304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FFFFFF"/>
                </a:solidFill>
              </a:defRPr>
            </a:pPr>
            <a:r>
              <a:rPr sz="975" b="1">
                <a:solidFill>
                  <a:srgbClr val="FFFFFF"/>
                </a:solidFill>
              </a:rPr>
              <a:t>4</a:t>
            </a:r>
          </a:p>
        </p:txBody>
      </p:sp>
      <p:sp>
        <p:nvSpPr>
          <p:cNvPr id="25" name="">
            <a:extLst xmlns:a="http://schemas.openxmlformats.org/drawingml/2006/main">
              <a:ext uri="{FF2B5EF4-FFF2-40B4-BE49-F238E27FC236}">
                <a16:creationId xmlns:a16="http://schemas.microsoft.com/office/drawing/2014/main" id="{58771D5B-3F8F-4EE3-8A6E-2A19F96BB094}"/>
              </a:ext>
            </a:extLst>
          </p:cNvPr>
          <p:cNvSpPr>
            <a:spLocks xmlns:a="http://schemas.openxmlformats.org/drawingml/2006/main" noGrp="1"/>
          </p:cNvSpPr>
          <p:nvPr/>
        </p:nvSpPr>
        <p:spPr>
          <a:xfrm xmlns:a="http://schemas.openxmlformats.org/drawingml/2006/main">
            <a:off x="7924800" y="4419600"/>
            <a:ext cx="3143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152538"/>
                </a:solidFill>
              </a:defRPr>
            </a:pPr>
            <a:r>
              <a:rPr sz="1425" b="1">
                <a:solidFill>
                  <a:srgbClr val="152538"/>
                </a:solidFill>
              </a:rPr>
              <a:t>rebuild the residual region</a:t>
            </a:r>
          </a:p>
        </p:txBody>
      </p:sp>
      <p:sp>
        <p:nvSpPr>
          <p:cNvPr id="26" name="">
            <a:extLst xmlns:a="http://schemas.openxmlformats.org/drawingml/2006/main">
              <a:ext uri="{FF2B5EF4-FFF2-40B4-BE49-F238E27FC236}">
                <a16:creationId xmlns:a16="http://schemas.microsoft.com/office/drawing/2014/main" id="{246F31ED-F831-4CAD-9B78-44E3F411D551}"/>
              </a:ext>
            </a:extLst>
          </p:cNvPr>
          <p:cNvSpPr>
            <a:spLocks xmlns:a="http://schemas.openxmlformats.org/drawingml/2006/main" noGrp="1"/>
          </p:cNvSpPr>
          <p:nvPr/>
        </p:nvSpPr>
        <p:spPr>
          <a:xfrm xmlns:a="http://schemas.openxmlformats.org/drawingml/2006/main">
            <a:off x="647700" y="5943600"/>
            <a:ext cx="10839450" cy="400050"/>
          </a:xfrm>
          <a:prstGeom xmlns:a="http://schemas.openxmlformats.org/drawingml/2006/main" prst="rect">
            <a:avLst/>
          </a:prstGeom>
          <a:solidFill xmlns:a="http://schemas.openxmlformats.org/drawingml/2006/main">
            <a:srgbClr val="FFF0E2"/>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62473577-1063-4DA6-B098-6A1413DE7815}"/>
              </a:ext>
            </a:extLst>
          </p:cNvPr>
          <p:cNvSpPr>
            <a:spLocks xmlns:a="http://schemas.openxmlformats.org/drawingml/2006/main" noGrp="1"/>
          </p:cNvSpPr>
          <p:nvPr/>
        </p:nvSpPr>
        <p:spPr>
          <a:xfrm xmlns:a="http://schemas.openxmlformats.org/drawingml/2006/main">
            <a:off x="647700" y="5943600"/>
            <a:ext cx="57150" cy="400050"/>
          </a:xfrm>
          <a:prstGeom xmlns:a="http://schemas.openxmlformats.org/drawingml/2006/main" prst="rect">
            <a:avLst/>
          </a:prstGeom>
          <a:solidFill xmlns:a="http://schemas.openxmlformats.org/drawingml/2006/main">
            <a:srgbClr val="ED7F0D"/>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C6370A67-1998-44C6-8270-411DE32792F2}"/>
              </a:ext>
            </a:extLst>
          </p:cNvPr>
          <p:cNvSpPr>
            <a:spLocks xmlns:a="http://schemas.openxmlformats.org/drawingml/2006/main" noGrp="1"/>
          </p:cNvSpPr>
          <p:nvPr/>
        </p:nvSpPr>
        <p:spPr>
          <a:xfrm xmlns:a="http://schemas.openxmlformats.org/drawingml/2006/main">
            <a:off x="838200" y="5981700"/>
            <a:ext cx="10458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152538"/>
                </a:solidFill>
              </a:defRPr>
            </a:pPr>
            <a:r>
              <a:rPr sz="1275" b="1">
                <a:solidFill>
                  <a:srgbClr val="152538"/>
                </a:solidFill>
              </a:rPr>
              <a:t>A measured valid miss is useful evidence for the next search action.</a:t>
            </a:r>
          </a:p>
        </p:txBody>
      </p:sp>
    </p:spTree>
    <p:extLst>
      <p:ext uri="{BB962C8B-B14F-4D97-AF65-F5344CB8AC3E}">
        <p14:creationId xmlns:p14="http://schemas.microsoft.com/office/powerpoint/2010/main" val="1605853487"/>
      </p:ext>
    </p:extLst>
  </p:cSld>
</p:sld>
</file>

<file path=ppt/slides/slide22.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5A22590-9B7C-4359-8679-7403BD19ADA1}"/>
              </a:ext>
            </a:extLst>
          </p:cNvPr>
          <p:cNvSpPr>
            <a:spLocks xmlns:a="http://schemas.openxmlformats.org/drawingml/2006/main" noGrp="1"/>
          </p:cNvSpPr>
          <p:nvPr/>
        </p:nvSpPr>
        <p:spPr>
          <a:xfrm xmlns:a="http://schemas.openxmlformats.org/drawingml/2006/main">
            <a:off x="647700" y="2286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ED7F0D"/>
                </a:solidFill>
              </a:defRPr>
            </a:pPr>
            <a:r>
              <a:rPr sz="1050" b="1">
                <a:solidFill>
                  <a:srgbClr val="ED7F0D"/>
                </a:solidFill>
              </a:rPr>
              <a:t>22</a:t>
            </a:r>
          </a:p>
        </p:txBody>
      </p:sp>
      <p:sp>
        <p:nvSpPr>
          <p:cNvPr id="2" name="">
            <a:extLst xmlns:a="http://schemas.openxmlformats.org/drawingml/2006/main">
              <a:ext uri="{FF2B5EF4-FFF2-40B4-BE49-F238E27FC236}">
                <a16:creationId xmlns:a16="http://schemas.microsoft.com/office/drawing/2014/main" id="{D9D88D24-CE5A-4196-9E0D-23DC605FAF9C}"/>
              </a:ext>
            </a:extLst>
          </p:cNvPr>
          <p:cNvSpPr>
            <a:spLocks xmlns:a="http://schemas.openxmlformats.org/drawingml/2006/main" noGrp="1"/>
          </p:cNvSpPr>
          <p:nvPr/>
        </p:nvSpPr>
        <p:spPr>
          <a:xfrm xmlns:a="http://schemas.openxmlformats.org/drawingml/2006/main">
            <a:off x="1104900" y="22860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6B7580"/>
                </a:solidFill>
              </a:defRPr>
            </a:pPr>
            <a:r>
              <a:rPr sz="975" b="1">
                <a:solidFill>
                  <a:srgbClr val="6B7580"/>
                </a:solidFill>
              </a:rPr>
              <a:t>FRAMEWORK</a:t>
            </a:r>
          </a:p>
        </p:txBody>
      </p:sp>
      <p:sp>
        <p:nvSpPr>
          <p:cNvPr id="3" name="">
            <a:extLst xmlns:a="http://schemas.openxmlformats.org/drawingml/2006/main">
              <a:ext uri="{FF2B5EF4-FFF2-40B4-BE49-F238E27FC236}">
                <a16:creationId xmlns:a16="http://schemas.microsoft.com/office/drawing/2014/main" id="{EE228A39-2A42-4A86-8673-8C18EF00DE18}"/>
              </a:ext>
            </a:extLst>
          </p:cNvPr>
          <p:cNvSpPr>
            <a:spLocks xmlns:a="http://schemas.openxmlformats.org/drawingml/2006/main" noGrp="1"/>
          </p:cNvSpPr>
          <p:nvPr/>
        </p:nvSpPr>
        <p:spPr>
          <a:xfrm xmlns:a="http://schemas.openxmlformats.org/drawingml/2006/main">
            <a:off x="6191250" y="228600"/>
            <a:ext cx="5353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0">
                <a:solidFill>
                  <a:srgbClr val="6B7580"/>
                </a:solidFill>
              </a:defRPr>
            </a:pPr>
            <a:r>
              <a:rPr sz="825" b="0">
                <a:solidFill>
                  <a:srgbClr val="6B7580"/>
                </a:solidFill>
              </a:rPr>
              <a:t>Problem   Task   ● Framework   Simulation   Hardware   Discussion</a:t>
            </a:r>
          </a:p>
        </p:txBody>
      </p:sp>
      <p:sp>
        <p:nvSpPr>
          <p:cNvPr id="4" name="">
            <a:extLst xmlns:a="http://schemas.openxmlformats.org/drawingml/2006/main">
              <a:ext uri="{FF2B5EF4-FFF2-40B4-BE49-F238E27FC236}">
                <a16:creationId xmlns:a16="http://schemas.microsoft.com/office/drawing/2014/main" id="{75128F63-0ACC-4622-9E50-81E0E0623E70}"/>
              </a:ext>
            </a:extLst>
          </p:cNvPr>
          <p:cNvSpPr>
            <a:spLocks xmlns:a="http://schemas.openxmlformats.org/drawingml/2006/main" noGrp="1"/>
          </p:cNvSpPr>
          <p:nvPr/>
        </p:nvSpPr>
        <p:spPr>
          <a:xfrm xmlns:a="http://schemas.openxmlformats.org/drawingml/2006/main">
            <a:off x="647700" y="533400"/>
            <a:ext cx="108394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004282"/>
                </a:solidFill>
              </a:defRPr>
            </a:pPr>
            <a:r>
              <a:rPr sz="2850" b="1">
                <a:solidFill>
                  <a:srgbClr val="004282"/>
                </a:solidFill>
              </a:rPr>
              <a:t>Two variants search the remaining region differently</a:t>
            </a:r>
          </a:p>
        </p:txBody>
      </p:sp>
      <p:sp>
        <p:nvSpPr>
          <p:cNvPr id="5" name="">
            <a:extLst xmlns:a="http://schemas.openxmlformats.org/drawingml/2006/main">
              <a:ext uri="{FF2B5EF4-FFF2-40B4-BE49-F238E27FC236}">
                <a16:creationId xmlns:a16="http://schemas.microsoft.com/office/drawing/2014/main" id="{B3EE8ACC-BB33-4E7F-82E8-02C39815D155}"/>
              </a:ext>
            </a:extLst>
          </p:cNvPr>
          <p:cNvSpPr>
            <a:spLocks xmlns:a="http://schemas.openxmlformats.org/drawingml/2006/main" noGrp="1"/>
          </p:cNvSpPr>
          <p:nvPr/>
        </p:nvSpPr>
        <p:spPr>
          <a:xfrm xmlns:a="http://schemas.openxmlformats.org/drawingml/2006/main">
            <a:off x="647700" y="1257300"/>
            <a:ext cx="609600" cy="47625"/>
          </a:xfrm>
          <a:prstGeom xmlns:a="http://schemas.openxmlformats.org/drawingml/2006/main" prst="rect">
            <a:avLst/>
          </a:prstGeom>
          <a:solidFill xmlns:a="http://schemas.openxmlformats.org/drawingml/2006/main">
            <a:srgbClr val="ED7F0D"/>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43179443-3F0A-43BD-9BDC-EB35541E9083}"/>
              </a:ext>
            </a:extLst>
          </p:cNvPr>
          <p:cNvSpPr>
            <a:spLocks xmlns:a="http://schemas.openxmlformats.org/drawingml/2006/main" noGrp="1"/>
          </p:cNvSpPr>
          <p:nvPr/>
        </p:nvSpPr>
        <p:spPr>
          <a:xfrm xmlns:a="http://schemas.openxmlformats.org/drawingml/2006/main">
            <a:off x="647700" y="6486525"/>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6B7580"/>
                </a:solidFill>
              </a:defRPr>
            </a:pPr>
            <a:r>
              <a:rPr sz="825" b="0">
                <a:solidFill>
                  <a:srgbClr val="6B7580"/>
                </a:solidFill>
              </a:rPr>
              <a:t>Nan Jinyao · Paper-aligned group review</a:t>
            </a:r>
          </a:p>
        </p:txBody>
      </p:sp>
      <p:sp>
        <p:nvSpPr>
          <p:cNvPr id="7" name="">
            <a:extLst xmlns:a="http://schemas.openxmlformats.org/drawingml/2006/main">
              <a:ext uri="{FF2B5EF4-FFF2-40B4-BE49-F238E27FC236}">
                <a16:creationId xmlns:a16="http://schemas.microsoft.com/office/drawing/2014/main" id="{D88C9634-F1AD-4C3C-AF50-3B881429262A}"/>
              </a:ext>
            </a:extLst>
          </p:cNvPr>
          <p:cNvSpPr>
            <a:spLocks xmlns:a="http://schemas.openxmlformats.org/drawingml/2006/main" noGrp="1"/>
          </p:cNvSpPr>
          <p:nvPr/>
        </p:nvSpPr>
        <p:spPr>
          <a:xfrm xmlns:a="http://schemas.openxmlformats.org/drawingml/2006/main">
            <a:off x="4476750" y="6486525"/>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0">
                <a:solidFill>
                  <a:srgbClr val="6B7580"/>
                </a:solidFill>
              </a:defRPr>
            </a:pPr>
            <a:r>
              <a:rPr sz="825" b="0">
                <a:solidFill>
                  <a:srgbClr val="6B7580"/>
                </a:solidFill>
              </a:rPr>
              <a:t>Sec. III-C · Eqs. (22)–(25)</a:t>
            </a:r>
          </a:p>
        </p:txBody>
      </p:sp>
      <p:sp>
        <p:nvSpPr>
          <p:cNvPr id="8" name="">
            <a:extLst xmlns:a="http://schemas.openxmlformats.org/drawingml/2006/main">
              <a:ext uri="{FF2B5EF4-FFF2-40B4-BE49-F238E27FC236}">
                <a16:creationId xmlns:a16="http://schemas.microsoft.com/office/drawing/2014/main" id="{C596279B-B24F-4946-B85A-1FE0BE9348EB}"/>
              </a:ext>
            </a:extLst>
          </p:cNvPr>
          <p:cNvSpPr>
            <a:spLocks xmlns:a="http://schemas.openxmlformats.org/drawingml/2006/main" noGrp="1"/>
          </p:cNvSpPr>
          <p:nvPr/>
        </p:nvSpPr>
        <p:spPr>
          <a:xfrm xmlns:a="http://schemas.openxmlformats.org/drawingml/2006/main">
            <a:off x="11049000" y="648652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004282"/>
                </a:solidFill>
              </a:defRPr>
            </a:pPr>
            <a:r>
              <a:rPr sz="825" b="1">
                <a:solidFill>
                  <a:srgbClr val="004282"/>
                </a:solidFill>
              </a:rPr>
              <a:t>22</a:t>
            </a:r>
          </a:p>
        </p:txBody>
      </p:sp>
      <p:sp>
        <p:nvSpPr>
          <p:cNvPr id="9" name="">
            <a:extLst xmlns:a="http://schemas.openxmlformats.org/drawingml/2006/main">
              <a:ext uri="{FF2B5EF4-FFF2-40B4-BE49-F238E27FC236}">
                <a16:creationId xmlns:a16="http://schemas.microsoft.com/office/drawing/2014/main" id="{C2A095D9-3EC8-4840-A904-BCFB729BA1A1}"/>
              </a:ext>
            </a:extLst>
          </p:cNvPr>
          <p:cNvSpPr>
            <a:spLocks xmlns:a="http://schemas.openxmlformats.org/drawingml/2006/main" noGrp="1"/>
          </p:cNvSpPr>
          <p:nvPr/>
        </p:nvSpPr>
        <p:spPr>
          <a:xfrm xmlns:a="http://schemas.openxmlformats.org/drawingml/2006/main">
            <a:off x="3333750" y="1657350"/>
            <a:ext cx="5524500" cy="457200"/>
          </a:xfrm>
          <a:prstGeom xmlns:a="http://schemas.openxmlformats.org/drawingml/2006/main" prst="rect">
            <a:avLst/>
          </a:prstGeom>
          <a:solidFill xmlns:a="http://schemas.openxmlformats.org/drawingml/2006/main">
            <a:srgbClr val="E8F1F8"/>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004282"/>
                </a:solidFill>
              </a:defRPr>
            </a:pPr>
            <a:r>
              <a:rPr sz="1650" b="1">
                <a:solidFill>
                  <a:srgbClr val="004282"/>
                </a:solidFill>
              </a:rPr>
              <a:t>SHARED POSTERIOR-SUPPORTED SHORTCUT</a:t>
            </a:r>
          </a:p>
        </p:txBody>
      </p:sp>
      <p:sp>
        <p:nvSpPr>
          <p:cNvPr id="10" name="">
            <a:extLst xmlns:a="http://schemas.openxmlformats.org/drawingml/2006/main">
              <a:ext uri="{FF2B5EF4-FFF2-40B4-BE49-F238E27FC236}">
                <a16:creationId xmlns:a16="http://schemas.microsoft.com/office/drawing/2014/main" id="{EC7CD87C-D61A-432A-A958-91A4377C3CE4}"/>
              </a:ext>
            </a:extLst>
          </p:cNvPr>
          <p:cNvSpPr>
            <a:spLocks xmlns:a="http://schemas.openxmlformats.org/drawingml/2006/main" noGrp="1"/>
          </p:cNvSpPr>
          <p:nvPr/>
        </p:nvSpPr>
        <p:spPr>
          <a:xfrm xmlns:a="http://schemas.openxmlformats.org/drawingml/2006/main">
            <a:off x="5848350" y="2143125"/>
            <a:ext cx="495300" cy="457200"/>
          </a:xfrm>
          <a:prstGeom xmlns:a="http://schemas.openxmlformats.org/drawingml/2006/main" prst="downArrow">
            <a:avLst/>
          </a:prstGeom>
          <a:solidFill xmlns:a="http://schemas.openxmlformats.org/drawingml/2006/main">
            <a:srgbClr val="ED7F0D"/>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A4D10EA5-0982-4957-9B55-5E065C154B80}"/>
              </a:ext>
            </a:extLst>
          </p:cNvPr>
          <p:cNvSpPr>
            <a:spLocks xmlns:a="http://schemas.openxmlformats.org/drawingml/2006/main" noGrp="1"/>
          </p:cNvSpPr>
          <p:nvPr/>
        </p:nvSpPr>
        <p:spPr>
          <a:xfrm xmlns:a="http://schemas.openxmlformats.org/drawingml/2006/main">
            <a:off x="781050" y="2781300"/>
            <a:ext cx="4857750" cy="2247900"/>
          </a:xfrm>
          <a:prstGeom xmlns:a="http://schemas.openxmlformats.org/drawingml/2006/main" prst="roundRect">
            <a:avLst>
              <a:gd name="adj" fmla="val 3390"/>
            </a:avLst>
          </a:prstGeom>
          <a:solidFill xmlns:a="http://schemas.openxmlformats.org/drawingml/2006/main">
            <a:srgbClr val="FFFFFF"/>
          </a:solidFill>
          <a:ln xmlns:a="http://schemas.openxmlformats.org/drawingml/2006/main" w="19050">
            <a:solidFill>
              <a:srgbClr val="0072B2"/>
            </a:solidFill>
            <a:prstDash val="solid"/>
          </a:ln>
        </p:spPr>
      </p:sp>
      <p:sp>
        <p:nvSpPr>
          <p:cNvPr id="12" name="">
            <a:extLst xmlns:a="http://schemas.openxmlformats.org/drawingml/2006/main">
              <a:ext uri="{FF2B5EF4-FFF2-40B4-BE49-F238E27FC236}">
                <a16:creationId xmlns:a16="http://schemas.microsoft.com/office/drawing/2014/main" id="{F65F6402-6858-4776-96C8-8345AFBD6315}"/>
              </a:ext>
            </a:extLst>
          </p:cNvPr>
          <p:cNvSpPr>
            <a:spLocks xmlns:a="http://schemas.openxmlformats.org/drawingml/2006/main" noGrp="1"/>
          </p:cNvSpPr>
          <p:nvPr/>
        </p:nvSpPr>
        <p:spPr>
          <a:xfrm xmlns:a="http://schemas.openxmlformats.org/drawingml/2006/main">
            <a:off x="1019175" y="2990850"/>
            <a:ext cx="4381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325" b="1">
                <a:solidFill>
                  <a:srgbClr val="0072B2"/>
                </a:solidFill>
              </a:defRPr>
            </a:pPr>
            <a:r>
              <a:rPr sz="2325" b="1">
                <a:solidFill>
                  <a:srgbClr val="0072B2"/>
                </a:solidFill>
              </a:rPr>
              <a:t>PGS-O</a:t>
            </a:r>
          </a:p>
        </p:txBody>
      </p:sp>
      <p:sp>
        <p:nvSpPr>
          <p:cNvPr id="13" name="">
            <a:extLst xmlns:a="http://schemas.openxmlformats.org/drawingml/2006/main">
              <a:ext uri="{FF2B5EF4-FFF2-40B4-BE49-F238E27FC236}">
                <a16:creationId xmlns:a16="http://schemas.microsoft.com/office/drawing/2014/main" id="{51BBA67B-E3A8-46B9-A3EB-75F0CD3527FE}"/>
              </a:ext>
            </a:extLst>
          </p:cNvPr>
          <p:cNvSpPr>
            <a:spLocks xmlns:a="http://schemas.openxmlformats.org/drawingml/2006/main" noGrp="1"/>
          </p:cNvSpPr>
          <p:nvPr/>
        </p:nvSpPr>
        <p:spPr>
          <a:xfrm xmlns:a="http://schemas.openxmlformats.org/drawingml/2006/main">
            <a:off x="1066800" y="3600450"/>
            <a:ext cx="4286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75" b="1">
                <a:solidFill>
                  <a:srgbClr val="152538"/>
                </a:solidFill>
              </a:defRPr>
            </a:pPr>
            <a:r>
              <a:rPr sz="1575" b="1">
                <a:solidFill>
                  <a:srgbClr val="152538"/>
                </a:solidFill>
              </a:rPr>
              <a:t>local Archimedean spiral</a:t>
            </a:r>
          </a:p>
        </p:txBody>
      </p:sp>
      <p:sp>
        <p:nvSpPr>
          <p:cNvPr id="14" name="">
            <a:extLst xmlns:a="http://schemas.openxmlformats.org/drawingml/2006/main">
              <a:ext uri="{FF2B5EF4-FFF2-40B4-BE49-F238E27FC236}">
                <a16:creationId xmlns:a16="http://schemas.microsoft.com/office/drawing/2014/main" id="{D0A76CCD-0601-469A-9FE2-BE2BC5B0C4A3}"/>
              </a:ext>
            </a:extLst>
          </p:cNvPr>
          <p:cNvSpPr>
            <a:spLocks xmlns:a="http://schemas.openxmlformats.org/drawingml/2006/main" noGrp="1"/>
          </p:cNvSpPr>
          <p:nvPr/>
        </p:nvSpPr>
        <p:spPr>
          <a:xfrm xmlns:a="http://schemas.openxmlformats.org/drawingml/2006/main">
            <a:off x="1162050" y="4124325"/>
            <a:ext cx="4095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0">
                <a:solidFill>
                  <a:srgbClr val="6B7580"/>
                </a:solidFill>
              </a:defRPr>
            </a:pPr>
            <a:r>
              <a:rPr sz="1350" b="0">
                <a:solidFill>
                  <a:srgbClr val="6B7580"/>
                </a:solidFill>
              </a:rPr>
              <a:t>simple coverage of the residual disk</a:t>
            </a:r>
          </a:p>
        </p:txBody>
      </p:sp>
      <p:sp>
        <p:nvSpPr>
          <p:cNvPr id="15" name="">
            <a:extLst xmlns:a="http://schemas.openxmlformats.org/drawingml/2006/main">
              <a:ext uri="{FF2B5EF4-FFF2-40B4-BE49-F238E27FC236}">
                <a16:creationId xmlns:a16="http://schemas.microsoft.com/office/drawing/2014/main" id="{82D4AE66-E764-45BF-AE13-552B5D797DC1}"/>
              </a:ext>
            </a:extLst>
          </p:cNvPr>
          <p:cNvSpPr>
            <a:spLocks xmlns:a="http://schemas.openxmlformats.org/drawingml/2006/main" noGrp="1"/>
          </p:cNvSpPr>
          <p:nvPr/>
        </p:nvSpPr>
        <p:spPr>
          <a:xfrm xmlns:a="http://schemas.openxmlformats.org/drawingml/2006/main">
            <a:off x="6438900" y="2781300"/>
            <a:ext cx="4857750" cy="2247900"/>
          </a:xfrm>
          <a:prstGeom xmlns:a="http://schemas.openxmlformats.org/drawingml/2006/main" prst="roundRect">
            <a:avLst>
              <a:gd name="adj" fmla="val 3390"/>
            </a:avLst>
          </a:prstGeom>
          <a:solidFill xmlns:a="http://schemas.openxmlformats.org/drawingml/2006/main">
            <a:srgbClr val="FFFFFF"/>
          </a:solidFill>
          <a:ln xmlns:a="http://schemas.openxmlformats.org/drawingml/2006/main" w="19050">
            <a:solidFill>
              <a:srgbClr val="009E73"/>
            </a:solidFill>
            <a:prstDash val="solid"/>
          </a:ln>
        </p:spPr>
      </p:sp>
      <p:sp>
        <p:nvSpPr>
          <p:cNvPr id="16" name="">
            <a:extLst xmlns:a="http://schemas.openxmlformats.org/drawingml/2006/main">
              <a:ext uri="{FF2B5EF4-FFF2-40B4-BE49-F238E27FC236}">
                <a16:creationId xmlns:a16="http://schemas.microsoft.com/office/drawing/2014/main" id="{452300BF-9456-4360-BC4F-81F17DE045D6}"/>
              </a:ext>
            </a:extLst>
          </p:cNvPr>
          <p:cNvSpPr>
            <a:spLocks xmlns:a="http://schemas.openxmlformats.org/drawingml/2006/main" noGrp="1"/>
          </p:cNvSpPr>
          <p:nvPr/>
        </p:nvSpPr>
        <p:spPr>
          <a:xfrm xmlns:a="http://schemas.openxmlformats.org/drawingml/2006/main">
            <a:off x="6677025" y="2990850"/>
            <a:ext cx="4381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325" b="1">
                <a:solidFill>
                  <a:srgbClr val="009E73"/>
                </a:solidFill>
              </a:defRPr>
            </a:pPr>
            <a:r>
              <a:rPr sz="2325" b="1">
                <a:solidFill>
                  <a:srgbClr val="009E73"/>
                </a:solidFill>
              </a:rPr>
              <a:t>PGS-G</a:t>
            </a:r>
          </a:p>
        </p:txBody>
      </p:sp>
      <p:sp>
        <p:nvSpPr>
          <p:cNvPr id="17" name="">
            <a:extLst xmlns:a="http://schemas.openxmlformats.org/drawingml/2006/main">
              <a:ext uri="{FF2B5EF4-FFF2-40B4-BE49-F238E27FC236}">
                <a16:creationId xmlns:a16="http://schemas.microsoft.com/office/drawing/2014/main" id="{E4CBEC45-3A14-40CD-AE34-1F9EA82DDE42}"/>
              </a:ext>
            </a:extLst>
          </p:cNvPr>
          <p:cNvSpPr>
            <a:spLocks xmlns:a="http://schemas.openxmlformats.org/drawingml/2006/main" noGrp="1"/>
          </p:cNvSpPr>
          <p:nvPr/>
        </p:nvSpPr>
        <p:spPr>
          <a:xfrm xmlns:a="http://schemas.openxmlformats.org/drawingml/2006/main">
            <a:off x="6724650" y="3600450"/>
            <a:ext cx="4286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75" b="1">
                <a:solidFill>
                  <a:srgbClr val="152538"/>
                </a:solidFill>
              </a:defRPr>
            </a:pPr>
            <a:r>
              <a:rPr sz="1575" b="1">
                <a:solidFill>
                  <a:srgbClr val="152538"/>
                </a:solidFill>
              </a:rPr>
              <a:t>entropy-grid contacts</a:t>
            </a:r>
          </a:p>
        </p:txBody>
      </p:sp>
      <p:sp>
        <p:nvSpPr>
          <p:cNvPr id="18" name="">
            <a:extLst xmlns:a="http://schemas.openxmlformats.org/drawingml/2006/main">
              <a:ext uri="{FF2B5EF4-FFF2-40B4-BE49-F238E27FC236}">
                <a16:creationId xmlns:a16="http://schemas.microsoft.com/office/drawing/2014/main" id="{28822711-814A-4CBD-8112-0EC8457AAD13}"/>
              </a:ext>
            </a:extLst>
          </p:cNvPr>
          <p:cNvSpPr>
            <a:spLocks xmlns:a="http://schemas.openxmlformats.org/drawingml/2006/main" noGrp="1"/>
          </p:cNvSpPr>
          <p:nvPr/>
        </p:nvSpPr>
        <p:spPr>
          <a:xfrm xmlns:a="http://schemas.openxmlformats.org/drawingml/2006/main">
            <a:off x="6819900" y="4124325"/>
            <a:ext cx="4095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0">
                <a:solidFill>
                  <a:srgbClr val="6B7580"/>
                </a:solidFill>
              </a:defRPr>
            </a:pPr>
            <a:r>
              <a:rPr sz="1350" b="0">
                <a:solidFill>
                  <a:srgbClr val="6B7580"/>
                </a:solidFill>
              </a:rPr>
              <a:t>information and coverage minus travel cost</a:t>
            </a:r>
          </a:p>
        </p:txBody>
      </p:sp>
      <p:sp>
        <p:nvSpPr>
          <p:cNvPr id="19" name="">
            <a:extLst xmlns:a="http://schemas.openxmlformats.org/drawingml/2006/main">
              <a:ext uri="{FF2B5EF4-FFF2-40B4-BE49-F238E27FC236}">
                <a16:creationId xmlns:a16="http://schemas.microsoft.com/office/drawing/2014/main" id="{B3D13D0F-1F73-444F-9E63-490E77E451F5}"/>
              </a:ext>
            </a:extLst>
          </p:cNvPr>
          <p:cNvSpPr>
            <a:spLocks xmlns:a="http://schemas.openxmlformats.org/drawingml/2006/main" noGrp="1"/>
          </p:cNvSpPr>
          <p:nvPr/>
        </p:nvSpPr>
        <p:spPr>
          <a:xfrm xmlns:a="http://schemas.openxmlformats.org/drawingml/2006/main">
            <a:off x="647700" y="5943600"/>
            <a:ext cx="10839450" cy="400050"/>
          </a:xfrm>
          <a:prstGeom xmlns:a="http://schemas.openxmlformats.org/drawingml/2006/main" prst="rect">
            <a:avLst/>
          </a:prstGeom>
          <a:solidFill xmlns:a="http://schemas.openxmlformats.org/drawingml/2006/main">
            <a:srgbClr val="FFF0E2"/>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64ADED07-9261-43A9-A86E-3BA1E29A68CE}"/>
              </a:ext>
            </a:extLst>
          </p:cNvPr>
          <p:cNvSpPr>
            <a:spLocks xmlns:a="http://schemas.openxmlformats.org/drawingml/2006/main" noGrp="1"/>
          </p:cNvSpPr>
          <p:nvPr/>
        </p:nvSpPr>
        <p:spPr>
          <a:xfrm xmlns:a="http://schemas.openxmlformats.org/drawingml/2006/main">
            <a:off x="647700" y="5943600"/>
            <a:ext cx="57150" cy="400050"/>
          </a:xfrm>
          <a:prstGeom xmlns:a="http://schemas.openxmlformats.org/drawingml/2006/main" prst="rect">
            <a:avLst/>
          </a:prstGeom>
          <a:solidFill xmlns:a="http://schemas.openxmlformats.org/drawingml/2006/main">
            <a:srgbClr val="ED7F0D"/>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E2433A86-5FA8-4269-9B71-012BC2F2F098}"/>
              </a:ext>
            </a:extLst>
          </p:cNvPr>
          <p:cNvSpPr>
            <a:spLocks xmlns:a="http://schemas.openxmlformats.org/drawingml/2006/main" noGrp="1"/>
          </p:cNvSpPr>
          <p:nvPr/>
        </p:nvSpPr>
        <p:spPr>
          <a:xfrm xmlns:a="http://schemas.openxmlformats.org/drawingml/2006/main">
            <a:off x="838200" y="5981700"/>
            <a:ext cx="10458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152538"/>
                </a:solidFill>
              </a:defRPr>
            </a:pPr>
            <a:r>
              <a:rPr sz="1275" b="1">
                <a:solidFill>
                  <a:srgbClr val="152538"/>
                </a:solidFill>
              </a:rPr>
              <a:t>Both variants share the same shortcut, physical controller and verifier.</a:t>
            </a:r>
          </a:p>
        </p:txBody>
      </p:sp>
    </p:spTree>
    <p:extLst>
      <p:ext uri="{BB962C8B-B14F-4D97-AF65-F5344CB8AC3E}">
        <p14:creationId xmlns:p14="http://schemas.microsoft.com/office/powerpoint/2010/main" val="1641215396"/>
      </p:ext>
    </p:extLst>
  </p:cSld>
</p:sld>
</file>

<file path=ppt/slides/slide23.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2B74AAF-97BA-4536-8072-148C50428E10}"/>
              </a:ext>
            </a:extLst>
          </p:cNvPr>
          <p:cNvSpPr>
            <a:spLocks xmlns:a="http://schemas.openxmlformats.org/drawingml/2006/main" noGrp="1"/>
          </p:cNvSpPr>
          <p:nvPr/>
        </p:nvSpPr>
        <p:spPr>
          <a:xfrm xmlns:a="http://schemas.openxmlformats.org/drawingml/2006/main">
            <a:off x="647700" y="2286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ED7F0D"/>
                </a:solidFill>
              </a:defRPr>
            </a:pPr>
            <a:r>
              <a:rPr sz="1050" b="1">
                <a:solidFill>
                  <a:srgbClr val="ED7F0D"/>
                </a:solidFill>
              </a:rPr>
              <a:t>23</a:t>
            </a:r>
          </a:p>
        </p:txBody>
      </p:sp>
      <p:sp>
        <p:nvSpPr>
          <p:cNvPr id="2" name="">
            <a:extLst xmlns:a="http://schemas.openxmlformats.org/drawingml/2006/main">
              <a:ext uri="{FF2B5EF4-FFF2-40B4-BE49-F238E27FC236}">
                <a16:creationId xmlns:a16="http://schemas.microsoft.com/office/drawing/2014/main" id="{0BE9E1D4-FCC0-41EC-A4B1-1950549C5E01}"/>
              </a:ext>
            </a:extLst>
          </p:cNvPr>
          <p:cNvSpPr>
            <a:spLocks xmlns:a="http://schemas.openxmlformats.org/drawingml/2006/main" noGrp="1"/>
          </p:cNvSpPr>
          <p:nvPr/>
        </p:nvSpPr>
        <p:spPr>
          <a:xfrm xmlns:a="http://schemas.openxmlformats.org/drawingml/2006/main">
            <a:off x="1104900" y="22860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6B7580"/>
                </a:solidFill>
              </a:defRPr>
            </a:pPr>
            <a:r>
              <a:rPr sz="975" b="1">
                <a:solidFill>
                  <a:srgbClr val="6B7580"/>
                </a:solidFill>
              </a:rPr>
              <a:t>FRAMEWORK</a:t>
            </a:r>
          </a:p>
        </p:txBody>
      </p:sp>
      <p:sp>
        <p:nvSpPr>
          <p:cNvPr id="3" name="">
            <a:extLst xmlns:a="http://schemas.openxmlformats.org/drawingml/2006/main">
              <a:ext uri="{FF2B5EF4-FFF2-40B4-BE49-F238E27FC236}">
                <a16:creationId xmlns:a16="http://schemas.microsoft.com/office/drawing/2014/main" id="{C649252B-A1FF-4D6B-95DF-00C7AEA78C62}"/>
              </a:ext>
            </a:extLst>
          </p:cNvPr>
          <p:cNvSpPr>
            <a:spLocks xmlns:a="http://schemas.openxmlformats.org/drawingml/2006/main" noGrp="1"/>
          </p:cNvSpPr>
          <p:nvPr/>
        </p:nvSpPr>
        <p:spPr>
          <a:xfrm xmlns:a="http://schemas.openxmlformats.org/drawingml/2006/main">
            <a:off x="6191250" y="228600"/>
            <a:ext cx="5353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0">
                <a:solidFill>
                  <a:srgbClr val="6B7580"/>
                </a:solidFill>
              </a:defRPr>
            </a:pPr>
            <a:r>
              <a:rPr sz="825" b="0">
                <a:solidFill>
                  <a:srgbClr val="6B7580"/>
                </a:solidFill>
              </a:rPr>
              <a:t>Problem   Task   ● Framework   Simulation   Hardware   Discussion</a:t>
            </a:r>
          </a:p>
        </p:txBody>
      </p:sp>
      <p:sp>
        <p:nvSpPr>
          <p:cNvPr id="4" name="">
            <a:extLst xmlns:a="http://schemas.openxmlformats.org/drawingml/2006/main">
              <a:ext uri="{FF2B5EF4-FFF2-40B4-BE49-F238E27FC236}">
                <a16:creationId xmlns:a16="http://schemas.microsoft.com/office/drawing/2014/main" id="{18F3092A-7BBF-4898-BB30-0A666FEF91C9}"/>
              </a:ext>
            </a:extLst>
          </p:cNvPr>
          <p:cNvSpPr>
            <a:spLocks xmlns:a="http://schemas.openxmlformats.org/drawingml/2006/main" noGrp="1"/>
          </p:cNvSpPr>
          <p:nvPr/>
        </p:nvSpPr>
        <p:spPr>
          <a:xfrm xmlns:a="http://schemas.openxmlformats.org/drawingml/2006/main">
            <a:off x="647700" y="533400"/>
            <a:ext cx="108394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700" b="1">
                <a:solidFill>
                  <a:srgbClr val="004282"/>
                </a:solidFill>
              </a:defRPr>
            </a:pPr>
            <a:r>
              <a:rPr sz="2700" b="1">
                <a:solidFill>
                  <a:srgbClr val="004282"/>
                </a:solidFill>
              </a:rPr>
              <a:t>The physical loop still controls capture, recovery and termination</a:t>
            </a:r>
          </a:p>
        </p:txBody>
      </p:sp>
      <p:sp>
        <p:nvSpPr>
          <p:cNvPr id="5" name="">
            <a:extLst xmlns:a="http://schemas.openxmlformats.org/drawingml/2006/main">
              <a:ext uri="{FF2B5EF4-FFF2-40B4-BE49-F238E27FC236}">
                <a16:creationId xmlns:a16="http://schemas.microsoft.com/office/drawing/2014/main" id="{83DED9CF-EA93-4455-9B83-AF9E079CCC69}"/>
              </a:ext>
            </a:extLst>
          </p:cNvPr>
          <p:cNvSpPr>
            <a:spLocks xmlns:a="http://schemas.openxmlformats.org/drawingml/2006/main" noGrp="1"/>
          </p:cNvSpPr>
          <p:nvPr/>
        </p:nvSpPr>
        <p:spPr>
          <a:xfrm xmlns:a="http://schemas.openxmlformats.org/drawingml/2006/main">
            <a:off x="647700" y="1257300"/>
            <a:ext cx="609600" cy="47625"/>
          </a:xfrm>
          <a:prstGeom xmlns:a="http://schemas.openxmlformats.org/drawingml/2006/main" prst="rect">
            <a:avLst/>
          </a:prstGeom>
          <a:solidFill xmlns:a="http://schemas.openxmlformats.org/drawingml/2006/main">
            <a:srgbClr val="ED7F0D"/>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E4CE8A40-2D36-40C8-8651-32E7D532D8E8}"/>
              </a:ext>
            </a:extLst>
          </p:cNvPr>
          <p:cNvSpPr>
            <a:spLocks xmlns:a="http://schemas.openxmlformats.org/drawingml/2006/main" noGrp="1"/>
          </p:cNvSpPr>
          <p:nvPr/>
        </p:nvSpPr>
        <p:spPr>
          <a:xfrm xmlns:a="http://schemas.openxmlformats.org/drawingml/2006/main">
            <a:off x="647700" y="6486525"/>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6B7580"/>
                </a:solidFill>
              </a:defRPr>
            </a:pPr>
            <a:r>
              <a:rPr sz="825" b="0">
                <a:solidFill>
                  <a:srgbClr val="6B7580"/>
                </a:solidFill>
              </a:rPr>
              <a:t>Nan Jinyao · Paper-aligned group review</a:t>
            </a:r>
          </a:p>
        </p:txBody>
      </p:sp>
      <p:sp>
        <p:nvSpPr>
          <p:cNvPr id="7" name="">
            <a:extLst xmlns:a="http://schemas.openxmlformats.org/drawingml/2006/main">
              <a:ext uri="{FF2B5EF4-FFF2-40B4-BE49-F238E27FC236}">
                <a16:creationId xmlns:a16="http://schemas.microsoft.com/office/drawing/2014/main" id="{8F376BFE-68BE-4AB3-BCB9-43A439164404}"/>
              </a:ext>
            </a:extLst>
          </p:cNvPr>
          <p:cNvSpPr>
            <a:spLocks xmlns:a="http://schemas.openxmlformats.org/drawingml/2006/main" noGrp="1"/>
          </p:cNvSpPr>
          <p:nvPr/>
        </p:nvSpPr>
        <p:spPr>
          <a:xfrm xmlns:a="http://schemas.openxmlformats.org/drawingml/2006/main">
            <a:off x="4476750" y="6486525"/>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0">
                <a:solidFill>
                  <a:srgbClr val="6B7580"/>
                </a:solidFill>
              </a:defRPr>
            </a:pPr>
            <a:r>
              <a:rPr sz="825" b="0">
                <a:solidFill>
                  <a:srgbClr val="6B7580"/>
                </a:solidFill>
              </a:rPr>
              <a:t>Sec. III-D · Eqs. (26)–(30)</a:t>
            </a:r>
          </a:p>
        </p:txBody>
      </p:sp>
      <p:sp>
        <p:nvSpPr>
          <p:cNvPr id="8" name="">
            <a:extLst xmlns:a="http://schemas.openxmlformats.org/drawingml/2006/main">
              <a:ext uri="{FF2B5EF4-FFF2-40B4-BE49-F238E27FC236}">
                <a16:creationId xmlns:a16="http://schemas.microsoft.com/office/drawing/2014/main" id="{DEF4219A-065A-460E-82B8-B2B220005C12}"/>
              </a:ext>
            </a:extLst>
          </p:cNvPr>
          <p:cNvSpPr>
            <a:spLocks xmlns:a="http://schemas.openxmlformats.org/drawingml/2006/main" noGrp="1"/>
          </p:cNvSpPr>
          <p:nvPr/>
        </p:nvSpPr>
        <p:spPr>
          <a:xfrm xmlns:a="http://schemas.openxmlformats.org/drawingml/2006/main">
            <a:off x="11049000" y="648652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004282"/>
                </a:solidFill>
              </a:defRPr>
            </a:pPr>
            <a:r>
              <a:rPr sz="825" b="1">
                <a:solidFill>
                  <a:srgbClr val="004282"/>
                </a:solidFill>
              </a:rPr>
              <a:t>23</a:t>
            </a:r>
          </a:p>
        </p:txBody>
      </p:sp>
      <p:sp>
        <p:nvSpPr>
          <p:cNvPr id="9" name="">
            <a:extLst xmlns:a="http://schemas.openxmlformats.org/drawingml/2006/main">
              <a:ext uri="{FF2B5EF4-FFF2-40B4-BE49-F238E27FC236}">
                <a16:creationId xmlns:a16="http://schemas.microsoft.com/office/drawing/2014/main" id="{F79E38BF-2F97-45C4-ABBA-C0D1525B3A82}"/>
              </a:ext>
            </a:extLst>
          </p:cNvPr>
          <p:cNvSpPr>
            <a:spLocks xmlns:a="http://schemas.openxmlformats.org/drawingml/2006/main" noGrp="1"/>
          </p:cNvSpPr>
          <p:nvPr/>
        </p:nvSpPr>
        <p:spPr>
          <a:xfrm xmlns:a="http://schemas.openxmlformats.org/drawingml/2006/main">
            <a:off x="704850" y="1447800"/>
            <a:ext cx="10725150" cy="3486150"/>
          </a:xfrm>
          <a:prstGeom xmlns:a="http://schemas.openxmlformats.org/drawingml/2006/main" prst="roundRect">
            <a:avLst>
              <a:gd name="adj" fmla="val 2186"/>
            </a:avLst>
          </a:prstGeom>
          <a:solidFill xmlns:a="http://schemas.openxmlformats.org/drawingml/2006/main">
            <a:srgbClr val="FFFFFF"/>
          </a:solidFill>
          <a:ln xmlns:a="http://schemas.openxmlformats.org/drawingml/2006/main" w="9525">
            <a:solidFill>
              <a:srgbClr val="D9E0E6"/>
            </a:solidFill>
            <a:prstDash val="solid"/>
          </a:ln>
        </p:spPr>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ffbf05ffcd514578"/>
          <a:stretch xmlns:a="http://schemas.openxmlformats.org/drawingml/2006/main"/>
        </p:blipFill>
        <p:spPr>
          <a:xfrm xmlns:a="http://schemas.openxmlformats.org/drawingml/2006/main">
            <a:off x="1626294" y="1524000"/>
            <a:ext cx="8882261" cy="3333750"/>
          </a:xfrm>
          <a:prstGeom xmlns:a="http://schemas.openxmlformats.org/drawingml/2006/main" prst="roundRect">
            <a:avLst>
              <a:gd name="adj" fmla="val 2286"/>
            </a:avLst>
          </a:prstGeom>
        </p:spPr>
      </p:pic>
      <p:sp>
        <p:nvSpPr>
          <p:cNvPr id="11" name="">
            <a:extLst xmlns:a="http://schemas.openxmlformats.org/drawingml/2006/main">
              <a:ext uri="{FF2B5EF4-FFF2-40B4-BE49-F238E27FC236}">
                <a16:creationId xmlns:a16="http://schemas.microsoft.com/office/drawing/2014/main" id="{5FE27DD9-E252-400D-AE1E-9D1A7637B854}"/>
              </a:ext>
            </a:extLst>
          </p:cNvPr>
          <p:cNvSpPr>
            <a:spLocks xmlns:a="http://schemas.openxmlformats.org/drawingml/2006/main" noGrp="1"/>
          </p:cNvSpPr>
          <p:nvPr/>
        </p:nvSpPr>
        <p:spPr>
          <a:xfrm xmlns:a="http://schemas.openxmlformats.org/drawingml/2006/main">
            <a:off x="876300" y="5048250"/>
            <a:ext cx="2171700" cy="419100"/>
          </a:xfrm>
          <a:prstGeom xmlns:a="http://schemas.openxmlformats.org/drawingml/2006/main" prst="rect">
            <a:avLst/>
          </a:prstGeom>
          <a:solidFill xmlns:a="http://schemas.openxmlformats.org/drawingml/2006/main">
            <a:srgbClr val="E8F1F8"/>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004282"/>
                </a:solidFill>
              </a:defRPr>
            </a:pPr>
            <a:r>
              <a:rPr sz="1275" b="1">
                <a:solidFill>
                  <a:srgbClr val="004282"/>
                </a:solidFill>
              </a:rPr>
              <a:t>capture handoff</a:t>
            </a:r>
          </a:p>
        </p:txBody>
      </p:sp>
      <p:sp>
        <p:nvSpPr>
          <p:cNvPr id="12" name="">
            <a:extLst xmlns:a="http://schemas.openxmlformats.org/drawingml/2006/main">
              <a:ext uri="{FF2B5EF4-FFF2-40B4-BE49-F238E27FC236}">
                <a16:creationId xmlns:a16="http://schemas.microsoft.com/office/drawing/2014/main" id="{45B8D929-43BC-4A24-BCE7-88D29ABACDF9}"/>
              </a:ext>
            </a:extLst>
          </p:cNvPr>
          <p:cNvSpPr>
            <a:spLocks xmlns:a="http://schemas.openxmlformats.org/drawingml/2006/main" noGrp="1"/>
          </p:cNvSpPr>
          <p:nvPr/>
        </p:nvSpPr>
        <p:spPr>
          <a:xfrm xmlns:a="http://schemas.openxmlformats.org/drawingml/2006/main">
            <a:off x="3067050" y="5124450"/>
            <a:ext cx="342900" cy="266700"/>
          </a:xfrm>
          <a:prstGeom xmlns:a="http://schemas.openxmlformats.org/drawingml/2006/main" prst="rightArrow">
            <a:avLst/>
          </a:prstGeom>
          <a:solidFill xmlns:a="http://schemas.openxmlformats.org/drawingml/2006/main">
            <a:srgbClr val="ED7F0D"/>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87D204B1-A197-4879-BDEE-9B6BC5B7E8C0}"/>
              </a:ext>
            </a:extLst>
          </p:cNvPr>
          <p:cNvSpPr>
            <a:spLocks xmlns:a="http://schemas.openxmlformats.org/drawingml/2006/main" noGrp="1"/>
          </p:cNvSpPr>
          <p:nvPr/>
        </p:nvSpPr>
        <p:spPr>
          <a:xfrm xmlns:a="http://schemas.openxmlformats.org/drawingml/2006/main">
            <a:off x="3495675" y="5048250"/>
            <a:ext cx="2171700" cy="419100"/>
          </a:xfrm>
          <a:prstGeom xmlns:a="http://schemas.openxmlformats.org/drawingml/2006/main" prst="rect">
            <a:avLst/>
          </a:prstGeom>
          <a:solidFill xmlns:a="http://schemas.openxmlformats.org/drawingml/2006/main">
            <a:srgbClr val="E8F1F8"/>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004282"/>
                </a:solidFill>
              </a:defRPr>
            </a:pPr>
            <a:r>
              <a:rPr sz="1275" b="1">
                <a:solidFill>
                  <a:srgbClr val="004282"/>
                </a:solidFill>
              </a:rPr>
              <a:t>compliant insertion</a:t>
            </a:r>
          </a:p>
        </p:txBody>
      </p:sp>
      <p:sp>
        <p:nvSpPr>
          <p:cNvPr id="14" name="">
            <a:extLst xmlns:a="http://schemas.openxmlformats.org/drawingml/2006/main">
              <a:ext uri="{FF2B5EF4-FFF2-40B4-BE49-F238E27FC236}">
                <a16:creationId xmlns:a16="http://schemas.microsoft.com/office/drawing/2014/main" id="{73D6ABC5-9784-4256-839A-8F10A4C25491}"/>
              </a:ext>
            </a:extLst>
          </p:cNvPr>
          <p:cNvSpPr>
            <a:spLocks xmlns:a="http://schemas.openxmlformats.org/drawingml/2006/main" noGrp="1"/>
          </p:cNvSpPr>
          <p:nvPr/>
        </p:nvSpPr>
        <p:spPr>
          <a:xfrm xmlns:a="http://schemas.openxmlformats.org/drawingml/2006/main">
            <a:off x="5686425" y="5124450"/>
            <a:ext cx="342900" cy="266700"/>
          </a:xfrm>
          <a:prstGeom xmlns:a="http://schemas.openxmlformats.org/drawingml/2006/main" prst="rightArrow">
            <a:avLst/>
          </a:prstGeom>
          <a:solidFill xmlns:a="http://schemas.openxmlformats.org/drawingml/2006/main">
            <a:srgbClr val="ED7F0D"/>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1C28564B-B68D-4D10-90DA-F78B0A1FA348}"/>
              </a:ext>
            </a:extLst>
          </p:cNvPr>
          <p:cNvSpPr>
            <a:spLocks xmlns:a="http://schemas.openxmlformats.org/drawingml/2006/main" noGrp="1"/>
          </p:cNvSpPr>
          <p:nvPr/>
        </p:nvSpPr>
        <p:spPr>
          <a:xfrm xmlns:a="http://schemas.openxmlformats.org/drawingml/2006/main">
            <a:off x="6115050" y="5048250"/>
            <a:ext cx="2171700" cy="419100"/>
          </a:xfrm>
          <a:prstGeom xmlns:a="http://schemas.openxmlformats.org/drawingml/2006/main" prst="rect">
            <a:avLst/>
          </a:prstGeom>
          <a:solidFill xmlns:a="http://schemas.openxmlformats.org/drawingml/2006/main">
            <a:srgbClr val="E8F1F8"/>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004282"/>
                </a:solidFill>
              </a:defRPr>
            </a:pPr>
            <a:r>
              <a:rPr sz="1275" b="1">
                <a:solidFill>
                  <a:srgbClr val="004282"/>
                </a:solidFill>
              </a:rPr>
              <a:t>bounded recovery</a:t>
            </a:r>
          </a:p>
        </p:txBody>
      </p:sp>
      <p:sp>
        <p:nvSpPr>
          <p:cNvPr id="16" name="">
            <a:extLst xmlns:a="http://schemas.openxmlformats.org/drawingml/2006/main">
              <a:ext uri="{FF2B5EF4-FFF2-40B4-BE49-F238E27FC236}">
                <a16:creationId xmlns:a16="http://schemas.microsoft.com/office/drawing/2014/main" id="{D7AAFF43-9773-439D-A090-44673E705520}"/>
              </a:ext>
            </a:extLst>
          </p:cNvPr>
          <p:cNvSpPr>
            <a:spLocks xmlns:a="http://schemas.openxmlformats.org/drawingml/2006/main" noGrp="1"/>
          </p:cNvSpPr>
          <p:nvPr/>
        </p:nvSpPr>
        <p:spPr>
          <a:xfrm xmlns:a="http://schemas.openxmlformats.org/drawingml/2006/main">
            <a:off x="8305800" y="5124450"/>
            <a:ext cx="342900" cy="266700"/>
          </a:xfrm>
          <a:prstGeom xmlns:a="http://schemas.openxmlformats.org/drawingml/2006/main" prst="rightArrow">
            <a:avLst/>
          </a:prstGeom>
          <a:solidFill xmlns:a="http://schemas.openxmlformats.org/drawingml/2006/main">
            <a:srgbClr val="ED7F0D"/>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607C3369-57EF-42BD-9D71-74466FEC5C53}"/>
              </a:ext>
            </a:extLst>
          </p:cNvPr>
          <p:cNvSpPr>
            <a:spLocks xmlns:a="http://schemas.openxmlformats.org/drawingml/2006/main" noGrp="1"/>
          </p:cNvSpPr>
          <p:nvPr/>
        </p:nvSpPr>
        <p:spPr>
          <a:xfrm xmlns:a="http://schemas.openxmlformats.org/drawingml/2006/main">
            <a:off x="8734425" y="5048250"/>
            <a:ext cx="2171700" cy="419100"/>
          </a:xfrm>
          <a:prstGeom xmlns:a="http://schemas.openxmlformats.org/drawingml/2006/main" prst="rect">
            <a:avLst/>
          </a:prstGeom>
          <a:solidFill xmlns:a="http://schemas.openxmlformats.org/drawingml/2006/main">
            <a:srgbClr val="FCE9E8"/>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C74A4A"/>
                </a:solidFill>
              </a:defRPr>
            </a:pPr>
            <a:r>
              <a:rPr sz="1275" b="1">
                <a:solidFill>
                  <a:srgbClr val="C74A4A"/>
                </a:solidFill>
              </a:rPr>
              <a:t>terminal dwell</a:t>
            </a:r>
          </a:p>
        </p:txBody>
      </p:sp>
      <p:sp>
        <p:nvSpPr>
          <p:cNvPr id="18" name="">
            <a:extLst xmlns:a="http://schemas.openxmlformats.org/drawingml/2006/main">
              <a:ext uri="{FF2B5EF4-FFF2-40B4-BE49-F238E27FC236}">
                <a16:creationId xmlns:a16="http://schemas.microsoft.com/office/drawing/2014/main" id="{E4B5F413-F9F3-4D66-BA17-F9BB7BFFAC4F}"/>
              </a:ext>
            </a:extLst>
          </p:cNvPr>
          <p:cNvSpPr>
            <a:spLocks xmlns:a="http://schemas.openxmlformats.org/drawingml/2006/main" noGrp="1"/>
          </p:cNvSpPr>
          <p:nvPr/>
        </p:nvSpPr>
        <p:spPr>
          <a:xfrm xmlns:a="http://schemas.openxmlformats.org/drawingml/2006/main">
            <a:off x="647700" y="5943600"/>
            <a:ext cx="10839450" cy="400050"/>
          </a:xfrm>
          <a:prstGeom xmlns:a="http://schemas.openxmlformats.org/drawingml/2006/main" prst="rect">
            <a:avLst/>
          </a:prstGeom>
          <a:solidFill xmlns:a="http://schemas.openxmlformats.org/drawingml/2006/main">
            <a:srgbClr val="FFF0E2"/>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290E810B-EA47-4D93-AB96-86E05D3A94A0}"/>
              </a:ext>
            </a:extLst>
          </p:cNvPr>
          <p:cNvSpPr>
            <a:spLocks xmlns:a="http://schemas.openxmlformats.org/drawingml/2006/main" noGrp="1"/>
          </p:cNvSpPr>
          <p:nvPr/>
        </p:nvSpPr>
        <p:spPr>
          <a:xfrm xmlns:a="http://schemas.openxmlformats.org/drawingml/2006/main">
            <a:off x="647700" y="5943600"/>
            <a:ext cx="57150" cy="400050"/>
          </a:xfrm>
          <a:prstGeom xmlns:a="http://schemas.openxmlformats.org/drawingml/2006/main" prst="rect">
            <a:avLst/>
          </a:prstGeom>
          <a:solidFill xmlns:a="http://schemas.openxmlformats.org/drawingml/2006/main">
            <a:srgbClr val="ED7F0D"/>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E460594E-1B79-49DD-9C48-CE2CE9950036}"/>
              </a:ext>
            </a:extLst>
          </p:cNvPr>
          <p:cNvSpPr>
            <a:spLocks xmlns:a="http://schemas.openxmlformats.org/drawingml/2006/main" noGrp="1"/>
          </p:cNvSpPr>
          <p:nvPr/>
        </p:nvSpPr>
        <p:spPr>
          <a:xfrm xmlns:a="http://schemas.openxmlformats.org/drawingml/2006/main">
            <a:off x="838200" y="5981700"/>
            <a:ext cx="10458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152538"/>
                </a:solidFill>
              </a:defRPr>
            </a:pPr>
            <a:r>
              <a:rPr sz="1275" b="1">
                <a:solidFill>
                  <a:srgbClr val="152538"/>
                </a:solidFill>
              </a:rPr>
              <a:t>The route can change, but the physical safety and terminal rules do not.</a:t>
            </a:r>
          </a:p>
        </p:txBody>
      </p:sp>
    </p:spTree>
    <p:extLst>
      <p:ext uri="{BB962C8B-B14F-4D97-AF65-F5344CB8AC3E}">
        <p14:creationId xmlns:p14="http://schemas.microsoft.com/office/powerpoint/2010/main" val="1247550183"/>
      </p:ext>
    </p:extLst>
  </p:cSld>
</p:sld>
</file>

<file path=ppt/slides/slide24.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9302B7B-5081-4CA7-AB0C-9FC66F46908D}"/>
              </a:ext>
            </a:extLst>
          </p:cNvPr>
          <p:cNvSpPr>
            <a:spLocks xmlns:a="http://schemas.openxmlformats.org/drawingml/2006/main" noGrp="1"/>
          </p:cNvSpPr>
          <p:nvPr/>
        </p:nvSpPr>
        <p:spPr>
          <a:xfrm xmlns:a="http://schemas.openxmlformats.org/drawingml/2006/main">
            <a:off x="647700" y="2286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ED7F0D"/>
                </a:solidFill>
              </a:defRPr>
            </a:pPr>
            <a:r>
              <a:rPr sz="1050" b="1">
                <a:solidFill>
                  <a:srgbClr val="ED7F0D"/>
                </a:solidFill>
              </a:rPr>
              <a:t>24</a:t>
            </a:r>
          </a:p>
        </p:txBody>
      </p:sp>
      <p:sp>
        <p:nvSpPr>
          <p:cNvPr id="2" name="">
            <a:extLst xmlns:a="http://schemas.openxmlformats.org/drawingml/2006/main">
              <a:ext uri="{FF2B5EF4-FFF2-40B4-BE49-F238E27FC236}">
                <a16:creationId xmlns:a16="http://schemas.microsoft.com/office/drawing/2014/main" id="{BC5D5AB8-108B-4625-9A5E-2D6F7C12C634}"/>
              </a:ext>
            </a:extLst>
          </p:cNvPr>
          <p:cNvSpPr>
            <a:spLocks xmlns:a="http://schemas.openxmlformats.org/drawingml/2006/main" noGrp="1"/>
          </p:cNvSpPr>
          <p:nvPr/>
        </p:nvSpPr>
        <p:spPr>
          <a:xfrm xmlns:a="http://schemas.openxmlformats.org/drawingml/2006/main">
            <a:off x="1104900" y="22860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6B7580"/>
                </a:solidFill>
              </a:defRPr>
            </a:pPr>
            <a:r>
              <a:rPr sz="975" b="1">
                <a:solidFill>
                  <a:srgbClr val="6B7580"/>
                </a:solidFill>
              </a:rPr>
              <a:t>SIMULATION</a:t>
            </a:r>
          </a:p>
        </p:txBody>
      </p:sp>
      <p:sp>
        <p:nvSpPr>
          <p:cNvPr id="3" name="">
            <a:extLst xmlns:a="http://schemas.openxmlformats.org/drawingml/2006/main">
              <a:ext uri="{FF2B5EF4-FFF2-40B4-BE49-F238E27FC236}">
                <a16:creationId xmlns:a16="http://schemas.microsoft.com/office/drawing/2014/main" id="{D1B61C14-ED24-42C1-AB9F-4C722AA53D9B}"/>
              </a:ext>
            </a:extLst>
          </p:cNvPr>
          <p:cNvSpPr>
            <a:spLocks xmlns:a="http://schemas.openxmlformats.org/drawingml/2006/main" noGrp="1"/>
          </p:cNvSpPr>
          <p:nvPr/>
        </p:nvSpPr>
        <p:spPr>
          <a:xfrm xmlns:a="http://schemas.openxmlformats.org/drawingml/2006/main">
            <a:off x="6191250" y="228600"/>
            <a:ext cx="5353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0">
                <a:solidFill>
                  <a:srgbClr val="6B7580"/>
                </a:solidFill>
              </a:defRPr>
            </a:pPr>
            <a:r>
              <a:rPr sz="825" b="0">
                <a:solidFill>
                  <a:srgbClr val="6B7580"/>
                </a:solidFill>
              </a:rPr>
              <a:t>Problem   Task   Framework   ● Simulation   Hardware   Discussion</a:t>
            </a:r>
          </a:p>
        </p:txBody>
      </p:sp>
      <p:sp>
        <p:nvSpPr>
          <p:cNvPr id="4" name="">
            <a:extLst xmlns:a="http://schemas.openxmlformats.org/drawingml/2006/main">
              <a:ext uri="{FF2B5EF4-FFF2-40B4-BE49-F238E27FC236}">
                <a16:creationId xmlns:a16="http://schemas.microsoft.com/office/drawing/2014/main" id="{BBA599D6-67F4-4A83-9DF8-F737729E156E}"/>
              </a:ext>
            </a:extLst>
          </p:cNvPr>
          <p:cNvSpPr>
            <a:spLocks xmlns:a="http://schemas.openxmlformats.org/drawingml/2006/main" noGrp="1"/>
          </p:cNvSpPr>
          <p:nvPr/>
        </p:nvSpPr>
        <p:spPr>
          <a:xfrm xmlns:a="http://schemas.openxmlformats.org/drawingml/2006/main">
            <a:off x="647700" y="533400"/>
            <a:ext cx="108394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004282"/>
                </a:solidFill>
              </a:defRPr>
            </a:pPr>
            <a:r>
              <a:rPr sz="2850" b="1">
                <a:solidFill>
                  <a:srgbClr val="004282"/>
                </a:solidFill>
              </a:rPr>
              <a:t>All four policies face the same 24 M8 tasks</a:t>
            </a:r>
          </a:p>
        </p:txBody>
      </p:sp>
      <p:sp>
        <p:nvSpPr>
          <p:cNvPr id="5" name="">
            <a:extLst xmlns:a="http://schemas.openxmlformats.org/drawingml/2006/main">
              <a:ext uri="{FF2B5EF4-FFF2-40B4-BE49-F238E27FC236}">
                <a16:creationId xmlns:a16="http://schemas.microsoft.com/office/drawing/2014/main" id="{03A8A2C8-72AF-4513-AA5A-9CDBE2C0C1A0}"/>
              </a:ext>
            </a:extLst>
          </p:cNvPr>
          <p:cNvSpPr>
            <a:spLocks xmlns:a="http://schemas.openxmlformats.org/drawingml/2006/main" noGrp="1"/>
          </p:cNvSpPr>
          <p:nvPr/>
        </p:nvSpPr>
        <p:spPr>
          <a:xfrm xmlns:a="http://schemas.openxmlformats.org/drawingml/2006/main">
            <a:off x="647700" y="1257300"/>
            <a:ext cx="609600" cy="47625"/>
          </a:xfrm>
          <a:prstGeom xmlns:a="http://schemas.openxmlformats.org/drawingml/2006/main" prst="rect">
            <a:avLst/>
          </a:prstGeom>
          <a:solidFill xmlns:a="http://schemas.openxmlformats.org/drawingml/2006/main">
            <a:srgbClr val="ED7F0D"/>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BA00802C-FF55-4D0B-BD0B-003047911E87}"/>
              </a:ext>
            </a:extLst>
          </p:cNvPr>
          <p:cNvSpPr>
            <a:spLocks xmlns:a="http://schemas.openxmlformats.org/drawingml/2006/main" noGrp="1"/>
          </p:cNvSpPr>
          <p:nvPr/>
        </p:nvSpPr>
        <p:spPr>
          <a:xfrm xmlns:a="http://schemas.openxmlformats.org/drawingml/2006/main">
            <a:off x="647700" y="6486525"/>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6B7580"/>
                </a:solidFill>
              </a:defRPr>
            </a:pPr>
            <a:r>
              <a:rPr sz="825" b="0">
                <a:solidFill>
                  <a:srgbClr val="6B7580"/>
                </a:solidFill>
              </a:rPr>
              <a:t>Nan Jinyao · Paper-aligned group review</a:t>
            </a:r>
          </a:p>
        </p:txBody>
      </p:sp>
      <p:sp>
        <p:nvSpPr>
          <p:cNvPr id="7" name="">
            <a:extLst xmlns:a="http://schemas.openxmlformats.org/drawingml/2006/main">
              <a:ext uri="{FF2B5EF4-FFF2-40B4-BE49-F238E27FC236}">
                <a16:creationId xmlns:a16="http://schemas.microsoft.com/office/drawing/2014/main" id="{0C35DB16-B24D-41A6-BEE2-42AD0D3E7334}"/>
              </a:ext>
            </a:extLst>
          </p:cNvPr>
          <p:cNvSpPr>
            <a:spLocks xmlns:a="http://schemas.openxmlformats.org/drawingml/2006/main" noGrp="1"/>
          </p:cNvSpPr>
          <p:nvPr/>
        </p:nvSpPr>
        <p:spPr>
          <a:xfrm xmlns:a="http://schemas.openxmlformats.org/drawingml/2006/main">
            <a:off x="4476750" y="6486525"/>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0">
                <a:solidFill>
                  <a:srgbClr val="6B7580"/>
                </a:solidFill>
              </a:defRPr>
            </a:pPr>
            <a:r>
              <a:rPr sz="825" b="0">
                <a:solidFill>
                  <a:srgbClr val="6B7580"/>
                </a:solidFill>
              </a:rPr>
              <a:t>Sec. IV-A</a:t>
            </a:r>
          </a:p>
        </p:txBody>
      </p:sp>
      <p:sp>
        <p:nvSpPr>
          <p:cNvPr id="8" name="">
            <a:extLst xmlns:a="http://schemas.openxmlformats.org/drawingml/2006/main">
              <a:ext uri="{FF2B5EF4-FFF2-40B4-BE49-F238E27FC236}">
                <a16:creationId xmlns:a16="http://schemas.microsoft.com/office/drawing/2014/main" id="{7C919016-EF16-4A31-9996-7D09634BBC98}"/>
              </a:ext>
            </a:extLst>
          </p:cNvPr>
          <p:cNvSpPr>
            <a:spLocks xmlns:a="http://schemas.openxmlformats.org/drawingml/2006/main" noGrp="1"/>
          </p:cNvSpPr>
          <p:nvPr/>
        </p:nvSpPr>
        <p:spPr>
          <a:xfrm xmlns:a="http://schemas.openxmlformats.org/drawingml/2006/main">
            <a:off x="11049000" y="648652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004282"/>
                </a:solidFill>
              </a:defRPr>
            </a:pPr>
            <a:r>
              <a:rPr sz="825" b="1">
                <a:solidFill>
                  <a:srgbClr val="004282"/>
                </a:solidFill>
              </a:rPr>
              <a:t>24</a:t>
            </a:r>
          </a:p>
        </p:txBody>
      </p:sp>
      <p:sp>
        <p:nvSpPr>
          <p:cNvPr id="9" name="">
            <a:extLst xmlns:a="http://schemas.openxmlformats.org/drawingml/2006/main">
              <a:ext uri="{FF2B5EF4-FFF2-40B4-BE49-F238E27FC236}">
                <a16:creationId xmlns:a16="http://schemas.microsoft.com/office/drawing/2014/main" id="{F2F7FE16-4274-4571-BDFE-F7D039CD3937}"/>
              </a:ext>
            </a:extLst>
          </p:cNvPr>
          <p:cNvSpPr>
            <a:spLocks xmlns:a="http://schemas.openxmlformats.org/drawingml/2006/main" noGrp="1"/>
          </p:cNvSpPr>
          <p:nvPr/>
        </p:nvSpPr>
        <p:spPr>
          <a:xfrm xmlns:a="http://schemas.openxmlformats.org/drawingml/2006/main">
            <a:off x="762000" y="1695450"/>
            <a:ext cx="304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550" b="1">
                <a:solidFill>
                  <a:srgbClr val="004282"/>
                </a:solidFill>
              </a:defRPr>
            </a:pPr>
            <a:r>
              <a:rPr sz="2550" b="1">
                <a:solidFill>
                  <a:srgbClr val="004282"/>
                </a:solidFill>
              </a:rPr>
              <a:t>24</a:t>
            </a:r>
          </a:p>
        </p:txBody>
      </p:sp>
      <p:sp>
        <p:nvSpPr>
          <p:cNvPr id="10" name="">
            <a:extLst xmlns:a="http://schemas.openxmlformats.org/drawingml/2006/main">
              <a:ext uri="{FF2B5EF4-FFF2-40B4-BE49-F238E27FC236}">
                <a16:creationId xmlns:a16="http://schemas.microsoft.com/office/drawing/2014/main" id="{2C2EA7E0-9F71-4474-B86E-297C5842D477}"/>
              </a:ext>
            </a:extLst>
          </p:cNvPr>
          <p:cNvSpPr>
            <a:spLocks xmlns:a="http://schemas.openxmlformats.org/drawingml/2006/main" noGrp="1"/>
          </p:cNvSpPr>
          <p:nvPr/>
        </p:nvSpPr>
        <p:spPr>
          <a:xfrm xmlns:a="http://schemas.openxmlformats.org/drawingml/2006/main">
            <a:off x="762000" y="2190750"/>
            <a:ext cx="304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0">
                <a:solidFill>
                  <a:srgbClr val="6B7580"/>
                </a:solidFill>
              </a:defRPr>
            </a:pPr>
            <a:r>
              <a:rPr sz="1200" b="0">
                <a:solidFill>
                  <a:srgbClr val="6B7580"/>
                </a:solidFill>
              </a:rPr>
              <a:t>paired Sobol tasks</a:t>
            </a:r>
          </a:p>
        </p:txBody>
      </p:sp>
      <p:sp>
        <p:nvSpPr>
          <p:cNvPr id="11" name="">
            <a:extLst xmlns:a="http://schemas.openxmlformats.org/drawingml/2006/main">
              <a:ext uri="{FF2B5EF4-FFF2-40B4-BE49-F238E27FC236}">
                <a16:creationId xmlns:a16="http://schemas.microsoft.com/office/drawing/2014/main" id="{E58FE459-FA7F-4572-A090-012D067B5F6E}"/>
              </a:ext>
            </a:extLst>
          </p:cNvPr>
          <p:cNvSpPr>
            <a:spLocks xmlns:a="http://schemas.openxmlformats.org/drawingml/2006/main" noGrp="1"/>
          </p:cNvSpPr>
          <p:nvPr/>
        </p:nvSpPr>
        <p:spPr>
          <a:xfrm xmlns:a="http://schemas.openxmlformats.org/drawingml/2006/main">
            <a:off x="4191000" y="1695450"/>
            <a:ext cx="304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550" b="1">
                <a:solidFill>
                  <a:srgbClr val="ED7F0D"/>
                </a:solidFill>
              </a:defRPr>
            </a:pPr>
            <a:r>
              <a:rPr sz="2550" b="1">
                <a:solidFill>
                  <a:srgbClr val="ED7F0D"/>
                </a:solidFill>
              </a:rPr>
              <a:t>1.74–4.88 mm</a:t>
            </a:r>
          </a:p>
        </p:txBody>
      </p:sp>
      <p:sp>
        <p:nvSpPr>
          <p:cNvPr id="12" name="">
            <a:extLst xmlns:a="http://schemas.openxmlformats.org/drawingml/2006/main">
              <a:ext uri="{FF2B5EF4-FFF2-40B4-BE49-F238E27FC236}">
                <a16:creationId xmlns:a16="http://schemas.microsoft.com/office/drawing/2014/main" id="{AEE9ACFB-02B4-48D2-93DA-250DE8CD7BD9}"/>
              </a:ext>
            </a:extLst>
          </p:cNvPr>
          <p:cNvSpPr>
            <a:spLocks xmlns:a="http://schemas.openxmlformats.org/drawingml/2006/main" noGrp="1"/>
          </p:cNvSpPr>
          <p:nvPr/>
        </p:nvSpPr>
        <p:spPr>
          <a:xfrm xmlns:a="http://schemas.openxmlformats.org/drawingml/2006/main">
            <a:off x="4191000" y="2190750"/>
            <a:ext cx="304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0">
                <a:solidFill>
                  <a:srgbClr val="6B7580"/>
                </a:solidFill>
              </a:defRPr>
            </a:pPr>
            <a:r>
              <a:rPr sz="1200" b="0">
                <a:solidFill>
                  <a:srgbClr val="6B7580"/>
                </a:solidFill>
              </a:rPr>
              <a:t>initial offset</a:t>
            </a:r>
          </a:p>
        </p:txBody>
      </p:sp>
      <p:sp>
        <p:nvSpPr>
          <p:cNvPr id="13" name="">
            <a:extLst xmlns:a="http://schemas.openxmlformats.org/drawingml/2006/main">
              <a:ext uri="{FF2B5EF4-FFF2-40B4-BE49-F238E27FC236}">
                <a16:creationId xmlns:a16="http://schemas.microsoft.com/office/drawing/2014/main" id="{3499D06F-86E6-4BFD-B3F8-04F039685078}"/>
              </a:ext>
            </a:extLst>
          </p:cNvPr>
          <p:cNvSpPr>
            <a:spLocks xmlns:a="http://schemas.openxmlformats.org/drawingml/2006/main" noGrp="1"/>
          </p:cNvSpPr>
          <p:nvPr/>
        </p:nvSpPr>
        <p:spPr>
          <a:xfrm xmlns:a="http://schemas.openxmlformats.org/drawingml/2006/main">
            <a:off x="7620000" y="1695450"/>
            <a:ext cx="304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550" b="1">
                <a:solidFill>
                  <a:srgbClr val="009E73"/>
                </a:solidFill>
              </a:defRPr>
            </a:pPr>
            <a:r>
              <a:rPr sz="2550" b="1">
                <a:solidFill>
                  <a:srgbClr val="009E73"/>
                </a:solidFill>
              </a:rPr>
              <a:t>130 s</a:t>
            </a:r>
          </a:p>
        </p:txBody>
      </p:sp>
      <p:sp>
        <p:nvSpPr>
          <p:cNvPr id="14" name="">
            <a:extLst xmlns:a="http://schemas.openxmlformats.org/drawingml/2006/main">
              <a:ext uri="{FF2B5EF4-FFF2-40B4-BE49-F238E27FC236}">
                <a16:creationId xmlns:a16="http://schemas.microsoft.com/office/drawing/2014/main" id="{9F8E9C22-84E8-401A-B5B2-E2CF26187A2B}"/>
              </a:ext>
            </a:extLst>
          </p:cNvPr>
          <p:cNvSpPr>
            <a:spLocks xmlns:a="http://schemas.openxmlformats.org/drawingml/2006/main" noGrp="1"/>
          </p:cNvSpPr>
          <p:nvPr/>
        </p:nvSpPr>
        <p:spPr>
          <a:xfrm xmlns:a="http://schemas.openxmlformats.org/drawingml/2006/main">
            <a:off x="7620000" y="2190750"/>
            <a:ext cx="304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0">
                <a:solidFill>
                  <a:srgbClr val="6B7580"/>
                </a:solidFill>
              </a:defRPr>
            </a:pPr>
            <a:r>
              <a:rPr sz="1200" b="0">
                <a:solidFill>
                  <a:srgbClr val="6B7580"/>
                </a:solidFill>
              </a:rPr>
              <a:t>shared budget</a:t>
            </a:r>
          </a:p>
        </p:txBody>
      </p:sp>
      <p:sp>
        <p:nvSpPr>
          <p:cNvPr id="15" name="">
            <a:extLst xmlns:a="http://schemas.openxmlformats.org/drawingml/2006/main">
              <a:ext uri="{FF2B5EF4-FFF2-40B4-BE49-F238E27FC236}">
                <a16:creationId xmlns:a16="http://schemas.microsoft.com/office/drawing/2014/main" id="{5D995AE9-E39E-4348-9507-E32B9526193B}"/>
              </a:ext>
            </a:extLst>
          </p:cNvPr>
          <p:cNvSpPr>
            <a:spLocks xmlns:a="http://schemas.openxmlformats.org/drawingml/2006/main" noGrp="1"/>
          </p:cNvSpPr>
          <p:nvPr/>
        </p:nvSpPr>
        <p:spPr>
          <a:xfrm xmlns:a="http://schemas.openxmlformats.org/drawingml/2006/main">
            <a:off x="857250" y="2781300"/>
            <a:ext cx="10191750" cy="19050"/>
          </a:xfrm>
          <a:prstGeom xmlns:a="http://schemas.openxmlformats.org/drawingml/2006/main" prst="rect">
            <a:avLst/>
          </a:prstGeom>
          <a:solidFill xmlns:a="http://schemas.openxmlformats.org/drawingml/2006/main">
            <a:srgbClr val="D9E0E6"/>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6F2EA402-1861-4A1C-9E45-27E10CF02722}"/>
              </a:ext>
            </a:extLst>
          </p:cNvPr>
          <p:cNvSpPr>
            <a:spLocks xmlns:a="http://schemas.openxmlformats.org/drawingml/2006/main" noGrp="1"/>
          </p:cNvSpPr>
          <p:nvPr/>
        </p:nvSpPr>
        <p:spPr>
          <a:xfrm xmlns:a="http://schemas.openxmlformats.org/drawingml/2006/main">
            <a:off x="1238250" y="3238500"/>
            <a:ext cx="76200" cy="76200"/>
          </a:xfrm>
          <a:prstGeom xmlns:a="http://schemas.openxmlformats.org/drawingml/2006/main" prst="ellipse">
            <a:avLst/>
          </a:prstGeom>
          <a:solidFill xmlns:a="http://schemas.openxmlformats.org/drawingml/2006/main">
            <a:srgbClr val="004282"/>
          </a:solidFill>
          <a:ln xmlns:a="http://schemas.openxmlformats.org/drawingml/2006/main" w="9525">
            <a:solidFill>
              <a:srgbClr val="004282"/>
            </a:solidFill>
            <a:prstDash val="solid"/>
          </a:ln>
        </p:spPr>
      </p:sp>
      <p:sp>
        <p:nvSpPr>
          <p:cNvPr id="17" name="">
            <a:extLst xmlns:a="http://schemas.openxmlformats.org/drawingml/2006/main">
              <a:ext uri="{FF2B5EF4-FFF2-40B4-BE49-F238E27FC236}">
                <a16:creationId xmlns:a16="http://schemas.microsoft.com/office/drawing/2014/main" id="{2DABCE36-D5E4-4A19-8C93-9DD565BAAB85}"/>
              </a:ext>
            </a:extLst>
          </p:cNvPr>
          <p:cNvSpPr>
            <a:spLocks xmlns:a="http://schemas.openxmlformats.org/drawingml/2006/main" noGrp="1"/>
          </p:cNvSpPr>
          <p:nvPr/>
        </p:nvSpPr>
        <p:spPr>
          <a:xfrm xmlns:a="http://schemas.openxmlformats.org/drawingml/2006/main">
            <a:off x="1447800" y="3143250"/>
            <a:ext cx="95059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152538"/>
                </a:solidFill>
              </a:defRPr>
            </a:pPr>
            <a:r>
              <a:rPr sz="1650" b="0">
                <a:solidFill>
                  <a:srgbClr val="152538"/>
                </a:solidFill>
              </a:rPr>
              <a:t>The nuisance tuple is frozen across methods.</a:t>
            </a:r>
          </a:p>
        </p:txBody>
      </p:sp>
      <p:sp>
        <p:nvSpPr>
          <p:cNvPr id="18" name="">
            <a:extLst xmlns:a="http://schemas.openxmlformats.org/drawingml/2006/main">
              <a:ext uri="{FF2B5EF4-FFF2-40B4-BE49-F238E27FC236}">
                <a16:creationId xmlns:a16="http://schemas.microsoft.com/office/drawing/2014/main" id="{9C39DD5B-48D8-4076-9FD7-2760B9103736}"/>
              </a:ext>
            </a:extLst>
          </p:cNvPr>
          <p:cNvSpPr>
            <a:spLocks xmlns:a="http://schemas.openxmlformats.org/drawingml/2006/main" noGrp="1"/>
          </p:cNvSpPr>
          <p:nvPr/>
        </p:nvSpPr>
        <p:spPr>
          <a:xfrm xmlns:a="http://schemas.openxmlformats.org/drawingml/2006/main">
            <a:off x="1238250" y="3886200"/>
            <a:ext cx="76200" cy="76200"/>
          </a:xfrm>
          <a:prstGeom xmlns:a="http://schemas.openxmlformats.org/drawingml/2006/main" prst="ellipse">
            <a:avLst/>
          </a:prstGeom>
          <a:solidFill xmlns:a="http://schemas.openxmlformats.org/drawingml/2006/main">
            <a:srgbClr val="004282"/>
          </a:solidFill>
          <a:ln xmlns:a="http://schemas.openxmlformats.org/drawingml/2006/main" w="9525">
            <a:solidFill>
              <a:srgbClr val="004282"/>
            </a:solidFill>
            <a:prstDash val="solid"/>
          </a:ln>
        </p:spPr>
      </p:sp>
      <p:sp>
        <p:nvSpPr>
          <p:cNvPr id="19" name="">
            <a:extLst xmlns:a="http://schemas.openxmlformats.org/drawingml/2006/main">
              <a:ext uri="{FF2B5EF4-FFF2-40B4-BE49-F238E27FC236}">
                <a16:creationId xmlns:a16="http://schemas.microsoft.com/office/drawing/2014/main" id="{80AF3920-1703-4D1E-9589-475FE039235E}"/>
              </a:ext>
            </a:extLst>
          </p:cNvPr>
          <p:cNvSpPr>
            <a:spLocks xmlns:a="http://schemas.openxmlformats.org/drawingml/2006/main" noGrp="1"/>
          </p:cNvSpPr>
          <p:nvPr/>
        </p:nvSpPr>
        <p:spPr>
          <a:xfrm xmlns:a="http://schemas.openxmlformats.org/drawingml/2006/main">
            <a:off x="1447800" y="3790950"/>
            <a:ext cx="95059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152538"/>
                </a:solidFill>
              </a:defRPr>
            </a:pPr>
            <a:r>
              <a:rPr sz="1650" b="0">
                <a:solidFill>
                  <a:srgbClr val="152538"/>
                </a:solidFill>
              </a:rPr>
              <a:t>All methods use the same physical controller and verifier.</a:t>
            </a:r>
          </a:p>
        </p:txBody>
      </p:sp>
      <p:sp>
        <p:nvSpPr>
          <p:cNvPr id="20" name="">
            <a:extLst xmlns:a="http://schemas.openxmlformats.org/drawingml/2006/main">
              <a:ext uri="{FF2B5EF4-FFF2-40B4-BE49-F238E27FC236}">
                <a16:creationId xmlns:a16="http://schemas.microsoft.com/office/drawing/2014/main" id="{911D5239-68A7-458B-BC7A-418B83B715AD}"/>
              </a:ext>
            </a:extLst>
          </p:cNvPr>
          <p:cNvSpPr>
            <a:spLocks xmlns:a="http://schemas.openxmlformats.org/drawingml/2006/main" noGrp="1"/>
          </p:cNvSpPr>
          <p:nvPr/>
        </p:nvSpPr>
        <p:spPr>
          <a:xfrm xmlns:a="http://schemas.openxmlformats.org/drawingml/2006/main">
            <a:off x="1238250" y="4533900"/>
            <a:ext cx="76200" cy="76200"/>
          </a:xfrm>
          <a:prstGeom xmlns:a="http://schemas.openxmlformats.org/drawingml/2006/main" prst="ellipse">
            <a:avLst/>
          </a:prstGeom>
          <a:solidFill xmlns:a="http://schemas.openxmlformats.org/drawingml/2006/main">
            <a:srgbClr val="004282"/>
          </a:solidFill>
          <a:ln xmlns:a="http://schemas.openxmlformats.org/drawingml/2006/main" w="9525">
            <a:solidFill>
              <a:srgbClr val="004282"/>
            </a:solidFill>
            <a:prstDash val="solid"/>
          </a:ln>
        </p:spPr>
      </p:sp>
      <p:sp>
        <p:nvSpPr>
          <p:cNvPr id="21" name="">
            <a:extLst xmlns:a="http://schemas.openxmlformats.org/drawingml/2006/main">
              <a:ext uri="{FF2B5EF4-FFF2-40B4-BE49-F238E27FC236}">
                <a16:creationId xmlns:a16="http://schemas.microsoft.com/office/drawing/2014/main" id="{30EB5981-7B39-407F-BD00-2B60AE96B983}"/>
              </a:ext>
            </a:extLst>
          </p:cNvPr>
          <p:cNvSpPr>
            <a:spLocks xmlns:a="http://schemas.openxmlformats.org/drawingml/2006/main" noGrp="1"/>
          </p:cNvSpPr>
          <p:nvPr/>
        </p:nvSpPr>
        <p:spPr>
          <a:xfrm xmlns:a="http://schemas.openxmlformats.org/drawingml/2006/main">
            <a:off x="1447800" y="4438650"/>
            <a:ext cx="95059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152538"/>
                </a:solidFill>
              </a:defRPr>
            </a:pPr>
            <a:r>
              <a:rPr sz="1650" b="0">
                <a:solidFill>
                  <a:srgbClr val="152538"/>
                </a:solidFill>
              </a:rPr>
              <a:t>Paired tests use only tasks completed by both methods.</a:t>
            </a:r>
          </a:p>
        </p:txBody>
      </p:sp>
      <p:sp>
        <p:nvSpPr>
          <p:cNvPr id="22" name="">
            <a:extLst xmlns:a="http://schemas.openxmlformats.org/drawingml/2006/main">
              <a:ext uri="{FF2B5EF4-FFF2-40B4-BE49-F238E27FC236}">
                <a16:creationId xmlns:a16="http://schemas.microsoft.com/office/drawing/2014/main" id="{4A553305-8068-4CBC-9EAE-715180489C72}"/>
              </a:ext>
            </a:extLst>
          </p:cNvPr>
          <p:cNvSpPr>
            <a:spLocks xmlns:a="http://schemas.openxmlformats.org/drawingml/2006/main" noGrp="1"/>
          </p:cNvSpPr>
          <p:nvPr/>
        </p:nvSpPr>
        <p:spPr>
          <a:xfrm xmlns:a="http://schemas.openxmlformats.org/drawingml/2006/main">
            <a:off x="647700" y="5943600"/>
            <a:ext cx="10839450" cy="400050"/>
          </a:xfrm>
          <a:prstGeom xmlns:a="http://schemas.openxmlformats.org/drawingml/2006/main" prst="rect">
            <a:avLst/>
          </a:prstGeom>
          <a:solidFill xmlns:a="http://schemas.openxmlformats.org/drawingml/2006/main">
            <a:srgbClr val="FFF0E2"/>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3A18B0E3-9349-4271-A901-6DFA8F14754B}"/>
              </a:ext>
            </a:extLst>
          </p:cNvPr>
          <p:cNvSpPr>
            <a:spLocks xmlns:a="http://schemas.openxmlformats.org/drawingml/2006/main" noGrp="1"/>
          </p:cNvSpPr>
          <p:nvPr/>
        </p:nvSpPr>
        <p:spPr>
          <a:xfrm xmlns:a="http://schemas.openxmlformats.org/drawingml/2006/main">
            <a:off x="647700" y="5943600"/>
            <a:ext cx="57150" cy="400050"/>
          </a:xfrm>
          <a:prstGeom xmlns:a="http://schemas.openxmlformats.org/drawingml/2006/main" prst="rect">
            <a:avLst/>
          </a:prstGeom>
          <a:solidFill xmlns:a="http://schemas.openxmlformats.org/drawingml/2006/main">
            <a:srgbClr val="ED7F0D"/>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35FC4887-0A24-4214-91B4-25C1B11C87B9}"/>
              </a:ext>
            </a:extLst>
          </p:cNvPr>
          <p:cNvSpPr>
            <a:spLocks xmlns:a="http://schemas.openxmlformats.org/drawingml/2006/main" noGrp="1"/>
          </p:cNvSpPr>
          <p:nvPr/>
        </p:nvSpPr>
        <p:spPr>
          <a:xfrm xmlns:a="http://schemas.openxmlformats.org/drawingml/2006/main">
            <a:off x="838200" y="5981700"/>
            <a:ext cx="10458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152538"/>
                </a:solidFill>
              </a:defRPr>
            </a:pPr>
            <a:r>
              <a:rPr sz="1275" b="1">
                <a:solidFill>
                  <a:srgbClr val="152538"/>
                </a:solidFill>
              </a:rPr>
              <a:t>Only the routing policy changes.</a:t>
            </a:r>
          </a:p>
        </p:txBody>
      </p:sp>
    </p:spTree>
    <p:extLst>
      <p:ext uri="{BB962C8B-B14F-4D97-AF65-F5344CB8AC3E}">
        <p14:creationId xmlns:p14="http://schemas.microsoft.com/office/powerpoint/2010/main" val="1035285035"/>
      </p:ext>
    </p:extLst>
  </p:cSld>
</p:sld>
</file>

<file path=ppt/slides/slide25.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F260A89-6570-4933-9808-EEA990160C0A}"/>
              </a:ext>
            </a:extLst>
          </p:cNvPr>
          <p:cNvSpPr>
            <a:spLocks xmlns:a="http://schemas.openxmlformats.org/drawingml/2006/main" noGrp="1"/>
          </p:cNvSpPr>
          <p:nvPr/>
        </p:nvSpPr>
        <p:spPr>
          <a:xfrm xmlns:a="http://schemas.openxmlformats.org/drawingml/2006/main">
            <a:off x="647700" y="2286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ED7F0D"/>
                </a:solidFill>
              </a:defRPr>
            </a:pPr>
            <a:r>
              <a:rPr sz="1050" b="1">
                <a:solidFill>
                  <a:srgbClr val="ED7F0D"/>
                </a:solidFill>
              </a:rPr>
              <a:t>25</a:t>
            </a:r>
          </a:p>
        </p:txBody>
      </p:sp>
      <p:sp>
        <p:nvSpPr>
          <p:cNvPr id="2" name="">
            <a:extLst xmlns:a="http://schemas.openxmlformats.org/drawingml/2006/main">
              <a:ext uri="{FF2B5EF4-FFF2-40B4-BE49-F238E27FC236}">
                <a16:creationId xmlns:a16="http://schemas.microsoft.com/office/drawing/2014/main" id="{158CB4C0-BB21-467A-B6B9-9E1CBFB76706}"/>
              </a:ext>
            </a:extLst>
          </p:cNvPr>
          <p:cNvSpPr>
            <a:spLocks xmlns:a="http://schemas.openxmlformats.org/drawingml/2006/main" noGrp="1"/>
          </p:cNvSpPr>
          <p:nvPr/>
        </p:nvSpPr>
        <p:spPr>
          <a:xfrm xmlns:a="http://schemas.openxmlformats.org/drawingml/2006/main">
            <a:off x="1104900" y="22860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6B7580"/>
                </a:solidFill>
              </a:defRPr>
            </a:pPr>
            <a:r>
              <a:rPr sz="975" b="1">
                <a:solidFill>
                  <a:srgbClr val="6B7580"/>
                </a:solidFill>
              </a:rPr>
              <a:t>SIMULATION</a:t>
            </a:r>
          </a:p>
        </p:txBody>
      </p:sp>
      <p:sp>
        <p:nvSpPr>
          <p:cNvPr id="3" name="">
            <a:extLst xmlns:a="http://schemas.openxmlformats.org/drawingml/2006/main">
              <a:ext uri="{FF2B5EF4-FFF2-40B4-BE49-F238E27FC236}">
                <a16:creationId xmlns:a16="http://schemas.microsoft.com/office/drawing/2014/main" id="{A6437311-5677-4495-AF1C-520CEBACD4D3}"/>
              </a:ext>
            </a:extLst>
          </p:cNvPr>
          <p:cNvSpPr>
            <a:spLocks xmlns:a="http://schemas.openxmlformats.org/drawingml/2006/main" noGrp="1"/>
          </p:cNvSpPr>
          <p:nvPr/>
        </p:nvSpPr>
        <p:spPr>
          <a:xfrm xmlns:a="http://schemas.openxmlformats.org/drawingml/2006/main">
            <a:off x="6191250" y="228600"/>
            <a:ext cx="5353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0">
                <a:solidFill>
                  <a:srgbClr val="6B7580"/>
                </a:solidFill>
              </a:defRPr>
            </a:pPr>
            <a:r>
              <a:rPr sz="825" b="0">
                <a:solidFill>
                  <a:srgbClr val="6B7580"/>
                </a:solidFill>
              </a:rPr>
              <a:t>Problem   Task   Framework   ● Simulation   Hardware   Discussion</a:t>
            </a:r>
          </a:p>
        </p:txBody>
      </p:sp>
      <p:sp>
        <p:nvSpPr>
          <p:cNvPr id="4" name="">
            <a:extLst xmlns:a="http://schemas.openxmlformats.org/drawingml/2006/main">
              <a:ext uri="{FF2B5EF4-FFF2-40B4-BE49-F238E27FC236}">
                <a16:creationId xmlns:a16="http://schemas.microsoft.com/office/drawing/2014/main" id="{2525FA79-1CDB-4E06-8FD0-E060343E71E1}"/>
              </a:ext>
            </a:extLst>
          </p:cNvPr>
          <p:cNvSpPr>
            <a:spLocks xmlns:a="http://schemas.openxmlformats.org/drawingml/2006/main" noGrp="1"/>
          </p:cNvSpPr>
          <p:nvPr/>
        </p:nvSpPr>
        <p:spPr>
          <a:xfrm xmlns:a="http://schemas.openxmlformats.org/drawingml/2006/main">
            <a:off x="647700" y="533400"/>
            <a:ext cx="108394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700" b="1">
                <a:solidFill>
                  <a:srgbClr val="004282"/>
                </a:solidFill>
              </a:defRPr>
            </a:pPr>
            <a:r>
              <a:rPr sz="2700" b="1">
                <a:solidFill>
                  <a:srgbClr val="004282"/>
                </a:solidFill>
              </a:rPr>
              <a:t>Four channels improve the median error, but the result is mixed</a:t>
            </a:r>
          </a:p>
        </p:txBody>
      </p:sp>
      <p:sp>
        <p:nvSpPr>
          <p:cNvPr id="5" name="">
            <a:extLst xmlns:a="http://schemas.openxmlformats.org/drawingml/2006/main">
              <a:ext uri="{FF2B5EF4-FFF2-40B4-BE49-F238E27FC236}">
                <a16:creationId xmlns:a16="http://schemas.microsoft.com/office/drawing/2014/main" id="{00E4F657-7F1E-46AB-B2DE-4917814E9BAD}"/>
              </a:ext>
            </a:extLst>
          </p:cNvPr>
          <p:cNvSpPr>
            <a:spLocks xmlns:a="http://schemas.openxmlformats.org/drawingml/2006/main" noGrp="1"/>
          </p:cNvSpPr>
          <p:nvPr/>
        </p:nvSpPr>
        <p:spPr>
          <a:xfrm xmlns:a="http://schemas.openxmlformats.org/drawingml/2006/main">
            <a:off x="647700" y="1257300"/>
            <a:ext cx="609600" cy="47625"/>
          </a:xfrm>
          <a:prstGeom xmlns:a="http://schemas.openxmlformats.org/drawingml/2006/main" prst="rect">
            <a:avLst/>
          </a:prstGeom>
          <a:solidFill xmlns:a="http://schemas.openxmlformats.org/drawingml/2006/main">
            <a:srgbClr val="ED7F0D"/>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788C1107-E9D4-4457-BCD4-FC4EE26550CE}"/>
              </a:ext>
            </a:extLst>
          </p:cNvPr>
          <p:cNvSpPr>
            <a:spLocks xmlns:a="http://schemas.openxmlformats.org/drawingml/2006/main" noGrp="1"/>
          </p:cNvSpPr>
          <p:nvPr/>
        </p:nvSpPr>
        <p:spPr>
          <a:xfrm xmlns:a="http://schemas.openxmlformats.org/drawingml/2006/main">
            <a:off x="647700" y="6486525"/>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6B7580"/>
                </a:solidFill>
              </a:defRPr>
            </a:pPr>
            <a:r>
              <a:rPr sz="825" b="0">
                <a:solidFill>
                  <a:srgbClr val="6B7580"/>
                </a:solidFill>
              </a:rPr>
              <a:t>Nan Jinyao · Paper-aligned group review</a:t>
            </a:r>
          </a:p>
        </p:txBody>
      </p:sp>
      <p:sp>
        <p:nvSpPr>
          <p:cNvPr id="7" name="">
            <a:extLst xmlns:a="http://schemas.openxmlformats.org/drawingml/2006/main">
              <a:ext uri="{FF2B5EF4-FFF2-40B4-BE49-F238E27FC236}">
                <a16:creationId xmlns:a16="http://schemas.microsoft.com/office/drawing/2014/main" id="{11CFFBB6-98F9-4A30-BFD6-B5B288B0C1BA}"/>
              </a:ext>
            </a:extLst>
          </p:cNvPr>
          <p:cNvSpPr>
            <a:spLocks xmlns:a="http://schemas.openxmlformats.org/drawingml/2006/main" noGrp="1"/>
          </p:cNvSpPr>
          <p:nvPr/>
        </p:nvSpPr>
        <p:spPr>
          <a:xfrm xmlns:a="http://schemas.openxmlformats.org/drawingml/2006/main">
            <a:off x="4476750" y="6486525"/>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0">
                <a:solidFill>
                  <a:srgbClr val="6B7580"/>
                </a:solidFill>
              </a:defRPr>
            </a:pPr>
            <a:r>
              <a:rPr sz="825" b="0">
                <a:solidFill>
                  <a:srgbClr val="6B7580"/>
                </a:solidFill>
              </a:rPr>
              <a:t>Table I · Fig. 5</a:t>
            </a:r>
          </a:p>
        </p:txBody>
      </p:sp>
      <p:sp>
        <p:nvSpPr>
          <p:cNvPr id="8" name="">
            <a:extLst xmlns:a="http://schemas.openxmlformats.org/drawingml/2006/main">
              <a:ext uri="{FF2B5EF4-FFF2-40B4-BE49-F238E27FC236}">
                <a16:creationId xmlns:a16="http://schemas.microsoft.com/office/drawing/2014/main" id="{D7938E08-0CA0-4AD7-BDEC-52799E883ECE}"/>
              </a:ext>
            </a:extLst>
          </p:cNvPr>
          <p:cNvSpPr>
            <a:spLocks xmlns:a="http://schemas.openxmlformats.org/drawingml/2006/main" noGrp="1"/>
          </p:cNvSpPr>
          <p:nvPr/>
        </p:nvSpPr>
        <p:spPr>
          <a:xfrm xmlns:a="http://schemas.openxmlformats.org/drawingml/2006/main">
            <a:off x="11049000" y="648652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004282"/>
                </a:solidFill>
              </a:defRPr>
            </a:pPr>
            <a:r>
              <a:rPr sz="825" b="1">
                <a:solidFill>
                  <a:srgbClr val="004282"/>
                </a:solidFill>
              </a:rPr>
              <a:t>25</a:t>
            </a:r>
          </a:p>
        </p:txBody>
      </p:sp>
      <p:sp>
        <p:nvSpPr>
          <p:cNvPr id="9" name="">
            <a:extLst xmlns:a="http://schemas.openxmlformats.org/drawingml/2006/main">
              <a:ext uri="{FF2B5EF4-FFF2-40B4-BE49-F238E27FC236}">
                <a16:creationId xmlns:a16="http://schemas.microsoft.com/office/drawing/2014/main" id="{9D7465FB-FE65-4DD2-85AF-B6813E273620}"/>
              </a:ext>
            </a:extLst>
          </p:cNvPr>
          <p:cNvSpPr>
            <a:spLocks xmlns:a="http://schemas.openxmlformats.org/drawingml/2006/main" noGrp="1"/>
          </p:cNvSpPr>
          <p:nvPr/>
        </p:nvSpPr>
        <p:spPr>
          <a:xfrm xmlns:a="http://schemas.openxmlformats.org/drawingml/2006/main">
            <a:off x="704850" y="1428750"/>
            <a:ext cx="10725150" cy="4457700"/>
          </a:xfrm>
          <a:prstGeom xmlns:a="http://schemas.openxmlformats.org/drawingml/2006/main" prst="roundRect">
            <a:avLst>
              <a:gd name="adj" fmla="val 1709"/>
            </a:avLst>
          </a:prstGeom>
          <a:solidFill xmlns:a="http://schemas.openxmlformats.org/drawingml/2006/main">
            <a:srgbClr val="FFFFFF"/>
          </a:solidFill>
          <a:ln xmlns:a="http://schemas.openxmlformats.org/drawingml/2006/main" w="9525">
            <a:solidFill>
              <a:srgbClr val="D9E0E6"/>
            </a:solidFill>
            <a:prstDash val="solid"/>
          </a:ln>
        </p:spPr>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531234a4c86347f3"/>
          <a:stretch xmlns:a="http://schemas.openxmlformats.org/drawingml/2006/main"/>
        </p:blipFill>
        <p:spPr>
          <a:xfrm xmlns:a="http://schemas.openxmlformats.org/drawingml/2006/main">
            <a:off x="1488916" y="1504950"/>
            <a:ext cx="9157019" cy="4305300"/>
          </a:xfrm>
          <a:prstGeom xmlns:a="http://schemas.openxmlformats.org/drawingml/2006/main" prst="roundRect">
            <a:avLst>
              <a:gd name="adj" fmla="val 1770"/>
            </a:avLst>
          </a:prstGeom>
        </p:spPr>
      </p:pic>
      <p:sp>
        <p:nvSpPr>
          <p:cNvPr id="11" name="">
            <a:extLst xmlns:a="http://schemas.openxmlformats.org/drawingml/2006/main">
              <a:ext uri="{FF2B5EF4-FFF2-40B4-BE49-F238E27FC236}">
                <a16:creationId xmlns:a16="http://schemas.microsoft.com/office/drawing/2014/main" id="{7668465C-FD69-4A12-8D32-F8D81BFC40DE}"/>
              </a:ext>
            </a:extLst>
          </p:cNvPr>
          <p:cNvSpPr>
            <a:spLocks xmlns:a="http://schemas.openxmlformats.org/drawingml/2006/main" noGrp="1"/>
          </p:cNvSpPr>
          <p:nvPr/>
        </p:nvSpPr>
        <p:spPr>
          <a:xfrm xmlns:a="http://schemas.openxmlformats.org/drawingml/2006/main">
            <a:off x="647700" y="5943600"/>
            <a:ext cx="10839450" cy="400050"/>
          </a:xfrm>
          <a:prstGeom xmlns:a="http://schemas.openxmlformats.org/drawingml/2006/main" prst="rect">
            <a:avLst/>
          </a:prstGeom>
          <a:solidFill xmlns:a="http://schemas.openxmlformats.org/drawingml/2006/main">
            <a:srgbClr val="FFF0E2"/>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F7E05144-55FB-4E0B-A7B2-1F81521D7CA6}"/>
              </a:ext>
            </a:extLst>
          </p:cNvPr>
          <p:cNvSpPr>
            <a:spLocks xmlns:a="http://schemas.openxmlformats.org/drawingml/2006/main" noGrp="1"/>
          </p:cNvSpPr>
          <p:nvPr/>
        </p:nvSpPr>
        <p:spPr>
          <a:xfrm xmlns:a="http://schemas.openxmlformats.org/drawingml/2006/main">
            <a:off x="647700" y="5943600"/>
            <a:ext cx="57150" cy="400050"/>
          </a:xfrm>
          <a:prstGeom xmlns:a="http://schemas.openxmlformats.org/drawingml/2006/main" prst="rect">
            <a:avLst/>
          </a:prstGeom>
          <a:solidFill xmlns:a="http://schemas.openxmlformats.org/drawingml/2006/main">
            <a:srgbClr val="ED7F0D"/>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5961C557-249F-4641-810F-B83FDA6C3075}"/>
              </a:ext>
            </a:extLst>
          </p:cNvPr>
          <p:cNvSpPr>
            <a:spLocks xmlns:a="http://schemas.openxmlformats.org/drawingml/2006/main" noGrp="1"/>
          </p:cNvSpPr>
          <p:nvPr/>
        </p:nvSpPr>
        <p:spPr>
          <a:xfrm xmlns:a="http://schemas.openxmlformats.org/drawingml/2006/main">
            <a:off x="838200" y="5981700"/>
            <a:ext cx="10458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152538"/>
                </a:solidFill>
              </a:defRPr>
            </a:pPr>
            <a:r>
              <a:rPr sz="1275" b="1">
                <a:solidFill>
                  <a:srgbClr val="152538"/>
                </a:solidFill>
              </a:rPr>
              <a:t>Median 4.75° vs 7.41°, but p90 31.45° vs 13.79°; any-ray capture is 19/24 for both.</a:t>
            </a:r>
          </a:p>
        </p:txBody>
      </p:sp>
    </p:spTree>
    <p:extLst>
      <p:ext uri="{BB962C8B-B14F-4D97-AF65-F5344CB8AC3E}">
        <p14:creationId xmlns:p14="http://schemas.microsoft.com/office/powerpoint/2010/main" val="1219535742"/>
      </p:ext>
    </p:extLst>
  </p:cSld>
</p:sld>
</file>

<file path=ppt/slides/slide26.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D4A3DF4-E3B1-4467-AB1A-889B22746B02}"/>
              </a:ext>
            </a:extLst>
          </p:cNvPr>
          <p:cNvSpPr>
            <a:spLocks xmlns:a="http://schemas.openxmlformats.org/drawingml/2006/main" noGrp="1"/>
          </p:cNvSpPr>
          <p:nvPr/>
        </p:nvSpPr>
        <p:spPr>
          <a:xfrm xmlns:a="http://schemas.openxmlformats.org/drawingml/2006/main">
            <a:off x="647700" y="2286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ED7F0D"/>
                </a:solidFill>
              </a:defRPr>
            </a:pPr>
            <a:r>
              <a:rPr sz="1050" b="1">
                <a:solidFill>
                  <a:srgbClr val="ED7F0D"/>
                </a:solidFill>
              </a:rPr>
              <a:t>26</a:t>
            </a:r>
          </a:p>
        </p:txBody>
      </p:sp>
      <p:sp>
        <p:nvSpPr>
          <p:cNvPr id="2" name="">
            <a:extLst xmlns:a="http://schemas.openxmlformats.org/drawingml/2006/main">
              <a:ext uri="{FF2B5EF4-FFF2-40B4-BE49-F238E27FC236}">
                <a16:creationId xmlns:a16="http://schemas.microsoft.com/office/drawing/2014/main" id="{4DC15967-CFFC-446A-BF5A-4C6F5E533EF0}"/>
              </a:ext>
            </a:extLst>
          </p:cNvPr>
          <p:cNvSpPr>
            <a:spLocks xmlns:a="http://schemas.openxmlformats.org/drawingml/2006/main" noGrp="1"/>
          </p:cNvSpPr>
          <p:nvPr/>
        </p:nvSpPr>
        <p:spPr>
          <a:xfrm xmlns:a="http://schemas.openxmlformats.org/drawingml/2006/main">
            <a:off x="1104900" y="22860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6B7580"/>
                </a:solidFill>
              </a:defRPr>
            </a:pPr>
            <a:r>
              <a:rPr sz="975" b="1">
                <a:solidFill>
                  <a:srgbClr val="6B7580"/>
                </a:solidFill>
              </a:rPr>
              <a:t>SIMULATION</a:t>
            </a:r>
          </a:p>
        </p:txBody>
      </p:sp>
      <p:sp>
        <p:nvSpPr>
          <p:cNvPr id="3" name="">
            <a:extLst xmlns:a="http://schemas.openxmlformats.org/drawingml/2006/main">
              <a:ext uri="{FF2B5EF4-FFF2-40B4-BE49-F238E27FC236}">
                <a16:creationId xmlns:a16="http://schemas.microsoft.com/office/drawing/2014/main" id="{0497D186-9478-4790-840E-8F4B689E03D8}"/>
              </a:ext>
            </a:extLst>
          </p:cNvPr>
          <p:cNvSpPr>
            <a:spLocks xmlns:a="http://schemas.openxmlformats.org/drawingml/2006/main" noGrp="1"/>
          </p:cNvSpPr>
          <p:nvPr/>
        </p:nvSpPr>
        <p:spPr>
          <a:xfrm xmlns:a="http://schemas.openxmlformats.org/drawingml/2006/main">
            <a:off x="6191250" y="228600"/>
            <a:ext cx="5353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0">
                <a:solidFill>
                  <a:srgbClr val="6B7580"/>
                </a:solidFill>
              </a:defRPr>
            </a:pPr>
            <a:r>
              <a:rPr sz="825" b="0">
                <a:solidFill>
                  <a:srgbClr val="6B7580"/>
                </a:solidFill>
              </a:rPr>
              <a:t>Problem   Task   Framework   ● Simulation   Hardware   Discussion</a:t>
            </a:r>
          </a:p>
        </p:txBody>
      </p:sp>
      <p:sp>
        <p:nvSpPr>
          <p:cNvPr id="4" name="">
            <a:extLst xmlns:a="http://schemas.openxmlformats.org/drawingml/2006/main">
              <a:ext uri="{FF2B5EF4-FFF2-40B4-BE49-F238E27FC236}">
                <a16:creationId xmlns:a16="http://schemas.microsoft.com/office/drawing/2014/main" id="{10020AAA-E25D-43E0-97AE-AE0E26C317AF}"/>
              </a:ext>
            </a:extLst>
          </p:cNvPr>
          <p:cNvSpPr>
            <a:spLocks xmlns:a="http://schemas.openxmlformats.org/drawingml/2006/main" noGrp="1"/>
          </p:cNvSpPr>
          <p:nvPr/>
        </p:nvSpPr>
        <p:spPr>
          <a:xfrm xmlns:a="http://schemas.openxmlformats.org/drawingml/2006/main">
            <a:off x="647700" y="533400"/>
            <a:ext cx="108394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004282"/>
                </a:solidFill>
              </a:defRPr>
            </a:pPr>
            <a:r>
              <a:rPr sz="2850" b="1">
                <a:solidFill>
                  <a:srgbClr val="004282"/>
                </a:solidFill>
              </a:rPr>
              <a:t>Engagement counts remain close across the search policies</a:t>
            </a:r>
          </a:p>
        </p:txBody>
      </p:sp>
      <p:sp>
        <p:nvSpPr>
          <p:cNvPr id="5" name="">
            <a:extLst xmlns:a="http://schemas.openxmlformats.org/drawingml/2006/main">
              <a:ext uri="{FF2B5EF4-FFF2-40B4-BE49-F238E27FC236}">
                <a16:creationId xmlns:a16="http://schemas.microsoft.com/office/drawing/2014/main" id="{5B0FFED4-12FD-4042-8472-7D289A646AD6}"/>
              </a:ext>
            </a:extLst>
          </p:cNvPr>
          <p:cNvSpPr>
            <a:spLocks xmlns:a="http://schemas.openxmlformats.org/drawingml/2006/main" noGrp="1"/>
          </p:cNvSpPr>
          <p:nvPr/>
        </p:nvSpPr>
        <p:spPr>
          <a:xfrm xmlns:a="http://schemas.openxmlformats.org/drawingml/2006/main">
            <a:off x="647700" y="1257300"/>
            <a:ext cx="609600" cy="47625"/>
          </a:xfrm>
          <a:prstGeom xmlns:a="http://schemas.openxmlformats.org/drawingml/2006/main" prst="rect">
            <a:avLst/>
          </a:prstGeom>
          <a:solidFill xmlns:a="http://schemas.openxmlformats.org/drawingml/2006/main">
            <a:srgbClr val="ED7F0D"/>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29EC8B8A-9A76-4025-ABB5-C328F4C713E1}"/>
              </a:ext>
            </a:extLst>
          </p:cNvPr>
          <p:cNvSpPr>
            <a:spLocks xmlns:a="http://schemas.openxmlformats.org/drawingml/2006/main" noGrp="1"/>
          </p:cNvSpPr>
          <p:nvPr/>
        </p:nvSpPr>
        <p:spPr>
          <a:xfrm xmlns:a="http://schemas.openxmlformats.org/drawingml/2006/main">
            <a:off x="647700" y="6486525"/>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6B7580"/>
                </a:solidFill>
              </a:defRPr>
            </a:pPr>
            <a:r>
              <a:rPr sz="825" b="0">
                <a:solidFill>
                  <a:srgbClr val="6B7580"/>
                </a:solidFill>
              </a:rPr>
              <a:t>Nan Jinyao · Paper-aligned group review</a:t>
            </a:r>
          </a:p>
        </p:txBody>
      </p:sp>
      <p:sp>
        <p:nvSpPr>
          <p:cNvPr id="7" name="">
            <a:extLst xmlns:a="http://schemas.openxmlformats.org/drawingml/2006/main">
              <a:ext uri="{FF2B5EF4-FFF2-40B4-BE49-F238E27FC236}">
                <a16:creationId xmlns:a16="http://schemas.microsoft.com/office/drawing/2014/main" id="{DAC5F89E-7956-403F-B2D5-5653A2284DF3}"/>
              </a:ext>
            </a:extLst>
          </p:cNvPr>
          <p:cNvSpPr>
            <a:spLocks xmlns:a="http://schemas.openxmlformats.org/drawingml/2006/main" noGrp="1"/>
          </p:cNvSpPr>
          <p:nvPr/>
        </p:nvSpPr>
        <p:spPr>
          <a:xfrm xmlns:a="http://schemas.openxmlformats.org/drawingml/2006/main">
            <a:off x="4476750" y="6486525"/>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0">
                <a:solidFill>
                  <a:srgbClr val="6B7580"/>
                </a:solidFill>
              </a:defRPr>
            </a:pPr>
            <a:r>
              <a:rPr sz="825" b="0">
                <a:solidFill>
                  <a:srgbClr val="6B7580"/>
                </a:solidFill>
              </a:rPr>
              <a:t>Table II · Fig. 7</a:t>
            </a:r>
          </a:p>
        </p:txBody>
      </p:sp>
      <p:sp>
        <p:nvSpPr>
          <p:cNvPr id="8" name="">
            <a:extLst xmlns:a="http://schemas.openxmlformats.org/drawingml/2006/main">
              <a:ext uri="{FF2B5EF4-FFF2-40B4-BE49-F238E27FC236}">
                <a16:creationId xmlns:a16="http://schemas.microsoft.com/office/drawing/2014/main" id="{7B2D9465-57B1-45B7-8960-4DC1DC346844}"/>
              </a:ext>
            </a:extLst>
          </p:cNvPr>
          <p:cNvSpPr>
            <a:spLocks xmlns:a="http://schemas.openxmlformats.org/drawingml/2006/main" noGrp="1"/>
          </p:cNvSpPr>
          <p:nvPr/>
        </p:nvSpPr>
        <p:spPr>
          <a:xfrm xmlns:a="http://schemas.openxmlformats.org/drawingml/2006/main">
            <a:off x="11049000" y="648652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004282"/>
                </a:solidFill>
              </a:defRPr>
            </a:pPr>
            <a:r>
              <a:rPr sz="825" b="1">
                <a:solidFill>
                  <a:srgbClr val="004282"/>
                </a:solidFill>
              </a:rPr>
              <a:t>26</a:t>
            </a:r>
          </a:p>
        </p:txBody>
      </p:sp>
      <p:sp>
        <p:nvSpPr>
          <p:cNvPr id="9" name="">
            <a:extLst xmlns:a="http://schemas.openxmlformats.org/drawingml/2006/main">
              <a:ext uri="{FF2B5EF4-FFF2-40B4-BE49-F238E27FC236}">
                <a16:creationId xmlns:a16="http://schemas.microsoft.com/office/drawing/2014/main" id="{4EAF587D-E7B6-4DDD-8C67-D493C1AFE9B5}"/>
              </a:ext>
            </a:extLst>
          </p:cNvPr>
          <p:cNvSpPr>
            <a:spLocks xmlns:a="http://schemas.openxmlformats.org/drawingml/2006/main" noGrp="1"/>
          </p:cNvSpPr>
          <p:nvPr/>
        </p:nvSpPr>
        <p:spPr>
          <a:xfrm xmlns:a="http://schemas.openxmlformats.org/drawingml/2006/main">
            <a:off x="704850" y="1428750"/>
            <a:ext cx="10725150" cy="4457700"/>
          </a:xfrm>
          <a:prstGeom xmlns:a="http://schemas.openxmlformats.org/drawingml/2006/main" prst="roundRect">
            <a:avLst>
              <a:gd name="adj" fmla="val 1709"/>
            </a:avLst>
          </a:prstGeom>
          <a:solidFill xmlns:a="http://schemas.openxmlformats.org/drawingml/2006/main">
            <a:srgbClr val="FFFFFF"/>
          </a:solidFill>
          <a:ln xmlns:a="http://schemas.openxmlformats.org/drawingml/2006/main" w="9525">
            <a:solidFill>
              <a:srgbClr val="D9E0E6"/>
            </a:solidFill>
            <a:prstDash val="solid"/>
          </a:ln>
        </p:spPr>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4c417dcfbdb54434"/>
          <a:stretch xmlns:a="http://schemas.openxmlformats.org/drawingml/2006/main"/>
        </p:blipFill>
        <p:spPr>
          <a:xfrm xmlns:a="http://schemas.openxmlformats.org/drawingml/2006/main">
            <a:off x="3234351" y="1504950"/>
            <a:ext cx="5666147" cy="4305300"/>
          </a:xfrm>
          <a:prstGeom xmlns:a="http://schemas.openxmlformats.org/drawingml/2006/main" prst="roundRect">
            <a:avLst>
              <a:gd name="adj" fmla="val 1770"/>
            </a:avLst>
          </a:prstGeom>
        </p:spPr>
      </p:pic>
      <p:sp>
        <p:nvSpPr>
          <p:cNvPr id="11" name="">
            <a:extLst xmlns:a="http://schemas.openxmlformats.org/drawingml/2006/main">
              <a:ext uri="{FF2B5EF4-FFF2-40B4-BE49-F238E27FC236}">
                <a16:creationId xmlns:a16="http://schemas.microsoft.com/office/drawing/2014/main" id="{DD830D0B-F345-460A-97A2-977F4F4A2A97}"/>
              </a:ext>
            </a:extLst>
          </p:cNvPr>
          <p:cNvSpPr>
            <a:spLocks xmlns:a="http://schemas.openxmlformats.org/drawingml/2006/main" noGrp="1"/>
          </p:cNvSpPr>
          <p:nvPr/>
        </p:nvSpPr>
        <p:spPr>
          <a:xfrm xmlns:a="http://schemas.openxmlformats.org/drawingml/2006/main">
            <a:off x="647700" y="5943600"/>
            <a:ext cx="10839450" cy="400050"/>
          </a:xfrm>
          <a:prstGeom xmlns:a="http://schemas.openxmlformats.org/drawingml/2006/main" prst="rect">
            <a:avLst/>
          </a:prstGeom>
          <a:solidFill xmlns:a="http://schemas.openxmlformats.org/drawingml/2006/main">
            <a:srgbClr val="FFF0E2"/>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4151975F-9ECB-4831-9536-AA7C970B5D72}"/>
              </a:ext>
            </a:extLst>
          </p:cNvPr>
          <p:cNvSpPr>
            <a:spLocks xmlns:a="http://schemas.openxmlformats.org/drawingml/2006/main" noGrp="1"/>
          </p:cNvSpPr>
          <p:nvPr/>
        </p:nvSpPr>
        <p:spPr>
          <a:xfrm xmlns:a="http://schemas.openxmlformats.org/drawingml/2006/main">
            <a:off x="647700" y="5943600"/>
            <a:ext cx="57150" cy="400050"/>
          </a:xfrm>
          <a:prstGeom xmlns:a="http://schemas.openxmlformats.org/drawingml/2006/main" prst="rect">
            <a:avLst/>
          </a:prstGeom>
          <a:solidFill xmlns:a="http://schemas.openxmlformats.org/drawingml/2006/main">
            <a:srgbClr val="ED7F0D"/>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D68D8798-F977-40D9-8C3E-092771FFF8B6}"/>
              </a:ext>
            </a:extLst>
          </p:cNvPr>
          <p:cNvSpPr>
            <a:spLocks xmlns:a="http://schemas.openxmlformats.org/drawingml/2006/main" noGrp="1"/>
          </p:cNvSpPr>
          <p:nvPr/>
        </p:nvSpPr>
        <p:spPr>
          <a:xfrm xmlns:a="http://schemas.openxmlformats.org/drawingml/2006/main">
            <a:off x="838200" y="5981700"/>
            <a:ext cx="10458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152538"/>
                </a:solidFill>
              </a:defRPr>
            </a:pPr>
            <a:r>
              <a:rPr sz="1275" b="1">
                <a:solidFill>
                  <a:srgbClr val="152538"/>
                </a:solidFill>
              </a:rPr>
              <a:t>PGS-O 20/24, PGS-G 19/24, Outward 19/24 and Direct-4C 17/24.</a:t>
            </a:r>
          </a:p>
        </p:txBody>
      </p:sp>
    </p:spTree>
    <p:extLst>
      <p:ext uri="{BB962C8B-B14F-4D97-AF65-F5344CB8AC3E}">
        <p14:creationId xmlns:p14="http://schemas.microsoft.com/office/powerpoint/2010/main" val="512341974"/>
      </p:ext>
    </p:extLst>
  </p:cSld>
</p:sld>
</file>

<file path=ppt/slides/slide27.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8D9657D-DAF1-4947-86A0-4F54BE829656}"/>
              </a:ext>
            </a:extLst>
          </p:cNvPr>
          <p:cNvSpPr>
            <a:spLocks xmlns:a="http://schemas.openxmlformats.org/drawingml/2006/main" noGrp="1"/>
          </p:cNvSpPr>
          <p:nvPr/>
        </p:nvSpPr>
        <p:spPr>
          <a:xfrm xmlns:a="http://schemas.openxmlformats.org/drawingml/2006/main">
            <a:off x="647700" y="2286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ED7F0D"/>
                </a:solidFill>
              </a:defRPr>
            </a:pPr>
            <a:r>
              <a:rPr sz="1050" b="1">
                <a:solidFill>
                  <a:srgbClr val="ED7F0D"/>
                </a:solidFill>
              </a:rPr>
              <a:t>27</a:t>
            </a:r>
          </a:p>
        </p:txBody>
      </p:sp>
      <p:sp>
        <p:nvSpPr>
          <p:cNvPr id="2" name="">
            <a:extLst xmlns:a="http://schemas.openxmlformats.org/drawingml/2006/main">
              <a:ext uri="{FF2B5EF4-FFF2-40B4-BE49-F238E27FC236}">
                <a16:creationId xmlns:a16="http://schemas.microsoft.com/office/drawing/2014/main" id="{9F7B6703-E437-43FA-B1B6-31DB67E13D25}"/>
              </a:ext>
            </a:extLst>
          </p:cNvPr>
          <p:cNvSpPr>
            <a:spLocks xmlns:a="http://schemas.openxmlformats.org/drawingml/2006/main" noGrp="1"/>
          </p:cNvSpPr>
          <p:nvPr/>
        </p:nvSpPr>
        <p:spPr>
          <a:xfrm xmlns:a="http://schemas.openxmlformats.org/drawingml/2006/main">
            <a:off x="1104900" y="22860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6B7580"/>
                </a:solidFill>
              </a:defRPr>
            </a:pPr>
            <a:r>
              <a:rPr sz="975" b="1">
                <a:solidFill>
                  <a:srgbClr val="6B7580"/>
                </a:solidFill>
              </a:rPr>
              <a:t>SIMULATION</a:t>
            </a:r>
          </a:p>
        </p:txBody>
      </p:sp>
      <p:sp>
        <p:nvSpPr>
          <p:cNvPr id="3" name="">
            <a:extLst xmlns:a="http://schemas.openxmlformats.org/drawingml/2006/main">
              <a:ext uri="{FF2B5EF4-FFF2-40B4-BE49-F238E27FC236}">
                <a16:creationId xmlns:a16="http://schemas.microsoft.com/office/drawing/2014/main" id="{B88551AD-2DB2-4C1B-9DD7-99B8C8B4947F}"/>
              </a:ext>
            </a:extLst>
          </p:cNvPr>
          <p:cNvSpPr>
            <a:spLocks xmlns:a="http://schemas.openxmlformats.org/drawingml/2006/main" noGrp="1"/>
          </p:cNvSpPr>
          <p:nvPr/>
        </p:nvSpPr>
        <p:spPr>
          <a:xfrm xmlns:a="http://schemas.openxmlformats.org/drawingml/2006/main">
            <a:off x="6191250" y="228600"/>
            <a:ext cx="5353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0">
                <a:solidFill>
                  <a:srgbClr val="6B7580"/>
                </a:solidFill>
              </a:defRPr>
            </a:pPr>
            <a:r>
              <a:rPr sz="825" b="0">
                <a:solidFill>
                  <a:srgbClr val="6B7580"/>
                </a:solidFill>
              </a:rPr>
              <a:t>Problem   Task   Framework   ● Simulation   Hardware   Discussion</a:t>
            </a:r>
          </a:p>
        </p:txBody>
      </p:sp>
      <p:sp>
        <p:nvSpPr>
          <p:cNvPr id="4" name="">
            <a:extLst xmlns:a="http://schemas.openxmlformats.org/drawingml/2006/main">
              <a:ext uri="{FF2B5EF4-FFF2-40B4-BE49-F238E27FC236}">
                <a16:creationId xmlns:a16="http://schemas.microsoft.com/office/drawing/2014/main" id="{0AC98B24-E63F-45F2-ACF1-136E308395BE}"/>
              </a:ext>
            </a:extLst>
          </p:cNvPr>
          <p:cNvSpPr>
            <a:spLocks xmlns:a="http://schemas.openxmlformats.org/drawingml/2006/main" noGrp="1"/>
          </p:cNvSpPr>
          <p:nvPr/>
        </p:nvSpPr>
        <p:spPr>
          <a:xfrm xmlns:a="http://schemas.openxmlformats.org/drawingml/2006/main">
            <a:off x="647700" y="533400"/>
            <a:ext cx="108394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700" b="1">
                <a:solidFill>
                  <a:srgbClr val="004282"/>
                </a:solidFill>
              </a:defRPr>
            </a:pPr>
            <a:r>
              <a:rPr sz="2700" b="1">
                <a:solidFill>
                  <a:srgbClr val="004282"/>
                </a:solidFill>
              </a:rPr>
              <a:t>PGS-O cuts travel and time on 19 joint completions with Outward</a:t>
            </a:r>
          </a:p>
        </p:txBody>
      </p:sp>
      <p:sp>
        <p:nvSpPr>
          <p:cNvPr id="5" name="">
            <a:extLst xmlns:a="http://schemas.openxmlformats.org/drawingml/2006/main">
              <a:ext uri="{FF2B5EF4-FFF2-40B4-BE49-F238E27FC236}">
                <a16:creationId xmlns:a16="http://schemas.microsoft.com/office/drawing/2014/main" id="{2008101B-C7EC-4947-8CB7-C7BAD5E40493}"/>
              </a:ext>
            </a:extLst>
          </p:cNvPr>
          <p:cNvSpPr>
            <a:spLocks xmlns:a="http://schemas.openxmlformats.org/drawingml/2006/main" noGrp="1"/>
          </p:cNvSpPr>
          <p:nvPr/>
        </p:nvSpPr>
        <p:spPr>
          <a:xfrm xmlns:a="http://schemas.openxmlformats.org/drawingml/2006/main">
            <a:off x="647700" y="1257300"/>
            <a:ext cx="609600" cy="47625"/>
          </a:xfrm>
          <a:prstGeom xmlns:a="http://schemas.openxmlformats.org/drawingml/2006/main" prst="rect">
            <a:avLst/>
          </a:prstGeom>
          <a:solidFill xmlns:a="http://schemas.openxmlformats.org/drawingml/2006/main">
            <a:srgbClr val="ED7F0D"/>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B5091773-0B08-433A-A650-08907D1CA43A}"/>
              </a:ext>
            </a:extLst>
          </p:cNvPr>
          <p:cNvSpPr>
            <a:spLocks xmlns:a="http://schemas.openxmlformats.org/drawingml/2006/main" noGrp="1"/>
          </p:cNvSpPr>
          <p:nvPr/>
        </p:nvSpPr>
        <p:spPr>
          <a:xfrm xmlns:a="http://schemas.openxmlformats.org/drawingml/2006/main">
            <a:off x="647700" y="6486525"/>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6B7580"/>
                </a:solidFill>
              </a:defRPr>
            </a:pPr>
            <a:r>
              <a:rPr sz="825" b="0">
                <a:solidFill>
                  <a:srgbClr val="6B7580"/>
                </a:solidFill>
              </a:rPr>
              <a:t>Nan Jinyao · Paper-aligned group review</a:t>
            </a:r>
          </a:p>
        </p:txBody>
      </p:sp>
      <p:sp>
        <p:nvSpPr>
          <p:cNvPr id="7" name="">
            <a:extLst xmlns:a="http://schemas.openxmlformats.org/drawingml/2006/main">
              <a:ext uri="{FF2B5EF4-FFF2-40B4-BE49-F238E27FC236}">
                <a16:creationId xmlns:a16="http://schemas.microsoft.com/office/drawing/2014/main" id="{1E21D2D3-D416-46A0-AAAE-BCBEF8CA8457}"/>
              </a:ext>
            </a:extLst>
          </p:cNvPr>
          <p:cNvSpPr>
            <a:spLocks xmlns:a="http://schemas.openxmlformats.org/drawingml/2006/main" noGrp="1"/>
          </p:cNvSpPr>
          <p:nvPr/>
        </p:nvSpPr>
        <p:spPr>
          <a:xfrm xmlns:a="http://schemas.openxmlformats.org/drawingml/2006/main">
            <a:off x="4476750" y="6486525"/>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0">
                <a:solidFill>
                  <a:srgbClr val="6B7580"/>
                </a:solidFill>
              </a:defRPr>
            </a:pPr>
            <a:r>
              <a:rPr sz="825" b="0">
                <a:solidFill>
                  <a:srgbClr val="6B7580"/>
                </a:solidFill>
              </a:rPr>
              <a:t>Sec. IV-C · paired differences</a:t>
            </a:r>
          </a:p>
        </p:txBody>
      </p:sp>
      <p:sp>
        <p:nvSpPr>
          <p:cNvPr id="8" name="">
            <a:extLst xmlns:a="http://schemas.openxmlformats.org/drawingml/2006/main">
              <a:ext uri="{FF2B5EF4-FFF2-40B4-BE49-F238E27FC236}">
                <a16:creationId xmlns:a16="http://schemas.microsoft.com/office/drawing/2014/main" id="{F76162C3-A8A6-4BE9-9A34-17852E78B7FE}"/>
              </a:ext>
            </a:extLst>
          </p:cNvPr>
          <p:cNvSpPr>
            <a:spLocks xmlns:a="http://schemas.openxmlformats.org/drawingml/2006/main" noGrp="1"/>
          </p:cNvSpPr>
          <p:nvPr/>
        </p:nvSpPr>
        <p:spPr>
          <a:xfrm xmlns:a="http://schemas.openxmlformats.org/drawingml/2006/main">
            <a:off x="11049000" y="648652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004282"/>
                </a:solidFill>
              </a:defRPr>
            </a:pPr>
            <a:r>
              <a:rPr sz="825" b="1">
                <a:solidFill>
                  <a:srgbClr val="004282"/>
                </a:solidFill>
              </a:rPr>
              <a:t>27</a:t>
            </a:r>
          </a:p>
        </p:txBody>
      </p:sp>
      <p:sp>
        <p:nvSpPr>
          <p:cNvPr id="9" name="">
            <a:extLst xmlns:a="http://schemas.openxmlformats.org/drawingml/2006/main">
              <a:ext uri="{FF2B5EF4-FFF2-40B4-BE49-F238E27FC236}">
                <a16:creationId xmlns:a16="http://schemas.microsoft.com/office/drawing/2014/main" id="{330A8DDF-A9B0-425E-AC0C-2C6136B6FDDF}"/>
              </a:ext>
            </a:extLst>
          </p:cNvPr>
          <p:cNvSpPr>
            <a:spLocks xmlns:a="http://schemas.openxmlformats.org/drawingml/2006/main" noGrp="1"/>
          </p:cNvSpPr>
          <p:nvPr/>
        </p:nvSpPr>
        <p:spPr>
          <a:xfrm xmlns:a="http://schemas.openxmlformats.org/drawingml/2006/main">
            <a:off x="704850" y="1428750"/>
            <a:ext cx="10725150" cy="4457700"/>
          </a:xfrm>
          <a:prstGeom xmlns:a="http://schemas.openxmlformats.org/drawingml/2006/main" prst="roundRect">
            <a:avLst>
              <a:gd name="adj" fmla="val 1709"/>
            </a:avLst>
          </a:prstGeom>
          <a:solidFill xmlns:a="http://schemas.openxmlformats.org/drawingml/2006/main">
            <a:srgbClr val="FFFFFF"/>
          </a:solidFill>
          <a:ln xmlns:a="http://schemas.openxmlformats.org/drawingml/2006/main" w="9525">
            <a:solidFill>
              <a:srgbClr val="D9E0E6"/>
            </a:solidFill>
            <a:prstDash val="solid"/>
          </a:ln>
        </p:spPr>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6be9700e7b3a40c7"/>
          <a:stretch xmlns:a="http://schemas.openxmlformats.org/drawingml/2006/main"/>
        </p:blipFill>
        <p:spPr>
          <a:xfrm xmlns:a="http://schemas.openxmlformats.org/drawingml/2006/main">
            <a:off x="781050" y="1893820"/>
            <a:ext cx="10572750" cy="3527559"/>
          </a:xfrm>
          <a:prstGeom xmlns:a="http://schemas.openxmlformats.org/drawingml/2006/main" prst="roundRect">
            <a:avLst>
              <a:gd name="adj" fmla="val 1770"/>
            </a:avLst>
          </a:prstGeom>
        </p:spPr>
      </p:pic>
      <p:sp>
        <p:nvSpPr>
          <p:cNvPr id="11" name="">
            <a:extLst xmlns:a="http://schemas.openxmlformats.org/drawingml/2006/main">
              <a:ext uri="{FF2B5EF4-FFF2-40B4-BE49-F238E27FC236}">
                <a16:creationId xmlns:a16="http://schemas.microsoft.com/office/drawing/2014/main" id="{4FE9E6B5-23D0-40AA-A717-160FE7AA3377}"/>
              </a:ext>
            </a:extLst>
          </p:cNvPr>
          <p:cNvSpPr>
            <a:spLocks xmlns:a="http://schemas.openxmlformats.org/drawingml/2006/main" noGrp="1"/>
          </p:cNvSpPr>
          <p:nvPr/>
        </p:nvSpPr>
        <p:spPr>
          <a:xfrm xmlns:a="http://schemas.openxmlformats.org/drawingml/2006/main">
            <a:off x="647700" y="5943600"/>
            <a:ext cx="10839450" cy="400050"/>
          </a:xfrm>
          <a:prstGeom xmlns:a="http://schemas.openxmlformats.org/drawingml/2006/main" prst="rect">
            <a:avLst/>
          </a:prstGeom>
          <a:solidFill xmlns:a="http://schemas.openxmlformats.org/drawingml/2006/main">
            <a:srgbClr val="FFF0E2"/>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BE480B60-F745-49E3-8082-79B107D22ECB}"/>
              </a:ext>
            </a:extLst>
          </p:cNvPr>
          <p:cNvSpPr>
            <a:spLocks xmlns:a="http://schemas.openxmlformats.org/drawingml/2006/main" noGrp="1"/>
          </p:cNvSpPr>
          <p:nvPr/>
        </p:nvSpPr>
        <p:spPr>
          <a:xfrm xmlns:a="http://schemas.openxmlformats.org/drawingml/2006/main">
            <a:off x="647700" y="5943600"/>
            <a:ext cx="57150" cy="400050"/>
          </a:xfrm>
          <a:prstGeom xmlns:a="http://schemas.openxmlformats.org/drawingml/2006/main" prst="rect">
            <a:avLst/>
          </a:prstGeom>
          <a:solidFill xmlns:a="http://schemas.openxmlformats.org/drawingml/2006/main">
            <a:srgbClr val="ED7F0D"/>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CD193E06-3D7E-418A-9B0C-1379F36ACF04}"/>
              </a:ext>
            </a:extLst>
          </p:cNvPr>
          <p:cNvSpPr>
            <a:spLocks xmlns:a="http://schemas.openxmlformats.org/drawingml/2006/main" noGrp="1"/>
          </p:cNvSpPr>
          <p:nvPr/>
        </p:nvSpPr>
        <p:spPr>
          <a:xfrm xmlns:a="http://schemas.openxmlformats.org/drawingml/2006/main">
            <a:off x="838200" y="5981700"/>
            <a:ext cx="10458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152538"/>
                </a:solidFill>
              </a:defRPr>
            </a:pPr>
            <a:r>
              <a:rPr sz="1275" b="1">
                <a:solidFill>
                  <a:srgbClr val="152538"/>
                </a:solidFill>
              </a:rPr>
              <a:t>Median gaps versus Outward are −41.14 mm and −16.79 s on the 19 joint completions.</a:t>
            </a:r>
          </a:p>
        </p:txBody>
      </p:sp>
    </p:spTree>
    <p:extLst>
      <p:ext uri="{BB962C8B-B14F-4D97-AF65-F5344CB8AC3E}">
        <p14:creationId xmlns:p14="http://schemas.microsoft.com/office/powerpoint/2010/main" val="182798777"/>
      </p:ext>
    </p:extLst>
  </p:cSld>
</p:sld>
</file>

<file path=ppt/slides/slide28.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F478B26-CD92-4A3A-A2E5-1714300B613E}"/>
              </a:ext>
            </a:extLst>
          </p:cNvPr>
          <p:cNvSpPr>
            <a:spLocks xmlns:a="http://schemas.openxmlformats.org/drawingml/2006/main" noGrp="1"/>
          </p:cNvSpPr>
          <p:nvPr/>
        </p:nvSpPr>
        <p:spPr>
          <a:xfrm xmlns:a="http://schemas.openxmlformats.org/drawingml/2006/main">
            <a:off x="647700" y="2286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ED7F0D"/>
                </a:solidFill>
              </a:defRPr>
            </a:pPr>
            <a:r>
              <a:rPr sz="1050" b="1">
                <a:solidFill>
                  <a:srgbClr val="ED7F0D"/>
                </a:solidFill>
              </a:rPr>
              <a:t>28</a:t>
            </a:r>
          </a:p>
        </p:txBody>
      </p:sp>
      <p:sp>
        <p:nvSpPr>
          <p:cNvPr id="2" name="">
            <a:extLst xmlns:a="http://schemas.openxmlformats.org/drawingml/2006/main">
              <a:ext uri="{FF2B5EF4-FFF2-40B4-BE49-F238E27FC236}">
                <a16:creationId xmlns:a16="http://schemas.microsoft.com/office/drawing/2014/main" id="{7A9DED06-4E9C-4F08-BB3C-2DF0EB228FC0}"/>
              </a:ext>
            </a:extLst>
          </p:cNvPr>
          <p:cNvSpPr>
            <a:spLocks xmlns:a="http://schemas.openxmlformats.org/drawingml/2006/main" noGrp="1"/>
          </p:cNvSpPr>
          <p:nvPr/>
        </p:nvSpPr>
        <p:spPr>
          <a:xfrm xmlns:a="http://schemas.openxmlformats.org/drawingml/2006/main">
            <a:off x="1104900" y="22860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6B7580"/>
                </a:solidFill>
              </a:defRPr>
            </a:pPr>
            <a:r>
              <a:rPr sz="975" b="1">
                <a:solidFill>
                  <a:srgbClr val="6B7580"/>
                </a:solidFill>
              </a:rPr>
              <a:t>SIMULATION</a:t>
            </a:r>
          </a:p>
        </p:txBody>
      </p:sp>
      <p:sp>
        <p:nvSpPr>
          <p:cNvPr id="3" name="">
            <a:extLst xmlns:a="http://schemas.openxmlformats.org/drawingml/2006/main">
              <a:ext uri="{FF2B5EF4-FFF2-40B4-BE49-F238E27FC236}">
                <a16:creationId xmlns:a16="http://schemas.microsoft.com/office/drawing/2014/main" id="{AC7FB4C7-2101-43C6-B6CF-1E0189C5D756}"/>
              </a:ext>
            </a:extLst>
          </p:cNvPr>
          <p:cNvSpPr>
            <a:spLocks xmlns:a="http://schemas.openxmlformats.org/drawingml/2006/main" noGrp="1"/>
          </p:cNvSpPr>
          <p:nvPr/>
        </p:nvSpPr>
        <p:spPr>
          <a:xfrm xmlns:a="http://schemas.openxmlformats.org/drawingml/2006/main">
            <a:off x="6191250" y="228600"/>
            <a:ext cx="5353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0">
                <a:solidFill>
                  <a:srgbClr val="6B7580"/>
                </a:solidFill>
              </a:defRPr>
            </a:pPr>
            <a:r>
              <a:rPr sz="825" b="0">
                <a:solidFill>
                  <a:srgbClr val="6B7580"/>
                </a:solidFill>
              </a:rPr>
              <a:t>Problem   Task   Framework   ● Simulation   Hardware   Discussion</a:t>
            </a:r>
          </a:p>
        </p:txBody>
      </p:sp>
      <p:sp>
        <p:nvSpPr>
          <p:cNvPr id="4" name="">
            <a:extLst xmlns:a="http://schemas.openxmlformats.org/drawingml/2006/main">
              <a:ext uri="{FF2B5EF4-FFF2-40B4-BE49-F238E27FC236}">
                <a16:creationId xmlns:a16="http://schemas.microsoft.com/office/drawing/2014/main" id="{A3445687-AC40-4F89-8015-DBA393C8548D}"/>
              </a:ext>
            </a:extLst>
          </p:cNvPr>
          <p:cNvSpPr>
            <a:spLocks xmlns:a="http://schemas.openxmlformats.org/drawingml/2006/main" noGrp="1"/>
          </p:cNvSpPr>
          <p:nvPr/>
        </p:nvSpPr>
        <p:spPr>
          <a:xfrm xmlns:a="http://schemas.openxmlformats.org/drawingml/2006/main">
            <a:off x="647700" y="533400"/>
            <a:ext cx="108394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004282"/>
                </a:solidFill>
              </a:defRPr>
            </a:pPr>
            <a:r>
              <a:rPr sz="2850" b="1">
                <a:solidFill>
                  <a:srgbClr val="004282"/>
                </a:solidFill>
              </a:rPr>
              <a:t>The entropy grid brings no advantage here</a:t>
            </a:r>
          </a:p>
        </p:txBody>
      </p:sp>
      <p:sp>
        <p:nvSpPr>
          <p:cNvPr id="5" name="">
            <a:extLst xmlns:a="http://schemas.openxmlformats.org/drawingml/2006/main">
              <a:ext uri="{FF2B5EF4-FFF2-40B4-BE49-F238E27FC236}">
                <a16:creationId xmlns:a16="http://schemas.microsoft.com/office/drawing/2014/main" id="{8F3AFF09-7EA6-4C66-995C-228C48AAF1E4}"/>
              </a:ext>
            </a:extLst>
          </p:cNvPr>
          <p:cNvSpPr>
            <a:spLocks xmlns:a="http://schemas.openxmlformats.org/drawingml/2006/main" noGrp="1"/>
          </p:cNvSpPr>
          <p:nvPr/>
        </p:nvSpPr>
        <p:spPr>
          <a:xfrm xmlns:a="http://schemas.openxmlformats.org/drawingml/2006/main">
            <a:off x="647700" y="1257300"/>
            <a:ext cx="609600" cy="47625"/>
          </a:xfrm>
          <a:prstGeom xmlns:a="http://schemas.openxmlformats.org/drawingml/2006/main" prst="rect">
            <a:avLst/>
          </a:prstGeom>
          <a:solidFill xmlns:a="http://schemas.openxmlformats.org/drawingml/2006/main">
            <a:srgbClr val="ED7F0D"/>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80D7C2DC-8380-4327-B142-CA73772D7365}"/>
              </a:ext>
            </a:extLst>
          </p:cNvPr>
          <p:cNvSpPr>
            <a:spLocks xmlns:a="http://schemas.openxmlformats.org/drawingml/2006/main" noGrp="1"/>
          </p:cNvSpPr>
          <p:nvPr/>
        </p:nvSpPr>
        <p:spPr>
          <a:xfrm xmlns:a="http://schemas.openxmlformats.org/drawingml/2006/main">
            <a:off x="647700" y="6486525"/>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6B7580"/>
                </a:solidFill>
              </a:defRPr>
            </a:pPr>
            <a:r>
              <a:rPr sz="825" b="0">
                <a:solidFill>
                  <a:srgbClr val="6B7580"/>
                </a:solidFill>
              </a:rPr>
              <a:t>Nan Jinyao · Paper-aligned group review</a:t>
            </a:r>
          </a:p>
        </p:txBody>
      </p:sp>
      <p:sp>
        <p:nvSpPr>
          <p:cNvPr id="7" name="">
            <a:extLst xmlns:a="http://schemas.openxmlformats.org/drawingml/2006/main">
              <a:ext uri="{FF2B5EF4-FFF2-40B4-BE49-F238E27FC236}">
                <a16:creationId xmlns:a16="http://schemas.microsoft.com/office/drawing/2014/main" id="{E4E63446-1CE3-447A-BFA2-DD7D256CCF4A}"/>
              </a:ext>
            </a:extLst>
          </p:cNvPr>
          <p:cNvSpPr>
            <a:spLocks xmlns:a="http://schemas.openxmlformats.org/drawingml/2006/main" noGrp="1"/>
          </p:cNvSpPr>
          <p:nvPr/>
        </p:nvSpPr>
        <p:spPr>
          <a:xfrm xmlns:a="http://schemas.openxmlformats.org/drawingml/2006/main">
            <a:off x="4476750" y="6486525"/>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0">
                <a:solidFill>
                  <a:srgbClr val="6B7580"/>
                </a:solidFill>
              </a:defRPr>
            </a:pPr>
            <a:r>
              <a:rPr sz="825" b="0">
                <a:solidFill>
                  <a:srgbClr val="6B7580"/>
                </a:solidFill>
              </a:rPr>
              <a:t>Sec. IV-C</a:t>
            </a:r>
          </a:p>
        </p:txBody>
      </p:sp>
      <p:sp>
        <p:nvSpPr>
          <p:cNvPr id="8" name="">
            <a:extLst xmlns:a="http://schemas.openxmlformats.org/drawingml/2006/main">
              <a:ext uri="{FF2B5EF4-FFF2-40B4-BE49-F238E27FC236}">
                <a16:creationId xmlns:a16="http://schemas.microsoft.com/office/drawing/2014/main" id="{71A6C664-3FAB-4E08-9CC3-4CF31D2F2E36}"/>
              </a:ext>
            </a:extLst>
          </p:cNvPr>
          <p:cNvSpPr>
            <a:spLocks xmlns:a="http://schemas.openxmlformats.org/drawingml/2006/main" noGrp="1"/>
          </p:cNvSpPr>
          <p:nvPr/>
        </p:nvSpPr>
        <p:spPr>
          <a:xfrm xmlns:a="http://schemas.openxmlformats.org/drawingml/2006/main">
            <a:off x="11049000" y="648652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004282"/>
                </a:solidFill>
              </a:defRPr>
            </a:pPr>
            <a:r>
              <a:rPr sz="825" b="1">
                <a:solidFill>
                  <a:srgbClr val="004282"/>
                </a:solidFill>
              </a:rPr>
              <a:t>28</a:t>
            </a:r>
          </a:p>
        </p:txBody>
      </p:sp>
      <p:sp>
        <p:nvSpPr>
          <p:cNvPr id="9" name="">
            <a:extLst xmlns:a="http://schemas.openxmlformats.org/drawingml/2006/main">
              <a:ext uri="{FF2B5EF4-FFF2-40B4-BE49-F238E27FC236}">
                <a16:creationId xmlns:a16="http://schemas.microsoft.com/office/drawing/2014/main" id="{8F50CF8B-1C9F-4189-B99A-6F29DC085794}"/>
              </a:ext>
            </a:extLst>
          </p:cNvPr>
          <p:cNvSpPr>
            <a:spLocks xmlns:a="http://schemas.openxmlformats.org/drawingml/2006/main" noGrp="1"/>
          </p:cNvSpPr>
          <p:nvPr/>
        </p:nvSpPr>
        <p:spPr>
          <a:xfrm xmlns:a="http://schemas.openxmlformats.org/drawingml/2006/main">
            <a:off x="876300" y="1828800"/>
            <a:ext cx="4905375" cy="1238250"/>
          </a:xfrm>
          <a:prstGeom xmlns:a="http://schemas.openxmlformats.org/drawingml/2006/main" prst="roundRect">
            <a:avLst>
              <a:gd name="adj" fmla="val 6154"/>
            </a:avLst>
          </a:prstGeom>
          <a:solidFill xmlns:a="http://schemas.openxmlformats.org/drawingml/2006/main">
            <a:srgbClr val="FFFFFF"/>
          </a:solidFill>
          <a:ln xmlns:a="http://schemas.openxmlformats.org/drawingml/2006/main" w="9525">
            <a:solidFill>
              <a:srgbClr val="D9E0E6"/>
            </a:solidFill>
            <a:prstDash val="solid"/>
          </a:ln>
        </p:spPr>
      </p:sp>
      <p:sp>
        <p:nvSpPr>
          <p:cNvPr id="10" name="">
            <a:extLst xmlns:a="http://schemas.openxmlformats.org/drawingml/2006/main">
              <a:ext uri="{FF2B5EF4-FFF2-40B4-BE49-F238E27FC236}">
                <a16:creationId xmlns:a16="http://schemas.microsoft.com/office/drawing/2014/main" id="{6D3F6C5B-E725-4A38-A2BB-9BFA86682188}"/>
              </a:ext>
            </a:extLst>
          </p:cNvPr>
          <p:cNvSpPr>
            <a:spLocks xmlns:a="http://schemas.openxmlformats.org/drawingml/2006/main" noGrp="1"/>
          </p:cNvSpPr>
          <p:nvPr/>
        </p:nvSpPr>
        <p:spPr>
          <a:xfrm xmlns:a="http://schemas.openxmlformats.org/drawingml/2006/main">
            <a:off x="1066800" y="2000250"/>
            <a:ext cx="1905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400" b="1">
                <a:solidFill>
                  <a:srgbClr val="009E73"/>
                </a:solidFill>
              </a:defRPr>
            </a:pPr>
            <a:r>
              <a:rPr sz="2400" b="1">
                <a:solidFill>
                  <a:srgbClr val="009E73"/>
                </a:solidFill>
              </a:rPr>
              <a:t>−0.061 mm</a:t>
            </a:r>
          </a:p>
        </p:txBody>
      </p:sp>
      <p:sp>
        <p:nvSpPr>
          <p:cNvPr id="11" name="">
            <a:extLst xmlns:a="http://schemas.openxmlformats.org/drawingml/2006/main">
              <a:ext uri="{FF2B5EF4-FFF2-40B4-BE49-F238E27FC236}">
                <a16:creationId xmlns:a16="http://schemas.microsoft.com/office/drawing/2014/main" id="{7140BC0D-EEFC-43FB-A6C6-E2400BFFD7BF}"/>
              </a:ext>
            </a:extLst>
          </p:cNvPr>
          <p:cNvSpPr>
            <a:spLocks xmlns:a="http://schemas.openxmlformats.org/drawingml/2006/main" noGrp="1"/>
          </p:cNvSpPr>
          <p:nvPr/>
        </p:nvSpPr>
        <p:spPr>
          <a:xfrm xmlns:a="http://schemas.openxmlformats.org/drawingml/2006/main">
            <a:off x="2971800" y="2047875"/>
            <a:ext cx="2571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52538"/>
                </a:solidFill>
              </a:defRPr>
            </a:pPr>
            <a:r>
              <a:rPr sz="1350" b="0">
                <a:solidFill>
                  <a:srgbClr val="152538"/>
                </a:solidFill>
              </a:rPr>
              <a:t>PGS-G − PGS-O path</a:t>
            </a:r>
          </a:p>
        </p:txBody>
      </p:sp>
      <p:sp>
        <p:nvSpPr>
          <p:cNvPr id="12" name="">
            <a:extLst xmlns:a="http://schemas.openxmlformats.org/drawingml/2006/main">
              <a:ext uri="{FF2B5EF4-FFF2-40B4-BE49-F238E27FC236}">
                <a16:creationId xmlns:a16="http://schemas.microsoft.com/office/drawing/2014/main" id="{8F5718D0-2CE0-4461-AD9C-E46469684F3B}"/>
              </a:ext>
            </a:extLst>
          </p:cNvPr>
          <p:cNvSpPr>
            <a:spLocks xmlns:a="http://schemas.openxmlformats.org/drawingml/2006/main" noGrp="1"/>
          </p:cNvSpPr>
          <p:nvPr/>
        </p:nvSpPr>
        <p:spPr>
          <a:xfrm xmlns:a="http://schemas.openxmlformats.org/drawingml/2006/main">
            <a:off x="6210300" y="1828800"/>
            <a:ext cx="4905375" cy="1238250"/>
          </a:xfrm>
          <a:prstGeom xmlns:a="http://schemas.openxmlformats.org/drawingml/2006/main" prst="roundRect">
            <a:avLst>
              <a:gd name="adj" fmla="val 6154"/>
            </a:avLst>
          </a:prstGeom>
          <a:solidFill xmlns:a="http://schemas.openxmlformats.org/drawingml/2006/main">
            <a:srgbClr val="FFFFFF"/>
          </a:solidFill>
          <a:ln xmlns:a="http://schemas.openxmlformats.org/drawingml/2006/main" w="9525">
            <a:solidFill>
              <a:srgbClr val="D9E0E6"/>
            </a:solidFill>
            <a:prstDash val="solid"/>
          </a:ln>
        </p:spPr>
      </p:sp>
      <p:sp>
        <p:nvSpPr>
          <p:cNvPr id="13" name="">
            <a:extLst xmlns:a="http://schemas.openxmlformats.org/drawingml/2006/main">
              <a:ext uri="{FF2B5EF4-FFF2-40B4-BE49-F238E27FC236}">
                <a16:creationId xmlns:a16="http://schemas.microsoft.com/office/drawing/2014/main" id="{C117E0AE-7CCA-4FC8-B22C-01CFAFB3DBFA}"/>
              </a:ext>
            </a:extLst>
          </p:cNvPr>
          <p:cNvSpPr>
            <a:spLocks xmlns:a="http://schemas.openxmlformats.org/drawingml/2006/main" noGrp="1"/>
          </p:cNvSpPr>
          <p:nvPr/>
        </p:nvSpPr>
        <p:spPr>
          <a:xfrm xmlns:a="http://schemas.openxmlformats.org/drawingml/2006/main">
            <a:off x="6400800" y="2000250"/>
            <a:ext cx="1905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400" b="1">
                <a:solidFill>
                  <a:srgbClr val="6B7580"/>
                </a:solidFill>
              </a:defRPr>
            </a:pPr>
            <a:r>
              <a:rPr sz="2400" b="1">
                <a:solidFill>
                  <a:srgbClr val="6B7580"/>
                </a:solidFill>
              </a:rPr>
              <a:t>p = .465</a:t>
            </a:r>
          </a:p>
        </p:txBody>
      </p:sp>
      <p:sp>
        <p:nvSpPr>
          <p:cNvPr id="14" name="">
            <a:extLst xmlns:a="http://schemas.openxmlformats.org/drawingml/2006/main">
              <a:ext uri="{FF2B5EF4-FFF2-40B4-BE49-F238E27FC236}">
                <a16:creationId xmlns:a16="http://schemas.microsoft.com/office/drawing/2014/main" id="{84152EF7-5DC0-4557-8AA8-CA0790B2CC74}"/>
              </a:ext>
            </a:extLst>
          </p:cNvPr>
          <p:cNvSpPr>
            <a:spLocks xmlns:a="http://schemas.openxmlformats.org/drawingml/2006/main" noGrp="1"/>
          </p:cNvSpPr>
          <p:nvPr/>
        </p:nvSpPr>
        <p:spPr>
          <a:xfrm xmlns:a="http://schemas.openxmlformats.org/drawingml/2006/main">
            <a:off x="8305800" y="2047875"/>
            <a:ext cx="2571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52538"/>
                </a:solidFill>
              </a:defRPr>
            </a:pPr>
            <a:r>
              <a:rPr sz="1350" b="0">
                <a:solidFill>
                  <a:srgbClr val="152538"/>
                </a:solidFill>
              </a:rPr>
              <a:t>paired path test</a:t>
            </a:r>
          </a:p>
        </p:txBody>
      </p:sp>
      <p:sp>
        <p:nvSpPr>
          <p:cNvPr id="15" name="">
            <a:extLst xmlns:a="http://schemas.openxmlformats.org/drawingml/2006/main">
              <a:ext uri="{FF2B5EF4-FFF2-40B4-BE49-F238E27FC236}">
                <a16:creationId xmlns:a16="http://schemas.microsoft.com/office/drawing/2014/main" id="{E81C5753-F12A-4ABF-ADBC-178BA8D9CA8E}"/>
              </a:ext>
            </a:extLst>
          </p:cNvPr>
          <p:cNvSpPr>
            <a:spLocks xmlns:a="http://schemas.openxmlformats.org/drawingml/2006/main" noGrp="1"/>
          </p:cNvSpPr>
          <p:nvPr/>
        </p:nvSpPr>
        <p:spPr>
          <a:xfrm xmlns:a="http://schemas.openxmlformats.org/drawingml/2006/main">
            <a:off x="876300" y="3467100"/>
            <a:ext cx="4905375" cy="1238250"/>
          </a:xfrm>
          <a:prstGeom xmlns:a="http://schemas.openxmlformats.org/drawingml/2006/main" prst="roundRect">
            <a:avLst>
              <a:gd name="adj" fmla="val 6154"/>
            </a:avLst>
          </a:prstGeom>
          <a:solidFill xmlns:a="http://schemas.openxmlformats.org/drawingml/2006/main">
            <a:srgbClr val="FFFFFF"/>
          </a:solidFill>
          <a:ln xmlns:a="http://schemas.openxmlformats.org/drawingml/2006/main" w="9525">
            <a:solidFill>
              <a:srgbClr val="D9E0E6"/>
            </a:solidFill>
            <a:prstDash val="solid"/>
          </a:ln>
        </p:spPr>
      </p:sp>
      <p:sp>
        <p:nvSpPr>
          <p:cNvPr id="16" name="">
            <a:extLst xmlns:a="http://schemas.openxmlformats.org/drawingml/2006/main">
              <a:ext uri="{FF2B5EF4-FFF2-40B4-BE49-F238E27FC236}">
                <a16:creationId xmlns:a16="http://schemas.microsoft.com/office/drawing/2014/main" id="{C2C5C45A-E1F3-42BE-95EB-2F63CA902772}"/>
              </a:ext>
            </a:extLst>
          </p:cNvPr>
          <p:cNvSpPr>
            <a:spLocks xmlns:a="http://schemas.openxmlformats.org/drawingml/2006/main" noGrp="1"/>
          </p:cNvSpPr>
          <p:nvPr/>
        </p:nvSpPr>
        <p:spPr>
          <a:xfrm xmlns:a="http://schemas.openxmlformats.org/drawingml/2006/main">
            <a:off x="1066800" y="3638550"/>
            <a:ext cx="1905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400" b="1">
                <a:solidFill>
                  <a:srgbClr val="009E73"/>
                </a:solidFill>
              </a:defRPr>
            </a:pPr>
            <a:r>
              <a:rPr sz="2400" b="1">
                <a:solidFill>
                  <a:srgbClr val="009E73"/>
                </a:solidFill>
              </a:rPr>
              <a:t>+0.536 s</a:t>
            </a:r>
          </a:p>
        </p:txBody>
      </p:sp>
      <p:sp>
        <p:nvSpPr>
          <p:cNvPr id="17" name="">
            <a:extLst xmlns:a="http://schemas.openxmlformats.org/drawingml/2006/main">
              <a:ext uri="{FF2B5EF4-FFF2-40B4-BE49-F238E27FC236}">
                <a16:creationId xmlns:a16="http://schemas.microsoft.com/office/drawing/2014/main" id="{85E81039-BE38-45DC-996A-D783F030DCC6}"/>
              </a:ext>
            </a:extLst>
          </p:cNvPr>
          <p:cNvSpPr>
            <a:spLocks xmlns:a="http://schemas.openxmlformats.org/drawingml/2006/main" noGrp="1"/>
          </p:cNvSpPr>
          <p:nvPr/>
        </p:nvSpPr>
        <p:spPr>
          <a:xfrm xmlns:a="http://schemas.openxmlformats.org/drawingml/2006/main">
            <a:off x="2971800" y="3686175"/>
            <a:ext cx="2571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52538"/>
                </a:solidFill>
              </a:defRPr>
            </a:pPr>
            <a:r>
              <a:rPr sz="1350" b="0">
                <a:solidFill>
                  <a:srgbClr val="152538"/>
                </a:solidFill>
              </a:rPr>
              <a:t>PGS-G − PGS-O time</a:t>
            </a:r>
          </a:p>
        </p:txBody>
      </p:sp>
      <p:sp>
        <p:nvSpPr>
          <p:cNvPr id="18" name="">
            <a:extLst xmlns:a="http://schemas.openxmlformats.org/drawingml/2006/main">
              <a:ext uri="{FF2B5EF4-FFF2-40B4-BE49-F238E27FC236}">
                <a16:creationId xmlns:a16="http://schemas.microsoft.com/office/drawing/2014/main" id="{51165DA8-781D-47A4-BDDE-8D880784F807}"/>
              </a:ext>
            </a:extLst>
          </p:cNvPr>
          <p:cNvSpPr>
            <a:spLocks xmlns:a="http://schemas.openxmlformats.org/drawingml/2006/main" noGrp="1"/>
          </p:cNvSpPr>
          <p:nvPr/>
        </p:nvSpPr>
        <p:spPr>
          <a:xfrm xmlns:a="http://schemas.openxmlformats.org/drawingml/2006/main">
            <a:off x="6210300" y="3467100"/>
            <a:ext cx="4905375" cy="1238250"/>
          </a:xfrm>
          <a:prstGeom xmlns:a="http://schemas.openxmlformats.org/drawingml/2006/main" prst="roundRect">
            <a:avLst>
              <a:gd name="adj" fmla="val 6154"/>
            </a:avLst>
          </a:prstGeom>
          <a:solidFill xmlns:a="http://schemas.openxmlformats.org/drawingml/2006/main">
            <a:srgbClr val="FFFFFF"/>
          </a:solidFill>
          <a:ln xmlns:a="http://schemas.openxmlformats.org/drawingml/2006/main" w="9525">
            <a:solidFill>
              <a:srgbClr val="D9E0E6"/>
            </a:solidFill>
            <a:prstDash val="solid"/>
          </a:ln>
        </p:spPr>
      </p:sp>
      <p:sp>
        <p:nvSpPr>
          <p:cNvPr id="19" name="">
            <a:extLst xmlns:a="http://schemas.openxmlformats.org/drawingml/2006/main">
              <a:ext uri="{FF2B5EF4-FFF2-40B4-BE49-F238E27FC236}">
                <a16:creationId xmlns:a16="http://schemas.microsoft.com/office/drawing/2014/main" id="{9F4CC9DC-1730-4A5E-9859-204B91661423}"/>
              </a:ext>
            </a:extLst>
          </p:cNvPr>
          <p:cNvSpPr>
            <a:spLocks xmlns:a="http://schemas.openxmlformats.org/drawingml/2006/main" noGrp="1"/>
          </p:cNvSpPr>
          <p:nvPr/>
        </p:nvSpPr>
        <p:spPr>
          <a:xfrm xmlns:a="http://schemas.openxmlformats.org/drawingml/2006/main">
            <a:off x="6400800" y="3638550"/>
            <a:ext cx="1905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400" b="1">
                <a:solidFill>
                  <a:srgbClr val="6B7580"/>
                </a:solidFill>
              </a:defRPr>
            </a:pPr>
            <a:r>
              <a:rPr sz="2400" b="1">
                <a:solidFill>
                  <a:srgbClr val="6B7580"/>
                </a:solidFill>
              </a:rPr>
              <a:t>p = .196</a:t>
            </a:r>
          </a:p>
        </p:txBody>
      </p:sp>
      <p:sp>
        <p:nvSpPr>
          <p:cNvPr id="20" name="">
            <a:extLst xmlns:a="http://schemas.openxmlformats.org/drawingml/2006/main">
              <a:ext uri="{FF2B5EF4-FFF2-40B4-BE49-F238E27FC236}">
                <a16:creationId xmlns:a16="http://schemas.microsoft.com/office/drawing/2014/main" id="{2851F03D-FC02-4598-A991-3F6583DE7390}"/>
              </a:ext>
            </a:extLst>
          </p:cNvPr>
          <p:cNvSpPr>
            <a:spLocks xmlns:a="http://schemas.openxmlformats.org/drawingml/2006/main" noGrp="1"/>
          </p:cNvSpPr>
          <p:nvPr/>
        </p:nvSpPr>
        <p:spPr>
          <a:xfrm xmlns:a="http://schemas.openxmlformats.org/drawingml/2006/main">
            <a:off x="8305800" y="3686175"/>
            <a:ext cx="2571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52538"/>
                </a:solidFill>
              </a:defRPr>
            </a:pPr>
            <a:r>
              <a:rPr sz="1350" b="0">
                <a:solidFill>
                  <a:srgbClr val="152538"/>
                </a:solidFill>
              </a:rPr>
              <a:t>paired time test</a:t>
            </a:r>
          </a:p>
        </p:txBody>
      </p:sp>
      <p:sp>
        <p:nvSpPr>
          <p:cNvPr id="21" name="">
            <a:extLst xmlns:a="http://schemas.openxmlformats.org/drawingml/2006/main">
              <a:ext uri="{FF2B5EF4-FFF2-40B4-BE49-F238E27FC236}">
                <a16:creationId xmlns:a16="http://schemas.microsoft.com/office/drawing/2014/main" id="{48A8C4E4-857E-41F8-96E5-FDFBB80381B1}"/>
              </a:ext>
            </a:extLst>
          </p:cNvPr>
          <p:cNvSpPr>
            <a:spLocks xmlns:a="http://schemas.openxmlformats.org/drawingml/2006/main" noGrp="1"/>
          </p:cNvSpPr>
          <p:nvPr/>
        </p:nvSpPr>
        <p:spPr>
          <a:xfrm xmlns:a="http://schemas.openxmlformats.org/drawingml/2006/main">
            <a:off x="4429125" y="5067300"/>
            <a:ext cx="3333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725" b="1">
                <a:solidFill>
                  <a:srgbClr val="004282"/>
                </a:solidFill>
              </a:defRPr>
            </a:pPr>
            <a:r>
              <a:rPr sz="1725" b="1">
                <a:solidFill>
                  <a:srgbClr val="004282"/>
                </a:solidFill>
              </a:rPr>
              <a:t>19 shared completions</a:t>
            </a:r>
          </a:p>
        </p:txBody>
      </p:sp>
      <p:sp>
        <p:nvSpPr>
          <p:cNvPr id="22" name="">
            <a:extLst xmlns:a="http://schemas.openxmlformats.org/drawingml/2006/main">
              <a:ext uri="{FF2B5EF4-FFF2-40B4-BE49-F238E27FC236}">
                <a16:creationId xmlns:a16="http://schemas.microsoft.com/office/drawing/2014/main" id="{F652F333-C245-4943-AFFE-914C233B7F57}"/>
              </a:ext>
            </a:extLst>
          </p:cNvPr>
          <p:cNvSpPr>
            <a:spLocks xmlns:a="http://schemas.openxmlformats.org/drawingml/2006/main" noGrp="1"/>
          </p:cNvSpPr>
          <p:nvPr/>
        </p:nvSpPr>
        <p:spPr>
          <a:xfrm xmlns:a="http://schemas.openxmlformats.org/drawingml/2006/main">
            <a:off x="647700" y="5943600"/>
            <a:ext cx="10839450" cy="400050"/>
          </a:xfrm>
          <a:prstGeom xmlns:a="http://schemas.openxmlformats.org/drawingml/2006/main" prst="rect">
            <a:avLst/>
          </a:prstGeom>
          <a:solidFill xmlns:a="http://schemas.openxmlformats.org/drawingml/2006/main">
            <a:srgbClr val="FFF0E2"/>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27E35C57-9C0D-44A9-8D45-416D1F3EF6DF}"/>
              </a:ext>
            </a:extLst>
          </p:cNvPr>
          <p:cNvSpPr>
            <a:spLocks xmlns:a="http://schemas.openxmlformats.org/drawingml/2006/main" noGrp="1"/>
          </p:cNvSpPr>
          <p:nvPr/>
        </p:nvSpPr>
        <p:spPr>
          <a:xfrm xmlns:a="http://schemas.openxmlformats.org/drawingml/2006/main">
            <a:off x="647700" y="5943600"/>
            <a:ext cx="57150" cy="400050"/>
          </a:xfrm>
          <a:prstGeom xmlns:a="http://schemas.openxmlformats.org/drawingml/2006/main" prst="rect">
            <a:avLst/>
          </a:prstGeom>
          <a:solidFill xmlns:a="http://schemas.openxmlformats.org/drawingml/2006/main">
            <a:srgbClr val="ED7F0D"/>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44FE03D4-A54F-4CA6-9773-5BA7709199CA}"/>
              </a:ext>
            </a:extLst>
          </p:cNvPr>
          <p:cNvSpPr>
            <a:spLocks xmlns:a="http://schemas.openxmlformats.org/drawingml/2006/main" noGrp="1"/>
          </p:cNvSpPr>
          <p:nvPr/>
        </p:nvSpPr>
        <p:spPr>
          <a:xfrm xmlns:a="http://schemas.openxmlformats.org/drawingml/2006/main">
            <a:off x="838200" y="5981700"/>
            <a:ext cx="10458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152538"/>
                </a:solidFill>
              </a:defRPr>
            </a:pPr>
            <a:r>
              <a:rPr sz="1275" b="1">
                <a:solidFill>
                  <a:srgbClr val="152538"/>
                </a:solidFill>
              </a:rPr>
              <a:t>The local spiral already covers these small residual regions efficiently.</a:t>
            </a:r>
          </a:p>
        </p:txBody>
      </p:sp>
    </p:spTree>
    <p:extLst>
      <p:ext uri="{BB962C8B-B14F-4D97-AF65-F5344CB8AC3E}">
        <p14:creationId xmlns:p14="http://schemas.microsoft.com/office/powerpoint/2010/main" val="1639334378"/>
      </p:ext>
    </p:extLst>
  </p:cSld>
</p:sld>
</file>

<file path=ppt/slides/slide29.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B9B3027-0363-47A0-97B7-56B3A671790B}"/>
              </a:ext>
            </a:extLst>
          </p:cNvPr>
          <p:cNvSpPr>
            <a:spLocks xmlns:a="http://schemas.openxmlformats.org/drawingml/2006/main" noGrp="1"/>
          </p:cNvSpPr>
          <p:nvPr/>
        </p:nvSpPr>
        <p:spPr>
          <a:xfrm xmlns:a="http://schemas.openxmlformats.org/drawingml/2006/main">
            <a:off x="647700" y="2286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ED7F0D"/>
                </a:solidFill>
              </a:defRPr>
            </a:pPr>
            <a:r>
              <a:rPr sz="1050" b="1">
                <a:solidFill>
                  <a:srgbClr val="ED7F0D"/>
                </a:solidFill>
              </a:rPr>
              <a:t>29</a:t>
            </a:r>
          </a:p>
        </p:txBody>
      </p:sp>
      <p:sp>
        <p:nvSpPr>
          <p:cNvPr id="2" name="">
            <a:extLst xmlns:a="http://schemas.openxmlformats.org/drawingml/2006/main">
              <a:ext uri="{FF2B5EF4-FFF2-40B4-BE49-F238E27FC236}">
                <a16:creationId xmlns:a16="http://schemas.microsoft.com/office/drawing/2014/main" id="{50A96866-9591-4260-970C-3E9CA233B409}"/>
              </a:ext>
            </a:extLst>
          </p:cNvPr>
          <p:cNvSpPr>
            <a:spLocks xmlns:a="http://schemas.openxmlformats.org/drawingml/2006/main" noGrp="1"/>
          </p:cNvSpPr>
          <p:nvPr/>
        </p:nvSpPr>
        <p:spPr>
          <a:xfrm xmlns:a="http://schemas.openxmlformats.org/drawingml/2006/main">
            <a:off x="1104900" y="22860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6B7580"/>
                </a:solidFill>
              </a:defRPr>
            </a:pPr>
            <a:r>
              <a:rPr sz="975" b="1">
                <a:solidFill>
                  <a:srgbClr val="6B7580"/>
                </a:solidFill>
              </a:rPr>
              <a:t>SIMULATION</a:t>
            </a:r>
          </a:p>
        </p:txBody>
      </p:sp>
      <p:sp>
        <p:nvSpPr>
          <p:cNvPr id="3" name="">
            <a:extLst xmlns:a="http://schemas.openxmlformats.org/drawingml/2006/main">
              <a:ext uri="{FF2B5EF4-FFF2-40B4-BE49-F238E27FC236}">
                <a16:creationId xmlns:a16="http://schemas.microsoft.com/office/drawing/2014/main" id="{0247B6C8-5F40-451F-A6F1-FA80ABEC53B3}"/>
              </a:ext>
            </a:extLst>
          </p:cNvPr>
          <p:cNvSpPr>
            <a:spLocks xmlns:a="http://schemas.openxmlformats.org/drawingml/2006/main" noGrp="1"/>
          </p:cNvSpPr>
          <p:nvPr/>
        </p:nvSpPr>
        <p:spPr>
          <a:xfrm xmlns:a="http://schemas.openxmlformats.org/drawingml/2006/main">
            <a:off x="6191250" y="228600"/>
            <a:ext cx="5353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0">
                <a:solidFill>
                  <a:srgbClr val="6B7580"/>
                </a:solidFill>
              </a:defRPr>
            </a:pPr>
            <a:r>
              <a:rPr sz="825" b="0">
                <a:solidFill>
                  <a:srgbClr val="6B7580"/>
                </a:solidFill>
              </a:rPr>
              <a:t>Problem   Task   Framework   ● Simulation   Hardware   Discussion</a:t>
            </a:r>
          </a:p>
        </p:txBody>
      </p:sp>
      <p:sp>
        <p:nvSpPr>
          <p:cNvPr id="4" name="">
            <a:extLst xmlns:a="http://schemas.openxmlformats.org/drawingml/2006/main">
              <a:ext uri="{FF2B5EF4-FFF2-40B4-BE49-F238E27FC236}">
                <a16:creationId xmlns:a16="http://schemas.microsoft.com/office/drawing/2014/main" id="{A23B5979-C073-460C-BD6D-D672EDEF06D1}"/>
              </a:ext>
            </a:extLst>
          </p:cNvPr>
          <p:cNvSpPr>
            <a:spLocks xmlns:a="http://schemas.openxmlformats.org/drawingml/2006/main" noGrp="1"/>
          </p:cNvSpPr>
          <p:nvPr/>
        </p:nvSpPr>
        <p:spPr>
          <a:xfrm xmlns:a="http://schemas.openxmlformats.org/drawingml/2006/main">
            <a:off x="647700" y="533400"/>
            <a:ext cx="108394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004282"/>
                </a:solidFill>
              </a:defRPr>
            </a:pPr>
            <a:r>
              <a:rPr sz="2850" b="1">
                <a:solidFill>
                  <a:srgbClr val="004282"/>
                </a:solidFill>
              </a:rPr>
              <a:t>Recovery changes difficult post-capture outcomes</a:t>
            </a:r>
          </a:p>
        </p:txBody>
      </p:sp>
      <p:sp>
        <p:nvSpPr>
          <p:cNvPr id="5" name="">
            <a:extLst xmlns:a="http://schemas.openxmlformats.org/drawingml/2006/main">
              <a:ext uri="{FF2B5EF4-FFF2-40B4-BE49-F238E27FC236}">
                <a16:creationId xmlns:a16="http://schemas.microsoft.com/office/drawing/2014/main" id="{B73DA45F-8AE3-4D0B-B790-CDFA9B8AE4D9}"/>
              </a:ext>
            </a:extLst>
          </p:cNvPr>
          <p:cNvSpPr>
            <a:spLocks xmlns:a="http://schemas.openxmlformats.org/drawingml/2006/main" noGrp="1"/>
          </p:cNvSpPr>
          <p:nvPr/>
        </p:nvSpPr>
        <p:spPr>
          <a:xfrm xmlns:a="http://schemas.openxmlformats.org/drawingml/2006/main">
            <a:off x="647700" y="1257300"/>
            <a:ext cx="609600" cy="47625"/>
          </a:xfrm>
          <a:prstGeom xmlns:a="http://schemas.openxmlformats.org/drawingml/2006/main" prst="rect">
            <a:avLst/>
          </a:prstGeom>
          <a:solidFill xmlns:a="http://schemas.openxmlformats.org/drawingml/2006/main">
            <a:srgbClr val="ED7F0D"/>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83317AF8-7FA6-49F4-A5CF-867B7893845F}"/>
              </a:ext>
            </a:extLst>
          </p:cNvPr>
          <p:cNvSpPr>
            <a:spLocks xmlns:a="http://schemas.openxmlformats.org/drawingml/2006/main" noGrp="1"/>
          </p:cNvSpPr>
          <p:nvPr/>
        </p:nvSpPr>
        <p:spPr>
          <a:xfrm xmlns:a="http://schemas.openxmlformats.org/drawingml/2006/main">
            <a:off x="647700" y="6486525"/>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6B7580"/>
                </a:solidFill>
              </a:defRPr>
            </a:pPr>
            <a:r>
              <a:rPr sz="825" b="0">
                <a:solidFill>
                  <a:srgbClr val="6B7580"/>
                </a:solidFill>
              </a:rPr>
              <a:t>Nan Jinyao · Paper-aligned group review</a:t>
            </a:r>
          </a:p>
        </p:txBody>
      </p:sp>
      <p:sp>
        <p:nvSpPr>
          <p:cNvPr id="7" name="">
            <a:extLst xmlns:a="http://schemas.openxmlformats.org/drawingml/2006/main">
              <a:ext uri="{FF2B5EF4-FFF2-40B4-BE49-F238E27FC236}">
                <a16:creationId xmlns:a16="http://schemas.microsoft.com/office/drawing/2014/main" id="{DF646F1F-C81A-468C-8437-6410AEEEC9CD}"/>
              </a:ext>
            </a:extLst>
          </p:cNvPr>
          <p:cNvSpPr>
            <a:spLocks xmlns:a="http://schemas.openxmlformats.org/drawingml/2006/main" noGrp="1"/>
          </p:cNvSpPr>
          <p:nvPr/>
        </p:nvSpPr>
        <p:spPr>
          <a:xfrm xmlns:a="http://schemas.openxmlformats.org/drawingml/2006/main">
            <a:off x="4476750" y="6486525"/>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0">
                <a:solidFill>
                  <a:srgbClr val="6B7580"/>
                </a:solidFill>
              </a:defRPr>
            </a:pPr>
            <a:r>
              <a:rPr sz="825" b="0">
                <a:solidFill>
                  <a:srgbClr val="6B7580"/>
                </a:solidFill>
              </a:rPr>
              <a:t>Sec. IV-D · recovery ablation</a:t>
            </a:r>
          </a:p>
        </p:txBody>
      </p:sp>
      <p:sp>
        <p:nvSpPr>
          <p:cNvPr id="8" name="">
            <a:extLst xmlns:a="http://schemas.openxmlformats.org/drawingml/2006/main">
              <a:ext uri="{FF2B5EF4-FFF2-40B4-BE49-F238E27FC236}">
                <a16:creationId xmlns:a16="http://schemas.microsoft.com/office/drawing/2014/main" id="{5BF2FF10-1844-41EB-AC88-1440C04FDD71}"/>
              </a:ext>
            </a:extLst>
          </p:cNvPr>
          <p:cNvSpPr>
            <a:spLocks xmlns:a="http://schemas.openxmlformats.org/drawingml/2006/main" noGrp="1"/>
          </p:cNvSpPr>
          <p:nvPr/>
        </p:nvSpPr>
        <p:spPr>
          <a:xfrm xmlns:a="http://schemas.openxmlformats.org/drawingml/2006/main">
            <a:off x="11049000" y="648652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004282"/>
                </a:solidFill>
              </a:defRPr>
            </a:pPr>
            <a:r>
              <a:rPr sz="825" b="1">
                <a:solidFill>
                  <a:srgbClr val="004282"/>
                </a:solidFill>
              </a:rPr>
              <a:t>29</a:t>
            </a:r>
          </a:p>
        </p:txBody>
      </p:sp>
      <p:sp>
        <p:nvSpPr>
          <p:cNvPr id="9" name="">
            <a:extLst xmlns:a="http://schemas.openxmlformats.org/drawingml/2006/main">
              <a:ext uri="{FF2B5EF4-FFF2-40B4-BE49-F238E27FC236}">
                <a16:creationId xmlns:a16="http://schemas.microsoft.com/office/drawing/2014/main" id="{5D825FA2-9300-4FEF-96D6-C04D5E26A4D6}"/>
              </a:ext>
            </a:extLst>
          </p:cNvPr>
          <p:cNvSpPr>
            <a:spLocks xmlns:a="http://schemas.openxmlformats.org/drawingml/2006/main" noGrp="1"/>
          </p:cNvSpPr>
          <p:nvPr/>
        </p:nvSpPr>
        <p:spPr>
          <a:xfrm xmlns:a="http://schemas.openxmlformats.org/drawingml/2006/main">
            <a:off x="704850" y="1428750"/>
            <a:ext cx="10725150" cy="4457700"/>
          </a:xfrm>
          <a:prstGeom xmlns:a="http://schemas.openxmlformats.org/drawingml/2006/main" prst="roundRect">
            <a:avLst>
              <a:gd name="adj" fmla="val 1709"/>
            </a:avLst>
          </a:prstGeom>
          <a:solidFill xmlns:a="http://schemas.openxmlformats.org/drawingml/2006/main">
            <a:srgbClr val="FFFFFF"/>
          </a:solidFill>
          <a:ln xmlns:a="http://schemas.openxmlformats.org/drawingml/2006/main" w="9525">
            <a:solidFill>
              <a:srgbClr val="D9E0E6"/>
            </a:solidFill>
            <a:prstDash val="solid"/>
          </a:ln>
        </p:spPr>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dcca8a77c49f4c06"/>
          <a:stretch xmlns:a="http://schemas.openxmlformats.org/drawingml/2006/main"/>
        </p:blipFill>
        <p:spPr>
          <a:xfrm xmlns:a="http://schemas.openxmlformats.org/drawingml/2006/main">
            <a:off x="2710455" y="1504950"/>
            <a:ext cx="6713941" cy="4305300"/>
          </a:xfrm>
          <a:prstGeom xmlns:a="http://schemas.openxmlformats.org/drawingml/2006/main" prst="roundRect">
            <a:avLst>
              <a:gd name="adj" fmla="val 1770"/>
            </a:avLst>
          </a:prstGeom>
        </p:spPr>
      </p:pic>
      <p:sp>
        <p:nvSpPr>
          <p:cNvPr id="11" name="">
            <a:extLst xmlns:a="http://schemas.openxmlformats.org/drawingml/2006/main">
              <a:ext uri="{FF2B5EF4-FFF2-40B4-BE49-F238E27FC236}">
                <a16:creationId xmlns:a16="http://schemas.microsoft.com/office/drawing/2014/main" id="{80FF8B08-70CA-463E-AB0E-5558C4877E4F}"/>
              </a:ext>
            </a:extLst>
          </p:cNvPr>
          <p:cNvSpPr>
            <a:spLocks xmlns:a="http://schemas.openxmlformats.org/drawingml/2006/main" noGrp="1"/>
          </p:cNvSpPr>
          <p:nvPr/>
        </p:nvSpPr>
        <p:spPr>
          <a:xfrm xmlns:a="http://schemas.openxmlformats.org/drawingml/2006/main">
            <a:off x="647700" y="5943600"/>
            <a:ext cx="10839450" cy="400050"/>
          </a:xfrm>
          <a:prstGeom xmlns:a="http://schemas.openxmlformats.org/drawingml/2006/main" prst="rect">
            <a:avLst/>
          </a:prstGeom>
          <a:solidFill xmlns:a="http://schemas.openxmlformats.org/drawingml/2006/main">
            <a:srgbClr val="FFF0E2"/>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CD8D3500-8AE6-4E09-85FD-9729F0C3CD3D}"/>
              </a:ext>
            </a:extLst>
          </p:cNvPr>
          <p:cNvSpPr>
            <a:spLocks xmlns:a="http://schemas.openxmlformats.org/drawingml/2006/main" noGrp="1"/>
          </p:cNvSpPr>
          <p:nvPr/>
        </p:nvSpPr>
        <p:spPr>
          <a:xfrm xmlns:a="http://schemas.openxmlformats.org/drawingml/2006/main">
            <a:off x="647700" y="5943600"/>
            <a:ext cx="57150" cy="400050"/>
          </a:xfrm>
          <a:prstGeom xmlns:a="http://schemas.openxmlformats.org/drawingml/2006/main" prst="rect">
            <a:avLst/>
          </a:prstGeom>
          <a:solidFill xmlns:a="http://schemas.openxmlformats.org/drawingml/2006/main">
            <a:srgbClr val="ED7F0D"/>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2B53AC55-1396-411D-9CC3-FFED9137E9B4}"/>
              </a:ext>
            </a:extLst>
          </p:cNvPr>
          <p:cNvSpPr>
            <a:spLocks xmlns:a="http://schemas.openxmlformats.org/drawingml/2006/main" noGrp="1"/>
          </p:cNvSpPr>
          <p:nvPr/>
        </p:nvSpPr>
        <p:spPr>
          <a:xfrm xmlns:a="http://schemas.openxmlformats.org/drawingml/2006/main">
            <a:off x="838200" y="5981700"/>
            <a:ext cx="10458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152538"/>
                </a:solidFill>
              </a:defRPr>
            </a:pPr>
            <a:r>
              <a:rPr sz="1275" b="1">
                <a:solidFill>
                  <a:srgbClr val="152538"/>
                </a:solidFill>
              </a:rPr>
              <a:t>No recovery gives 0/12; up to three recoveries gives 9/12, with two force-limit and one protected exit remaining.</a:t>
            </a:r>
          </a:p>
        </p:txBody>
      </p:sp>
    </p:spTree>
    <p:extLst>
      <p:ext uri="{BB962C8B-B14F-4D97-AF65-F5344CB8AC3E}">
        <p14:creationId xmlns:p14="http://schemas.microsoft.com/office/powerpoint/2010/main" val="649571995"/>
      </p:ext>
    </p:extLst>
  </p:cSld>
</p:sld>
</file>

<file path=ppt/slides/slide30.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032DBEE-31BA-4347-AF6B-B978C28A39A4}"/>
              </a:ext>
            </a:extLst>
          </p:cNvPr>
          <p:cNvSpPr>
            <a:spLocks xmlns:a="http://schemas.openxmlformats.org/drawingml/2006/main" noGrp="1"/>
          </p:cNvSpPr>
          <p:nvPr/>
        </p:nvSpPr>
        <p:spPr>
          <a:xfrm xmlns:a="http://schemas.openxmlformats.org/drawingml/2006/main">
            <a:off x="647700" y="2286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ED7F0D"/>
                </a:solidFill>
              </a:defRPr>
            </a:pPr>
            <a:r>
              <a:rPr sz="1050" b="1">
                <a:solidFill>
                  <a:srgbClr val="ED7F0D"/>
                </a:solidFill>
              </a:rPr>
              <a:t>30</a:t>
            </a:r>
          </a:p>
        </p:txBody>
      </p:sp>
      <p:sp>
        <p:nvSpPr>
          <p:cNvPr id="2" name="">
            <a:extLst xmlns:a="http://schemas.openxmlformats.org/drawingml/2006/main">
              <a:ext uri="{FF2B5EF4-FFF2-40B4-BE49-F238E27FC236}">
                <a16:creationId xmlns:a16="http://schemas.microsoft.com/office/drawing/2014/main" id="{22704CEF-B1EE-493C-BF6E-DB4FE9713AFB}"/>
              </a:ext>
            </a:extLst>
          </p:cNvPr>
          <p:cNvSpPr>
            <a:spLocks xmlns:a="http://schemas.openxmlformats.org/drawingml/2006/main" noGrp="1"/>
          </p:cNvSpPr>
          <p:nvPr/>
        </p:nvSpPr>
        <p:spPr>
          <a:xfrm xmlns:a="http://schemas.openxmlformats.org/drawingml/2006/main">
            <a:off x="1104900" y="22860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6B7580"/>
                </a:solidFill>
              </a:defRPr>
            </a:pPr>
            <a:r>
              <a:rPr sz="975" b="1">
                <a:solidFill>
                  <a:srgbClr val="6B7580"/>
                </a:solidFill>
              </a:rPr>
              <a:t>SIMULATION</a:t>
            </a:r>
          </a:p>
        </p:txBody>
      </p:sp>
      <p:sp>
        <p:nvSpPr>
          <p:cNvPr id="3" name="">
            <a:extLst xmlns:a="http://schemas.openxmlformats.org/drawingml/2006/main">
              <a:ext uri="{FF2B5EF4-FFF2-40B4-BE49-F238E27FC236}">
                <a16:creationId xmlns:a16="http://schemas.microsoft.com/office/drawing/2014/main" id="{DB1D4FBE-8185-432E-94BA-322DC3E77712}"/>
              </a:ext>
            </a:extLst>
          </p:cNvPr>
          <p:cNvSpPr>
            <a:spLocks xmlns:a="http://schemas.openxmlformats.org/drawingml/2006/main" noGrp="1"/>
          </p:cNvSpPr>
          <p:nvPr/>
        </p:nvSpPr>
        <p:spPr>
          <a:xfrm xmlns:a="http://schemas.openxmlformats.org/drawingml/2006/main">
            <a:off x="6191250" y="228600"/>
            <a:ext cx="5353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0">
                <a:solidFill>
                  <a:srgbClr val="6B7580"/>
                </a:solidFill>
              </a:defRPr>
            </a:pPr>
            <a:r>
              <a:rPr sz="825" b="0">
                <a:solidFill>
                  <a:srgbClr val="6B7580"/>
                </a:solidFill>
              </a:rPr>
              <a:t>Problem   Task   Framework   ● Simulation   Hardware   Discussion</a:t>
            </a:r>
          </a:p>
        </p:txBody>
      </p:sp>
      <p:sp>
        <p:nvSpPr>
          <p:cNvPr id="4" name="">
            <a:extLst xmlns:a="http://schemas.openxmlformats.org/drawingml/2006/main">
              <a:ext uri="{FF2B5EF4-FFF2-40B4-BE49-F238E27FC236}">
                <a16:creationId xmlns:a16="http://schemas.microsoft.com/office/drawing/2014/main" id="{C4BFD691-6B6A-413D-88A6-CEA1DC30C1F4}"/>
              </a:ext>
            </a:extLst>
          </p:cNvPr>
          <p:cNvSpPr>
            <a:spLocks xmlns:a="http://schemas.openxmlformats.org/drawingml/2006/main" noGrp="1"/>
          </p:cNvSpPr>
          <p:nvPr/>
        </p:nvSpPr>
        <p:spPr>
          <a:xfrm xmlns:a="http://schemas.openxmlformats.org/drawingml/2006/main">
            <a:off x="647700" y="533400"/>
            <a:ext cx="108394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004282"/>
                </a:solidFill>
              </a:defRPr>
            </a:pPr>
            <a:r>
              <a:rPr sz="2850" b="1">
                <a:solidFill>
                  <a:srgbClr val="004282"/>
                </a:solidFill>
              </a:rPr>
              <a:t>Cross-size simulation shows no clear fine-tuning benefit</a:t>
            </a:r>
          </a:p>
        </p:txBody>
      </p:sp>
      <p:sp>
        <p:nvSpPr>
          <p:cNvPr id="5" name="">
            <a:extLst xmlns:a="http://schemas.openxmlformats.org/drawingml/2006/main">
              <a:ext uri="{FF2B5EF4-FFF2-40B4-BE49-F238E27FC236}">
                <a16:creationId xmlns:a16="http://schemas.microsoft.com/office/drawing/2014/main" id="{03C00173-1871-4ABD-A8C8-A04DE14A416F}"/>
              </a:ext>
            </a:extLst>
          </p:cNvPr>
          <p:cNvSpPr>
            <a:spLocks xmlns:a="http://schemas.openxmlformats.org/drawingml/2006/main" noGrp="1"/>
          </p:cNvSpPr>
          <p:nvPr/>
        </p:nvSpPr>
        <p:spPr>
          <a:xfrm xmlns:a="http://schemas.openxmlformats.org/drawingml/2006/main">
            <a:off x="647700" y="1257300"/>
            <a:ext cx="609600" cy="47625"/>
          </a:xfrm>
          <a:prstGeom xmlns:a="http://schemas.openxmlformats.org/drawingml/2006/main" prst="rect">
            <a:avLst/>
          </a:prstGeom>
          <a:solidFill xmlns:a="http://schemas.openxmlformats.org/drawingml/2006/main">
            <a:srgbClr val="ED7F0D"/>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764DB053-82D1-48F8-86AC-597337CAA6F7}"/>
              </a:ext>
            </a:extLst>
          </p:cNvPr>
          <p:cNvSpPr>
            <a:spLocks xmlns:a="http://schemas.openxmlformats.org/drawingml/2006/main" noGrp="1"/>
          </p:cNvSpPr>
          <p:nvPr/>
        </p:nvSpPr>
        <p:spPr>
          <a:xfrm xmlns:a="http://schemas.openxmlformats.org/drawingml/2006/main">
            <a:off x="647700" y="6486525"/>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6B7580"/>
                </a:solidFill>
              </a:defRPr>
            </a:pPr>
            <a:r>
              <a:rPr sz="825" b="0">
                <a:solidFill>
                  <a:srgbClr val="6B7580"/>
                </a:solidFill>
              </a:rPr>
              <a:t>Nan Jinyao · Paper-aligned group review</a:t>
            </a:r>
          </a:p>
        </p:txBody>
      </p:sp>
      <p:sp>
        <p:nvSpPr>
          <p:cNvPr id="7" name="">
            <a:extLst xmlns:a="http://schemas.openxmlformats.org/drawingml/2006/main">
              <a:ext uri="{FF2B5EF4-FFF2-40B4-BE49-F238E27FC236}">
                <a16:creationId xmlns:a16="http://schemas.microsoft.com/office/drawing/2014/main" id="{3AE1D641-2801-4FE4-B474-F59B595395AF}"/>
              </a:ext>
            </a:extLst>
          </p:cNvPr>
          <p:cNvSpPr>
            <a:spLocks xmlns:a="http://schemas.openxmlformats.org/drawingml/2006/main" noGrp="1"/>
          </p:cNvSpPr>
          <p:nvPr/>
        </p:nvSpPr>
        <p:spPr>
          <a:xfrm xmlns:a="http://schemas.openxmlformats.org/drawingml/2006/main">
            <a:off x="4476750" y="6486525"/>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0">
                <a:solidFill>
                  <a:srgbClr val="6B7580"/>
                </a:solidFill>
              </a:defRPr>
            </a:pPr>
            <a:r>
              <a:rPr sz="825" b="0">
                <a:solidFill>
                  <a:srgbClr val="6B7580"/>
                </a:solidFill>
              </a:rPr>
              <a:t>Sec. IV-E · Table III</a:t>
            </a:r>
          </a:p>
        </p:txBody>
      </p:sp>
      <p:sp>
        <p:nvSpPr>
          <p:cNvPr id="8" name="">
            <a:extLst xmlns:a="http://schemas.openxmlformats.org/drawingml/2006/main">
              <a:ext uri="{FF2B5EF4-FFF2-40B4-BE49-F238E27FC236}">
                <a16:creationId xmlns:a16="http://schemas.microsoft.com/office/drawing/2014/main" id="{C25C5633-C04A-44E5-9D1F-A85924DB8CCF}"/>
              </a:ext>
            </a:extLst>
          </p:cNvPr>
          <p:cNvSpPr>
            <a:spLocks xmlns:a="http://schemas.openxmlformats.org/drawingml/2006/main" noGrp="1"/>
          </p:cNvSpPr>
          <p:nvPr/>
        </p:nvSpPr>
        <p:spPr>
          <a:xfrm xmlns:a="http://schemas.openxmlformats.org/drawingml/2006/main">
            <a:off x="11049000" y="648652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004282"/>
                </a:solidFill>
              </a:defRPr>
            </a:pPr>
            <a:r>
              <a:rPr sz="825" b="1">
                <a:solidFill>
                  <a:srgbClr val="004282"/>
                </a:solidFill>
              </a:rPr>
              <a:t>30</a:t>
            </a:r>
          </a:p>
        </p:txBody>
      </p:sp>
      <p:sp>
        <p:nvSpPr>
          <p:cNvPr id="9" name="">
            <a:extLst xmlns:a="http://schemas.openxmlformats.org/drawingml/2006/main">
              <a:ext uri="{FF2B5EF4-FFF2-40B4-BE49-F238E27FC236}">
                <a16:creationId xmlns:a16="http://schemas.microsoft.com/office/drawing/2014/main" id="{A0DFCC44-78E8-4E68-8EC5-932D6B7293F1}"/>
              </a:ext>
            </a:extLst>
          </p:cNvPr>
          <p:cNvSpPr>
            <a:spLocks xmlns:a="http://schemas.openxmlformats.org/drawingml/2006/main" noGrp="1"/>
          </p:cNvSpPr>
          <p:nvPr/>
        </p:nvSpPr>
        <p:spPr>
          <a:xfrm xmlns:a="http://schemas.openxmlformats.org/drawingml/2006/main">
            <a:off x="723900" y="1790700"/>
            <a:ext cx="2714625" cy="605790"/>
          </a:xfrm>
          <a:prstGeom xmlns:a="http://schemas.openxmlformats.org/drawingml/2006/main" prst="rect">
            <a:avLst/>
          </a:prstGeom>
          <a:solidFill xmlns:a="http://schemas.openxmlformats.org/drawingml/2006/main">
            <a:srgbClr val="004282"/>
          </a:solidFill>
          <a:ln xmlns:a="http://schemas.openxmlformats.org/drawingml/2006/main" w="9525">
            <a:solidFill>
              <a:srgbClr val="D9E0E6"/>
            </a:solidFill>
            <a:prstDash val="solid"/>
          </a:ln>
        </p:spPr>
      </p:sp>
      <p:sp>
        <p:nvSpPr>
          <p:cNvPr id="10" name="">
            <a:extLst xmlns:a="http://schemas.openxmlformats.org/drawingml/2006/main">
              <a:ext uri="{FF2B5EF4-FFF2-40B4-BE49-F238E27FC236}">
                <a16:creationId xmlns:a16="http://schemas.microsoft.com/office/drawing/2014/main" id="{A5A7329F-E1FB-49EF-8A41-181A1CEAAAC0}"/>
              </a:ext>
            </a:extLst>
          </p:cNvPr>
          <p:cNvSpPr>
            <a:spLocks xmlns:a="http://schemas.openxmlformats.org/drawingml/2006/main" noGrp="1"/>
          </p:cNvSpPr>
          <p:nvPr/>
        </p:nvSpPr>
        <p:spPr>
          <a:xfrm xmlns:a="http://schemas.openxmlformats.org/drawingml/2006/main">
            <a:off x="819150" y="1828800"/>
            <a:ext cx="2524125" cy="52959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FFFFFF"/>
                </a:solidFill>
              </a:defRPr>
            </a:pPr>
            <a:r>
              <a:rPr sz="1200" b="1">
                <a:solidFill>
                  <a:srgbClr val="FFFFFF"/>
                </a:solidFill>
              </a:rPr>
              <a:t>Interface</a:t>
            </a:r>
          </a:p>
        </p:txBody>
      </p:sp>
      <p:sp>
        <p:nvSpPr>
          <p:cNvPr id="11" name="">
            <a:extLst xmlns:a="http://schemas.openxmlformats.org/drawingml/2006/main">
              <a:ext uri="{FF2B5EF4-FFF2-40B4-BE49-F238E27FC236}">
                <a16:creationId xmlns:a16="http://schemas.microsoft.com/office/drawing/2014/main" id="{BF59F045-878C-4AED-97AA-CB304214831E}"/>
              </a:ext>
            </a:extLst>
          </p:cNvPr>
          <p:cNvSpPr>
            <a:spLocks xmlns:a="http://schemas.openxmlformats.org/drawingml/2006/main" noGrp="1"/>
          </p:cNvSpPr>
          <p:nvPr/>
        </p:nvSpPr>
        <p:spPr>
          <a:xfrm xmlns:a="http://schemas.openxmlformats.org/drawingml/2006/main">
            <a:off x="3438525" y="1790700"/>
            <a:ext cx="2000250" cy="605790"/>
          </a:xfrm>
          <a:prstGeom xmlns:a="http://schemas.openxmlformats.org/drawingml/2006/main" prst="rect">
            <a:avLst/>
          </a:prstGeom>
          <a:solidFill xmlns:a="http://schemas.openxmlformats.org/drawingml/2006/main">
            <a:srgbClr val="004282"/>
          </a:solidFill>
          <a:ln xmlns:a="http://schemas.openxmlformats.org/drawingml/2006/main" w="9525">
            <a:solidFill>
              <a:srgbClr val="D9E0E6"/>
            </a:solidFill>
            <a:prstDash val="solid"/>
          </a:ln>
        </p:spPr>
      </p:sp>
      <p:sp>
        <p:nvSpPr>
          <p:cNvPr id="12" name="">
            <a:extLst xmlns:a="http://schemas.openxmlformats.org/drawingml/2006/main">
              <a:ext uri="{FF2B5EF4-FFF2-40B4-BE49-F238E27FC236}">
                <a16:creationId xmlns:a16="http://schemas.microsoft.com/office/drawing/2014/main" id="{01E4066D-DC24-4817-9C2D-91ECBF8BB6BE}"/>
              </a:ext>
            </a:extLst>
          </p:cNvPr>
          <p:cNvSpPr>
            <a:spLocks xmlns:a="http://schemas.openxmlformats.org/drawingml/2006/main" noGrp="1"/>
          </p:cNvSpPr>
          <p:nvPr/>
        </p:nvSpPr>
        <p:spPr>
          <a:xfrm xmlns:a="http://schemas.openxmlformats.org/drawingml/2006/main">
            <a:off x="3533775" y="1828800"/>
            <a:ext cx="1809750" cy="52959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FFFFFF"/>
                </a:solidFill>
              </a:defRPr>
            </a:pPr>
            <a:r>
              <a:rPr sz="1200" b="1">
                <a:solidFill>
                  <a:srgbClr val="FFFFFF"/>
                </a:solidFill>
              </a:rPr>
              <a:t>Dev M10</a:t>
            </a:r>
          </a:p>
        </p:txBody>
      </p:sp>
      <p:sp>
        <p:nvSpPr>
          <p:cNvPr id="13" name="">
            <a:extLst xmlns:a="http://schemas.openxmlformats.org/drawingml/2006/main">
              <a:ext uri="{FF2B5EF4-FFF2-40B4-BE49-F238E27FC236}">
                <a16:creationId xmlns:a16="http://schemas.microsoft.com/office/drawing/2014/main" id="{1712EDF2-64DB-4DE4-A4FC-3AD74FEB865F}"/>
              </a:ext>
            </a:extLst>
          </p:cNvPr>
          <p:cNvSpPr>
            <a:spLocks xmlns:a="http://schemas.openxmlformats.org/drawingml/2006/main" noGrp="1"/>
          </p:cNvSpPr>
          <p:nvPr/>
        </p:nvSpPr>
        <p:spPr>
          <a:xfrm xmlns:a="http://schemas.openxmlformats.org/drawingml/2006/main">
            <a:off x="5438775" y="1790700"/>
            <a:ext cx="2000250" cy="605790"/>
          </a:xfrm>
          <a:prstGeom xmlns:a="http://schemas.openxmlformats.org/drawingml/2006/main" prst="rect">
            <a:avLst/>
          </a:prstGeom>
          <a:solidFill xmlns:a="http://schemas.openxmlformats.org/drawingml/2006/main">
            <a:srgbClr val="004282"/>
          </a:solidFill>
          <a:ln xmlns:a="http://schemas.openxmlformats.org/drawingml/2006/main" w="9525">
            <a:solidFill>
              <a:srgbClr val="D9E0E6"/>
            </a:solidFill>
            <a:prstDash val="solid"/>
          </a:ln>
        </p:spPr>
      </p:sp>
      <p:sp>
        <p:nvSpPr>
          <p:cNvPr id="14" name="">
            <a:extLst xmlns:a="http://schemas.openxmlformats.org/drawingml/2006/main">
              <a:ext uri="{FF2B5EF4-FFF2-40B4-BE49-F238E27FC236}">
                <a16:creationId xmlns:a16="http://schemas.microsoft.com/office/drawing/2014/main" id="{A6DC5110-8E0C-4DB3-ADD7-199AA1C01555}"/>
              </a:ext>
            </a:extLst>
          </p:cNvPr>
          <p:cNvSpPr>
            <a:spLocks xmlns:a="http://schemas.openxmlformats.org/drawingml/2006/main" noGrp="1"/>
          </p:cNvSpPr>
          <p:nvPr/>
        </p:nvSpPr>
        <p:spPr>
          <a:xfrm xmlns:a="http://schemas.openxmlformats.org/drawingml/2006/main">
            <a:off x="5534025" y="1828800"/>
            <a:ext cx="1809750" cy="52959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FFFFFF"/>
                </a:solidFill>
              </a:defRPr>
            </a:pPr>
            <a:r>
              <a:rPr sz="1200" b="1">
                <a:solidFill>
                  <a:srgbClr val="FFFFFF"/>
                </a:solidFill>
              </a:rPr>
              <a:t>Dev M12</a:t>
            </a:r>
          </a:p>
        </p:txBody>
      </p:sp>
      <p:sp>
        <p:nvSpPr>
          <p:cNvPr id="15" name="">
            <a:extLst xmlns:a="http://schemas.openxmlformats.org/drawingml/2006/main">
              <a:ext uri="{FF2B5EF4-FFF2-40B4-BE49-F238E27FC236}">
                <a16:creationId xmlns:a16="http://schemas.microsoft.com/office/drawing/2014/main" id="{4E271DAF-6618-4C0B-9EDB-F98327CA61D4}"/>
              </a:ext>
            </a:extLst>
          </p:cNvPr>
          <p:cNvSpPr>
            <a:spLocks xmlns:a="http://schemas.openxmlformats.org/drawingml/2006/main" noGrp="1"/>
          </p:cNvSpPr>
          <p:nvPr/>
        </p:nvSpPr>
        <p:spPr>
          <a:xfrm xmlns:a="http://schemas.openxmlformats.org/drawingml/2006/main">
            <a:off x="7439025" y="1790700"/>
            <a:ext cx="2000250" cy="605790"/>
          </a:xfrm>
          <a:prstGeom xmlns:a="http://schemas.openxmlformats.org/drawingml/2006/main" prst="rect">
            <a:avLst/>
          </a:prstGeom>
          <a:solidFill xmlns:a="http://schemas.openxmlformats.org/drawingml/2006/main">
            <a:srgbClr val="004282"/>
          </a:solidFill>
          <a:ln xmlns:a="http://schemas.openxmlformats.org/drawingml/2006/main" w="9525">
            <a:solidFill>
              <a:srgbClr val="D9E0E6"/>
            </a:solidFill>
            <a:prstDash val="solid"/>
          </a:ln>
        </p:spPr>
      </p:sp>
      <p:sp>
        <p:nvSpPr>
          <p:cNvPr id="16" name="">
            <a:extLst xmlns:a="http://schemas.openxmlformats.org/drawingml/2006/main">
              <a:ext uri="{FF2B5EF4-FFF2-40B4-BE49-F238E27FC236}">
                <a16:creationId xmlns:a16="http://schemas.microsoft.com/office/drawing/2014/main" id="{4CD685FB-8C64-412F-8BFD-F036AFC82E2F}"/>
              </a:ext>
            </a:extLst>
          </p:cNvPr>
          <p:cNvSpPr>
            <a:spLocks xmlns:a="http://schemas.openxmlformats.org/drawingml/2006/main" noGrp="1"/>
          </p:cNvSpPr>
          <p:nvPr/>
        </p:nvSpPr>
        <p:spPr>
          <a:xfrm xmlns:a="http://schemas.openxmlformats.org/drawingml/2006/main">
            <a:off x="7534275" y="1828800"/>
            <a:ext cx="1809750" cy="52959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FFFFFF"/>
                </a:solidFill>
              </a:defRPr>
            </a:pPr>
            <a:r>
              <a:rPr sz="1200" b="1">
                <a:solidFill>
                  <a:srgbClr val="FFFFFF"/>
                </a:solidFill>
              </a:rPr>
              <a:t>Test M10</a:t>
            </a:r>
          </a:p>
        </p:txBody>
      </p:sp>
      <p:sp>
        <p:nvSpPr>
          <p:cNvPr id="17" name="">
            <a:extLst xmlns:a="http://schemas.openxmlformats.org/drawingml/2006/main">
              <a:ext uri="{FF2B5EF4-FFF2-40B4-BE49-F238E27FC236}">
                <a16:creationId xmlns:a16="http://schemas.microsoft.com/office/drawing/2014/main" id="{02617121-AF98-452C-B7A0-04D45DD2E81B}"/>
              </a:ext>
            </a:extLst>
          </p:cNvPr>
          <p:cNvSpPr>
            <a:spLocks xmlns:a="http://schemas.openxmlformats.org/drawingml/2006/main" noGrp="1"/>
          </p:cNvSpPr>
          <p:nvPr/>
        </p:nvSpPr>
        <p:spPr>
          <a:xfrm xmlns:a="http://schemas.openxmlformats.org/drawingml/2006/main">
            <a:off x="9439275" y="1790700"/>
            <a:ext cx="2000250" cy="605790"/>
          </a:xfrm>
          <a:prstGeom xmlns:a="http://schemas.openxmlformats.org/drawingml/2006/main" prst="rect">
            <a:avLst/>
          </a:prstGeom>
          <a:solidFill xmlns:a="http://schemas.openxmlformats.org/drawingml/2006/main">
            <a:srgbClr val="004282"/>
          </a:solidFill>
          <a:ln xmlns:a="http://schemas.openxmlformats.org/drawingml/2006/main" w="9525">
            <a:solidFill>
              <a:srgbClr val="D9E0E6"/>
            </a:solidFill>
            <a:prstDash val="solid"/>
          </a:ln>
        </p:spPr>
      </p:sp>
      <p:sp>
        <p:nvSpPr>
          <p:cNvPr id="18" name="">
            <a:extLst xmlns:a="http://schemas.openxmlformats.org/drawingml/2006/main">
              <a:ext uri="{FF2B5EF4-FFF2-40B4-BE49-F238E27FC236}">
                <a16:creationId xmlns:a16="http://schemas.microsoft.com/office/drawing/2014/main" id="{AF40F307-76C3-4F69-B771-4562DC2EC667}"/>
              </a:ext>
            </a:extLst>
          </p:cNvPr>
          <p:cNvSpPr>
            <a:spLocks xmlns:a="http://schemas.openxmlformats.org/drawingml/2006/main" noGrp="1"/>
          </p:cNvSpPr>
          <p:nvPr/>
        </p:nvSpPr>
        <p:spPr>
          <a:xfrm xmlns:a="http://schemas.openxmlformats.org/drawingml/2006/main">
            <a:off x="9534525" y="1828800"/>
            <a:ext cx="1809750" cy="52959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FFFFFF"/>
                </a:solidFill>
              </a:defRPr>
            </a:pPr>
            <a:r>
              <a:rPr sz="1200" b="1">
                <a:solidFill>
                  <a:srgbClr val="FFFFFF"/>
                </a:solidFill>
              </a:rPr>
              <a:t>Test M12</a:t>
            </a:r>
          </a:p>
        </p:txBody>
      </p:sp>
      <p:sp>
        <p:nvSpPr>
          <p:cNvPr id="19" name="">
            <a:extLst xmlns:a="http://schemas.openxmlformats.org/drawingml/2006/main">
              <a:ext uri="{FF2B5EF4-FFF2-40B4-BE49-F238E27FC236}">
                <a16:creationId xmlns:a16="http://schemas.microsoft.com/office/drawing/2014/main" id="{19319ECF-380A-4D63-9847-B988E9E899B8}"/>
              </a:ext>
            </a:extLst>
          </p:cNvPr>
          <p:cNvSpPr>
            <a:spLocks xmlns:a="http://schemas.openxmlformats.org/drawingml/2006/main" noGrp="1"/>
          </p:cNvSpPr>
          <p:nvPr/>
        </p:nvSpPr>
        <p:spPr>
          <a:xfrm xmlns:a="http://schemas.openxmlformats.org/drawingml/2006/main">
            <a:off x="723900" y="2396490"/>
            <a:ext cx="2714625" cy="605790"/>
          </a:xfrm>
          <a:prstGeom xmlns:a="http://schemas.openxmlformats.org/drawingml/2006/main" prst="rect">
            <a:avLst/>
          </a:prstGeom>
          <a:solidFill xmlns:a="http://schemas.openxmlformats.org/drawingml/2006/main">
            <a:srgbClr val="FFFFFF"/>
          </a:solidFill>
          <a:ln xmlns:a="http://schemas.openxmlformats.org/drawingml/2006/main" w="9525">
            <a:solidFill>
              <a:srgbClr val="D9E0E6"/>
            </a:solidFill>
            <a:prstDash val="solid"/>
          </a:ln>
        </p:spPr>
      </p:sp>
      <p:sp>
        <p:nvSpPr>
          <p:cNvPr id="20" name="">
            <a:extLst xmlns:a="http://schemas.openxmlformats.org/drawingml/2006/main">
              <a:ext uri="{FF2B5EF4-FFF2-40B4-BE49-F238E27FC236}">
                <a16:creationId xmlns:a16="http://schemas.microsoft.com/office/drawing/2014/main" id="{02927D39-37CE-4B42-B4E8-8344036B95FB}"/>
              </a:ext>
            </a:extLst>
          </p:cNvPr>
          <p:cNvSpPr>
            <a:spLocks xmlns:a="http://schemas.openxmlformats.org/drawingml/2006/main" noGrp="1"/>
          </p:cNvSpPr>
          <p:nvPr/>
        </p:nvSpPr>
        <p:spPr>
          <a:xfrm xmlns:a="http://schemas.openxmlformats.org/drawingml/2006/main">
            <a:off x="819150" y="2434590"/>
            <a:ext cx="2524125" cy="52959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52538"/>
                </a:solidFill>
              </a:defRPr>
            </a:pPr>
            <a:r>
              <a:rPr sz="1125" b="0">
                <a:solidFill>
                  <a:srgbClr val="152538"/>
                </a:solidFill>
              </a:rPr>
              <a:t>M8 zero-shot</a:t>
            </a:r>
          </a:p>
        </p:txBody>
      </p:sp>
      <p:sp>
        <p:nvSpPr>
          <p:cNvPr id="21" name="">
            <a:extLst xmlns:a="http://schemas.openxmlformats.org/drawingml/2006/main">
              <a:ext uri="{FF2B5EF4-FFF2-40B4-BE49-F238E27FC236}">
                <a16:creationId xmlns:a16="http://schemas.microsoft.com/office/drawing/2014/main" id="{23102CAD-3F46-46EB-9051-A2B7A6F15A48}"/>
              </a:ext>
            </a:extLst>
          </p:cNvPr>
          <p:cNvSpPr>
            <a:spLocks xmlns:a="http://schemas.openxmlformats.org/drawingml/2006/main" noGrp="1"/>
          </p:cNvSpPr>
          <p:nvPr/>
        </p:nvSpPr>
        <p:spPr>
          <a:xfrm xmlns:a="http://schemas.openxmlformats.org/drawingml/2006/main">
            <a:off x="3438525" y="2396490"/>
            <a:ext cx="2000250" cy="605790"/>
          </a:xfrm>
          <a:prstGeom xmlns:a="http://schemas.openxmlformats.org/drawingml/2006/main" prst="rect">
            <a:avLst/>
          </a:prstGeom>
          <a:solidFill xmlns:a="http://schemas.openxmlformats.org/drawingml/2006/main">
            <a:srgbClr val="FFFFFF"/>
          </a:solidFill>
          <a:ln xmlns:a="http://schemas.openxmlformats.org/drawingml/2006/main" w="9525">
            <a:solidFill>
              <a:srgbClr val="D9E0E6"/>
            </a:solidFill>
            <a:prstDash val="solid"/>
          </a:ln>
        </p:spPr>
      </p:sp>
      <p:sp>
        <p:nvSpPr>
          <p:cNvPr id="22" name="">
            <a:extLst xmlns:a="http://schemas.openxmlformats.org/drawingml/2006/main">
              <a:ext uri="{FF2B5EF4-FFF2-40B4-BE49-F238E27FC236}">
                <a16:creationId xmlns:a16="http://schemas.microsoft.com/office/drawing/2014/main" id="{7F8CC6DE-86A8-469B-86EA-E1E13A908EEE}"/>
              </a:ext>
            </a:extLst>
          </p:cNvPr>
          <p:cNvSpPr>
            <a:spLocks xmlns:a="http://schemas.openxmlformats.org/drawingml/2006/main" noGrp="1"/>
          </p:cNvSpPr>
          <p:nvPr/>
        </p:nvSpPr>
        <p:spPr>
          <a:xfrm xmlns:a="http://schemas.openxmlformats.org/drawingml/2006/main">
            <a:off x="3533775" y="2434590"/>
            <a:ext cx="1809750" cy="52959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52538"/>
                </a:solidFill>
              </a:defRPr>
            </a:pPr>
            <a:r>
              <a:rPr sz="1125" b="0">
                <a:solidFill>
                  <a:srgbClr val="152538"/>
                </a:solidFill>
              </a:rPr>
              <a:t>12/0/0</a:t>
            </a:r>
          </a:p>
        </p:txBody>
      </p:sp>
      <p:sp>
        <p:nvSpPr>
          <p:cNvPr id="23" name="">
            <a:extLst xmlns:a="http://schemas.openxmlformats.org/drawingml/2006/main">
              <a:ext uri="{FF2B5EF4-FFF2-40B4-BE49-F238E27FC236}">
                <a16:creationId xmlns:a16="http://schemas.microsoft.com/office/drawing/2014/main" id="{4105D2C1-9A61-456B-BDC3-CE4DE7B0719B}"/>
              </a:ext>
            </a:extLst>
          </p:cNvPr>
          <p:cNvSpPr>
            <a:spLocks xmlns:a="http://schemas.openxmlformats.org/drawingml/2006/main" noGrp="1"/>
          </p:cNvSpPr>
          <p:nvPr/>
        </p:nvSpPr>
        <p:spPr>
          <a:xfrm xmlns:a="http://schemas.openxmlformats.org/drawingml/2006/main">
            <a:off x="5438775" y="2396490"/>
            <a:ext cx="2000250" cy="605790"/>
          </a:xfrm>
          <a:prstGeom xmlns:a="http://schemas.openxmlformats.org/drawingml/2006/main" prst="rect">
            <a:avLst/>
          </a:prstGeom>
          <a:solidFill xmlns:a="http://schemas.openxmlformats.org/drawingml/2006/main">
            <a:srgbClr val="FFFFFF"/>
          </a:solidFill>
          <a:ln xmlns:a="http://schemas.openxmlformats.org/drawingml/2006/main" w="9525">
            <a:solidFill>
              <a:srgbClr val="D9E0E6"/>
            </a:solidFill>
            <a:prstDash val="solid"/>
          </a:ln>
        </p:spPr>
      </p:sp>
      <p:sp>
        <p:nvSpPr>
          <p:cNvPr id="24" name="">
            <a:extLst xmlns:a="http://schemas.openxmlformats.org/drawingml/2006/main">
              <a:ext uri="{FF2B5EF4-FFF2-40B4-BE49-F238E27FC236}">
                <a16:creationId xmlns:a16="http://schemas.microsoft.com/office/drawing/2014/main" id="{04ABD27B-AFB5-45CD-8217-2B1457A7D9A2}"/>
              </a:ext>
            </a:extLst>
          </p:cNvPr>
          <p:cNvSpPr>
            <a:spLocks xmlns:a="http://schemas.openxmlformats.org/drawingml/2006/main" noGrp="1"/>
          </p:cNvSpPr>
          <p:nvPr/>
        </p:nvSpPr>
        <p:spPr>
          <a:xfrm xmlns:a="http://schemas.openxmlformats.org/drawingml/2006/main">
            <a:off x="5534025" y="2434590"/>
            <a:ext cx="1809750" cy="52959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52538"/>
                </a:solidFill>
              </a:defRPr>
            </a:pPr>
            <a:r>
              <a:rPr sz="1125" b="0">
                <a:solidFill>
                  <a:srgbClr val="152538"/>
                </a:solidFill>
              </a:rPr>
              <a:t>10/1/1</a:t>
            </a:r>
          </a:p>
        </p:txBody>
      </p:sp>
      <p:sp>
        <p:nvSpPr>
          <p:cNvPr id="25" name="">
            <a:extLst xmlns:a="http://schemas.openxmlformats.org/drawingml/2006/main">
              <a:ext uri="{FF2B5EF4-FFF2-40B4-BE49-F238E27FC236}">
                <a16:creationId xmlns:a16="http://schemas.microsoft.com/office/drawing/2014/main" id="{123FD75B-B004-4EDD-B8F4-BC37FA4AFF37}"/>
              </a:ext>
            </a:extLst>
          </p:cNvPr>
          <p:cNvSpPr>
            <a:spLocks xmlns:a="http://schemas.openxmlformats.org/drawingml/2006/main" noGrp="1"/>
          </p:cNvSpPr>
          <p:nvPr/>
        </p:nvSpPr>
        <p:spPr>
          <a:xfrm xmlns:a="http://schemas.openxmlformats.org/drawingml/2006/main">
            <a:off x="7439025" y="2396490"/>
            <a:ext cx="2000250" cy="605790"/>
          </a:xfrm>
          <a:prstGeom xmlns:a="http://schemas.openxmlformats.org/drawingml/2006/main" prst="rect">
            <a:avLst/>
          </a:prstGeom>
          <a:solidFill xmlns:a="http://schemas.openxmlformats.org/drawingml/2006/main">
            <a:srgbClr val="FFFFFF"/>
          </a:solidFill>
          <a:ln xmlns:a="http://schemas.openxmlformats.org/drawingml/2006/main" w="9525">
            <a:solidFill>
              <a:srgbClr val="D9E0E6"/>
            </a:solidFill>
            <a:prstDash val="solid"/>
          </a:ln>
        </p:spPr>
      </p:sp>
      <p:sp>
        <p:nvSpPr>
          <p:cNvPr id="26" name="">
            <a:extLst xmlns:a="http://schemas.openxmlformats.org/drawingml/2006/main">
              <a:ext uri="{FF2B5EF4-FFF2-40B4-BE49-F238E27FC236}">
                <a16:creationId xmlns:a16="http://schemas.microsoft.com/office/drawing/2014/main" id="{39B5C8EF-0F3B-4EF2-93A1-D123D1DB5CE4}"/>
              </a:ext>
            </a:extLst>
          </p:cNvPr>
          <p:cNvSpPr>
            <a:spLocks xmlns:a="http://schemas.openxmlformats.org/drawingml/2006/main" noGrp="1"/>
          </p:cNvSpPr>
          <p:nvPr/>
        </p:nvSpPr>
        <p:spPr>
          <a:xfrm xmlns:a="http://schemas.openxmlformats.org/drawingml/2006/main">
            <a:off x="7534275" y="2434590"/>
            <a:ext cx="1809750" cy="52959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52538"/>
                </a:solidFill>
              </a:defRPr>
            </a:pPr>
            <a:r>
              <a:rPr sz="1125" b="0">
                <a:solidFill>
                  <a:srgbClr val="152538"/>
                </a:solidFill>
              </a:rPr>
              <a:t>12/0/0</a:t>
            </a:r>
          </a:p>
        </p:txBody>
      </p:sp>
      <p:sp>
        <p:nvSpPr>
          <p:cNvPr id="27" name="">
            <a:extLst xmlns:a="http://schemas.openxmlformats.org/drawingml/2006/main">
              <a:ext uri="{FF2B5EF4-FFF2-40B4-BE49-F238E27FC236}">
                <a16:creationId xmlns:a16="http://schemas.microsoft.com/office/drawing/2014/main" id="{2EBF4647-1B63-4D3F-9F72-688379B9E742}"/>
              </a:ext>
            </a:extLst>
          </p:cNvPr>
          <p:cNvSpPr>
            <a:spLocks xmlns:a="http://schemas.openxmlformats.org/drawingml/2006/main" noGrp="1"/>
          </p:cNvSpPr>
          <p:nvPr/>
        </p:nvSpPr>
        <p:spPr>
          <a:xfrm xmlns:a="http://schemas.openxmlformats.org/drawingml/2006/main">
            <a:off x="9439275" y="2396490"/>
            <a:ext cx="2000250" cy="605790"/>
          </a:xfrm>
          <a:prstGeom xmlns:a="http://schemas.openxmlformats.org/drawingml/2006/main" prst="rect">
            <a:avLst/>
          </a:prstGeom>
          <a:solidFill xmlns:a="http://schemas.openxmlformats.org/drawingml/2006/main">
            <a:srgbClr val="FFFFFF"/>
          </a:solidFill>
          <a:ln xmlns:a="http://schemas.openxmlformats.org/drawingml/2006/main" w="9525">
            <a:solidFill>
              <a:srgbClr val="D9E0E6"/>
            </a:solidFill>
            <a:prstDash val="solid"/>
          </a:ln>
        </p:spPr>
      </p:sp>
      <p:sp>
        <p:nvSpPr>
          <p:cNvPr id="28" name="">
            <a:extLst xmlns:a="http://schemas.openxmlformats.org/drawingml/2006/main">
              <a:ext uri="{FF2B5EF4-FFF2-40B4-BE49-F238E27FC236}">
                <a16:creationId xmlns:a16="http://schemas.microsoft.com/office/drawing/2014/main" id="{58FB30DB-31FB-40B7-8738-523B6A2F2889}"/>
              </a:ext>
            </a:extLst>
          </p:cNvPr>
          <p:cNvSpPr>
            <a:spLocks xmlns:a="http://schemas.openxmlformats.org/drawingml/2006/main" noGrp="1"/>
          </p:cNvSpPr>
          <p:nvPr/>
        </p:nvSpPr>
        <p:spPr>
          <a:xfrm xmlns:a="http://schemas.openxmlformats.org/drawingml/2006/main">
            <a:off x="9534525" y="2434590"/>
            <a:ext cx="1809750" cy="52959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52538"/>
                </a:solidFill>
              </a:defRPr>
            </a:pPr>
            <a:r>
              <a:rPr sz="1125" b="0">
                <a:solidFill>
                  <a:srgbClr val="152538"/>
                </a:solidFill>
              </a:rPr>
              <a:t>10/0/1</a:t>
            </a:r>
          </a:p>
        </p:txBody>
      </p:sp>
      <p:sp>
        <p:nvSpPr>
          <p:cNvPr id="29" name="">
            <a:extLst xmlns:a="http://schemas.openxmlformats.org/drawingml/2006/main">
              <a:ext uri="{FF2B5EF4-FFF2-40B4-BE49-F238E27FC236}">
                <a16:creationId xmlns:a16="http://schemas.microsoft.com/office/drawing/2014/main" id="{093CA061-0D77-4551-B62C-CD06D834E3BF}"/>
              </a:ext>
            </a:extLst>
          </p:cNvPr>
          <p:cNvSpPr>
            <a:spLocks xmlns:a="http://schemas.openxmlformats.org/drawingml/2006/main" noGrp="1"/>
          </p:cNvSpPr>
          <p:nvPr/>
        </p:nvSpPr>
        <p:spPr>
          <a:xfrm xmlns:a="http://schemas.openxmlformats.org/drawingml/2006/main">
            <a:off x="723900" y="3002280"/>
            <a:ext cx="2714625" cy="605790"/>
          </a:xfrm>
          <a:prstGeom xmlns:a="http://schemas.openxmlformats.org/drawingml/2006/main" prst="rect">
            <a:avLst/>
          </a:prstGeom>
          <a:solidFill xmlns:a="http://schemas.openxmlformats.org/drawingml/2006/main">
            <a:srgbClr val="E8F1F8"/>
          </a:solidFill>
          <a:ln xmlns:a="http://schemas.openxmlformats.org/drawingml/2006/main" w="9525">
            <a:solidFill>
              <a:srgbClr val="D9E0E6"/>
            </a:solidFill>
            <a:prstDash val="solid"/>
          </a:ln>
        </p:spPr>
      </p:sp>
      <p:sp>
        <p:nvSpPr>
          <p:cNvPr id="30" name="">
            <a:extLst xmlns:a="http://schemas.openxmlformats.org/drawingml/2006/main">
              <a:ext uri="{FF2B5EF4-FFF2-40B4-BE49-F238E27FC236}">
                <a16:creationId xmlns:a16="http://schemas.microsoft.com/office/drawing/2014/main" id="{48A39E5B-2E0A-4480-AA67-0366F388C168}"/>
              </a:ext>
            </a:extLst>
          </p:cNvPr>
          <p:cNvSpPr>
            <a:spLocks xmlns:a="http://schemas.openxmlformats.org/drawingml/2006/main" noGrp="1"/>
          </p:cNvSpPr>
          <p:nvPr/>
        </p:nvSpPr>
        <p:spPr>
          <a:xfrm xmlns:a="http://schemas.openxmlformats.org/drawingml/2006/main">
            <a:off x="819150" y="3040380"/>
            <a:ext cx="2524125" cy="52959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52538"/>
                </a:solidFill>
              </a:defRPr>
            </a:pPr>
            <a:r>
              <a:rPr sz="1125" b="0">
                <a:solidFill>
                  <a:srgbClr val="152538"/>
                </a:solidFill>
              </a:rPr>
              <a:t>Calibration only</a:t>
            </a:r>
          </a:p>
        </p:txBody>
      </p:sp>
      <p:sp>
        <p:nvSpPr>
          <p:cNvPr id="31" name="">
            <a:extLst xmlns:a="http://schemas.openxmlformats.org/drawingml/2006/main">
              <a:ext uri="{FF2B5EF4-FFF2-40B4-BE49-F238E27FC236}">
                <a16:creationId xmlns:a16="http://schemas.microsoft.com/office/drawing/2014/main" id="{AFF66B3A-2F73-4951-BC95-468E66FD13EC}"/>
              </a:ext>
            </a:extLst>
          </p:cNvPr>
          <p:cNvSpPr>
            <a:spLocks xmlns:a="http://schemas.openxmlformats.org/drawingml/2006/main" noGrp="1"/>
          </p:cNvSpPr>
          <p:nvPr/>
        </p:nvSpPr>
        <p:spPr>
          <a:xfrm xmlns:a="http://schemas.openxmlformats.org/drawingml/2006/main">
            <a:off x="3438525" y="3002280"/>
            <a:ext cx="2000250" cy="605790"/>
          </a:xfrm>
          <a:prstGeom xmlns:a="http://schemas.openxmlformats.org/drawingml/2006/main" prst="rect">
            <a:avLst/>
          </a:prstGeom>
          <a:solidFill xmlns:a="http://schemas.openxmlformats.org/drawingml/2006/main">
            <a:srgbClr val="E8F1F8"/>
          </a:solidFill>
          <a:ln xmlns:a="http://schemas.openxmlformats.org/drawingml/2006/main" w="9525">
            <a:solidFill>
              <a:srgbClr val="D9E0E6"/>
            </a:solidFill>
            <a:prstDash val="solid"/>
          </a:ln>
        </p:spPr>
      </p:sp>
      <p:sp>
        <p:nvSpPr>
          <p:cNvPr id="32" name="">
            <a:extLst xmlns:a="http://schemas.openxmlformats.org/drawingml/2006/main">
              <a:ext uri="{FF2B5EF4-FFF2-40B4-BE49-F238E27FC236}">
                <a16:creationId xmlns:a16="http://schemas.microsoft.com/office/drawing/2014/main" id="{41663287-E0C6-4833-B11D-498B724D47AF}"/>
              </a:ext>
            </a:extLst>
          </p:cNvPr>
          <p:cNvSpPr>
            <a:spLocks xmlns:a="http://schemas.openxmlformats.org/drawingml/2006/main" noGrp="1"/>
          </p:cNvSpPr>
          <p:nvPr/>
        </p:nvSpPr>
        <p:spPr>
          <a:xfrm xmlns:a="http://schemas.openxmlformats.org/drawingml/2006/main">
            <a:off x="3533775" y="3040380"/>
            <a:ext cx="1809750" cy="52959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52538"/>
                </a:solidFill>
              </a:defRPr>
            </a:pPr>
            <a:r>
              <a:rPr sz="1125" b="0">
                <a:solidFill>
                  <a:srgbClr val="152538"/>
                </a:solidFill>
              </a:rPr>
              <a:t>12/0/0</a:t>
            </a:r>
          </a:p>
        </p:txBody>
      </p:sp>
      <p:sp>
        <p:nvSpPr>
          <p:cNvPr id="33" name="">
            <a:extLst xmlns:a="http://schemas.openxmlformats.org/drawingml/2006/main">
              <a:ext uri="{FF2B5EF4-FFF2-40B4-BE49-F238E27FC236}">
                <a16:creationId xmlns:a16="http://schemas.microsoft.com/office/drawing/2014/main" id="{02B0DC15-1863-4E9A-9CAF-22491E263F7B}"/>
              </a:ext>
            </a:extLst>
          </p:cNvPr>
          <p:cNvSpPr>
            <a:spLocks xmlns:a="http://schemas.openxmlformats.org/drawingml/2006/main" noGrp="1"/>
          </p:cNvSpPr>
          <p:nvPr/>
        </p:nvSpPr>
        <p:spPr>
          <a:xfrm xmlns:a="http://schemas.openxmlformats.org/drawingml/2006/main">
            <a:off x="5438775" y="3002280"/>
            <a:ext cx="2000250" cy="605790"/>
          </a:xfrm>
          <a:prstGeom xmlns:a="http://schemas.openxmlformats.org/drawingml/2006/main" prst="rect">
            <a:avLst/>
          </a:prstGeom>
          <a:solidFill xmlns:a="http://schemas.openxmlformats.org/drawingml/2006/main">
            <a:srgbClr val="E8F1F8"/>
          </a:solidFill>
          <a:ln xmlns:a="http://schemas.openxmlformats.org/drawingml/2006/main" w="9525">
            <a:solidFill>
              <a:srgbClr val="D9E0E6"/>
            </a:solidFill>
            <a:prstDash val="solid"/>
          </a:ln>
        </p:spPr>
      </p:sp>
      <p:sp>
        <p:nvSpPr>
          <p:cNvPr id="34" name="">
            <a:extLst xmlns:a="http://schemas.openxmlformats.org/drawingml/2006/main">
              <a:ext uri="{FF2B5EF4-FFF2-40B4-BE49-F238E27FC236}">
                <a16:creationId xmlns:a16="http://schemas.microsoft.com/office/drawing/2014/main" id="{63F0FF99-E769-49A0-B5C4-E3D71A14267A}"/>
              </a:ext>
            </a:extLst>
          </p:cNvPr>
          <p:cNvSpPr>
            <a:spLocks xmlns:a="http://schemas.openxmlformats.org/drawingml/2006/main" noGrp="1"/>
          </p:cNvSpPr>
          <p:nvPr/>
        </p:nvSpPr>
        <p:spPr>
          <a:xfrm xmlns:a="http://schemas.openxmlformats.org/drawingml/2006/main">
            <a:off x="5534025" y="3040380"/>
            <a:ext cx="1809750" cy="52959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52538"/>
                </a:solidFill>
              </a:defRPr>
            </a:pPr>
            <a:r>
              <a:rPr sz="1125" b="0">
                <a:solidFill>
                  <a:srgbClr val="152538"/>
                </a:solidFill>
              </a:rPr>
              <a:t>10/0/1</a:t>
            </a:r>
          </a:p>
        </p:txBody>
      </p:sp>
      <p:sp>
        <p:nvSpPr>
          <p:cNvPr id="35" name="">
            <a:extLst xmlns:a="http://schemas.openxmlformats.org/drawingml/2006/main">
              <a:ext uri="{FF2B5EF4-FFF2-40B4-BE49-F238E27FC236}">
                <a16:creationId xmlns:a16="http://schemas.microsoft.com/office/drawing/2014/main" id="{62FC99D0-0E53-46C6-96FA-A3F4A4775520}"/>
              </a:ext>
            </a:extLst>
          </p:cNvPr>
          <p:cNvSpPr>
            <a:spLocks xmlns:a="http://schemas.openxmlformats.org/drawingml/2006/main" noGrp="1"/>
          </p:cNvSpPr>
          <p:nvPr/>
        </p:nvSpPr>
        <p:spPr>
          <a:xfrm xmlns:a="http://schemas.openxmlformats.org/drawingml/2006/main">
            <a:off x="7439025" y="3002280"/>
            <a:ext cx="2000250" cy="605790"/>
          </a:xfrm>
          <a:prstGeom xmlns:a="http://schemas.openxmlformats.org/drawingml/2006/main" prst="rect">
            <a:avLst/>
          </a:prstGeom>
          <a:solidFill xmlns:a="http://schemas.openxmlformats.org/drawingml/2006/main">
            <a:srgbClr val="E8F1F8"/>
          </a:solidFill>
          <a:ln xmlns:a="http://schemas.openxmlformats.org/drawingml/2006/main" w="9525">
            <a:solidFill>
              <a:srgbClr val="D9E0E6"/>
            </a:solidFill>
            <a:prstDash val="solid"/>
          </a:ln>
        </p:spPr>
      </p:sp>
      <p:sp>
        <p:nvSpPr>
          <p:cNvPr id="36" name="">
            <a:extLst xmlns:a="http://schemas.openxmlformats.org/drawingml/2006/main">
              <a:ext uri="{FF2B5EF4-FFF2-40B4-BE49-F238E27FC236}">
                <a16:creationId xmlns:a16="http://schemas.microsoft.com/office/drawing/2014/main" id="{86D4EA62-3C99-4A4A-AC36-4526270F0E5F}"/>
              </a:ext>
            </a:extLst>
          </p:cNvPr>
          <p:cNvSpPr>
            <a:spLocks xmlns:a="http://schemas.openxmlformats.org/drawingml/2006/main" noGrp="1"/>
          </p:cNvSpPr>
          <p:nvPr/>
        </p:nvSpPr>
        <p:spPr>
          <a:xfrm xmlns:a="http://schemas.openxmlformats.org/drawingml/2006/main">
            <a:off x="7534275" y="3040380"/>
            <a:ext cx="1809750" cy="52959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52538"/>
                </a:solidFill>
              </a:defRPr>
            </a:pPr>
            <a:r>
              <a:rPr sz="1125" b="0">
                <a:solidFill>
                  <a:srgbClr val="152538"/>
                </a:solidFill>
              </a:rPr>
              <a:t>12/0/0</a:t>
            </a:r>
          </a:p>
        </p:txBody>
      </p:sp>
      <p:sp>
        <p:nvSpPr>
          <p:cNvPr id="37" name="">
            <a:extLst xmlns:a="http://schemas.openxmlformats.org/drawingml/2006/main">
              <a:ext uri="{FF2B5EF4-FFF2-40B4-BE49-F238E27FC236}">
                <a16:creationId xmlns:a16="http://schemas.microsoft.com/office/drawing/2014/main" id="{F59DDB6B-043A-4779-9841-66066471DC77}"/>
              </a:ext>
            </a:extLst>
          </p:cNvPr>
          <p:cNvSpPr>
            <a:spLocks xmlns:a="http://schemas.openxmlformats.org/drawingml/2006/main" noGrp="1"/>
          </p:cNvSpPr>
          <p:nvPr/>
        </p:nvSpPr>
        <p:spPr>
          <a:xfrm xmlns:a="http://schemas.openxmlformats.org/drawingml/2006/main">
            <a:off x="9439275" y="3002280"/>
            <a:ext cx="2000250" cy="605790"/>
          </a:xfrm>
          <a:prstGeom xmlns:a="http://schemas.openxmlformats.org/drawingml/2006/main" prst="rect">
            <a:avLst/>
          </a:prstGeom>
          <a:solidFill xmlns:a="http://schemas.openxmlformats.org/drawingml/2006/main">
            <a:srgbClr val="E8F1F8"/>
          </a:solidFill>
          <a:ln xmlns:a="http://schemas.openxmlformats.org/drawingml/2006/main" w="9525">
            <a:solidFill>
              <a:srgbClr val="D9E0E6"/>
            </a:solidFill>
            <a:prstDash val="solid"/>
          </a:ln>
        </p:spPr>
      </p:sp>
      <p:sp>
        <p:nvSpPr>
          <p:cNvPr id="38" name="">
            <a:extLst xmlns:a="http://schemas.openxmlformats.org/drawingml/2006/main">
              <a:ext uri="{FF2B5EF4-FFF2-40B4-BE49-F238E27FC236}">
                <a16:creationId xmlns:a16="http://schemas.microsoft.com/office/drawing/2014/main" id="{97E8B69D-76DB-4E7B-80E5-B4FCC16DC176}"/>
              </a:ext>
            </a:extLst>
          </p:cNvPr>
          <p:cNvSpPr>
            <a:spLocks xmlns:a="http://schemas.openxmlformats.org/drawingml/2006/main" noGrp="1"/>
          </p:cNvSpPr>
          <p:nvPr/>
        </p:nvSpPr>
        <p:spPr>
          <a:xfrm xmlns:a="http://schemas.openxmlformats.org/drawingml/2006/main">
            <a:off x="9534525" y="3040380"/>
            <a:ext cx="1809750" cy="52959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52538"/>
                </a:solidFill>
              </a:defRPr>
            </a:pPr>
            <a:r>
              <a:rPr sz="1125" b="0">
                <a:solidFill>
                  <a:srgbClr val="152538"/>
                </a:solidFill>
              </a:rPr>
              <a:t>11/0/0</a:t>
            </a:r>
          </a:p>
        </p:txBody>
      </p:sp>
      <p:sp>
        <p:nvSpPr>
          <p:cNvPr id="39" name="">
            <a:extLst xmlns:a="http://schemas.openxmlformats.org/drawingml/2006/main">
              <a:ext uri="{FF2B5EF4-FFF2-40B4-BE49-F238E27FC236}">
                <a16:creationId xmlns:a16="http://schemas.microsoft.com/office/drawing/2014/main" id="{342FA934-F9A9-4112-9A77-B22484C8581D}"/>
              </a:ext>
            </a:extLst>
          </p:cNvPr>
          <p:cNvSpPr>
            <a:spLocks xmlns:a="http://schemas.openxmlformats.org/drawingml/2006/main" noGrp="1"/>
          </p:cNvSpPr>
          <p:nvPr/>
        </p:nvSpPr>
        <p:spPr>
          <a:xfrm xmlns:a="http://schemas.openxmlformats.org/drawingml/2006/main">
            <a:off x="723900" y="3608070"/>
            <a:ext cx="2714625" cy="605790"/>
          </a:xfrm>
          <a:prstGeom xmlns:a="http://schemas.openxmlformats.org/drawingml/2006/main" prst="rect">
            <a:avLst/>
          </a:prstGeom>
          <a:solidFill xmlns:a="http://schemas.openxmlformats.org/drawingml/2006/main">
            <a:srgbClr val="FFFFFF"/>
          </a:solidFill>
          <a:ln xmlns:a="http://schemas.openxmlformats.org/drawingml/2006/main" w="9525">
            <a:solidFill>
              <a:srgbClr val="D9E0E6"/>
            </a:solidFill>
            <a:prstDash val="solid"/>
          </a:ln>
        </p:spPr>
      </p:sp>
      <p:sp>
        <p:nvSpPr>
          <p:cNvPr id="40" name="">
            <a:extLst xmlns:a="http://schemas.openxmlformats.org/drawingml/2006/main">
              <a:ext uri="{FF2B5EF4-FFF2-40B4-BE49-F238E27FC236}">
                <a16:creationId xmlns:a16="http://schemas.microsoft.com/office/drawing/2014/main" id="{1A6394A7-8924-468A-A6EB-2D959646CFA0}"/>
              </a:ext>
            </a:extLst>
          </p:cNvPr>
          <p:cNvSpPr>
            <a:spLocks xmlns:a="http://schemas.openxmlformats.org/drawingml/2006/main" noGrp="1"/>
          </p:cNvSpPr>
          <p:nvPr/>
        </p:nvSpPr>
        <p:spPr>
          <a:xfrm xmlns:a="http://schemas.openxmlformats.org/drawingml/2006/main">
            <a:off x="819150" y="3646170"/>
            <a:ext cx="2524125" cy="52959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52538"/>
                </a:solidFill>
              </a:defRPr>
            </a:pPr>
            <a:r>
              <a:rPr sz="1125" b="0">
                <a:solidFill>
                  <a:srgbClr val="152538"/>
                </a:solidFill>
              </a:rPr>
              <a:t>Anchored fine-tuning</a:t>
            </a:r>
          </a:p>
        </p:txBody>
      </p:sp>
      <p:sp>
        <p:nvSpPr>
          <p:cNvPr id="41" name="">
            <a:extLst xmlns:a="http://schemas.openxmlformats.org/drawingml/2006/main">
              <a:ext uri="{FF2B5EF4-FFF2-40B4-BE49-F238E27FC236}">
                <a16:creationId xmlns:a16="http://schemas.microsoft.com/office/drawing/2014/main" id="{F05B9988-E498-438A-938E-6513D6BFAFF5}"/>
              </a:ext>
            </a:extLst>
          </p:cNvPr>
          <p:cNvSpPr>
            <a:spLocks xmlns:a="http://schemas.openxmlformats.org/drawingml/2006/main" noGrp="1"/>
          </p:cNvSpPr>
          <p:nvPr/>
        </p:nvSpPr>
        <p:spPr>
          <a:xfrm xmlns:a="http://schemas.openxmlformats.org/drawingml/2006/main">
            <a:off x="3438525" y="3608070"/>
            <a:ext cx="2000250" cy="605790"/>
          </a:xfrm>
          <a:prstGeom xmlns:a="http://schemas.openxmlformats.org/drawingml/2006/main" prst="rect">
            <a:avLst/>
          </a:prstGeom>
          <a:solidFill xmlns:a="http://schemas.openxmlformats.org/drawingml/2006/main">
            <a:srgbClr val="FFFFFF"/>
          </a:solidFill>
          <a:ln xmlns:a="http://schemas.openxmlformats.org/drawingml/2006/main" w="9525">
            <a:solidFill>
              <a:srgbClr val="D9E0E6"/>
            </a:solidFill>
            <a:prstDash val="solid"/>
          </a:ln>
        </p:spPr>
      </p:sp>
      <p:sp>
        <p:nvSpPr>
          <p:cNvPr id="42" name="">
            <a:extLst xmlns:a="http://schemas.openxmlformats.org/drawingml/2006/main">
              <a:ext uri="{FF2B5EF4-FFF2-40B4-BE49-F238E27FC236}">
                <a16:creationId xmlns:a16="http://schemas.microsoft.com/office/drawing/2014/main" id="{948A0F33-23C6-4046-86A6-B1B68EB5E46E}"/>
              </a:ext>
            </a:extLst>
          </p:cNvPr>
          <p:cNvSpPr>
            <a:spLocks xmlns:a="http://schemas.openxmlformats.org/drawingml/2006/main" noGrp="1"/>
          </p:cNvSpPr>
          <p:nvPr/>
        </p:nvSpPr>
        <p:spPr>
          <a:xfrm xmlns:a="http://schemas.openxmlformats.org/drawingml/2006/main">
            <a:off x="3533775" y="3646170"/>
            <a:ext cx="1809750" cy="52959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52538"/>
                </a:solidFill>
              </a:defRPr>
            </a:pPr>
            <a:r>
              <a:rPr sz="1125" b="0">
                <a:solidFill>
                  <a:srgbClr val="152538"/>
                </a:solidFill>
              </a:rPr>
              <a:t>12/0/0</a:t>
            </a:r>
          </a:p>
        </p:txBody>
      </p:sp>
      <p:sp>
        <p:nvSpPr>
          <p:cNvPr id="43" name="">
            <a:extLst xmlns:a="http://schemas.openxmlformats.org/drawingml/2006/main">
              <a:ext uri="{FF2B5EF4-FFF2-40B4-BE49-F238E27FC236}">
                <a16:creationId xmlns:a16="http://schemas.microsoft.com/office/drawing/2014/main" id="{2679CCC0-04C0-4ABD-84B6-3149A34ADE8F}"/>
              </a:ext>
            </a:extLst>
          </p:cNvPr>
          <p:cNvSpPr>
            <a:spLocks xmlns:a="http://schemas.openxmlformats.org/drawingml/2006/main" noGrp="1"/>
          </p:cNvSpPr>
          <p:nvPr/>
        </p:nvSpPr>
        <p:spPr>
          <a:xfrm xmlns:a="http://schemas.openxmlformats.org/drawingml/2006/main">
            <a:off x="5438775" y="3608070"/>
            <a:ext cx="2000250" cy="605790"/>
          </a:xfrm>
          <a:prstGeom xmlns:a="http://schemas.openxmlformats.org/drawingml/2006/main" prst="rect">
            <a:avLst/>
          </a:prstGeom>
          <a:solidFill xmlns:a="http://schemas.openxmlformats.org/drawingml/2006/main">
            <a:srgbClr val="FFFFFF"/>
          </a:solidFill>
          <a:ln xmlns:a="http://schemas.openxmlformats.org/drawingml/2006/main" w="9525">
            <a:solidFill>
              <a:srgbClr val="D9E0E6"/>
            </a:solidFill>
            <a:prstDash val="solid"/>
          </a:ln>
        </p:spPr>
      </p:sp>
      <p:sp>
        <p:nvSpPr>
          <p:cNvPr id="44" name="">
            <a:extLst xmlns:a="http://schemas.openxmlformats.org/drawingml/2006/main">
              <a:ext uri="{FF2B5EF4-FFF2-40B4-BE49-F238E27FC236}">
                <a16:creationId xmlns:a16="http://schemas.microsoft.com/office/drawing/2014/main" id="{3C28A1DF-2B52-4598-A7E3-DDA9365521ED}"/>
              </a:ext>
            </a:extLst>
          </p:cNvPr>
          <p:cNvSpPr>
            <a:spLocks xmlns:a="http://schemas.openxmlformats.org/drawingml/2006/main" noGrp="1"/>
          </p:cNvSpPr>
          <p:nvPr/>
        </p:nvSpPr>
        <p:spPr>
          <a:xfrm xmlns:a="http://schemas.openxmlformats.org/drawingml/2006/main">
            <a:off x="5534025" y="3646170"/>
            <a:ext cx="1809750" cy="52959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52538"/>
                </a:solidFill>
              </a:defRPr>
            </a:pPr>
            <a:r>
              <a:rPr sz="1125" b="0">
                <a:solidFill>
                  <a:srgbClr val="152538"/>
                </a:solidFill>
              </a:rPr>
              <a:t>10/0/2</a:t>
            </a:r>
          </a:p>
        </p:txBody>
      </p:sp>
      <p:sp>
        <p:nvSpPr>
          <p:cNvPr id="45" name="">
            <a:extLst xmlns:a="http://schemas.openxmlformats.org/drawingml/2006/main">
              <a:ext uri="{FF2B5EF4-FFF2-40B4-BE49-F238E27FC236}">
                <a16:creationId xmlns:a16="http://schemas.microsoft.com/office/drawing/2014/main" id="{CD0FAA25-CDBA-48D1-8E27-7548DF957EBB}"/>
              </a:ext>
            </a:extLst>
          </p:cNvPr>
          <p:cNvSpPr>
            <a:spLocks xmlns:a="http://schemas.openxmlformats.org/drawingml/2006/main" noGrp="1"/>
          </p:cNvSpPr>
          <p:nvPr/>
        </p:nvSpPr>
        <p:spPr>
          <a:xfrm xmlns:a="http://schemas.openxmlformats.org/drawingml/2006/main">
            <a:off x="7439025" y="3608070"/>
            <a:ext cx="2000250" cy="605790"/>
          </a:xfrm>
          <a:prstGeom xmlns:a="http://schemas.openxmlformats.org/drawingml/2006/main" prst="rect">
            <a:avLst/>
          </a:prstGeom>
          <a:solidFill xmlns:a="http://schemas.openxmlformats.org/drawingml/2006/main">
            <a:srgbClr val="FFFFFF"/>
          </a:solidFill>
          <a:ln xmlns:a="http://schemas.openxmlformats.org/drawingml/2006/main" w="9525">
            <a:solidFill>
              <a:srgbClr val="D9E0E6"/>
            </a:solidFill>
            <a:prstDash val="solid"/>
          </a:ln>
        </p:spPr>
      </p:sp>
      <p:sp>
        <p:nvSpPr>
          <p:cNvPr id="46" name="">
            <a:extLst xmlns:a="http://schemas.openxmlformats.org/drawingml/2006/main">
              <a:ext uri="{FF2B5EF4-FFF2-40B4-BE49-F238E27FC236}">
                <a16:creationId xmlns:a16="http://schemas.microsoft.com/office/drawing/2014/main" id="{9D8D5419-9C04-4A6B-864A-093615C19682}"/>
              </a:ext>
            </a:extLst>
          </p:cNvPr>
          <p:cNvSpPr>
            <a:spLocks xmlns:a="http://schemas.openxmlformats.org/drawingml/2006/main" noGrp="1"/>
          </p:cNvSpPr>
          <p:nvPr/>
        </p:nvSpPr>
        <p:spPr>
          <a:xfrm xmlns:a="http://schemas.openxmlformats.org/drawingml/2006/main">
            <a:off x="7534275" y="3646170"/>
            <a:ext cx="1809750" cy="52959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52538"/>
                </a:solidFill>
              </a:defRPr>
            </a:pPr>
            <a:r>
              <a:rPr sz="1125" b="0">
                <a:solidFill>
                  <a:srgbClr val="152538"/>
                </a:solidFill>
              </a:rPr>
              <a:t>10/1/1</a:t>
            </a:r>
          </a:p>
        </p:txBody>
      </p:sp>
      <p:sp>
        <p:nvSpPr>
          <p:cNvPr id="47" name="">
            <a:extLst xmlns:a="http://schemas.openxmlformats.org/drawingml/2006/main">
              <a:ext uri="{FF2B5EF4-FFF2-40B4-BE49-F238E27FC236}">
                <a16:creationId xmlns:a16="http://schemas.microsoft.com/office/drawing/2014/main" id="{0E628EAA-4060-4A40-AAC7-E0B8CA190CFC}"/>
              </a:ext>
            </a:extLst>
          </p:cNvPr>
          <p:cNvSpPr>
            <a:spLocks xmlns:a="http://schemas.openxmlformats.org/drawingml/2006/main" noGrp="1"/>
          </p:cNvSpPr>
          <p:nvPr/>
        </p:nvSpPr>
        <p:spPr>
          <a:xfrm xmlns:a="http://schemas.openxmlformats.org/drawingml/2006/main">
            <a:off x="9439275" y="3608070"/>
            <a:ext cx="2000250" cy="605790"/>
          </a:xfrm>
          <a:prstGeom xmlns:a="http://schemas.openxmlformats.org/drawingml/2006/main" prst="rect">
            <a:avLst/>
          </a:prstGeom>
          <a:solidFill xmlns:a="http://schemas.openxmlformats.org/drawingml/2006/main">
            <a:srgbClr val="FFFFFF"/>
          </a:solidFill>
          <a:ln xmlns:a="http://schemas.openxmlformats.org/drawingml/2006/main" w="9525">
            <a:solidFill>
              <a:srgbClr val="D9E0E6"/>
            </a:solidFill>
            <a:prstDash val="solid"/>
          </a:ln>
        </p:spPr>
      </p:sp>
      <p:sp>
        <p:nvSpPr>
          <p:cNvPr id="48" name="">
            <a:extLst xmlns:a="http://schemas.openxmlformats.org/drawingml/2006/main">
              <a:ext uri="{FF2B5EF4-FFF2-40B4-BE49-F238E27FC236}">
                <a16:creationId xmlns:a16="http://schemas.microsoft.com/office/drawing/2014/main" id="{5DE1DACC-47CD-4BF0-B90D-D5469ACCA872}"/>
              </a:ext>
            </a:extLst>
          </p:cNvPr>
          <p:cNvSpPr>
            <a:spLocks xmlns:a="http://schemas.openxmlformats.org/drawingml/2006/main" noGrp="1"/>
          </p:cNvSpPr>
          <p:nvPr/>
        </p:nvSpPr>
        <p:spPr>
          <a:xfrm xmlns:a="http://schemas.openxmlformats.org/drawingml/2006/main">
            <a:off x="9534525" y="3646170"/>
            <a:ext cx="1809750" cy="52959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52538"/>
                </a:solidFill>
              </a:defRPr>
            </a:pPr>
            <a:r>
              <a:rPr sz="1125" b="0">
                <a:solidFill>
                  <a:srgbClr val="152538"/>
                </a:solidFill>
              </a:rPr>
              <a:t>10/0/2</a:t>
            </a:r>
          </a:p>
        </p:txBody>
      </p:sp>
      <p:sp>
        <p:nvSpPr>
          <p:cNvPr id="49" name="">
            <a:extLst xmlns:a="http://schemas.openxmlformats.org/drawingml/2006/main">
              <a:ext uri="{FF2B5EF4-FFF2-40B4-BE49-F238E27FC236}">
                <a16:creationId xmlns:a16="http://schemas.microsoft.com/office/drawing/2014/main" id="{883045D9-04BE-4190-B38E-082607BF1651}"/>
              </a:ext>
            </a:extLst>
          </p:cNvPr>
          <p:cNvSpPr>
            <a:spLocks xmlns:a="http://schemas.openxmlformats.org/drawingml/2006/main" noGrp="1"/>
          </p:cNvSpPr>
          <p:nvPr/>
        </p:nvSpPr>
        <p:spPr>
          <a:xfrm xmlns:a="http://schemas.openxmlformats.org/drawingml/2006/main">
            <a:off x="723900" y="4213860"/>
            <a:ext cx="2714625" cy="605790"/>
          </a:xfrm>
          <a:prstGeom xmlns:a="http://schemas.openxmlformats.org/drawingml/2006/main" prst="rect">
            <a:avLst/>
          </a:prstGeom>
          <a:solidFill xmlns:a="http://schemas.openxmlformats.org/drawingml/2006/main">
            <a:srgbClr val="E8F1F8"/>
          </a:solidFill>
          <a:ln xmlns:a="http://schemas.openxmlformats.org/drawingml/2006/main" w="9525">
            <a:solidFill>
              <a:srgbClr val="D9E0E6"/>
            </a:solidFill>
            <a:prstDash val="solid"/>
          </a:ln>
        </p:spPr>
      </p:sp>
      <p:sp>
        <p:nvSpPr>
          <p:cNvPr id="50" name="">
            <a:extLst xmlns:a="http://schemas.openxmlformats.org/drawingml/2006/main">
              <a:ext uri="{FF2B5EF4-FFF2-40B4-BE49-F238E27FC236}">
                <a16:creationId xmlns:a16="http://schemas.microsoft.com/office/drawing/2014/main" id="{F34921D4-A2A7-462E-9BB1-F9AAFA74C4BB}"/>
              </a:ext>
            </a:extLst>
          </p:cNvPr>
          <p:cNvSpPr>
            <a:spLocks xmlns:a="http://schemas.openxmlformats.org/drawingml/2006/main" noGrp="1"/>
          </p:cNvSpPr>
          <p:nvPr/>
        </p:nvSpPr>
        <p:spPr>
          <a:xfrm xmlns:a="http://schemas.openxmlformats.org/drawingml/2006/main">
            <a:off x="819150" y="4251960"/>
            <a:ext cx="2524125" cy="52959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52538"/>
                </a:solidFill>
              </a:defRPr>
            </a:pPr>
            <a:r>
              <a:rPr sz="1125" b="0">
                <a:solidFill>
                  <a:srgbClr val="152538"/>
                </a:solidFill>
              </a:rPr>
              <a:t>Privileged center</a:t>
            </a:r>
          </a:p>
        </p:txBody>
      </p:sp>
      <p:sp>
        <p:nvSpPr>
          <p:cNvPr id="51" name="">
            <a:extLst xmlns:a="http://schemas.openxmlformats.org/drawingml/2006/main">
              <a:ext uri="{FF2B5EF4-FFF2-40B4-BE49-F238E27FC236}">
                <a16:creationId xmlns:a16="http://schemas.microsoft.com/office/drawing/2014/main" id="{D8DA5519-1F13-401F-8A77-648B91887B7C}"/>
              </a:ext>
            </a:extLst>
          </p:cNvPr>
          <p:cNvSpPr>
            <a:spLocks xmlns:a="http://schemas.openxmlformats.org/drawingml/2006/main" noGrp="1"/>
          </p:cNvSpPr>
          <p:nvPr/>
        </p:nvSpPr>
        <p:spPr>
          <a:xfrm xmlns:a="http://schemas.openxmlformats.org/drawingml/2006/main">
            <a:off x="3438525" y="4213860"/>
            <a:ext cx="2000250" cy="605790"/>
          </a:xfrm>
          <a:prstGeom xmlns:a="http://schemas.openxmlformats.org/drawingml/2006/main" prst="rect">
            <a:avLst/>
          </a:prstGeom>
          <a:solidFill xmlns:a="http://schemas.openxmlformats.org/drawingml/2006/main">
            <a:srgbClr val="E8F1F8"/>
          </a:solidFill>
          <a:ln xmlns:a="http://schemas.openxmlformats.org/drawingml/2006/main" w="9525">
            <a:solidFill>
              <a:srgbClr val="D9E0E6"/>
            </a:solidFill>
            <a:prstDash val="solid"/>
          </a:ln>
        </p:spPr>
      </p:sp>
      <p:sp>
        <p:nvSpPr>
          <p:cNvPr id="52" name="">
            <a:extLst xmlns:a="http://schemas.openxmlformats.org/drawingml/2006/main">
              <a:ext uri="{FF2B5EF4-FFF2-40B4-BE49-F238E27FC236}">
                <a16:creationId xmlns:a16="http://schemas.microsoft.com/office/drawing/2014/main" id="{AE927223-9706-48B6-ABCC-C315D858265E}"/>
              </a:ext>
            </a:extLst>
          </p:cNvPr>
          <p:cNvSpPr>
            <a:spLocks xmlns:a="http://schemas.openxmlformats.org/drawingml/2006/main" noGrp="1"/>
          </p:cNvSpPr>
          <p:nvPr/>
        </p:nvSpPr>
        <p:spPr>
          <a:xfrm xmlns:a="http://schemas.openxmlformats.org/drawingml/2006/main">
            <a:off x="3533775" y="4251960"/>
            <a:ext cx="1809750" cy="52959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52538"/>
                </a:solidFill>
              </a:defRPr>
            </a:pPr>
            <a:r>
              <a:rPr sz="1125" b="0">
                <a:solidFill>
                  <a:srgbClr val="152538"/>
                </a:solidFill>
              </a:rPr>
              <a:t>12/0/0</a:t>
            </a:r>
          </a:p>
        </p:txBody>
      </p:sp>
      <p:sp>
        <p:nvSpPr>
          <p:cNvPr id="53" name="">
            <a:extLst xmlns:a="http://schemas.openxmlformats.org/drawingml/2006/main">
              <a:ext uri="{FF2B5EF4-FFF2-40B4-BE49-F238E27FC236}">
                <a16:creationId xmlns:a16="http://schemas.microsoft.com/office/drawing/2014/main" id="{F64EAA92-65FD-4F92-8958-7DFA45D5156F}"/>
              </a:ext>
            </a:extLst>
          </p:cNvPr>
          <p:cNvSpPr>
            <a:spLocks xmlns:a="http://schemas.openxmlformats.org/drawingml/2006/main" noGrp="1"/>
          </p:cNvSpPr>
          <p:nvPr/>
        </p:nvSpPr>
        <p:spPr>
          <a:xfrm xmlns:a="http://schemas.openxmlformats.org/drawingml/2006/main">
            <a:off x="5438775" y="4213860"/>
            <a:ext cx="2000250" cy="605790"/>
          </a:xfrm>
          <a:prstGeom xmlns:a="http://schemas.openxmlformats.org/drawingml/2006/main" prst="rect">
            <a:avLst/>
          </a:prstGeom>
          <a:solidFill xmlns:a="http://schemas.openxmlformats.org/drawingml/2006/main">
            <a:srgbClr val="E8F1F8"/>
          </a:solidFill>
          <a:ln xmlns:a="http://schemas.openxmlformats.org/drawingml/2006/main" w="9525">
            <a:solidFill>
              <a:srgbClr val="D9E0E6"/>
            </a:solidFill>
            <a:prstDash val="solid"/>
          </a:ln>
        </p:spPr>
      </p:sp>
      <p:sp>
        <p:nvSpPr>
          <p:cNvPr id="54" name="">
            <a:extLst xmlns:a="http://schemas.openxmlformats.org/drawingml/2006/main">
              <a:ext uri="{FF2B5EF4-FFF2-40B4-BE49-F238E27FC236}">
                <a16:creationId xmlns:a16="http://schemas.microsoft.com/office/drawing/2014/main" id="{2596009F-FF51-4AB3-996F-1E49227FE26E}"/>
              </a:ext>
            </a:extLst>
          </p:cNvPr>
          <p:cNvSpPr>
            <a:spLocks xmlns:a="http://schemas.openxmlformats.org/drawingml/2006/main" noGrp="1"/>
          </p:cNvSpPr>
          <p:nvPr/>
        </p:nvSpPr>
        <p:spPr>
          <a:xfrm xmlns:a="http://schemas.openxmlformats.org/drawingml/2006/main">
            <a:off x="5534025" y="4251960"/>
            <a:ext cx="1809750" cy="52959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52538"/>
                </a:solidFill>
              </a:defRPr>
            </a:pPr>
            <a:r>
              <a:rPr sz="1125" b="0">
                <a:solidFill>
                  <a:srgbClr val="152538"/>
                </a:solidFill>
              </a:rPr>
              <a:t>11/0/1</a:t>
            </a:r>
          </a:p>
        </p:txBody>
      </p:sp>
      <p:sp>
        <p:nvSpPr>
          <p:cNvPr id="55" name="">
            <a:extLst xmlns:a="http://schemas.openxmlformats.org/drawingml/2006/main">
              <a:ext uri="{FF2B5EF4-FFF2-40B4-BE49-F238E27FC236}">
                <a16:creationId xmlns:a16="http://schemas.microsoft.com/office/drawing/2014/main" id="{8C75279C-0D3E-4B31-BD08-FDD1F2CA01AC}"/>
              </a:ext>
            </a:extLst>
          </p:cNvPr>
          <p:cNvSpPr>
            <a:spLocks xmlns:a="http://schemas.openxmlformats.org/drawingml/2006/main" noGrp="1"/>
          </p:cNvSpPr>
          <p:nvPr/>
        </p:nvSpPr>
        <p:spPr>
          <a:xfrm xmlns:a="http://schemas.openxmlformats.org/drawingml/2006/main">
            <a:off x="7439025" y="4213860"/>
            <a:ext cx="2000250" cy="605790"/>
          </a:xfrm>
          <a:prstGeom xmlns:a="http://schemas.openxmlformats.org/drawingml/2006/main" prst="rect">
            <a:avLst/>
          </a:prstGeom>
          <a:solidFill xmlns:a="http://schemas.openxmlformats.org/drawingml/2006/main">
            <a:srgbClr val="E8F1F8"/>
          </a:solidFill>
          <a:ln xmlns:a="http://schemas.openxmlformats.org/drawingml/2006/main" w="9525">
            <a:solidFill>
              <a:srgbClr val="D9E0E6"/>
            </a:solidFill>
            <a:prstDash val="solid"/>
          </a:ln>
        </p:spPr>
      </p:sp>
      <p:sp>
        <p:nvSpPr>
          <p:cNvPr id="56" name="">
            <a:extLst xmlns:a="http://schemas.openxmlformats.org/drawingml/2006/main">
              <a:ext uri="{FF2B5EF4-FFF2-40B4-BE49-F238E27FC236}">
                <a16:creationId xmlns:a16="http://schemas.microsoft.com/office/drawing/2014/main" id="{999A16F4-4D22-4B36-8872-348DC8F50D88}"/>
              </a:ext>
            </a:extLst>
          </p:cNvPr>
          <p:cNvSpPr>
            <a:spLocks xmlns:a="http://schemas.openxmlformats.org/drawingml/2006/main" noGrp="1"/>
          </p:cNvSpPr>
          <p:nvPr/>
        </p:nvSpPr>
        <p:spPr>
          <a:xfrm xmlns:a="http://schemas.openxmlformats.org/drawingml/2006/main">
            <a:off x="7534275" y="4251960"/>
            <a:ext cx="1809750" cy="52959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52538"/>
                </a:solidFill>
              </a:defRPr>
            </a:pPr>
            <a:r>
              <a:rPr sz="1125" b="0">
                <a:solidFill>
                  <a:srgbClr val="152538"/>
                </a:solidFill>
              </a:rPr>
              <a:t>12/0/0</a:t>
            </a:r>
          </a:p>
        </p:txBody>
      </p:sp>
      <p:sp>
        <p:nvSpPr>
          <p:cNvPr id="57" name="">
            <a:extLst xmlns:a="http://schemas.openxmlformats.org/drawingml/2006/main">
              <a:ext uri="{FF2B5EF4-FFF2-40B4-BE49-F238E27FC236}">
                <a16:creationId xmlns:a16="http://schemas.microsoft.com/office/drawing/2014/main" id="{830FDED2-E594-4872-8D39-3F829CE07EA2}"/>
              </a:ext>
            </a:extLst>
          </p:cNvPr>
          <p:cNvSpPr>
            <a:spLocks xmlns:a="http://schemas.openxmlformats.org/drawingml/2006/main" noGrp="1"/>
          </p:cNvSpPr>
          <p:nvPr/>
        </p:nvSpPr>
        <p:spPr>
          <a:xfrm xmlns:a="http://schemas.openxmlformats.org/drawingml/2006/main">
            <a:off x="9439275" y="4213860"/>
            <a:ext cx="2000250" cy="605790"/>
          </a:xfrm>
          <a:prstGeom xmlns:a="http://schemas.openxmlformats.org/drawingml/2006/main" prst="rect">
            <a:avLst/>
          </a:prstGeom>
          <a:solidFill xmlns:a="http://schemas.openxmlformats.org/drawingml/2006/main">
            <a:srgbClr val="E8F1F8"/>
          </a:solidFill>
          <a:ln xmlns:a="http://schemas.openxmlformats.org/drawingml/2006/main" w="9525">
            <a:solidFill>
              <a:srgbClr val="D9E0E6"/>
            </a:solidFill>
            <a:prstDash val="solid"/>
          </a:ln>
        </p:spPr>
      </p:sp>
      <p:sp>
        <p:nvSpPr>
          <p:cNvPr id="58" name="">
            <a:extLst xmlns:a="http://schemas.openxmlformats.org/drawingml/2006/main">
              <a:ext uri="{FF2B5EF4-FFF2-40B4-BE49-F238E27FC236}">
                <a16:creationId xmlns:a16="http://schemas.microsoft.com/office/drawing/2014/main" id="{357E7A02-EB28-43D3-AF72-A87C2C77A1B1}"/>
              </a:ext>
            </a:extLst>
          </p:cNvPr>
          <p:cNvSpPr>
            <a:spLocks xmlns:a="http://schemas.openxmlformats.org/drawingml/2006/main" noGrp="1"/>
          </p:cNvSpPr>
          <p:nvPr/>
        </p:nvSpPr>
        <p:spPr>
          <a:xfrm xmlns:a="http://schemas.openxmlformats.org/drawingml/2006/main">
            <a:off x="9534525" y="4251960"/>
            <a:ext cx="1809750" cy="52959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52538"/>
                </a:solidFill>
              </a:defRPr>
            </a:pPr>
            <a:r>
              <a:rPr sz="1125" b="0">
                <a:solidFill>
                  <a:srgbClr val="152538"/>
                </a:solidFill>
              </a:rPr>
              <a:t>12/0/0</a:t>
            </a:r>
          </a:p>
        </p:txBody>
      </p:sp>
      <p:sp>
        <p:nvSpPr>
          <p:cNvPr id="59" name="">
            <a:extLst xmlns:a="http://schemas.openxmlformats.org/drawingml/2006/main">
              <a:ext uri="{FF2B5EF4-FFF2-40B4-BE49-F238E27FC236}">
                <a16:creationId xmlns:a16="http://schemas.microsoft.com/office/drawing/2014/main" id="{DDCE8417-7073-4DED-B81C-CF2CD2080AD4}"/>
              </a:ext>
            </a:extLst>
          </p:cNvPr>
          <p:cNvSpPr>
            <a:spLocks xmlns:a="http://schemas.openxmlformats.org/drawingml/2006/main" noGrp="1"/>
          </p:cNvSpPr>
          <p:nvPr/>
        </p:nvSpPr>
        <p:spPr>
          <a:xfrm xmlns:a="http://schemas.openxmlformats.org/drawingml/2006/main">
            <a:off x="1047750" y="5010150"/>
            <a:ext cx="1009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0">
                <a:solidFill>
                  <a:srgbClr val="6B7580"/>
                </a:solidFill>
              </a:defRPr>
            </a:pPr>
            <a:r>
              <a:rPr sz="1350" b="0">
                <a:solidFill>
                  <a:srgbClr val="6B7580"/>
                </a:solidFill>
              </a:rPr>
              <a:t>Each cell: verified / force-limit / protected termination · n = 12</a:t>
            </a:r>
          </a:p>
        </p:txBody>
      </p:sp>
      <p:sp>
        <p:nvSpPr>
          <p:cNvPr id="60" name="">
            <a:extLst xmlns:a="http://schemas.openxmlformats.org/drawingml/2006/main">
              <a:ext uri="{FF2B5EF4-FFF2-40B4-BE49-F238E27FC236}">
                <a16:creationId xmlns:a16="http://schemas.microsoft.com/office/drawing/2014/main" id="{AE78D3EA-BB9E-4731-AE6B-5A3C966DCB78}"/>
              </a:ext>
            </a:extLst>
          </p:cNvPr>
          <p:cNvSpPr>
            <a:spLocks xmlns:a="http://schemas.openxmlformats.org/drawingml/2006/main" noGrp="1"/>
          </p:cNvSpPr>
          <p:nvPr/>
        </p:nvSpPr>
        <p:spPr>
          <a:xfrm xmlns:a="http://schemas.openxmlformats.org/drawingml/2006/main">
            <a:off x="647700" y="5943600"/>
            <a:ext cx="10839450" cy="400050"/>
          </a:xfrm>
          <a:prstGeom xmlns:a="http://schemas.openxmlformats.org/drawingml/2006/main" prst="rect">
            <a:avLst/>
          </a:prstGeom>
          <a:solidFill xmlns:a="http://schemas.openxmlformats.org/drawingml/2006/main">
            <a:srgbClr val="FFF0E2"/>
          </a:solidFill>
          <a:ln xmlns:a="http://schemas.openxmlformats.org/drawingml/2006/main" w="0">
            <a:noFill/>
            <a:prstDash val="solid"/>
          </a:ln>
        </p:spPr>
      </p:sp>
      <p:sp>
        <p:nvSpPr>
          <p:cNvPr id="61" name="">
            <a:extLst xmlns:a="http://schemas.openxmlformats.org/drawingml/2006/main">
              <a:ext uri="{FF2B5EF4-FFF2-40B4-BE49-F238E27FC236}">
                <a16:creationId xmlns:a16="http://schemas.microsoft.com/office/drawing/2014/main" id="{F107DB59-E26B-44D9-AABA-761FBFE85C6F}"/>
              </a:ext>
            </a:extLst>
          </p:cNvPr>
          <p:cNvSpPr>
            <a:spLocks xmlns:a="http://schemas.openxmlformats.org/drawingml/2006/main" noGrp="1"/>
          </p:cNvSpPr>
          <p:nvPr/>
        </p:nvSpPr>
        <p:spPr>
          <a:xfrm xmlns:a="http://schemas.openxmlformats.org/drawingml/2006/main">
            <a:off x="647700" y="5943600"/>
            <a:ext cx="57150" cy="400050"/>
          </a:xfrm>
          <a:prstGeom xmlns:a="http://schemas.openxmlformats.org/drawingml/2006/main" prst="rect">
            <a:avLst/>
          </a:prstGeom>
          <a:solidFill xmlns:a="http://schemas.openxmlformats.org/drawingml/2006/main">
            <a:srgbClr val="ED7F0D"/>
          </a:solidFill>
          <a:ln xmlns:a="http://schemas.openxmlformats.org/drawingml/2006/main" w="0">
            <a:noFill/>
            <a:prstDash val="solid"/>
          </a:ln>
        </p:spPr>
      </p:sp>
      <p:sp>
        <p:nvSpPr>
          <p:cNvPr id="62" name="">
            <a:extLst xmlns:a="http://schemas.openxmlformats.org/drawingml/2006/main">
              <a:ext uri="{FF2B5EF4-FFF2-40B4-BE49-F238E27FC236}">
                <a16:creationId xmlns:a16="http://schemas.microsoft.com/office/drawing/2014/main" id="{0850FD1C-22B4-4F85-B5E7-787230DFEC69}"/>
              </a:ext>
            </a:extLst>
          </p:cNvPr>
          <p:cNvSpPr>
            <a:spLocks xmlns:a="http://schemas.openxmlformats.org/drawingml/2006/main" noGrp="1"/>
          </p:cNvSpPr>
          <p:nvPr/>
        </p:nvSpPr>
        <p:spPr>
          <a:xfrm xmlns:a="http://schemas.openxmlformats.org/drawingml/2006/main">
            <a:off x="838200" y="5981700"/>
            <a:ext cx="10458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152538"/>
                </a:solidFill>
              </a:defRPr>
            </a:pPr>
            <a:r>
              <a:rPr sz="1275" b="1">
                <a:solidFill>
                  <a:srgbClr val="152538"/>
                </a:solidFill>
              </a:rPr>
              <a:t>The result supports keeping residual search and physical guards outside the transferred network.</a:t>
            </a:r>
          </a:p>
        </p:txBody>
      </p:sp>
    </p:spTree>
    <p:extLst>
      <p:ext uri="{BB962C8B-B14F-4D97-AF65-F5344CB8AC3E}">
        <p14:creationId xmlns:p14="http://schemas.microsoft.com/office/powerpoint/2010/main" val="271409582"/>
      </p:ext>
    </p:extLst>
  </p:cSld>
</p:sld>
</file>

<file path=ppt/slides/slide31.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2651FED-C4A9-4842-A418-430969C92133}"/>
              </a:ext>
            </a:extLst>
          </p:cNvPr>
          <p:cNvSpPr>
            <a:spLocks xmlns:a="http://schemas.openxmlformats.org/drawingml/2006/main" noGrp="1"/>
          </p:cNvSpPr>
          <p:nvPr/>
        </p:nvSpPr>
        <p:spPr>
          <a:xfrm xmlns:a="http://schemas.openxmlformats.org/drawingml/2006/main">
            <a:off x="647700" y="2286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ED7F0D"/>
                </a:solidFill>
              </a:defRPr>
            </a:pPr>
            <a:r>
              <a:rPr sz="1050" b="1">
                <a:solidFill>
                  <a:srgbClr val="ED7F0D"/>
                </a:solidFill>
              </a:rPr>
              <a:t>31</a:t>
            </a:r>
          </a:p>
        </p:txBody>
      </p:sp>
      <p:sp>
        <p:nvSpPr>
          <p:cNvPr id="2" name="">
            <a:extLst xmlns:a="http://schemas.openxmlformats.org/drawingml/2006/main">
              <a:ext uri="{FF2B5EF4-FFF2-40B4-BE49-F238E27FC236}">
                <a16:creationId xmlns:a16="http://schemas.microsoft.com/office/drawing/2014/main" id="{860F7068-E656-4289-9439-7F54D6D15CDE}"/>
              </a:ext>
            </a:extLst>
          </p:cNvPr>
          <p:cNvSpPr>
            <a:spLocks xmlns:a="http://schemas.openxmlformats.org/drawingml/2006/main" noGrp="1"/>
          </p:cNvSpPr>
          <p:nvPr/>
        </p:nvSpPr>
        <p:spPr>
          <a:xfrm xmlns:a="http://schemas.openxmlformats.org/drawingml/2006/main">
            <a:off x="1104900" y="22860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6B7580"/>
                </a:solidFill>
              </a:defRPr>
            </a:pPr>
            <a:r>
              <a:rPr sz="975" b="1">
                <a:solidFill>
                  <a:srgbClr val="6B7580"/>
                </a:solidFill>
              </a:rPr>
              <a:t>HARDWARE</a:t>
            </a:r>
          </a:p>
        </p:txBody>
      </p:sp>
      <p:sp>
        <p:nvSpPr>
          <p:cNvPr id="3" name="">
            <a:extLst xmlns:a="http://schemas.openxmlformats.org/drawingml/2006/main">
              <a:ext uri="{FF2B5EF4-FFF2-40B4-BE49-F238E27FC236}">
                <a16:creationId xmlns:a16="http://schemas.microsoft.com/office/drawing/2014/main" id="{732102F9-938A-4AC3-90F1-AD409D252B1F}"/>
              </a:ext>
            </a:extLst>
          </p:cNvPr>
          <p:cNvSpPr>
            <a:spLocks xmlns:a="http://schemas.openxmlformats.org/drawingml/2006/main" noGrp="1"/>
          </p:cNvSpPr>
          <p:nvPr/>
        </p:nvSpPr>
        <p:spPr>
          <a:xfrm xmlns:a="http://schemas.openxmlformats.org/drawingml/2006/main">
            <a:off x="6191250" y="228600"/>
            <a:ext cx="5353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0">
                <a:solidFill>
                  <a:srgbClr val="6B7580"/>
                </a:solidFill>
              </a:defRPr>
            </a:pPr>
            <a:r>
              <a:rPr sz="825" b="0">
                <a:solidFill>
                  <a:srgbClr val="6B7580"/>
                </a:solidFill>
              </a:rPr>
              <a:t>Problem   Task   Framework   Simulation   ● Hardware   Discussion</a:t>
            </a:r>
          </a:p>
        </p:txBody>
      </p:sp>
      <p:sp>
        <p:nvSpPr>
          <p:cNvPr id="4" name="">
            <a:extLst xmlns:a="http://schemas.openxmlformats.org/drawingml/2006/main">
              <a:ext uri="{FF2B5EF4-FFF2-40B4-BE49-F238E27FC236}">
                <a16:creationId xmlns:a16="http://schemas.microsoft.com/office/drawing/2014/main" id="{033523D2-C0FA-44C7-90E4-6F682E6B5D6F}"/>
              </a:ext>
            </a:extLst>
          </p:cNvPr>
          <p:cNvSpPr>
            <a:spLocks xmlns:a="http://schemas.openxmlformats.org/drawingml/2006/main" noGrp="1"/>
          </p:cNvSpPr>
          <p:nvPr/>
        </p:nvSpPr>
        <p:spPr>
          <a:xfrm xmlns:a="http://schemas.openxmlformats.org/drawingml/2006/main">
            <a:off x="647700" y="533400"/>
            <a:ext cx="108394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004282"/>
                </a:solidFill>
              </a:defRPr>
            </a:pPr>
            <a:r>
              <a:rPr sz="2850" b="1">
                <a:solidFill>
                  <a:srgbClr val="004282"/>
                </a:solidFill>
              </a:rPr>
              <a:t>Real hardware needs a model trained on the installed stack</a:t>
            </a:r>
          </a:p>
        </p:txBody>
      </p:sp>
      <p:sp>
        <p:nvSpPr>
          <p:cNvPr id="5" name="">
            <a:extLst xmlns:a="http://schemas.openxmlformats.org/drawingml/2006/main">
              <a:ext uri="{FF2B5EF4-FFF2-40B4-BE49-F238E27FC236}">
                <a16:creationId xmlns:a16="http://schemas.microsoft.com/office/drawing/2014/main" id="{54AA70C6-B2BE-4D9A-9D8C-F089BC8AA6F5}"/>
              </a:ext>
            </a:extLst>
          </p:cNvPr>
          <p:cNvSpPr>
            <a:spLocks xmlns:a="http://schemas.openxmlformats.org/drawingml/2006/main" noGrp="1"/>
          </p:cNvSpPr>
          <p:nvPr/>
        </p:nvSpPr>
        <p:spPr>
          <a:xfrm xmlns:a="http://schemas.openxmlformats.org/drawingml/2006/main">
            <a:off x="647700" y="1257300"/>
            <a:ext cx="609600" cy="47625"/>
          </a:xfrm>
          <a:prstGeom xmlns:a="http://schemas.openxmlformats.org/drawingml/2006/main" prst="rect">
            <a:avLst/>
          </a:prstGeom>
          <a:solidFill xmlns:a="http://schemas.openxmlformats.org/drawingml/2006/main">
            <a:srgbClr val="ED7F0D"/>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A656F951-C53A-41BA-965B-4CD7792563CE}"/>
              </a:ext>
            </a:extLst>
          </p:cNvPr>
          <p:cNvSpPr>
            <a:spLocks xmlns:a="http://schemas.openxmlformats.org/drawingml/2006/main" noGrp="1"/>
          </p:cNvSpPr>
          <p:nvPr/>
        </p:nvSpPr>
        <p:spPr>
          <a:xfrm xmlns:a="http://schemas.openxmlformats.org/drawingml/2006/main">
            <a:off x="647700" y="6486525"/>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6B7580"/>
                </a:solidFill>
              </a:defRPr>
            </a:pPr>
            <a:r>
              <a:rPr sz="825" b="0">
                <a:solidFill>
                  <a:srgbClr val="6B7580"/>
                </a:solidFill>
              </a:rPr>
              <a:t>Nan Jinyao · Paper-aligned group review</a:t>
            </a:r>
          </a:p>
        </p:txBody>
      </p:sp>
      <p:sp>
        <p:nvSpPr>
          <p:cNvPr id="7" name="">
            <a:extLst xmlns:a="http://schemas.openxmlformats.org/drawingml/2006/main">
              <a:ext uri="{FF2B5EF4-FFF2-40B4-BE49-F238E27FC236}">
                <a16:creationId xmlns:a16="http://schemas.microsoft.com/office/drawing/2014/main" id="{D8A1A092-F8A7-4B30-A11F-08F673BC9050}"/>
              </a:ext>
            </a:extLst>
          </p:cNvPr>
          <p:cNvSpPr>
            <a:spLocks xmlns:a="http://schemas.openxmlformats.org/drawingml/2006/main" noGrp="1"/>
          </p:cNvSpPr>
          <p:nvPr/>
        </p:nvSpPr>
        <p:spPr>
          <a:xfrm xmlns:a="http://schemas.openxmlformats.org/drawingml/2006/main">
            <a:off x="4476750" y="6486525"/>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0">
                <a:solidFill>
                  <a:srgbClr val="6B7580"/>
                </a:solidFill>
              </a:defRPr>
            </a:pPr>
            <a:r>
              <a:rPr sz="825" b="0">
                <a:solidFill>
                  <a:srgbClr val="6B7580"/>
                </a:solidFill>
              </a:rPr>
              <a:t>Sec. IV-F · Table IV</a:t>
            </a:r>
          </a:p>
        </p:txBody>
      </p:sp>
      <p:sp>
        <p:nvSpPr>
          <p:cNvPr id="8" name="">
            <a:extLst xmlns:a="http://schemas.openxmlformats.org/drawingml/2006/main">
              <a:ext uri="{FF2B5EF4-FFF2-40B4-BE49-F238E27FC236}">
                <a16:creationId xmlns:a16="http://schemas.microsoft.com/office/drawing/2014/main" id="{8A2E5B01-3A43-4C29-81E6-407EB5BE8F2D}"/>
              </a:ext>
            </a:extLst>
          </p:cNvPr>
          <p:cNvSpPr>
            <a:spLocks xmlns:a="http://schemas.openxmlformats.org/drawingml/2006/main" noGrp="1"/>
          </p:cNvSpPr>
          <p:nvPr/>
        </p:nvSpPr>
        <p:spPr>
          <a:xfrm xmlns:a="http://schemas.openxmlformats.org/drawingml/2006/main">
            <a:off x="11049000" y="648652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004282"/>
                </a:solidFill>
              </a:defRPr>
            </a:pPr>
            <a:r>
              <a:rPr sz="825" b="1">
                <a:solidFill>
                  <a:srgbClr val="004282"/>
                </a:solidFill>
              </a:rPr>
              <a:t>31</a:t>
            </a:r>
          </a:p>
        </p:txBody>
      </p:sp>
      <p:sp>
        <p:nvSpPr>
          <p:cNvPr id="9" name="">
            <a:extLst xmlns:a="http://schemas.openxmlformats.org/drawingml/2006/main">
              <a:ext uri="{FF2B5EF4-FFF2-40B4-BE49-F238E27FC236}">
                <a16:creationId xmlns:a16="http://schemas.microsoft.com/office/drawing/2014/main" id="{81BBEEA5-9D59-4261-AEE5-D036F6069DF4}"/>
              </a:ext>
            </a:extLst>
          </p:cNvPr>
          <p:cNvSpPr>
            <a:spLocks xmlns:a="http://schemas.openxmlformats.org/drawingml/2006/main" noGrp="1"/>
          </p:cNvSpPr>
          <p:nvPr/>
        </p:nvSpPr>
        <p:spPr>
          <a:xfrm xmlns:a="http://schemas.openxmlformats.org/drawingml/2006/main">
            <a:off x="647700" y="1543050"/>
            <a:ext cx="6343650" cy="3848100"/>
          </a:xfrm>
          <a:prstGeom xmlns:a="http://schemas.openxmlformats.org/drawingml/2006/main" prst="roundRect">
            <a:avLst>
              <a:gd name="adj" fmla="val 1980"/>
            </a:avLst>
          </a:prstGeom>
          <a:solidFill xmlns:a="http://schemas.openxmlformats.org/drawingml/2006/main">
            <a:srgbClr val="FFFFFF"/>
          </a:solidFill>
          <a:ln xmlns:a="http://schemas.openxmlformats.org/drawingml/2006/main" w="9525">
            <a:solidFill>
              <a:srgbClr val="D9E0E6"/>
            </a:solidFill>
            <a:prstDash val="solid"/>
          </a:ln>
        </p:spPr>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a152e6c95d4b4246"/>
          <a:srcRect xmlns:a="http://schemas.openxmlformats.org/drawingml/2006/main" l="2534" t="0" r="2534" b="0"/>
          <a:stretch xmlns:a="http://schemas.openxmlformats.org/drawingml/2006/main">
            <a:fillRect l="0" t="0" r="0" b="0"/>
          </a:stretch>
        </p:blipFill>
        <p:spPr>
          <a:xfrm xmlns:a="http://schemas.openxmlformats.org/drawingml/2006/main">
            <a:off x="723900" y="1619250"/>
            <a:ext cx="6191250" cy="3695700"/>
          </a:xfrm>
          <a:prstGeom xmlns:a="http://schemas.openxmlformats.org/drawingml/2006/main" prst="roundRect">
            <a:avLst>
              <a:gd name="adj" fmla="val 2062"/>
            </a:avLst>
          </a:prstGeom>
        </p:spPr>
      </p:pic>
      <p:sp>
        <p:nvSpPr>
          <p:cNvPr id="11" name="">
            <a:extLst xmlns:a="http://schemas.openxmlformats.org/drawingml/2006/main">
              <a:ext uri="{FF2B5EF4-FFF2-40B4-BE49-F238E27FC236}">
                <a16:creationId xmlns:a16="http://schemas.microsoft.com/office/drawing/2014/main" id="{4A977EA2-11A4-4D1D-AE7F-AD64DE37EB0E}"/>
              </a:ext>
            </a:extLst>
          </p:cNvPr>
          <p:cNvSpPr>
            <a:spLocks xmlns:a="http://schemas.openxmlformats.org/drawingml/2006/main" noGrp="1"/>
          </p:cNvSpPr>
          <p:nvPr/>
        </p:nvSpPr>
        <p:spPr>
          <a:xfrm xmlns:a="http://schemas.openxmlformats.org/drawingml/2006/main">
            <a:off x="7334250" y="1714500"/>
            <a:ext cx="3619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550" b="1">
                <a:solidFill>
                  <a:srgbClr val="004282"/>
                </a:solidFill>
              </a:defRPr>
            </a:pPr>
            <a:r>
              <a:rPr sz="2550" b="1">
                <a:solidFill>
                  <a:srgbClr val="004282"/>
                </a:solidFill>
              </a:rPr>
              <a:t>26 / size</a:t>
            </a:r>
          </a:p>
        </p:txBody>
      </p:sp>
      <p:sp>
        <p:nvSpPr>
          <p:cNvPr id="12" name="">
            <a:extLst xmlns:a="http://schemas.openxmlformats.org/drawingml/2006/main">
              <a:ext uri="{FF2B5EF4-FFF2-40B4-BE49-F238E27FC236}">
                <a16:creationId xmlns:a16="http://schemas.microsoft.com/office/drawing/2014/main" id="{A3ADB62C-BF4C-46FB-84D6-AE91A0F7E7F1}"/>
              </a:ext>
            </a:extLst>
          </p:cNvPr>
          <p:cNvSpPr>
            <a:spLocks xmlns:a="http://schemas.openxmlformats.org/drawingml/2006/main" noGrp="1"/>
          </p:cNvSpPr>
          <p:nvPr/>
        </p:nvSpPr>
        <p:spPr>
          <a:xfrm xmlns:a="http://schemas.openxmlformats.org/drawingml/2006/main">
            <a:off x="7334250" y="2209800"/>
            <a:ext cx="3619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0">
                <a:solidFill>
                  <a:srgbClr val="6B7580"/>
                </a:solidFill>
              </a:defRPr>
            </a:pPr>
            <a:r>
              <a:rPr sz="1200" b="0">
                <a:solidFill>
                  <a:srgbClr val="6B7580"/>
                </a:solidFill>
              </a:rPr>
              <a:t>registered scans</a:t>
            </a:r>
          </a:p>
        </p:txBody>
      </p:sp>
      <p:sp>
        <p:nvSpPr>
          <p:cNvPr id="13" name="">
            <a:extLst xmlns:a="http://schemas.openxmlformats.org/drawingml/2006/main">
              <a:ext uri="{FF2B5EF4-FFF2-40B4-BE49-F238E27FC236}">
                <a16:creationId xmlns:a16="http://schemas.microsoft.com/office/drawing/2014/main" id="{A6B7415F-E5AC-4D1E-8E3D-5E6CC61DE30E}"/>
              </a:ext>
            </a:extLst>
          </p:cNvPr>
          <p:cNvSpPr>
            <a:spLocks xmlns:a="http://schemas.openxmlformats.org/drawingml/2006/main" noGrp="1"/>
          </p:cNvSpPr>
          <p:nvPr/>
        </p:nvSpPr>
        <p:spPr>
          <a:xfrm xmlns:a="http://schemas.openxmlformats.org/drawingml/2006/main">
            <a:off x="7334250" y="2809875"/>
            <a:ext cx="3619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550" b="1">
                <a:solidFill>
                  <a:srgbClr val="009E73"/>
                </a:solidFill>
              </a:defRPr>
            </a:pPr>
            <a:r>
              <a:rPr sz="2550" b="1">
                <a:solidFill>
                  <a:srgbClr val="009E73"/>
                </a:solidFill>
              </a:rPr>
              <a:t>78 / 78</a:t>
            </a:r>
          </a:p>
        </p:txBody>
      </p:sp>
      <p:sp>
        <p:nvSpPr>
          <p:cNvPr id="14" name="">
            <a:extLst xmlns:a="http://schemas.openxmlformats.org/drawingml/2006/main">
              <a:ext uri="{FF2B5EF4-FFF2-40B4-BE49-F238E27FC236}">
                <a16:creationId xmlns:a16="http://schemas.microsoft.com/office/drawing/2014/main" id="{41AD9DEA-1C3D-4219-9026-5B41AF494568}"/>
              </a:ext>
            </a:extLst>
          </p:cNvPr>
          <p:cNvSpPr>
            <a:spLocks xmlns:a="http://schemas.openxmlformats.org/drawingml/2006/main" noGrp="1"/>
          </p:cNvSpPr>
          <p:nvPr/>
        </p:nvSpPr>
        <p:spPr>
          <a:xfrm xmlns:a="http://schemas.openxmlformats.org/drawingml/2006/main">
            <a:off x="7334250" y="3305175"/>
            <a:ext cx="3619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0">
                <a:solidFill>
                  <a:srgbClr val="6B7580"/>
                </a:solidFill>
              </a:defRPr>
            </a:pPr>
            <a:r>
              <a:rPr sz="1200" b="0">
                <a:solidFill>
                  <a:srgbClr val="6B7580"/>
                </a:solidFill>
              </a:rPr>
              <a:t>acquisition-valid</a:t>
            </a:r>
          </a:p>
        </p:txBody>
      </p:sp>
      <p:sp>
        <p:nvSpPr>
          <p:cNvPr id="15" name="">
            <a:extLst xmlns:a="http://schemas.openxmlformats.org/drawingml/2006/main">
              <a:ext uri="{FF2B5EF4-FFF2-40B4-BE49-F238E27FC236}">
                <a16:creationId xmlns:a16="http://schemas.microsoft.com/office/drawing/2014/main" id="{A19734B6-E084-4C84-AE24-7DA7E7C7D863}"/>
              </a:ext>
            </a:extLst>
          </p:cNvPr>
          <p:cNvSpPr>
            <a:spLocks xmlns:a="http://schemas.openxmlformats.org/drawingml/2006/main" noGrp="1"/>
          </p:cNvSpPr>
          <p:nvPr/>
        </p:nvSpPr>
        <p:spPr>
          <a:xfrm xmlns:a="http://schemas.openxmlformats.org/drawingml/2006/main">
            <a:off x="7334250" y="3905250"/>
            <a:ext cx="3619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550" b="1">
                <a:solidFill>
                  <a:srgbClr val="ED7F0D"/>
                </a:solidFill>
              </a:defRPr>
            </a:pPr>
            <a:r>
              <a:rPr sz="2550" b="1">
                <a:solidFill>
                  <a:srgbClr val="ED7F0D"/>
                </a:solidFill>
              </a:rPr>
              <a:t>installed stack</a:t>
            </a:r>
          </a:p>
        </p:txBody>
      </p:sp>
      <p:sp>
        <p:nvSpPr>
          <p:cNvPr id="16" name="">
            <a:extLst xmlns:a="http://schemas.openxmlformats.org/drawingml/2006/main">
              <a:ext uri="{FF2B5EF4-FFF2-40B4-BE49-F238E27FC236}">
                <a16:creationId xmlns:a16="http://schemas.microsoft.com/office/drawing/2014/main" id="{1F57E66D-2987-4FEB-8929-FC5532A9DD9B}"/>
              </a:ext>
            </a:extLst>
          </p:cNvPr>
          <p:cNvSpPr>
            <a:spLocks xmlns:a="http://schemas.openxmlformats.org/drawingml/2006/main" noGrp="1"/>
          </p:cNvSpPr>
          <p:nvPr/>
        </p:nvSpPr>
        <p:spPr>
          <a:xfrm xmlns:a="http://schemas.openxmlformats.org/drawingml/2006/main">
            <a:off x="7334250" y="4400550"/>
            <a:ext cx="3619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0">
                <a:solidFill>
                  <a:srgbClr val="6B7580"/>
                </a:solidFill>
              </a:defRPr>
            </a:pPr>
            <a:r>
              <a:rPr sz="1200" b="0">
                <a:solidFill>
                  <a:srgbClr val="6B7580"/>
                </a:solidFill>
              </a:rPr>
              <a:t>model refit</a:t>
            </a:r>
          </a:p>
        </p:txBody>
      </p:sp>
      <p:sp>
        <p:nvSpPr>
          <p:cNvPr id="17" name="">
            <a:extLst xmlns:a="http://schemas.openxmlformats.org/drawingml/2006/main">
              <a:ext uri="{FF2B5EF4-FFF2-40B4-BE49-F238E27FC236}">
                <a16:creationId xmlns:a16="http://schemas.microsoft.com/office/drawing/2014/main" id="{66FCF92E-295D-4F2F-8500-A36F193D301B}"/>
              </a:ext>
            </a:extLst>
          </p:cNvPr>
          <p:cNvSpPr>
            <a:spLocks xmlns:a="http://schemas.openxmlformats.org/drawingml/2006/main" noGrp="1"/>
          </p:cNvSpPr>
          <p:nvPr/>
        </p:nvSpPr>
        <p:spPr>
          <a:xfrm xmlns:a="http://schemas.openxmlformats.org/drawingml/2006/main">
            <a:off x="647700" y="5943600"/>
            <a:ext cx="10839450" cy="400050"/>
          </a:xfrm>
          <a:prstGeom xmlns:a="http://schemas.openxmlformats.org/drawingml/2006/main" prst="rect">
            <a:avLst/>
          </a:prstGeom>
          <a:solidFill xmlns:a="http://schemas.openxmlformats.org/drawingml/2006/main">
            <a:srgbClr val="FFF0E2"/>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4F8875FE-509D-4DA8-9EFA-3BD39760F949}"/>
              </a:ext>
            </a:extLst>
          </p:cNvPr>
          <p:cNvSpPr>
            <a:spLocks xmlns:a="http://schemas.openxmlformats.org/drawingml/2006/main" noGrp="1"/>
          </p:cNvSpPr>
          <p:nvPr/>
        </p:nvSpPr>
        <p:spPr>
          <a:xfrm xmlns:a="http://schemas.openxmlformats.org/drawingml/2006/main">
            <a:off x="647700" y="5943600"/>
            <a:ext cx="57150" cy="400050"/>
          </a:xfrm>
          <a:prstGeom xmlns:a="http://schemas.openxmlformats.org/drawingml/2006/main" prst="rect">
            <a:avLst/>
          </a:prstGeom>
          <a:solidFill xmlns:a="http://schemas.openxmlformats.org/drawingml/2006/main">
            <a:srgbClr val="ED7F0D"/>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18B8B5A9-1E9F-4C98-98BA-B8D52C134BBA}"/>
              </a:ext>
            </a:extLst>
          </p:cNvPr>
          <p:cNvSpPr>
            <a:spLocks xmlns:a="http://schemas.openxmlformats.org/drawingml/2006/main" noGrp="1"/>
          </p:cNvSpPr>
          <p:nvPr/>
        </p:nvSpPr>
        <p:spPr>
          <a:xfrm xmlns:a="http://schemas.openxmlformats.org/drawingml/2006/main">
            <a:off x="838200" y="5981700"/>
            <a:ext cx="10458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152538"/>
                </a:solidFill>
              </a:defRPr>
            </a:pPr>
            <a:r>
              <a:rPr sz="1275" b="1">
                <a:solidFill>
                  <a:srgbClr val="152538"/>
                </a:solidFill>
              </a:rPr>
              <a:t>78/78 describes valid scan acquisition, not engagement success.</a:t>
            </a:r>
          </a:p>
        </p:txBody>
      </p:sp>
    </p:spTree>
    <p:extLst>
      <p:ext uri="{BB962C8B-B14F-4D97-AF65-F5344CB8AC3E}">
        <p14:creationId xmlns:p14="http://schemas.microsoft.com/office/powerpoint/2010/main" val="461912409"/>
      </p:ext>
    </p:extLst>
  </p:cSld>
</p:sld>
</file>

<file path=ppt/slides/slide32.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791DAC8-9637-4A1D-BAED-6267BBB15D97}"/>
              </a:ext>
            </a:extLst>
          </p:cNvPr>
          <p:cNvSpPr>
            <a:spLocks xmlns:a="http://schemas.openxmlformats.org/drawingml/2006/main" noGrp="1"/>
          </p:cNvSpPr>
          <p:nvPr/>
        </p:nvSpPr>
        <p:spPr>
          <a:xfrm xmlns:a="http://schemas.openxmlformats.org/drawingml/2006/main">
            <a:off x="647700" y="2286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ED7F0D"/>
                </a:solidFill>
              </a:defRPr>
            </a:pPr>
            <a:r>
              <a:rPr sz="1050" b="1">
                <a:solidFill>
                  <a:srgbClr val="ED7F0D"/>
                </a:solidFill>
              </a:rPr>
              <a:t>32</a:t>
            </a:r>
          </a:p>
        </p:txBody>
      </p:sp>
      <p:sp>
        <p:nvSpPr>
          <p:cNvPr id="2" name="">
            <a:extLst xmlns:a="http://schemas.openxmlformats.org/drawingml/2006/main">
              <a:ext uri="{FF2B5EF4-FFF2-40B4-BE49-F238E27FC236}">
                <a16:creationId xmlns:a16="http://schemas.microsoft.com/office/drawing/2014/main" id="{B39918AF-97D0-45A5-A211-DED975BECA9A}"/>
              </a:ext>
            </a:extLst>
          </p:cNvPr>
          <p:cNvSpPr>
            <a:spLocks xmlns:a="http://schemas.openxmlformats.org/drawingml/2006/main" noGrp="1"/>
          </p:cNvSpPr>
          <p:nvPr/>
        </p:nvSpPr>
        <p:spPr>
          <a:xfrm xmlns:a="http://schemas.openxmlformats.org/drawingml/2006/main">
            <a:off x="1104900" y="22860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6B7580"/>
                </a:solidFill>
              </a:defRPr>
            </a:pPr>
            <a:r>
              <a:rPr sz="975" b="1">
                <a:solidFill>
                  <a:srgbClr val="6B7580"/>
                </a:solidFill>
              </a:rPr>
              <a:t>HARDWARE</a:t>
            </a:r>
          </a:p>
        </p:txBody>
      </p:sp>
      <p:sp>
        <p:nvSpPr>
          <p:cNvPr id="3" name="">
            <a:extLst xmlns:a="http://schemas.openxmlformats.org/drawingml/2006/main">
              <a:ext uri="{FF2B5EF4-FFF2-40B4-BE49-F238E27FC236}">
                <a16:creationId xmlns:a16="http://schemas.microsoft.com/office/drawing/2014/main" id="{66B05B01-FBF6-4D73-AC29-72D51957DB29}"/>
              </a:ext>
            </a:extLst>
          </p:cNvPr>
          <p:cNvSpPr>
            <a:spLocks xmlns:a="http://schemas.openxmlformats.org/drawingml/2006/main" noGrp="1"/>
          </p:cNvSpPr>
          <p:nvPr/>
        </p:nvSpPr>
        <p:spPr>
          <a:xfrm xmlns:a="http://schemas.openxmlformats.org/drawingml/2006/main">
            <a:off x="6191250" y="228600"/>
            <a:ext cx="5353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0">
                <a:solidFill>
                  <a:srgbClr val="6B7580"/>
                </a:solidFill>
              </a:defRPr>
            </a:pPr>
            <a:r>
              <a:rPr sz="825" b="0">
                <a:solidFill>
                  <a:srgbClr val="6B7580"/>
                </a:solidFill>
              </a:rPr>
              <a:t>Problem   Task   Framework   Simulation   ● Hardware   Discussion</a:t>
            </a:r>
          </a:p>
        </p:txBody>
      </p:sp>
      <p:sp>
        <p:nvSpPr>
          <p:cNvPr id="4" name="">
            <a:extLst xmlns:a="http://schemas.openxmlformats.org/drawingml/2006/main">
              <a:ext uri="{FF2B5EF4-FFF2-40B4-BE49-F238E27FC236}">
                <a16:creationId xmlns:a16="http://schemas.microsoft.com/office/drawing/2014/main" id="{5EEB6630-84EF-4F82-9973-D27522E939BE}"/>
              </a:ext>
            </a:extLst>
          </p:cNvPr>
          <p:cNvSpPr>
            <a:spLocks xmlns:a="http://schemas.openxmlformats.org/drawingml/2006/main" noGrp="1"/>
          </p:cNvSpPr>
          <p:nvPr/>
        </p:nvSpPr>
        <p:spPr>
          <a:xfrm xmlns:a="http://schemas.openxmlformats.org/drawingml/2006/main">
            <a:off x="647700" y="533400"/>
            <a:ext cx="108394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004282"/>
                </a:solidFill>
              </a:defRPr>
            </a:pPr>
            <a:r>
              <a:rPr sz="2850" b="1">
                <a:solidFill>
                  <a:srgbClr val="004282"/>
                </a:solidFill>
              </a:rPr>
              <a:t>One M12 run shows the full closed-loop mechanism</a:t>
            </a:r>
          </a:p>
        </p:txBody>
      </p:sp>
      <p:sp>
        <p:nvSpPr>
          <p:cNvPr id="5" name="">
            <a:extLst xmlns:a="http://schemas.openxmlformats.org/drawingml/2006/main">
              <a:ext uri="{FF2B5EF4-FFF2-40B4-BE49-F238E27FC236}">
                <a16:creationId xmlns:a16="http://schemas.microsoft.com/office/drawing/2014/main" id="{97D4589B-3D26-4975-9428-047FBDDBBF9F}"/>
              </a:ext>
            </a:extLst>
          </p:cNvPr>
          <p:cNvSpPr>
            <a:spLocks xmlns:a="http://schemas.openxmlformats.org/drawingml/2006/main" noGrp="1"/>
          </p:cNvSpPr>
          <p:nvPr/>
        </p:nvSpPr>
        <p:spPr>
          <a:xfrm xmlns:a="http://schemas.openxmlformats.org/drawingml/2006/main">
            <a:off x="647700" y="1257300"/>
            <a:ext cx="609600" cy="47625"/>
          </a:xfrm>
          <a:prstGeom xmlns:a="http://schemas.openxmlformats.org/drawingml/2006/main" prst="rect">
            <a:avLst/>
          </a:prstGeom>
          <a:solidFill xmlns:a="http://schemas.openxmlformats.org/drawingml/2006/main">
            <a:srgbClr val="ED7F0D"/>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C2D26BE2-8AB7-45E2-908E-59A14F58D512}"/>
              </a:ext>
            </a:extLst>
          </p:cNvPr>
          <p:cNvSpPr>
            <a:spLocks xmlns:a="http://schemas.openxmlformats.org/drawingml/2006/main" noGrp="1"/>
          </p:cNvSpPr>
          <p:nvPr/>
        </p:nvSpPr>
        <p:spPr>
          <a:xfrm xmlns:a="http://schemas.openxmlformats.org/drawingml/2006/main">
            <a:off x="647700" y="6486525"/>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6B7580"/>
                </a:solidFill>
              </a:defRPr>
            </a:pPr>
            <a:r>
              <a:rPr sz="825" b="0">
                <a:solidFill>
                  <a:srgbClr val="6B7580"/>
                </a:solidFill>
              </a:rPr>
              <a:t>Nan Jinyao · Paper-aligned group review</a:t>
            </a:r>
          </a:p>
        </p:txBody>
      </p:sp>
      <p:sp>
        <p:nvSpPr>
          <p:cNvPr id="7" name="">
            <a:extLst xmlns:a="http://schemas.openxmlformats.org/drawingml/2006/main">
              <a:ext uri="{FF2B5EF4-FFF2-40B4-BE49-F238E27FC236}">
                <a16:creationId xmlns:a16="http://schemas.microsoft.com/office/drawing/2014/main" id="{BE61E315-CD1A-469D-BE3B-AE090461EDA0}"/>
              </a:ext>
            </a:extLst>
          </p:cNvPr>
          <p:cNvSpPr>
            <a:spLocks xmlns:a="http://schemas.openxmlformats.org/drawingml/2006/main" noGrp="1"/>
          </p:cNvSpPr>
          <p:nvPr/>
        </p:nvSpPr>
        <p:spPr>
          <a:xfrm xmlns:a="http://schemas.openxmlformats.org/drawingml/2006/main">
            <a:off x="4476750" y="6486525"/>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0">
                <a:solidFill>
                  <a:srgbClr val="6B7580"/>
                </a:solidFill>
              </a:defRPr>
            </a:pPr>
            <a:r>
              <a:rPr sz="825" b="0">
                <a:solidFill>
                  <a:srgbClr val="6B7580"/>
                </a:solidFill>
              </a:rPr>
              <a:t>Sec. IV-F · Fig. 8</a:t>
            </a:r>
          </a:p>
        </p:txBody>
      </p:sp>
      <p:sp>
        <p:nvSpPr>
          <p:cNvPr id="8" name="">
            <a:extLst xmlns:a="http://schemas.openxmlformats.org/drawingml/2006/main">
              <a:ext uri="{FF2B5EF4-FFF2-40B4-BE49-F238E27FC236}">
                <a16:creationId xmlns:a16="http://schemas.microsoft.com/office/drawing/2014/main" id="{52F71E69-5348-4676-AAC2-63077007DBF0}"/>
              </a:ext>
            </a:extLst>
          </p:cNvPr>
          <p:cNvSpPr>
            <a:spLocks xmlns:a="http://schemas.openxmlformats.org/drawingml/2006/main" noGrp="1"/>
          </p:cNvSpPr>
          <p:nvPr/>
        </p:nvSpPr>
        <p:spPr>
          <a:xfrm xmlns:a="http://schemas.openxmlformats.org/drawingml/2006/main">
            <a:off x="11049000" y="648652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004282"/>
                </a:solidFill>
              </a:defRPr>
            </a:pPr>
            <a:r>
              <a:rPr sz="825" b="1">
                <a:solidFill>
                  <a:srgbClr val="004282"/>
                </a:solidFill>
              </a:rPr>
              <a:t>32</a:t>
            </a:r>
          </a:p>
        </p:txBody>
      </p:sp>
      <p:sp>
        <p:nvSpPr>
          <p:cNvPr id="9" name="">
            <a:extLst xmlns:a="http://schemas.openxmlformats.org/drawingml/2006/main">
              <a:ext uri="{FF2B5EF4-FFF2-40B4-BE49-F238E27FC236}">
                <a16:creationId xmlns:a16="http://schemas.microsoft.com/office/drawing/2014/main" id="{DEAEF6F3-65DC-419B-8FF0-AD00877C8AA7}"/>
              </a:ext>
            </a:extLst>
          </p:cNvPr>
          <p:cNvSpPr>
            <a:spLocks xmlns:a="http://schemas.openxmlformats.org/drawingml/2006/main" noGrp="1"/>
          </p:cNvSpPr>
          <p:nvPr/>
        </p:nvSpPr>
        <p:spPr>
          <a:xfrm xmlns:a="http://schemas.openxmlformats.org/drawingml/2006/main">
            <a:off x="685800" y="1466850"/>
            <a:ext cx="3676650" cy="4152900"/>
          </a:xfrm>
          <a:prstGeom xmlns:a="http://schemas.openxmlformats.org/drawingml/2006/main" prst="roundRect">
            <a:avLst>
              <a:gd name="adj" fmla="val 2073"/>
            </a:avLst>
          </a:prstGeom>
          <a:solidFill xmlns:a="http://schemas.openxmlformats.org/drawingml/2006/main">
            <a:srgbClr val="FFFFFF"/>
          </a:solidFill>
          <a:ln xmlns:a="http://schemas.openxmlformats.org/drawingml/2006/main" w="9525">
            <a:solidFill>
              <a:srgbClr val="D9E0E6"/>
            </a:solidFill>
            <a:prstDash val="solid"/>
          </a:ln>
        </p:spPr>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f67f8d7e03bd493d"/>
          <a:srcRect xmlns:a="http://schemas.openxmlformats.org/drawingml/2006/main" l="25040" t="0" r="25040" b="0"/>
          <a:stretch xmlns:a="http://schemas.openxmlformats.org/drawingml/2006/main">
            <a:fillRect l="0" t="0" r="0" b="0"/>
          </a:stretch>
        </p:blipFill>
        <p:spPr>
          <a:xfrm xmlns:a="http://schemas.openxmlformats.org/drawingml/2006/main">
            <a:off x="762000" y="1543050"/>
            <a:ext cx="3524250" cy="4000500"/>
          </a:xfrm>
          <a:prstGeom xmlns:a="http://schemas.openxmlformats.org/drawingml/2006/main" prst="roundRect">
            <a:avLst>
              <a:gd name="adj" fmla="val 2162"/>
            </a:avLst>
          </a:prstGeom>
        </p:spPr>
      </p:pic>
      <p:sp>
        <p:nvSpPr>
          <p:cNvPr id="11" name="">
            <a:extLst xmlns:a="http://schemas.openxmlformats.org/drawingml/2006/main">
              <a:ext uri="{FF2B5EF4-FFF2-40B4-BE49-F238E27FC236}">
                <a16:creationId xmlns:a16="http://schemas.microsoft.com/office/drawing/2014/main" id="{3C8B34ED-099A-4159-A36F-DFD8BB746FF8}"/>
              </a:ext>
            </a:extLst>
          </p:cNvPr>
          <p:cNvSpPr>
            <a:spLocks xmlns:a="http://schemas.openxmlformats.org/drawingml/2006/main" noGrp="1"/>
          </p:cNvSpPr>
          <p:nvPr/>
        </p:nvSpPr>
        <p:spPr>
          <a:xfrm xmlns:a="http://schemas.openxmlformats.org/drawingml/2006/main">
            <a:off x="4572000" y="1466850"/>
            <a:ext cx="6724650" cy="4152900"/>
          </a:xfrm>
          <a:prstGeom xmlns:a="http://schemas.openxmlformats.org/drawingml/2006/main" prst="roundRect">
            <a:avLst>
              <a:gd name="adj" fmla="val 1835"/>
            </a:avLst>
          </a:prstGeom>
          <a:solidFill xmlns:a="http://schemas.openxmlformats.org/drawingml/2006/main">
            <a:srgbClr val="FFFFFF"/>
          </a:solidFill>
          <a:ln xmlns:a="http://schemas.openxmlformats.org/drawingml/2006/main" w="9525">
            <a:solidFill>
              <a:srgbClr val="D9E0E6"/>
            </a:solidFill>
            <a:prstDash val="solid"/>
          </a:ln>
        </p:spPr>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5b6fa87574d241b7"/>
          <a:stretch xmlns:a="http://schemas.openxmlformats.org/drawingml/2006/main"/>
        </p:blipFill>
        <p:spPr>
          <a:xfrm xmlns:a="http://schemas.openxmlformats.org/drawingml/2006/main">
            <a:off x="5685626" y="1543050"/>
            <a:ext cx="4497398" cy="4000500"/>
          </a:xfrm>
          <a:prstGeom xmlns:a="http://schemas.openxmlformats.org/drawingml/2006/main" prst="roundRect">
            <a:avLst>
              <a:gd name="adj" fmla="val 1905"/>
            </a:avLst>
          </a:prstGeom>
        </p:spPr>
      </p:pic>
      <p:sp>
        <p:nvSpPr>
          <p:cNvPr id="13" name="">
            <a:extLst xmlns:a="http://schemas.openxmlformats.org/drawingml/2006/main">
              <a:ext uri="{FF2B5EF4-FFF2-40B4-BE49-F238E27FC236}">
                <a16:creationId xmlns:a16="http://schemas.microsoft.com/office/drawing/2014/main" id="{8DD72B52-2188-4D76-9984-68D78C301A0A}"/>
              </a:ext>
            </a:extLst>
          </p:cNvPr>
          <p:cNvSpPr>
            <a:spLocks xmlns:a="http://schemas.openxmlformats.org/drawingml/2006/main" noGrp="1"/>
          </p:cNvSpPr>
          <p:nvPr/>
        </p:nvSpPr>
        <p:spPr>
          <a:xfrm xmlns:a="http://schemas.openxmlformats.org/drawingml/2006/main">
            <a:off x="647700" y="5943600"/>
            <a:ext cx="10839450" cy="400050"/>
          </a:xfrm>
          <a:prstGeom xmlns:a="http://schemas.openxmlformats.org/drawingml/2006/main" prst="rect">
            <a:avLst/>
          </a:prstGeom>
          <a:solidFill xmlns:a="http://schemas.openxmlformats.org/drawingml/2006/main">
            <a:srgbClr val="FFF0E2"/>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E0FA429D-6F40-4BD1-AA0A-6614EEDCECC5}"/>
              </a:ext>
            </a:extLst>
          </p:cNvPr>
          <p:cNvSpPr>
            <a:spLocks xmlns:a="http://schemas.openxmlformats.org/drawingml/2006/main" noGrp="1"/>
          </p:cNvSpPr>
          <p:nvPr/>
        </p:nvSpPr>
        <p:spPr>
          <a:xfrm xmlns:a="http://schemas.openxmlformats.org/drawingml/2006/main">
            <a:off x="647700" y="5943600"/>
            <a:ext cx="57150" cy="400050"/>
          </a:xfrm>
          <a:prstGeom xmlns:a="http://schemas.openxmlformats.org/drawingml/2006/main" prst="rect">
            <a:avLst/>
          </a:prstGeom>
          <a:solidFill xmlns:a="http://schemas.openxmlformats.org/drawingml/2006/main">
            <a:srgbClr val="ED7F0D"/>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90B424FE-4001-4E0E-AFB8-13766B9ADF82}"/>
              </a:ext>
            </a:extLst>
          </p:cNvPr>
          <p:cNvSpPr>
            <a:spLocks xmlns:a="http://schemas.openxmlformats.org/drawingml/2006/main" noGrp="1"/>
          </p:cNvSpPr>
          <p:nvPr/>
        </p:nvSpPr>
        <p:spPr>
          <a:xfrm xmlns:a="http://schemas.openxmlformats.org/drawingml/2006/main">
            <a:off x="838200" y="5981700"/>
            <a:ext cx="10458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152538"/>
                </a:solidFill>
              </a:defRPr>
            </a:pPr>
            <a:r>
              <a:rPr sz="1275" b="1">
                <a:solidFill>
                  <a:srgbClr val="152538"/>
                </a:solidFill>
              </a:rPr>
              <a:t>3.00 mm shortcut, valid miss, negative-evidence replan, capture at 42.45 s and terminal candidate at 116.63 s.</a:t>
            </a:r>
          </a:p>
        </p:txBody>
      </p:sp>
    </p:spTree>
    <p:extLst>
      <p:ext uri="{BB962C8B-B14F-4D97-AF65-F5344CB8AC3E}">
        <p14:creationId xmlns:p14="http://schemas.microsoft.com/office/powerpoint/2010/main" val="818016886"/>
      </p:ext>
    </p:extLst>
  </p:cSld>
</p:sld>
</file>

<file path=ppt/slides/slide33.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27BE35A-E5E3-4D8B-BD58-CF1DF3579852}"/>
              </a:ext>
            </a:extLst>
          </p:cNvPr>
          <p:cNvSpPr>
            <a:spLocks xmlns:a="http://schemas.openxmlformats.org/drawingml/2006/main" noGrp="1"/>
          </p:cNvSpPr>
          <p:nvPr/>
        </p:nvSpPr>
        <p:spPr>
          <a:xfrm xmlns:a="http://schemas.openxmlformats.org/drawingml/2006/main">
            <a:off x="647700" y="2286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ED7F0D"/>
                </a:solidFill>
              </a:defRPr>
            </a:pPr>
            <a:r>
              <a:rPr sz="1050" b="1">
                <a:solidFill>
                  <a:srgbClr val="ED7F0D"/>
                </a:solidFill>
              </a:rPr>
              <a:t>33</a:t>
            </a:r>
          </a:p>
        </p:txBody>
      </p:sp>
      <p:sp>
        <p:nvSpPr>
          <p:cNvPr id="2" name="">
            <a:extLst xmlns:a="http://schemas.openxmlformats.org/drawingml/2006/main">
              <a:ext uri="{FF2B5EF4-FFF2-40B4-BE49-F238E27FC236}">
                <a16:creationId xmlns:a16="http://schemas.microsoft.com/office/drawing/2014/main" id="{38E75614-D986-4C62-9AD1-489AA23C0183}"/>
              </a:ext>
            </a:extLst>
          </p:cNvPr>
          <p:cNvSpPr>
            <a:spLocks xmlns:a="http://schemas.openxmlformats.org/drawingml/2006/main" noGrp="1"/>
          </p:cNvSpPr>
          <p:nvPr/>
        </p:nvSpPr>
        <p:spPr>
          <a:xfrm xmlns:a="http://schemas.openxmlformats.org/drawingml/2006/main">
            <a:off x="1104900" y="22860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6B7580"/>
                </a:solidFill>
              </a:defRPr>
            </a:pPr>
            <a:r>
              <a:rPr sz="975" b="1">
                <a:solidFill>
                  <a:srgbClr val="6B7580"/>
                </a:solidFill>
              </a:rPr>
              <a:t>HARDWARE</a:t>
            </a:r>
          </a:p>
        </p:txBody>
      </p:sp>
      <p:sp>
        <p:nvSpPr>
          <p:cNvPr id="3" name="">
            <a:extLst xmlns:a="http://schemas.openxmlformats.org/drawingml/2006/main">
              <a:ext uri="{FF2B5EF4-FFF2-40B4-BE49-F238E27FC236}">
                <a16:creationId xmlns:a16="http://schemas.microsoft.com/office/drawing/2014/main" id="{DCA653C7-53E8-433A-8524-C32387EE9B7C}"/>
              </a:ext>
            </a:extLst>
          </p:cNvPr>
          <p:cNvSpPr>
            <a:spLocks xmlns:a="http://schemas.openxmlformats.org/drawingml/2006/main" noGrp="1"/>
          </p:cNvSpPr>
          <p:nvPr/>
        </p:nvSpPr>
        <p:spPr>
          <a:xfrm xmlns:a="http://schemas.openxmlformats.org/drawingml/2006/main">
            <a:off x="6191250" y="228600"/>
            <a:ext cx="5353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0">
                <a:solidFill>
                  <a:srgbClr val="6B7580"/>
                </a:solidFill>
              </a:defRPr>
            </a:pPr>
            <a:r>
              <a:rPr sz="825" b="0">
                <a:solidFill>
                  <a:srgbClr val="6B7580"/>
                </a:solidFill>
              </a:rPr>
              <a:t>Problem   Task   Framework   Simulation   ● Hardware   Discussion</a:t>
            </a:r>
          </a:p>
        </p:txBody>
      </p:sp>
      <p:sp>
        <p:nvSpPr>
          <p:cNvPr id="4" name="">
            <a:extLst xmlns:a="http://schemas.openxmlformats.org/drawingml/2006/main">
              <a:ext uri="{FF2B5EF4-FFF2-40B4-BE49-F238E27FC236}">
                <a16:creationId xmlns:a16="http://schemas.microsoft.com/office/drawing/2014/main" id="{114B5997-643B-42FC-A63D-A9FC3E18CE0D}"/>
              </a:ext>
            </a:extLst>
          </p:cNvPr>
          <p:cNvSpPr>
            <a:spLocks xmlns:a="http://schemas.openxmlformats.org/drawingml/2006/main" noGrp="1"/>
          </p:cNvSpPr>
          <p:nvPr/>
        </p:nvSpPr>
        <p:spPr>
          <a:xfrm xmlns:a="http://schemas.openxmlformats.org/drawingml/2006/main">
            <a:off x="647700" y="533400"/>
            <a:ext cx="108394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700" b="1">
                <a:solidFill>
                  <a:srgbClr val="004282"/>
                </a:solidFill>
              </a:defRPr>
            </a:pPr>
            <a:r>
              <a:rPr sz="2700" b="1">
                <a:solidFill>
                  <a:srgbClr val="004282"/>
                </a:solidFill>
              </a:rPr>
              <a:t>The hardware evidence shows feasibility, not a success rate</a:t>
            </a:r>
          </a:p>
        </p:txBody>
      </p:sp>
      <p:sp>
        <p:nvSpPr>
          <p:cNvPr id="5" name="">
            <a:extLst xmlns:a="http://schemas.openxmlformats.org/drawingml/2006/main">
              <a:ext uri="{FF2B5EF4-FFF2-40B4-BE49-F238E27FC236}">
                <a16:creationId xmlns:a16="http://schemas.microsoft.com/office/drawing/2014/main" id="{0AE4841B-27FB-40ED-AA88-B3FE442E49A1}"/>
              </a:ext>
            </a:extLst>
          </p:cNvPr>
          <p:cNvSpPr>
            <a:spLocks xmlns:a="http://schemas.openxmlformats.org/drawingml/2006/main" noGrp="1"/>
          </p:cNvSpPr>
          <p:nvPr/>
        </p:nvSpPr>
        <p:spPr>
          <a:xfrm xmlns:a="http://schemas.openxmlformats.org/drawingml/2006/main">
            <a:off x="647700" y="1257300"/>
            <a:ext cx="609600" cy="47625"/>
          </a:xfrm>
          <a:prstGeom xmlns:a="http://schemas.openxmlformats.org/drawingml/2006/main" prst="rect">
            <a:avLst/>
          </a:prstGeom>
          <a:solidFill xmlns:a="http://schemas.openxmlformats.org/drawingml/2006/main">
            <a:srgbClr val="ED7F0D"/>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88C74488-F6A0-4E31-8FBB-5799F9ED6C3F}"/>
              </a:ext>
            </a:extLst>
          </p:cNvPr>
          <p:cNvSpPr>
            <a:spLocks xmlns:a="http://schemas.openxmlformats.org/drawingml/2006/main" noGrp="1"/>
          </p:cNvSpPr>
          <p:nvPr/>
        </p:nvSpPr>
        <p:spPr>
          <a:xfrm xmlns:a="http://schemas.openxmlformats.org/drawingml/2006/main">
            <a:off x="647700" y="6486525"/>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6B7580"/>
                </a:solidFill>
              </a:defRPr>
            </a:pPr>
            <a:r>
              <a:rPr sz="825" b="0">
                <a:solidFill>
                  <a:srgbClr val="6B7580"/>
                </a:solidFill>
              </a:rPr>
              <a:t>Nan Jinyao · Paper-aligned group review</a:t>
            </a:r>
          </a:p>
        </p:txBody>
      </p:sp>
      <p:sp>
        <p:nvSpPr>
          <p:cNvPr id="7" name="">
            <a:extLst xmlns:a="http://schemas.openxmlformats.org/drawingml/2006/main">
              <a:ext uri="{FF2B5EF4-FFF2-40B4-BE49-F238E27FC236}">
                <a16:creationId xmlns:a16="http://schemas.microsoft.com/office/drawing/2014/main" id="{768632CD-D9FD-4246-B987-38C5DB4F1061}"/>
              </a:ext>
            </a:extLst>
          </p:cNvPr>
          <p:cNvSpPr>
            <a:spLocks xmlns:a="http://schemas.openxmlformats.org/drawingml/2006/main" noGrp="1"/>
          </p:cNvSpPr>
          <p:nvPr/>
        </p:nvSpPr>
        <p:spPr>
          <a:xfrm xmlns:a="http://schemas.openxmlformats.org/drawingml/2006/main">
            <a:off x="4476750" y="6486525"/>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0">
                <a:solidFill>
                  <a:srgbClr val="6B7580"/>
                </a:solidFill>
              </a:defRPr>
            </a:pPr>
            <a:r>
              <a:rPr sz="825" b="0">
                <a:solidFill>
                  <a:srgbClr val="6B7580"/>
                </a:solidFill>
              </a:rPr>
              <a:t>Sec. IV-F · Table IV · Figs. 8–10</a:t>
            </a:r>
          </a:p>
        </p:txBody>
      </p:sp>
      <p:sp>
        <p:nvSpPr>
          <p:cNvPr id="8" name="">
            <a:extLst xmlns:a="http://schemas.openxmlformats.org/drawingml/2006/main">
              <a:ext uri="{FF2B5EF4-FFF2-40B4-BE49-F238E27FC236}">
                <a16:creationId xmlns:a16="http://schemas.microsoft.com/office/drawing/2014/main" id="{DFC9081A-9590-446E-8E70-250F34B216D2}"/>
              </a:ext>
            </a:extLst>
          </p:cNvPr>
          <p:cNvSpPr>
            <a:spLocks xmlns:a="http://schemas.openxmlformats.org/drawingml/2006/main" noGrp="1"/>
          </p:cNvSpPr>
          <p:nvPr/>
        </p:nvSpPr>
        <p:spPr>
          <a:xfrm xmlns:a="http://schemas.openxmlformats.org/drawingml/2006/main">
            <a:off x="11049000" y="648652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004282"/>
                </a:solidFill>
              </a:defRPr>
            </a:pPr>
            <a:r>
              <a:rPr sz="825" b="1">
                <a:solidFill>
                  <a:srgbClr val="004282"/>
                </a:solidFill>
              </a:rPr>
              <a:t>33</a:t>
            </a:r>
          </a:p>
        </p:txBody>
      </p:sp>
      <p:sp>
        <p:nvSpPr>
          <p:cNvPr id="9" name="">
            <a:extLst xmlns:a="http://schemas.openxmlformats.org/drawingml/2006/main">
              <a:ext uri="{FF2B5EF4-FFF2-40B4-BE49-F238E27FC236}">
                <a16:creationId xmlns:a16="http://schemas.microsoft.com/office/drawing/2014/main" id="{BDAB32DD-EC43-4094-8A07-7A1C7E379DE1}"/>
              </a:ext>
            </a:extLst>
          </p:cNvPr>
          <p:cNvSpPr>
            <a:spLocks xmlns:a="http://schemas.openxmlformats.org/drawingml/2006/main" noGrp="1"/>
          </p:cNvSpPr>
          <p:nvPr/>
        </p:nvSpPr>
        <p:spPr>
          <a:xfrm xmlns:a="http://schemas.openxmlformats.org/drawingml/2006/main">
            <a:off x="742950" y="1752600"/>
            <a:ext cx="1790700" cy="809625"/>
          </a:xfrm>
          <a:prstGeom xmlns:a="http://schemas.openxmlformats.org/drawingml/2006/main" prst="rect">
            <a:avLst/>
          </a:prstGeom>
          <a:solidFill xmlns:a="http://schemas.openxmlformats.org/drawingml/2006/main">
            <a:srgbClr val="004282"/>
          </a:solidFill>
          <a:ln xmlns:a="http://schemas.openxmlformats.org/drawingml/2006/main" w="9525">
            <a:solidFill>
              <a:srgbClr val="D9E0E6"/>
            </a:solidFill>
            <a:prstDash val="solid"/>
          </a:ln>
        </p:spPr>
      </p:sp>
      <p:sp>
        <p:nvSpPr>
          <p:cNvPr id="10" name="">
            <a:extLst xmlns:a="http://schemas.openxmlformats.org/drawingml/2006/main">
              <a:ext uri="{FF2B5EF4-FFF2-40B4-BE49-F238E27FC236}">
                <a16:creationId xmlns:a16="http://schemas.microsoft.com/office/drawing/2014/main" id="{53116A95-B147-4661-9181-721B45D5AA2E}"/>
              </a:ext>
            </a:extLst>
          </p:cNvPr>
          <p:cNvSpPr>
            <a:spLocks xmlns:a="http://schemas.openxmlformats.org/drawingml/2006/main" noGrp="1"/>
          </p:cNvSpPr>
          <p:nvPr/>
        </p:nvSpPr>
        <p:spPr>
          <a:xfrm xmlns:a="http://schemas.openxmlformats.org/drawingml/2006/main">
            <a:off x="838200" y="1790700"/>
            <a:ext cx="1600200"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FFFFFF"/>
                </a:solidFill>
              </a:defRPr>
            </a:pPr>
            <a:r>
              <a:rPr sz="1200" b="1">
                <a:solidFill>
                  <a:srgbClr val="FFFFFF"/>
                </a:solidFill>
              </a:rPr>
              <a:t>Hardware record</a:t>
            </a:r>
          </a:p>
        </p:txBody>
      </p:sp>
      <p:sp>
        <p:nvSpPr>
          <p:cNvPr id="11" name="">
            <a:extLst xmlns:a="http://schemas.openxmlformats.org/drawingml/2006/main">
              <a:ext uri="{FF2B5EF4-FFF2-40B4-BE49-F238E27FC236}">
                <a16:creationId xmlns:a16="http://schemas.microsoft.com/office/drawing/2014/main" id="{2BFA7F1D-8138-4F65-AE4C-DB23F1215444}"/>
              </a:ext>
            </a:extLst>
          </p:cNvPr>
          <p:cNvSpPr>
            <a:spLocks xmlns:a="http://schemas.openxmlformats.org/drawingml/2006/main" noGrp="1"/>
          </p:cNvSpPr>
          <p:nvPr/>
        </p:nvSpPr>
        <p:spPr>
          <a:xfrm xmlns:a="http://schemas.openxmlformats.org/drawingml/2006/main">
            <a:off x="2533650" y="1752600"/>
            <a:ext cx="2381250" cy="809625"/>
          </a:xfrm>
          <a:prstGeom xmlns:a="http://schemas.openxmlformats.org/drawingml/2006/main" prst="rect">
            <a:avLst/>
          </a:prstGeom>
          <a:solidFill xmlns:a="http://schemas.openxmlformats.org/drawingml/2006/main">
            <a:srgbClr val="004282"/>
          </a:solidFill>
          <a:ln xmlns:a="http://schemas.openxmlformats.org/drawingml/2006/main" w="9525">
            <a:solidFill>
              <a:srgbClr val="D9E0E6"/>
            </a:solidFill>
            <a:prstDash val="solid"/>
          </a:ln>
        </p:spPr>
      </p:sp>
      <p:sp>
        <p:nvSpPr>
          <p:cNvPr id="12" name="">
            <a:extLst xmlns:a="http://schemas.openxmlformats.org/drawingml/2006/main">
              <a:ext uri="{FF2B5EF4-FFF2-40B4-BE49-F238E27FC236}">
                <a16:creationId xmlns:a16="http://schemas.microsoft.com/office/drawing/2014/main" id="{C0AC6397-B455-49CF-A98A-D1CC2481359C}"/>
              </a:ext>
            </a:extLst>
          </p:cNvPr>
          <p:cNvSpPr>
            <a:spLocks xmlns:a="http://schemas.openxmlformats.org/drawingml/2006/main" noGrp="1"/>
          </p:cNvSpPr>
          <p:nvPr/>
        </p:nvSpPr>
        <p:spPr>
          <a:xfrm xmlns:a="http://schemas.openxmlformats.org/drawingml/2006/main">
            <a:off x="2628900" y="1790700"/>
            <a:ext cx="2190750"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FFFFFF"/>
                </a:solidFill>
              </a:defRPr>
            </a:pPr>
            <a:r>
              <a:rPr sz="1200" b="1">
                <a:solidFill>
                  <a:srgbClr val="FFFFFF"/>
                </a:solidFill>
              </a:rPr>
              <a:t>Method(s)</a:t>
            </a:r>
          </a:p>
        </p:txBody>
      </p:sp>
      <p:sp>
        <p:nvSpPr>
          <p:cNvPr id="13" name="">
            <a:extLst xmlns:a="http://schemas.openxmlformats.org/drawingml/2006/main">
              <a:ext uri="{FF2B5EF4-FFF2-40B4-BE49-F238E27FC236}">
                <a16:creationId xmlns:a16="http://schemas.microsoft.com/office/drawing/2014/main" id="{798E74E3-3B0A-459D-AD98-D4652084E7D4}"/>
              </a:ext>
            </a:extLst>
          </p:cNvPr>
          <p:cNvSpPr>
            <a:spLocks xmlns:a="http://schemas.openxmlformats.org/drawingml/2006/main" noGrp="1"/>
          </p:cNvSpPr>
          <p:nvPr/>
        </p:nvSpPr>
        <p:spPr>
          <a:xfrm xmlns:a="http://schemas.openxmlformats.org/drawingml/2006/main">
            <a:off x="4914900" y="1752600"/>
            <a:ext cx="952500" cy="809625"/>
          </a:xfrm>
          <a:prstGeom xmlns:a="http://schemas.openxmlformats.org/drawingml/2006/main" prst="rect">
            <a:avLst/>
          </a:prstGeom>
          <a:solidFill xmlns:a="http://schemas.openxmlformats.org/drawingml/2006/main">
            <a:srgbClr val="004282"/>
          </a:solidFill>
          <a:ln xmlns:a="http://schemas.openxmlformats.org/drawingml/2006/main" w="9525">
            <a:solidFill>
              <a:srgbClr val="D9E0E6"/>
            </a:solidFill>
            <a:prstDash val="solid"/>
          </a:ln>
        </p:spPr>
      </p:sp>
      <p:sp>
        <p:nvSpPr>
          <p:cNvPr id="14" name="">
            <a:extLst xmlns:a="http://schemas.openxmlformats.org/drawingml/2006/main">
              <a:ext uri="{FF2B5EF4-FFF2-40B4-BE49-F238E27FC236}">
                <a16:creationId xmlns:a16="http://schemas.microsoft.com/office/drawing/2014/main" id="{644388D6-063E-4350-860B-DD7F772AE8B4}"/>
              </a:ext>
            </a:extLst>
          </p:cNvPr>
          <p:cNvSpPr>
            <a:spLocks xmlns:a="http://schemas.openxmlformats.org/drawingml/2006/main" noGrp="1"/>
          </p:cNvSpPr>
          <p:nvPr/>
        </p:nvSpPr>
        <p:spPr>
          <a:xfrm xmlns:a="http://schemas.openxmlformats.org/drawingml/2006/main">
            <a:off x="5010150" y="1790700"/>
            <a:ext cx="762000"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FFFFFF"/>
                </a:solidFill>
              </a:defRPr>
            </a:pPr>
            <a:r>
              <a:rPr sz="1200" b="1">
                <a:solidFill>
                  <a:srgbClr val="FFFFFF"/>
                </a:solidFill>
              </a:rPr>
              <a:t>Runs</a:t>
            </a:r>
          </a:p>
        </p:txBody>
      </p:sp>
      <p:sp>
        <p:nvSpPr>
          <p:cNvPr id="15" name="">
            <a:extLst xmlns:a="http://schemas.openxmlformats.org/drawingml/2006/main">
              <a:ext uri="{FF2B5EF4-FFF2-40B4-BE49-F238E27FC236}">
                <a16:creationId xmlns:a16="http://schemas.microsoft.com/office/drawing/2014/main" id="{E48D77A0-7D39-4648-BEB1-E138F899D4E9}"/>
              </a:ext>
            </a:extLst>
          </p:cNvPr>
          <p:cNvSpPr>
            <a:spLocks xmlns:a="http://schemas.openxmlformats.org/drawingml/2006/main" noGrp="1"/>
          </p:cNvSpPr>
          <p:nvPr/>
        </p:nvSpPr>
        <p:spPr>
          <a:xfrm xmlns:a="http://schemas.openxmlformats.org/drawingml/2006/main">
            <a:off x="5867400" y="1752600"/>
            <a:ext cx="1885950" cy="809625"/>
          </a:xfrm>
          <a:prstGeom xmlns:a="http://schemas.openxmlformats.org/drawingml/2006/main" prst="rect">
            <a:avLst/>
          </a:prstGeom>
          <a:solidFill xmlns:a="http://schemas.openxmlformats.org/drawingml/2006/main">
            <a:srgbClr val="004282"/>
          </a:solidFill>
          <a:ln xmlns:a="http://schemas.openxmlformats.org/drawingml/2006/main" w="9525">
            <a:solidFill>
              <a:srgbClr val="D9E0E6"/>
            </a:solidFill>
            <a:prstDash val="solid"/>
          </a:ln>
        </p:spPr>
      </p:sp>
      <p:sp>
        <p:nvSpPr>
          <p:cNvPr id="16" name="">
            <a:extLst xmlns:a="http://schemas.openxmlformats.org/drawingml/2006/main">
              <a:ext uri="{FF2B5EF4-FFF2-40B4-BE49-F238E27FC236}">
                <a16:creationId xmlns:a16="http://schemas.microsoft.com/office/drawing/2014/main" id="{17F3278E-F0D5-49B3-A66F-A8A5A85E25BE}"/>
              </a:ext>
            </a:extLst>
          </p:cNvPr>
          <p:cNvSpPr>
            <a:spLocks xmlns:a="http://schemas.openxmlformats.org/drawingml/2006/main" noGrp="1"/>
          </p:cNvSpPr>
          <p:nvPr/>
        </p:nvSpPr>
        <p:spPr>
          <a:xfrm xmlns:a="http://schemas.openxmlformats.org/drawingml/2006/main">
            <a:off x="5962650" y="1790700"/>
            <a:ext cx="1695450"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FFFFFF"/>
                </a:solidFill>
              </a:defRPr>
            </a:pPr>
            <a:r>
              <a:rPr sz="1200" b="1">
                <a:solidFill>
                  <a:srgbClr val="FFFFFF"/>
                </a:solidFill>
              </a:rPr>
              <a:t>Recorded outcome</a:t>
            </a:r>
          </a:p>
        </p:txBody>
      </p:sp>
      <p:sp>
        <p:nvSpPr>
          <p:cNvPr id="17" name="">
            <a:extLst xmlns:a="http://schemas.openxmlformats.org/drawingml/2006/main">
              <a:ext uri="{FF2B5EF4-FFF2-40B4-BE49-F238E27FC236}">
                <a16:creationId xmlns:a16="http://schemas.microsoft.com/office/drawing/2014/main" id="{E144142F-7AF3-443D-A0FA-91634837AE7C}"/>
              </a:ext>
            </a:extLst>
          </p:cNvPr>
          <p:cNvSpPr>
            <a:spLocks xmlns:a="http://schemas.openxmlformats.org/drawingml/2006/main" noGrp="1"/>
          </p:cNvSpPr>
          <p:nvPr/>
        </p:nvSpPr>
        <p:spPr>
          <a:xfrm xmlns:a="http://schemas.openxmlformats.org/drawingml/2006/main">
            <a:off x="742950" y="2562225"/>
            <a:ext cx="1790700" cy="809625"/>
          </a:xfrm>
          <a:prstGeom xmlns:a="http://schemas.openxmlformats.org/drawingml/2006/main" prst="rect">
            <a:avLst/>
          </a:prstGeom>
          <a:solidFill xmlns:a="http://schemas.openxmlformats.org/drawingml/2006/main">
            <a:srgbClr val="FFFFFF"/>
          </a:solidFill>
          <a:ln xmlns:a="http://schemas.openxmlformats.org/drawingml/2006/main" w="9525">
            <a:solidFill>
              <a:srgbClr val="D9E0E6"/>
            </a:solidFill>
            <a:prstDash val="solid"/>
          </a:ln>
        </p:spPr>
      </p:sp>
      <p:sp>
        <p:nvSpPr>
          <p:cNvPr id="18" name="">
            <a:extLst xmlns:a="http://schemas.openxmlformats.org/drawingml/2006/main">
              <a:ext uri="{FF2B5EF4-FFF2-40B4-BE49-F238E27FC236}">
                <a16:creationId xmlns:a16="http://schemas.microsoft.com/office/drawing/2014/main" id="{3A4CBC8D-CC13-45CA-B414-A1BA2BCCF639}"/>
              </a:ext>
            </a:extLst>
          </p:cNvPr>
          <p:cNvSpPr>
            <a:spLocks xmlns:a="http://schemas.openxmlformats.org/drawingml/2006/main" noGrp="1"/>
          </p:cNvSpPr>
          <p:nvPr/>
        </p:nvSpPr>
        <p:spPr>
          <a:xfrm xmlns:a="http://schemas.openxmlformats.org/drawingml/2006/main">
            <a:off x="838200" y="2600325"/>
            <a:ext cx="1600200"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52538"/>
                </a:solidFill>
              </a:defRPr>
            </a:pPr>
            <a:r>
              <a:rPr sz="1125" b="0">
                <a:solidFill>
                  <a:srgbClr val="152538"/>
                </a:solidFill>
              </a:rPr>
              <a:t>Registered conical scans</a:t>
            </a:r>
          </a:p>
        </p:txBody>
      </p:sp>
      <p:sp>
        <p:nvSpPr>
          <p:cNvPr id="19" name="">
            <a:extLst xmlns:a="http://schemas.openxmlformats.org/drawingml/2006/main">
              <a:ext uri="{FF2B5EF4-FFF2-40B4-BE49-F238E27FC236}">
                <a16:creationId xmlns:a16="http://schemas.microsoft.com/office/drawing/2014/main" id="{7DA4BAF3-6E24-4B43-A019-8FAD3537990C}"/>
              </a:ext>
            </a:extLst>
          </p:cNvPr>
          <p:cNvSpPr>
            <a:spLocks xmlns:a="http://schemas.openxmlformats.org/drawingml/2006/main" noGrp="1"/>
          </p:cNvSpPr>
          <p:nvPr/>
        </p:nvSpPr>
        <p:spPr>
          <a:xfrm xmlns:a="http://schemas.openxmlformats.org/drawingml/2006/main">
            <a:off x="2533650" y="2562225"/>
            <a:ext cx="2381250" cy="809625"/>
          </a:xfrm>
          <a:prstGeom xmlns:a="http://schemas.openxmlformats.org/drawingml/2006/main" prst="rect">
            <a:avLst/>
          </a:prstGeom>
          <a:solidFill xmlns:a="http://schemas.openxmlformats.org/drawingml/2006/main">
            <a:srgbClr val="FFFFFF"/>
          </a:solidFill>
          <a:ln xmlns:a="http://schemas.openxmlformats.org/drawingml/2006/main" w="9525">
            <a:solidFill>
              <a:srgbClr val="D9E0E6"/>
            </a:solidFill>
            <a:prstDash val="solid"/>
          </a:ln>
        </p:spPr>
      </p:sp>
      <p:sp>
        <p:nvSpPr>
          <p:cNvPr id="20" name="">
            <a:extLst xmlns:a="http://schemas.openxmlformats.org/drawingml/2006/main">
              <a:ext uri="{FF2B5EF4-FFF2-40B4-BE49-F238E27FC236}">
                <a16:creationId xmlns:a16="http://schemas.microsoft.com/office/drawing/2014/main" id="{49A57DE5-56AB-4914-BA8A-0D7C9D59122B}"/>
              </a:ext>
            </a:extLst>
          </p:cNvPr>
          <p:cNvSpPr>
            <a:spLocks xmlns:a="http://schemas.openxmlformats.org/drawingml/2006/main" noGrp="1"/>
          </p:cNvSpPr>
          <p:nvPr/>
        </p:nvSpPr>
        <p:spPr>
          <a:xfrm xmlns:a="http://schemas.openxmlformats.org/drawingml/2006/main">
            <a:off x="2628900" y="2600325"/>
            <a:ext cx="2190750"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52538"/>
                </a:solidFill>
              </a:defRPr>
            </a:pPr>
            <a:r>
              <a:rPr sz="1125" b="0">
                <a:solidFill>
                  <a:srgbClr val="152538"/>
                </a:solidFill>
              </a:rPr>
              <a:t>acquisition</a:t>
            </a:r>
          </a:p>
        </p:txBody>
      </p:sp>
      <p:sp>
        <p:nvSpPr>
          <p:cNvPr id="21" name="">
            <a:extLst xmlns:a="http://schemas.openxmlformats.org/drawingml/2006/main">
              <a:ext uri="{FF2B5EF4-FFF2-40B4-BE49-F238E27FC236}">
                <a16:creationId xmlns:a16="http://schemas.microsoft.com/office/drawing/2014/main" id="{ADB7BE38-6910-4FE7-8452-F9EFA5C9C46C}"/>
              </a:ext>
            </a:extLst>
          </p:cNvPr>
          <p:cNvSpPr>
            <a:spLocks xmlns:a="http://schemas.openxmlformats.org/drawingml/2006/main" noGrp="1"/>
          </p:cNvSpPr>
          <p:nvPr/>
        </p:nvSpPr>
        <p:spPr>
          <a:xfrm xmlns:a="http://schemas.openxmlformats.org/drawingml/2006/main">
            <a:off x="4914900" y="2562225"/>
            <a:ext cx="952500" cy="809625"/>
          </a:xfrm>
          <a:prstGeom xmlns:a="http://schemas.openxmlformats.org/drawingml/2006/main" prst="rect">
            <a:avLst/>
          </a:prstGeom>
          <a:solidFill xmlns:a="http://schemas.openxmlformats.org/drawingml/2006/main">
            <a:srgbClr val="FFFFFF"/>
          </a:solidFill>
          <a:ln xmlns:a="http://schemas.openxmlformats.org/drawingml/2006/main" w="9525">
            <a:solidFill>
              <a:srgbClr val="D9E0E6"/>
            </a:solidFill>
            <a:prstDash val="solid"/>
          </a:ln>
        </p:spPr>
      </p:sp>
      <p:sp>
        <p:nvSpPr>
          <p:cNvPr id="22" name="">
            <a:extLst xmlns:a="http://schemas.openxmlformats.org/drawingml/2006/main">
              <a:ext uri="{FF2B5EF4-FFF2-40B4-BE49-F238E27FC236}">
                <a16:creationId xmlns:a16="http://schemas.microsoft.com/office/drawing/2014/main" id="{272A2718-5E60-4EA1-A483-322A6DFEA5CB}"/>
              </a:ext>
            </a:extLst>
          </p:cNvPr>
          <p:cNvSpPr>
            <a:spLocks xmlns:a="http://schemas.openxmlformats.org/drawingml/2006/main" noGrp="1"/>
          </p:cNvSpPr>
          <p:nvPr/>
        </p:nvSpPr>
        <p:spPr>
          <a:xfrm xmlns:a="http://schemas.openxmlformats.org/drawingml/2006/main">
            <a:off x="5010150" y="2600325"/>
            <a:ext cx="762000"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52538"/>
                </a:solidFill>
              </a:defRPr>
            </a:pPr>
            <a:r>
              <a:rPr sz="1125" b="0">
                <a:solidFill>
                  <a:srgbClr val="152538"/>
                </a:solidFill>
              </a:rPr>
              <a:t>26 / size</a:t>
            </a:r>
          </a:p>
        </p:txBody>
      </p:sp>
      <p:sp>
        <p:nvSpPr>
          <p:cNvPr id="23" name="">
            <a:extLst xmlns:a="http://schemas.openxmlformats.org/drawingml/2006/main">
              <a:ext uri="{FF2B5EF4-FFF2-40B4-BE49-F238E27FC236}">
                <a16:creationId xmlns:a16="http://schemas.microsoft.com/office/drawing/2014/main" id="{82B85EF5-8F00-456E-86FE-AD6FF84651D1}"/>
              </a:ext>
            </a:extLst>
          </p:cNvPr>
          <p:cNvSpPr>
            <a:spLocks xmlns:a="http://schemas.openxmlformats.org/drawingml/2006/main" noGrp="1"/>
          </p:cNvSpPr>
          <p:nvPr/>
        </p:nvSpPr>
        <p:spPr>
          <a:xfrm xmlns:a="http://schemas.openxmlformats.org/drawingml/2006/main">
            <a:off x="5867400" y="2562225"/>
            <a:ext cx="1885950" cy="809625"/>
          </a:xfrm>
          <a:prstGeom xmlns:a="http://schemas.openxmlformats.org/drawingml/2006/main" prst="rect">
            <a:avLst/>
          </a:prstGeom>
          <a:solidFill xmlns:a="http://schemas.openxmlformats.org/drawingml/2006/main">
            <a:srgbClr val="FFFFFF"/>
          </a:solidFill>
          <a:ln xmlns:a="http://schemas.openxmlformats.org/drawingml/2006/main" w="9525">
            <a:solidFill>
              <a:srgbClr val="D9E0E6"/>
            </a:solidFill>
            <a:prstDash val="solid"/>
          </a:ln>
        </p:spPr>
      </p:sp>
      <p:sp>
        <p:nvSpPr>
          <p:cNvPr id="24" name="">
            <a:extLst xmlns:a="http://schemas.openxmlformats.org/drawingml/2006/main">
              <a:ext uri="{FF2B5EF4-FFF2-40B4-BE49-F238E27FC236}">
                <a16:creationId xmlns:a16="http://schemas.microsoft.com/office/drawing/2014/main" id="{0C762AE1-BB33-4268-B449-789E15E97C2F}"/>
              </a:ext>
            </a:extLst>
          </p:cNvPr>
          <p:cNvSpPr>
            <a:spLocks xmlns:a="http://schemas.openxmlformats.org/drawingml/2006/main" noGrp="1"/>
          </p:cNvSpPr>
          <p:nvPr/>
        </p:nvSpPr>
        <p:spPr>
          <a:xfrm xmlns:a="http://schemas.openxmlformats.org/drawingml/2006/main">
            <a:off x="5962650" y="2600325"/>
            <a:ext cx="1695450"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52538"/>
                </a:solidFill>
              </a:defRPr>
            </a:pPr>
            <a:r>
              <a:rPr sz="1125" b="0">
                <a:solidFill>
                  <a:srgbClr val="152538"/>
                </a:solidFill>
              </a:rPr>
              <a:t>78 / 78 valid traces</a:t>
            </a:r>
          </a:p>
        </p:txBody>
      </p:sp>
      <p:sp>
        <p:nvSpPr>
          <p:cNvPr id="25" name="">
            <a:extLst xmlns:a="http://schemas.openxmlformats.org/drawingml/2006/main">
              <a:ext uri="{FF2B5EF4-FFF2-40B4-BE49-F238E27FC236}">
                <a16:creationId xmlns:a16="http://schemas.microsoft.com/office/drawing/2014/main" id="{54FF1959-42B5-4326-8519-18B4C62E5596}"/>
              </a:ext>
            </a:extLst>
          </p:cNvPr>
          <p:cNvSpPr>
            <a:spLocks xmlns:a="http://schemas.openxmlformats.org/drawingml/2006/main" noGrp="1"/>
          </p:cNvSpPr>
          <p:nvPr/>
        </p:nvSpPr>
        <p:spPr>
          <a:xfrm xmlns:a="http://schemas.openxmlformats.org/drawingml/2006/main">
            <a:off x="742950" y="3371850"/>
            <a:ext cx="1790700" cy="809625"/>
          </a:xfrm>
          <a:prstGeom xmlns:a="http://schemas.openxmlformats.org/drawingml/2006/main" prst="rect">
            <a:avLst/>
          </a:prstGeom>
          <a:solidFill xmlns:a="http://schemas.openxmlformats.org/drawingml/2006/main">
            <a:srgbClr val="E8F1F8"/>
          </a:solidFill>
          <a:ln xmlns:a="http://schemas.openxmlformats.org/drawingml/2006/main" w="9525">
            <a:solidFill>
              <a:srgbClr val="D9E0E6"/>
            </a:solidFill>
            <a:prstDash val="solid"/>
          </a:ln>
        </p:spPr>
      </p:sp>
      <p:sp>
        <p:nvSpPr>
          <p:cNvPr id="26" name="">
            <a:extLst xmlns:a="http://schemas.openxmlformats.org/drawingml/2006/main">
              <a:ext uri="{FF2B5EF4-FFF2-40B4-BE49-F238E27FC236}">
                <a16:creationId xmlns:a16="http://schemas.microsoft.com/office/drawing/2014/main" id="{9E978801-4DA3-4B21-9625-3B06424151D2}"/>
              </a:ext>
            </a:extLst>
          </p:cNvPr>
          <p:cNvSpPr>
            <a:spLocks xmlns:a="http://schemas.openxmlformats.org/drawingml/2006/main" noGrp="1"/>
          </p:cNvSpPr>
          <p:nvPr/>
        </p:nvSpPr>
        <p:spPr>
          <a:xfrm xmlns:a="http://schemas.openxmlformats.org/drawingml/2006/main">
            <a:off x="838200" y="3409950"/>
            <a:ext cx="1600200"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52538"/>
                </a:solidFill>
              </a:defRPr>
            </a:pPr>
            <a:r>
              <a:rPr sz="1125" b="0">
                <a:solidFill>
                  <a:srgbClr val="152538"/>
                </a:solidFill>
              </a:rPr>
              <a:t>M12 fixed-seed</a:t>
            </a:r>
          </a:p>
        </p:txBody>
      </p:sp>
      <p:sp>
        <p:nvSpPr>
          <p:cNvPr id="27" name="">
            <a:extLst xmlns:a="http://schemas.openxmlformats.org/drawingml/2006/main">
              <a:ext uri="{FF2B5EF4-FFF2-40B4-BE49-F238E27FC236}">
                <a16:creationId xmlns:a16="http://schemas.microsoft.com/office/drawing/2014/main" id="{8EA043AB-2888-42A5-9E37-FEE2623C6078}"/>
              </a:ext>
            </a:extLst>
          </p:cNvPr>
          <p:cNvSpPr>
            <a:spLocks xmlns:a="http://schemas.openxmlformats.org/drawingml/2006/main" noGrp="1"/>
          </p:cNvSpPr>
          <p:nvPr/>
        </p:nvSpPr>
        <p:spPr>
          <a:xfrm xmlns:a="http://schemas.openxmlformats.org/drawingml/2006/main">
            <a:off x="2533650" y="3371850"/>
            <a:ext cx="2381250" cy="809625"/>
          </a:xfrm>
          <a:prstGeom xmlns:a="http://schemas.openxmlformats.org/drawingml/2006/main" prst="rect">
            <a:avLst/>
          </a:prstGeom>
          <a:solidFill xmlns:a="http://schemas.openxmlformats.org/drawingml/2006/main">
            <a:srgbClr val="E8F1F8"/>
          </a:solidFill>
          <a:ln xmlns:a="http://schemas.openxmlformats.org/drawingml/2006/main" w="9525">
            <a:solidFill>
              <a:srgbClr val="D9E0E6"/>
            </a:solidFill>
            <a:prstDash val="solid"/>
          </a:ln>
        </p:spPr>
      </p:sp>
      <p:sp>
        <p:nvSpPr>
          <p:cNvPr id="28" name="">
            <a:extLst xmlns:a="http://schemas.openxmlformats.org/drawingml/2006/main">
              <a:ext uri="{FF2B5EF4-FFF2-40B4-BE49-F238E27FC236}">
                <a16:creationId xmlns:a16="http://schemas.microsoft.com/office/drawing/2014/main" id="{265C53AB-B36C-4F32-96BE-01322DD3B64A}"/>
              </a:ext>
            </a:extLst>
          </p:cNvPr>
          <p:cNvSpPr>
            <a:spLocks xmlns:a="http://schemas.openxmlformats.org/drawingml/2006/main" noGrp="1"/>
          </p:cNvSpPr>
          <p:nvPr/>
        </p:nvSpPr>
        <p:spPr>
          <a:xfrm xmlns:a="http://schemas.openxmlformats.org/drawingml/2006/main">
            <a:off x="2628900" y="3409950"/>
            <a:ext cx="2190750"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52538"/>
                </a:solidFill>
              </a:defRPr>
            </a:pPr>
            <a:r>
              <a:rPr sz="1125" b="0">
                <a:solidFill>
                  <a:srgbClr val="152538"/>
                </a:solidFill>
              </a:rPr>
              <a:t>PGS-O, PGS-G, Outward, Direct-4C</a:t>
            </a:r>
          </a:p>
        </p:txBody>
      </p:sp>
      <p:sp>
        <p:nvSpPr>
          <p:cNvPr id="29" name="">
            <a:extLst xmlns:a="http://schemas.openxmlformats.org/drawingml/2006/main">
              <a:ext uri="{FF2B5EF4-FFF2-40B4-BE49-F238E27FC236}">
                <a16:creationId xmlns:a16="http://schemas.microsoft.com/office/drawing/2014/main" id="{3D2C46FA-E534-4571-BC7E-B101292ADC88}"/>
              </a:ext>
            </a:extLst>
          </p:cNvPr>
          <p:cNvSpPr>
            <a:spLocks xmlns:a="http://schemas.openxmlformats.org/drawingml/2006/main" noGrp="1"/>
          </p:cNvSpPr>
          <p:nvPr/>
        </p:nvSpPr>
        <p:spPr>
          <a:xfrm xmlns:a="http://schemas.openxmlformats.org/drawingml/2006/main">
            <a:off x="4914900" y="3371850"/>
            <a:ext cx="952500" cy="809625"/>
          </a:xfrm>
          <a:prstGeom xmlns:a="http://schemas.openxmlformats.org/drawingml/2006/main" prst="rect">
            <a:avLst/>
          </a:prstGeom>
          <a:solidFill xmlns:a="http://schemas.openxmlformats.org/drawingml/2006/main">
            <a:srgbClr val="E8F1F8"/>
          </a:solidFill>
          <a:ln xmlns:a="http://schemas.openxmlformats.org/drawingml/2006/main" w="9525">
            <a:solidFill>
              <a:srgbClr val="D9E0E6"/>
            </a:solidFill>
            <a:prstDash val="solid"/>
          </a:ln>
        </p:spPr>
      </p:sp>
      <p:sp>
        <p:nvSpPr>
          <p:cNvPr id="30" name="">
            <a:extLst xmlns:a="http://schemas.openxmlformats.org/drawingml/2006/main">
              <a:ext uri="{FF2B5EF4-FFF2-40B4-BE49-F238E27FC236}">
                <a16:creationId xmlns:a16="http://schemas.microsoft.com/office/drawing/2014/main" id="{6E2AF8CE-24EB-477D-8034-C74781D604D6}"/>
              </a:ext>
            </a:extLst>
          </p:cNvPr>
          <p:cNvSpPr>
            <a:spLocks xmlns:a="http://schemas.openxmlformats.org/drawingml/2006/main" noGrp="1"/>
          </p:cNvSpPr>
          <p:nvPr/>
        </p:nvSpPr>
        <p:spPr>
          <a:xfrm xmlns:a="http://schemas.openxmlformats.org/drawingml/2006/main">
            <a:off x="5010150" y="3409950"/>
            <a:ext cx="762000"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52538"/>
                </a:solidFill>
              </a:defRPr>
            </a:pPr>
            <a:r>
              <a:rPr sz="1125" b="0">
                <a:solidFill>
                  <a:srgbClr val="152538"/>
                </a:solidFill>
              </a:rPr>
              <a:t>1 / method</a:t>
            </a:r>
          </a:p>
        </p:txBody>
      </p:sp>
      <p:sp>
        <p:nvSpPr>
          <p:cNvPr id="31" name="">
            <a:extLst xmlns:a="http://schemas.openxmlformats.org/drawingml/2006/main">
              <a:ext uri="{FF2B5EF4-FFF2-40B4-BE49-F238E27FC236}">
                <a16:creationId xmlns:a16="http://schemas.microsoft.com/office/drawing/2014/main" id="{D301B8B4-36F7-4AB1-8C01-E65CCBE4548F}"/>
              </a:ext>
            </a:extLst>
          </p:cNvPr>
          <p:cNvSpPr>
            <a:spLocks xmlns:a="http://schemas.openxmlformats.org/drawingml/2006/main" noGrp="1"/>
          </p:cNvSpPr>
          <p:nvPr/>
        </p:nvSpPr>
        <p:spPr>
          <a:xfrm xmlns:a="http://schemas.openxmlformats.org/drawingml/2006/main">
            <a:off x="5867400" y="3371850"/>
            <a:ext cx="1885950" cy="809625"/>
          </a:xfrm>
          <a:prstGeom xmlns:a="http://schemas.openxmlformats.org/drawingml/2006/main" prst="rect">
            <a:avLst/>
          </a:prstGeom>
          <a:solidFill xmlns:a="http://schemas.openxmlformats.org/drawingml/2006/main">
            <a:srgbClr val="E8F1F8"/>
          </a:solidFill>
          <a:ln xmlns:a="http://schemas.openxmlformats.org/drawingml/2006/main" w="9525">
            <a:solidFill>
              <a:srgbClr val="D9E0E6"/>
            </a:solidFill>
            <a:prstDash val="solid"/>
          </a:ln>
        </p:spPr>
      </p:sp>
      <p:sp>
        <p:nvSpPr>
          <p:cNvPr id="32" name="">
            <a:extLst xmlns:a="http://schemas.openxmlformats.org/drawingml/2006/main">
              <a:ext uri="{FF2B5EF4-FFF2-40B4-BE49-F238E27FC236}">
                <a16:creationId xmlns:a16="http://schemas.microsoft.com/office/drawing/2014/main" id="{871EE39A-9EFC-4AB9-8B0A-C62F7ACBF0F0}"/>
              </a:ext>
            </a:extLst>
          </p:cNvPr>
          <p:cNvSpPr>
            <a:spLocks xmlns:a="http://schemas.openxmlformats.org/drawingml/2006/main" noGrp="1"/>
          </p:cNvSpPr>
          <p:nvPr/>
        </p:nvSpPr>
        <p:spPr>
          <a:xfrm xmlns:a="http://schemas.openxmlformats.org/drawingml/2006/main">
            <a:off x="5962650" y="3409950"/>
            <a:ext cx="1695450"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52538"/>
                </a:solidFill>
              </a:defRPr>
            </a:pPr>
            <a:r>
              <a:rPr sz="1125" b="0">
                <a:solidFill>
                  <a:srgbClr val="152538"/>
                </a:solidFill>
              </a:rPr>
              <a:t>three terminal; Outward after extension</a:t>
            </a:r>
          </a:p>
        </p:txBody>
      </p:sp>
      <p:sp>
        <p:nvSpPr>
          <p:cNvPr id="33" name="">
            <a:extLst xmlns:a="http://schemas.openxmlformats.org/drawingml/2006/main">
              <a:ext uri="{FF2B5EF4-FFF2-40B4-BE49-F238E27FC236}">
                <a16:creationId xmlns:a16="http://schemas.microsoft.com/office/drawing/2014/main" id="{6629DB6C-D269-4F8E-AB88-33AD583D8F69}"/>
              </a:ext>
            </a:extLst>
          </p:cNvPr>
          <p:cNvSpPr>
            <a:spLocks xmlns:a="http://schemas.openxmlformats.org/drawingml/2006/main" noGrp="1"/>
          </p:cNvSpPr>
          <p:nvPr/>
        </p:nvSpPr>
        <p:spPr>
          <a:xfrm xmlns:a="http://schemas.openxmlformats.org/drawingml/2006/main">
            <a:off x="742950" y="4181475"/>
            <a:ext cx="1790700" cy="809625"/>
          </a:xfrm>
          <a:prstGeom xmlns:a="http://schemas.openxmlformats.org/drawingml/2006/main" prst="rect">
            <a:avLst/>
          </a:prstGeom>
          <a:solidFill xmlns:a="http://schemas.openxmlformats.org/drawingml/2006/main">
            <a:srgbClr val="FFFFFF"/>
          </a:solidFill>
          <a:ln xmlns:a="http://schemas.openxmlformats.org/drawingml/2006/main" w="9525">
            <a:solidFill>
              <a:srgbClr val="D9E0E6"/>
            </a:solidFill>
            <a:prstDash val="solid"/>
          </a:ln>
        </p:spPr>
      </p:sp>
      <p:sp>
        <p:nvSpPr>
          <p:cNvPr id="34" name="">
            <a:extLst xmlns:a="http://schemas.openxmlformats.org/drawingml/2006/main">
              <a:ext uri="{FF2B5EF4-FFF2-40B4-BE49-F238E27FC236}">
                <a16:creationId xmlns:a16="http://schemas.microsoft.com/office/drawing/2014/main" id="{0396B8C2-E4B2-4EB0-B367-12738F8F8C44}"/>
              </a:ext>
            </a:extLst>
          </p:cNvPr>
          <p:cNvSpPr>
            <a:spLocks xmlns:a="http://schemas.openxmlformats.org/drawingml/2006/main" noGrp="1"/>
          </p:cNvSpPr>
          <p:nvPr/>
        </p:nvSpPr>
        <p:spPr>
          <a:xfrm xmlns:a="http://schemas.openxmlformats.org/drawingml/2006/main">
            <a:off x="838200" y="4219575"/>
            <a:ext cx="1600200"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52538"/>
                </a:solidFill>
              </a:defRPr>
            </a:pPr>
            <a:r>
              <a:rPr sz="1125" b="0">
                <a:solidFill>
                  <a:srgbClr val="152538"/>
                </a:solidFill>
              </a:rPr>
              <a:t>M10 fixed-start</a:t>
            </a:r>
          </a:p>
        </p:txBody>
      </p:sp>
      <p:sp>
        <p:nvSpPr>
          <p:cNvPr id="35" name="">
            <a:extLst xmlns:a="http://schemas.openxmlformats.org/drawingml/2006/main">
              <a:ext uri="{FF2B5EF4-FFF2-40B4-BE49-F238E27FC236}">
                <a16:creationId xmlns:a16="http://schemas.microsoft.com/office/drawing/2014/main" id="{48CE4935-544F-4FE0-B6FD-54AA653BFC58}"/>
              </a:ext>
            </a:extLst>
          </p:cNvPr>
          <p:cNvSpPr>
            <a:spLocks xmlns:a="http://schemas.openxmlformats.org/drawingml/2006/main" noGrp="1"/>
          </p:cNvSpPr>
          <p:nvPr/>
        </p:nvSpPr>
        <p:spPr>
          <a:xfrm xmlns:a="http://schemas.openxmlformats.org/drawingml/2006/main">
            <a:off x="2533650" y="4181475"/>
            <a:ext cx="2381250" cy="809625"/>
          </a:xfrm>
          <a:prstGeom xmlns:a="http://schemas.openxmlformats.org/drawingml/2006/main" prst="rect">
            <a:avLst/>
          </a:prstGeom>
          <a:solidFill xmlns:a="http://schemas.openxmlformats.org/drawingml/2006/main">
            <a:srgbClr val="FFFFFF"/>
          </a:solidFill>
          <a:ln xmlns:a="http://schemas.openxmlformats.org/drawingml/2006/main" w="9525">
            <a:solidFill>
              <a:srgbClr val="D9E0E6"/>
            </a:solidFill>
            <a:prstDash val="solid"/>
          </a:ln>
        </p:spPr>
      </p:sp>
      <p:sp>
        <p:nvSpPr>
          <p:cNvPr id="36" name="">
            <a:extLst xmlns:a="http://schemas.openxmlformats.org/drawingml/2006/main">
              <a:ext uri="{FF2B5EF4-FFF2-40B4-BE49-F238E27FC236}">
                <a16:creationId xmlns:a16="http://schemas.microsoft.com/office/drawing/2014/main" id="{F7110F79-1266-40BC-8A3A-DC98851F1621}"/>
              </a:ext>
            </a:extLst>
          </p:cNvPr>
          <p:cNvSpPr>
            <a:spLocks xmlns:a="http://schemas.openxmlformats.org/drawingml/2006/main" noGrp="1"/>
          </p:cNvSpPr>
          <p:nvPr/>
        </p:nvSpPr>
        <p:spPr>
          <a:xfrm xmlns:a="http://schemas.openxmlformats.org/drawingml/2006/main">
            <a:off x="2628900" y="4219575"/>
            <a:ext cx="2190750"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52538"/>
                </a:solidFill>
              </a:defRPr>
            </a:pPr>
            <a:r>
              <a:rPr sz="1125" b="0">
                <a:solidFill>
                  <a:srgbClr val="152538"/>
                </a:solidFill>
              </a:rPr>
              <a:t>PGS-G</a:t>
            </a:r>
          </a:p>
        </p:txBody>
      </p:sp>
      <p:sp>
        <p:nvSpPr>
          <p:cNvPr id="37" name="">
            <a:extLst xmlns:a="http://schemas.openxmlformats.org/drawingml/2006/main">
              <a:ext uri="{FF2B5EF4-FFF2-40B4-BE49-F238E27FC236}">
                <a16:creationId xmlns:a16="http://schemas.microsoft.com/office/drawing/2014/main" id="{ABCBB792-6243-4FDF-95A0-39C5EF71B477}"/>
              </a:ext>
            </a:extLst>
          </p:cNvPr>
          <p:cNvSpPr>
            <a:spLocks xmlns:a="http://schemas.openxmlformats.org/drawingml/2006/main" noGrp="1"/>
          </p:cNvSpPr>
          <p:nvPr/>
        </p:nvSpPr>
        <p:spPr>
          <a:xfrm xmlns:a="http://schemas.openxmlformats.org/drawingml/2006/main">
            <a:off x="4914900" y="4181475"/>
            <a:ext cx="952500" cy="809625"/>
          </a:xfrm>
          <a:prstGeom xmlns:a="http://schemas.openxmlformats.org/drawingml/2006/main" prst="rect">
            <a:avLst/>
          </a:prstGeom>
          <a:solidFill xmlns:a="http://schemas.openxmlformats.org/drawingml/2006/main">
            <a:srgbClr val="FFFFFF"/>
          </a:solidFill>
          <a:ln xmlns:a="http://schemas.openxmlformats.org/drawingml/2006/main" w="9525">
            <a:solidFill>
              <a:srgbClr val="D9E0E6"/>
            </a:solidFill>
            <a:prstDash val="solid"/>
          </a:ln>
        </p:spPr>
      </p:sp>
      <p:sp>
        <p:nvSpPr>
          <p:cNvPr id="38" name="">
            <a:extLst xmlns:a="http://schemas.openxmlformats.org/drawingml/2006/main">
              <a:ext uri="{FF2B5EF4-FFF2-40B4-BE49-F238E27FC236}">
                <a16:creationId xmlns:a16="http://schemas.microsoft.com/office/drawing/2014/main" id="{2B92D8CF-5633-4EF6-B397-51E615C17173}"/>
              </a:ext>
            </a:extLst>
          </p:cNvPr>
          <p:cNvSpPr>
            <a:spLocks xmlns:a="http://schemas.openxmlformats.org/drawingml/2006/main" noGrp="1"/>
          </p:cNvSpPr>
          <p:nvPr/>
        </p:nvSpPr>
        <p:spPr>
          <a:xfrm xmlns:a="http://schemas.openxmlformats.org/drawingml/2006/main">
            <a:off x="5010150" y="4219575"/>
            <a:ext cx="762000"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52538"/>
                </a:solidFill>
              </a:defRPr>
            </a:pPr>
            <a:r>
              <a:rPr sz="1125" b="0">
                <a:solidFill>
                  <a:srgbClr val="152538"/>
                </a:solidFill>
              </a:rPr>
              <a:t>2</a:t>
            </a:r>
          </a:p>
        </p:txBody>
      </p:sp>
      <p:sp>
        <p:nvSpPr>
          <p:cNvPr id="39" name="">
            <a:extLst xmlns:a="http://schemas.openxmlformats.org/drawingml/2006/main">
              <a:ext uri="{FF2B5EF4-FFF2-40B4-BE49-F238E27FC236}">
                <a16:creationId xmlns:a16="http://schemas.microsoft.com/office/drawing/2014/main" id="{206C6691-125F-464E-BC92-74219291C311}"/>
              </a:ext>
            </a:extLst>
          </p:cNvPr>
          <p:cNvSpPr>
            <a:spLocks xmlns:a="http://schemas.openxmlformats.org/drawingml/2006/main" noGrp="1"/>
          </p:cNvSpPr>
          <p:nvPr/>
        </p:nvSpPr>
        <p:spPr>
          <a:xfrm xmlns:a="http://schemas.openxmlformats.org/drawingml/2006/main">
            <a:off x="5867400" y="4181475"/>
            <a:ext cx="1885950" cy="809625"/>
          </a:xfrm>
          <a:prstGeom xmlns:a="http://schemas.openxmlformats.org/drawingml/2006/main" prst="rect">
            <a:avLst/>
          </a:prstGeom>
          <a:solidFill xmlns:a="http://schemas.openxmlformats.org/drawingml/2006/main">
            <a:srgbClr val="FFFFFF"/>
          </a:solidFill>
          <a:ln xmlns:a="http://schemas.openxmlformats.org/drawingml/2006/main" w="9525">
            <a:solidFill>
              <a:srgbClr val="D9E0E6"/>
            </a:solidFill>
            <a:prstDash val="solid"/>
          </a:ln>
        </p:spPr>
      </p:sp>
      <p:sp>
        <p:nvSpPr>
          <p:cNvPr id="40" name="">
            <a:extLst xmlns:a="http://schemas.openxmlformats.org/drawingml/2006/main">
              <a:ext uri="{FF2B5EF4-FFF2-40B4-BE49-F238E27FC236}">
                <a16:creationId xmlns:a16="http://schemas.microsoft.com/office/drawing/2014/main" id="{7C7E310C-33F0-4852-9FA7-54B7FCC25B55}"/>
              </a:ext>
            </a:extLst>
          </p:cNvPr>
          <p:cNvSpPr>
            <a:spLocks xmlns:a="http://schemas.openxmlformats.org/drawingml/2006/main" noGrp="1"/>
          </p:cNvSpPr>
          <p:nvPr/>
        </p:nvSpPr>
        <p:spPr>
          <a:xfrm xmlns:a="http://schemas.openxmlformats.org/drawingml/2006/main">
            <a:off x="5962650" y="4219575"/>
            <a:ext cx="1695450"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52538"/>
                </a:solidFill>
              </a:defRPr>
            </a:pPr>
            <a:r>
              <a:rPr sz="1125" b="0">
                <a:solidFill>
                  <a:srgbClr val="152538"/>
                </a:solidFill>
              </a:rPr>
              <a:t>both reached terminal depth</a:t>
            </a:r>
          </a:p>
        </p:txBody>
      </p:sp>
      <p:sp>
        <p:nvSpPr>
          <p:cNvPr id="41" name="">
            <a:extLst xmlns:a="http://schemas.openxmlformats.org/drawingml/2006/main">
              <a:ext uri="{FF2B5EF4-FFF2-40B4-BE49-F238E27FC236}">
                <a16:creationId xmlns:a16="http://schemas.microsoft.com/office/drawing/2014/main" id="{368EF469-ABE0-42B7-BEA3-39AA09C769C4}"/>
              </a:ext>
            </a:extLst>
          </p:cNvPr>
          <p:cNvSpPr>
            <a:spLocks xmlns:a="http://schemas.openxmlformats.org/drawingml/2006/main" noGrp="1"/>
          </p:cNvSpPr>
          <p:nvPr/>
        </p:nvSpPr>
        <p:spPr>
          <a:xfrm xmlns:a="http://schemas.openxmlformats.org/drawingml/2006/main">
            <a:off x="7981950" y="1676400"/>
            <a:ext cx="3352800" cy="3390900"/>
          </a:xfrm>
          <a:prstGeom xmlns:a="http://schemas.openxmlformats.org/drawingml/2006/main" prst="roundRect">
            <a:avLst>
              <a:gd name="adj" fmla="val 2273"/>
            </a:avLst>
          </a:prstGeom>
          <a:solidFill xmlns:a="http://schemas.openxmlformats.org/drawingml/2006/main">
            <a:srgbClr val="FFFFFF"/>
          </a:solidFill>
          <a:ln xmlns:a="http://schemas.openxmlformats.org/drawingml/2006/main" w="9525">
            <a:solidFill>
              <a:srgbClr val="D9E0E6"/>
            </a:solidFill>
            <a:prstDash val="solid"/>
          </a:ln>
        </p:spPr>
      </p:sp>
      <p:pic>
        <p:nvPicPr>
          <p:cNvPr id="88" name=""/>
          <p:cNvPicPr>
            <a:picLocks xmlns:a="http://schemas.openxmlformats.org/drawingml/2006/main" noChangeAspect="1"/>
          </p:cNvPicPr>
          <p:nvPr/>
        </p:nvPicPr>
        <p:blipFill>
          <a:blip xmlns:r="http://schemas.openxmlformats.org/officeDocument/2006/relationships" xmlns:a="http://schemas.openxmlformats.org/drawingml/2006/main" r:embed="R26a21eaafc404c8b"/>
          <a:stretch xmlns:a="http://schemas.openxmlformats.org/drawingml/2006/main"/>
        </p:blipFill>
        <p:spPr>
          <a:xfrm xmlns:a="http://schemas.openxmlformats.org/drawingml/2006/main">
            <a:off x="8080563" y="1752600"/>
            <a:ext cx="3155573" cy="3238500"/>
          </a:xfrm>
          <a:prstGeom xmlns:a="http://schemas.openxmlformats.org/drawingml/2006/main" prst="roundRect">
            <a:avLst>
              <a:gd name="adj" fmla="val 2381"/>
            </a:avLst>
          </a:prstGeom>
        </p:spPr>
      </p:pic>
      <p:sp>
        <p:nvSpPr>
          <p:cNvPr id="43" name="">
            <a:extLst xmlns:a="http://schemas.openxmlformats.org/drawingml/2006/main">
              <a:ext uri="{FF2B5EF4-FFF2-40B4-BE49-F238E27FC236}">
                <a16:creationId xmlns:a16="http://schemas.microsoft.com/office/drawing/2014/main" id="{FD015249-F6CE-4C87-983A-A9B0C2BA4319}"/>
              </a:ext>
            </a:extLst>
          </p:cNvPr>
          <p:cNvSpPr>
            <a:spLocks xmlns:a="http://schemas.openxmlformats.org/drawingml/2006/main" noGrp="1"/>
          </p:cNvSpPr>
          <p:nvPr/>
        </p:nvSpPr>
        <p:spPr>
          <a:xfrm xmlns:a="http://schemas.openxmlformats.org/drawingml/2006/main">
            <a:off x="1428750" y="5295900"/>
            <a:ext cx="933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C74A4A"/>
                </a:solidFill>
              </a:defRPr>
            </a:pPr>
            <a:r>
              <a:rPr sz="1275" b="1">
                <a:solidFill>
                  <a:srgbClr val="C74A4A"/>
                </a:solidFill>
              </a:rPr>
              <a:t>Named / fixed-start mechanism evidence · no randomized hardware denominator</a:t>
            </a:r>
          </a:p>
        </p:txBody>
      </p:sp>
      <p:sp>
        <p:nvSpPr>
          <p:cNvPr id="44" name="">
            <a:extLst xmlns:a="http://schemas.openxmlformats.org/drawingml/2006/main">
              <a:ext uri="{FF2B5EF4-FFF2-40B4-BE49-F238E27FC236}">
                <a16:creationId xmlns:a16="http://schemas.microsoft.com/office/drawing/2014/main" id="{171AF392-662A-4256-BC40-6BADB00D0833}"/>
              </a:ext>
            </a:extLst>
          </p:cNvPr>
          <p:cNvSpPr>
            <a:spLocks xmlns:a="http://schemas.openxmlformats.org/drawingml/2006/main" noGrp="1"/>
          </p:cNvSpPr>
          <p:nvPr/>
        </p:nvSpPr>
        <p:spPr>
          <a:xfrm xmlns:a="http://schemas.openxmlformats.org/drawingml/2006/main">
            <a:off x="647700" y="5943600"/>
            <a:ext cx="10839450" cy="400050"/>
          </a:xfrm>
          <a:prstGeom xmlns:a="http://schemas.openxmlformats.org/drawingml/2006/main" prst="rect">
            <a:avLst/>
          </a:prstGeom>
          <a:solidFill xmlns:a="http://schemas.openxmlformats.org/drawingml/2006/main">
            <a:srgbClr val="FFF0E2"/>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6D502AF0-0F4B-4822-87F6-598071CEED06}"/>
              </a:ext>
            </a:extLst>
          </p:cNvPr>
          <p:cNvSpPr>
            <a:spLocks xmlns:a="http://schemas.openxmlformats.org/drawingml/2006/main" noGrp="1"/>
          </p:cNvSpPr>
          <p:nvPr/>
        </p:nvSpPr>
        <p:spPr>
          <a:xfrm xmlns:a="http://schemas.openxmlformats.org/drawingml/2006/main">
            <a:off x="647700" y="5943600"/>
            <a:ext cx="57150" cy="400050"/>
          </a:xfrm>
          <a:prstGeom xmlns:a="http://schemas.openxmlformats.org/drawingml/2006/main" prst="rect">
            <a:avLst/>
          </a:prstGeom>
          <a:solidFill xmlns:a="http://schemas.openxmlformats.org/drawingml/2006/main">
            <a:srgbClr val="ED7F0D"/>
          </a:solidFill>
          <a:ln xmlns:a="http://schemas.openxmlformats.org/drawingml/2006/main" w="0">
            <a:noFill/>
            <a:prstDash val="solid"/>
          </a:ln>
        </p:spPr>
      </p:sp>
      <p:sp>
        <p:nvSpPr>
          <p:cNvPr id="46" name="">
            <a:extLst xmlns:a="http://schemas.openxmlformats.org/drawingml/2006/main">
              <a:ext uri="{FF2B5EF4-FFF2-40B4-BE49-F238E27FC236}">
                <a16:creationId xmlns:a16="http://schemas.microsoft.com/office/drawing/2014/main" id="{E481BB27-F2C0-48D9-9B59-A5C890C1D285}"/>
              </a:ext>
            </a:extLst>
          </p:cNvPr>
          <p:cNvSpPr>
            <a:spLocks xmlns:a="http://schemas.openxmlformats.org/drawingml/2006/main" noGrp="1"/>
          </p:cNvSpPr>
          <p:nvPr/>
        </p:nvSpPr>
        <p:spPr>
          <a:xfrm xmlns:a="http://schemas.openxmlformats.org/drawingml/2006/main">
            <a:off x="838200" y="5981700"/>
            <a:ext cx="10458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152538"/>
                </a:solidFill>
              </a:defRPr>
            </a:pPr>
            <a:r>
              <a:rPr sz="1275" b="1">
                <a:solidFill>
                  <a:srgbClr val="152538"/>
                </a:solidFill>
              </a:rPr>
              <a:t>Named and fixed-start runs show the mechanism, but they do not provide a randomized policy denominator.</a:t>
            </a:r>
          </a:p>
        </p:txBody>
      </p:sp>
    </p:spTree>
    <p:extLst>
      <p:ext uri="{BB962C8B-B14F-4D97-AF65-F5344CB8AC3E}">
        <p14:creationId xmlns:p14="http://schemas.microsoft.com/office/powerpoint/2010/main" val="1885143989"/>
      </p:ext>
    </p:extLst>
  </p:cSld>
</p:sld>
</file>

<file path=ppt/slides/slide34.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EBDCE25-1BCB-491F-AF5C-17F4B9197A29}"/>
              </a:ext>
            </a:extLst>
          </p:cNvPr>
          <p:cNvSpPr>
            <a:spLocks xmlns:a="http://schemas.openxmlformats.org/drawingml/2006/main" noGrp="1"/>
          </p:cNvSpPr>
          <p:nvPr/>
        </p:nvSpPr>
        <p:spPr>
          <a:xfrm xmlns:a="http://schemas.openxmlformats.org/drawingml/2006/main">
            <a:off x="647700" y="2286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ED7F0D"/>
                </a:solidFill>
              </a:defRPr>
            </a:pPr>
            <a:r>
              <a:rPr sz="1050" b="1">
                <a:solidFill>
                  <a:srgbClr val="ED7F0D"/>
                </a:solidFill>
              </a:rPr>
              <a:t>34</a:t>
            </a:r>
          </a:p>
        </p:txBody>
      </p:sp>
      <p:sp>
        <p:nvSpPr>
          <p:cNvPr id="2" name="">
            <a:extLst xmlns:a="http://schemas.openxmlformats.org/drawingml/2006/main">
              <a:ext uri="{FF2B5EF4-FFF2-40B4-BE49-F238E27FC236}">
                <a16:creationId xmlns:a16="http://schemas.microsoft.com/office/drawing/2014/main" id="{DC2C0935-C29D-4E8F-9783-8D3D6E38B04A}"/>
              </a:ext>
            </a:extLst>
          </p:cNvPr>
          <p:cNvSpPr>
            <a:spLocks xmlns:a="http://schemas.openxmlformats.org/drawingml/2006/main" noGrp="1"/>
          </p:cNvSpPr>
          <p:nvPr/>
        </p:nvSpPr>
        <p:spPr>
          <a:xfrm xmlns:a="http://schemas.openxmlformats.org/drawingml/2006/main">
            <a:off x="1104900" y="22860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6B7580"/>
                </a:solidFill>
              </a:defRPr>
            </a:pPr>
            <a:r>
              <a:rPr sz="975" b="1">
                <a:solidFill>
                  <a:srgbClr val="6B7580"/>
                </a:solidFill>
              </a:rPr>
              <a:t>DISCUSSION</a:t>
            </a:r>
          </a:p>
        </p:txBody>
      </p:sp>
      <p:sp>
        <p:nvSpPr>
          <p:cNvPr id="3" name="">
            <a:extLst xmlns:a="http://schemas.openxmlformats.org/drawingml/2006/main">
              <a:ext uri="{FF2B5EF4-FFF2-40B4-BE49-F238E27FC236}">
                <a16:creationId xmlns:a16="http://schemas.microsoft.com/office/drawing/2014/main" id="{7285D72E-88BE-4192-9466-00ECA85BB90A}"/>
              </a:ext>
            </a:extLst>
          </p:cNvPr>
          <p:cNvSpPr>
            <a:spLocks xmlns:a="http://schemas.openxmlformats.org/drawingml/2006/main" noGrp="1"/>
          </p:cNvSpPr>
          <p:nvPr/>
        </p:nvSpPr>
        <p:spPr>
          <a:xfrm xmlns:a="http://schemas.openxmlformats.org/drawingml/2006/main">
            <a:off x="6191250" y="228600"/>
            <a:ext cx="5353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0">
                <a:solidFill>
                  <a:srgbClr val="6B7580"/>
                </a:solidFill>
              </a:defRPr>
            </a:pPr>
            <a:r>
              <a:rPr sz="825" b="0">
                <a:solidFill>
                  <a:srgbClr val="6B7580"/>
                </a:solidFill>
              </a:rPr>
              <a:t>Problem   Task   Framework   Simulation   Hardware   ● Discussion</a:t>
            </a:r>
          </a:p>
        </p:txBody>
      </p:sp>
      <p:sp>
        <p:nvSpPr>
          <p:cNvPr id="4" name="">
            <a:extLst xmlns:a="http://schemas.openxmlformats.org/drawingml/2006/main">
              <a:ext uri="{FF2B5EF4-FFF2-40B4-BE49-F238E27FC236}">
                <a16:creationId xmlns:a16="http://schemas.microsoft.com/office/drawing/2014/main" id="{FDAFC566-357A-439E-927D-C4370D785155}"/>
              </a:ext>
            </a:extLst>
          </p:cNvPr>
          <p:cNvSpPr>
            <a:spLocks xmlns:a="http://schemas.openxmlformats.org/drawingml/2006/main" noGrp="1"/>
          </p:cNvSpPr>
          <p:nvPr/>
        </p:nvSpPr>
        <p:spPr>
          <a:xfrm xmlns:a="http://schemas.openxmlformats.org/drawingml/2006/main">
            <a:off x="647700" y="533400"/>
            <a:ext cx="108394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004282"/>
                </a:solidFill>
              </a:defRPr>
            </a:pPr>
            <a:r>
              <a:rPr sz="2850" b="1">
                <a:solidFill>
                  <a:srgbClr val="004282"/>
                </a:solidFill>
              </a:rPr>
              <a:t>The evidence supports a narrow but useful claim</a:t>
            </a:r>
          </a:p>
        </p:txBody>
      </p:sp>
      <p:sp>
        <p:nvSpPr>
          <p:cNvPr id="5" name="">
            <a:extLst xmlns:a="http://schemas.openxmlformats.org/drawingml/2006/main">
              <a:ext uri="{FF2B5EF4-FFF2-40B4-BE49-F238E27FC236}">
                <a16:creationId xmlns:a16="http://schemas.microsoft.com/office/drawing/2014/main" id="{6EDA78FC-B189-4E16-84BA-AFB19829839C}"/>
              </a:ext>
            </a:extLst>
          </p:cNvPr>
          <p:cNvSpPr>
            <a:spLocks xmlns:a="http://schemas.openxmlformats.org/drawingml/2006/main" noGrp="1"/>
          </p:cNvSpPr>
          <p:nvPr/>
        </p:nvSpPr>
        <p:spPr>
          <a:xfrm xmlns:a="http://schemas.openxmlformats.org/drawingml/2006/main">
            <a:off x="647700" y="1257300"/>
            <a:ext cx="609600" cy="47625"/>
          </a:xfrm>
          <a:prstGeom xmlns:a="http://schemas.openxmlformats.org/drawingml/2006/main" prst="rect">
            <a:avLst/>
          </a:prstGeom>
          <a:solidFill xmlns:a="http://schemas.openxmlformats.org/drawingml/2006/main">
            <a:srgbClr val="ED7F0D"/>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2C80A9BD-FA2E-4025-8F04-3A1DBE6A73D5}"/>
              </a:ext>
            </a:extLst>
          </p:cNvPr>
          <p:cNvSpPr>
            <a:spLocks xmlns:a="http://schemas.openxmlformats.org/drawingml/2006/main" noGrp="1"/>
          </p:cNvSpPr>
          <p:nvPr/>
        </p:nvSpPr>
        <p:spPr>
          <a:xfrm xmlns:a="http://schemas.openxmlformats.org/drawingml/2006/main">
            <a:off x="647700" y="6486525"/>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6B7580"/>
                </a:solidFill>
              </a:defRPr>
            </a:pPr>
            <a:r>
              <a:rPr sz="825" b="0">
                <a:solidFill>
                  <a:srgbClr val="6B7580"/>
                </a:solidFill>
              </a:rPr>
              <a:t>Nan Jinyao · Paper-aligned group review</a:t>
            </a:r>
          </a:p>
        </p:txBody>
      </p:sp>
      <p:sp>
        <p:nvSpPr>
          <p:cNvPr id="7" name="">
            <a:extLst xmlns:a="http://schemas.openxmlformats.org/drawingml/2006/main">
              <a:ext uri="{FF2B5EF4-FFF2-40B4-BE49-F238E27FC236}">
                <a16:creationId xmlns:a16="http://schemas.microsoft.com/office/drawing/2014/main" id="{A1C60052-52FE-4EF4-B31D-3E91B6946207}"/>
              </a:ext>
            </a:extLst>
          </p:cNvPr>
          <p:cNvSpPr>
            <a:spLocks xmlns:a="http://schemas.openxmlformats.org/drawingml/2006/main" noGrp="1"/>
          </p:cNvSpPr>
          <p:nvPr/>
        </p:nvSpPr>
        <p:spPr>
          <a:xfrm xmlns:a="http://schemas.openxmlformats.org/drawingml/2006/main">
            <a:off x="4476750" y="6486525"/>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0">
                <a:solidFill>
                  <a:srgbClr val="6B7580"/>
                </a:solidFill>
              </a:defRPr>
            </a:pPr>
            <a:r>
              <a:rPr sz="825" b="0">
                <a:solidFill>
                  <a:srgbClr val="6B7580"/>
                </a:solidFill>
              </a:rPr>
              <a:t>Discussion</a:t>
            </a:r>
          </a:p>
        </p:txBody>
      </p:sp>
      <p:sp>
        <p:nvSpPr>
          <p:cNvPr id="8" name="">
            <a:extLst xmlns:a="http://schemas.openxmlformats.org/drawingml/2006/main">
              <a:ext uri="{FF2B5EF4-FFF2-40B4-BE49-F238E27FC236}">
                <a16:creationId xmlns:a16="http://schemas.microsoft.com/office/drawing/2014/main" id="{C9F8282C-7538-4768-BCA9-D5C18928CA56}"/>
              </a:ext>
            </a:extLst>
          </p:cNvPr>
          <p:cNvSpPr>
            <a:spLocks xmlns:a="http://schemas.openxmlformats.org/drawingml/2006/main" noGrp="1"/>
          </p:cNvSpPr>
          <p:nvPr/>
        </p:nvSpPr>
        <p:spPr>
          <a:xfrm xmlns:a="http://schemas.openxmlformats.org/drawingml/2006/main">
            <a:off x="11049000" y="648652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004282"/>
                </a:solidFill>
              </a:defRPr>
            </a:pPr>
            <a:r>
              <a:rPr sz="825" b="1">
                <a:solidFill>
                  <a:srgbClr val="004282"/>
                </a:solidFill>
              </a:rPr>
              <a:t>34</a:t>
            </a:r>
          </a:p>
        </p:txBody>
      </p:sp>
      <p:sp>
        <p:nvSpPr>
          <p:cNvPr id="9" name="">
            <a:extLst xmlns:a="http://schemas.openxmlformats.org/drawingml/2006/main">
              <a:ext uri="{FF2B5EF4-FFF2-40B4-BE49-F238E27FC236}">
                <a16:creationId xmlns:a16="http://schemas.microsoft.com/office/drawing/2014/main" id="{CE87BBFD-F926-4C80-8AEB-196ED4C0C169}"/>
              </a:ext>
            </a:extLst>
          </p:cNvPr>
          <p:cNvSpPr>
            <a:spLocks xmlns:a="http://schemas.openxmlformats.org/drawingml/2006/main" noGrp="1"/>
          </p:cNvSpPr>
          <p:nvPr/>
        </p:nvSpPr>
        <p:spPr>
          <a:xfrm xmlns:a="http://schemas.openxmlformats.org/drawingml/2006/main">
            <a:off x="723900" y="1657350"/>
            <a:ext cx="5086350" cy="3848100"/>
          </a:xfrm>
          <a:prstGeom xmlns:a="http://schemas.openxmlformats.org/drawingml/2006/main" prst="roundRect">
            <a:avLst>
              <a:gd name="adj" fmla="val 1980"/>
            </a:avLst>
          </a:prstGeom>
          <a:solidFill xmlns:a="http://schemas.openxmlformats.org/drawingml/2006/main">
            <a:srgbClr val="E6F5EF"/>
          </a:solidFill>
          <a:ln xmlns:a="http://schemas.openxmlformats.org/drawingml/2006/main" w="19050">
            <a:solidFill>
              <a:srgbClr val="009E73"/>
            </a:solidFill>
            <a:prstDash val="solid"/>
          </a:ln>
        </p:spPr>
      </p:sp>
      <p:sp>
        <p:nvSpPr>
          <p:cNvPr id="10" name="">
            <a:extLst xmlns:a="http://schemas.openxmlformats.org/drawingml/2006/main">
              <a:ext uri="{FF2B5EF4-FFF2-40B4-BE49-F238E27FC236}">
                <a16:creationId xmlns:a16="http://schemas.microsoft.com/office/drawing/2014/main" id="{D707C5CE-21A3-4936-B854-3440EA6195DB}"/>
              </a:ext>
            </a:extLst>
          </p:cNvPr>
          <p:cNvSpPr>
            <a:spLocks xmlns:a="http://schemas.openxmlformats.org/drawingml/2006/main" noGrp="1"/>
          </p:cNvSpPr>
          <p:nvPr/>
        </p:nvSpPr>
        <p:spPr>
          <a:xfrm xmlns:a="http://schemas.openxmlformats.org/drawingml/2006/main">
            <a:off x="6381750" y="1657350"/>
            <a:ext cx="5086350" cy="3848100"/>
          </a:xfrm>
          <a:prstGeom xmlns:a="http://schemas.openxmlformats.org/drawingml/2006/main" prst="roundRect">
            <a:avLst>
              <a:gd name="adj" fmla="val 1980"/>
            </a:avLst>
          </a:prstGeom>
          <a:solidFill xmlns:a="http://schemas.openxmlformats.org/drawingml/2006/main">
            <a:srgbClr val="FCE9E8"/>
          </a:solidFill>
          <a:ln xmlns:a="http://schemas.openxmlformats.org/drawingml/2006/main" w="19050">
            <a:solidFill>
              <a:srgbClr val="C74A4A"/>
            </a:solidFill>
            <a:prstDash val="solid"/>
          </a:ln>
        </p:spPr>
      </p:sp>
      <p:sp>
        <p:nvSpPr>
          <p:cNvPr id="11" name="">
            <a:extLst xmlns:a="http://schemas.openxmlformats.org/drawingml/2006/main">
              <a:ext uri="{FF2B5EF4-FFF2-40B4-BE49-F238E27FC236}">
                <a16:creationId xmlns:a16="http://schemas.microsoft.com/office/drawing/2014/main" id="{581FE74A-7DDB-4111-ADE1-1BDCD237B1B5}"/>
              </a:ext>
            </a:extLst>
          </p:cNvPr>
          <p:cNvSpPr>
            <a:spLocks xmlns:a="http://schemas.openxmlformats.org/drawingml/2006/main" noGrp="1"/>
          </p:cNvSpPr>
          <p:nvPr/>
        </p:nvSpPr>
        <p:spPr>
          <a:xfrm xmlns:a="http://schemas.openxmlformats.org/drawingml/2006/main">
            <a:off x="1000125" y="1847850"/>
            <a:ext cx="4533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00" b="1">
                <a:solidFill>
                  <a:srgbClr val="009E73"/>
                </a:solidFill>
              </a:defRPr>
            </a:pPr>
            <a:r>
              <a:rPr sz="1800" b="1">
                <a:solidFill>
                  <a:srgbClr val="009E73"/>
                </a:solidFill>
              </a:rPr>
              <a:t>ESTABLISHES</a:t>
            </a:r>
          </a:p>
        </p:txBody>
      </p:sp>
      <p:sp>
        <p:nvSpPr>
          <p:cNvPr id="12" name="">
            <a:extLst xmlns:a="http://schemas.openxmlformats.org/drawingml/2006/main">
              <a:ext uri="{FF2B5EF4-FFF2-40B4-BE49-F238E27FC236}">
                <a16:creationId xmlns:a16="http://schemas.microsoft.com/office/drawing/2014/main" id="{D0418473-53E0-4EB2-B836-833D0209D230}"/>
              </a:ext>
            </a:extLst>
          </p:cNvPr>
          <p:cNvSpPr>
            <a:spLocks xmlns:a="http://schemas.openxmlformats.org/drawingml/2006/main" noGrp="1"/>
          </p:cNvSpPr>
          <p:nvPr/>
        </p:nvSpPr>
        <p:spPr>
          <a:xfrm xmlns:a="http://schemas.openxmlformats.org/drawingml/2006/main">
            <a:off x="6657975" y="1847850"/>
            <a:ext cx="4533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00" b="1">
                <a:solidFill>
                  <a:srgbClr val="C74A4A"/>
                </a:solidFill>
              </a:defRPr>
            </a:pPr>
            <a:r>
              <a:rPr sz="1800" b="1">
                <a:solidFill>
                  <a:srgbClr val="C74A4A"/>
                </a:solidFill>
              </a:rPr>
              <a:t>DOES NOT ESTABLISH</a:t>
            </a:r>
          </a:p>
        </p:txBody>
      </p:sp>
      <p:sp>
        <p:nvSpPr>
          <p:cNvPr id="13" name="">
            <a:extLst xmlns:a="http://schemas.openxmlformats.org/drawingml/2006/main">
              <a:ext uri="{FF2B5EF4-FFF2-40B4-BE49-F238E27FC236}">
                <a16:creationId xmlns:a16="http://schemas.microsoft.com/office/drawing/2014/main" id="{E44058C8-1A1D-40FE-8C86-A3995865C860}"/>
              </a:ext>
            </a:extLst>
          </p:cNvPr>
          <p:cNvSpPr>
            <a:spLocks xmlns:a="http://schemas.openxmlformats.org/drawingml/2006/main" noGrp="1"/>
          </p:cNvSpPr>
          <p:nvPr/>
        </p:nvSpPr>
        <p:spPr>
          <a:xfrm xmlns:a="http://schemas.openxmlformats.org/drawingml/2006/main">
            <a:off x="1066800" y="2524125"/>
            <a:ext cx="76200" cy="76200"/>
          </a:xfrm>
          <a:prstGeom xmlns:a="http://schemas.openxmlformats.org/drawingml/2006/main" prst="ellipse">
            <a:avLst/>
          </a:prstGeom>
          <a:solidFill xmlns:a="http://schemas.openxmlformats.org/drawingml/2006/main">
            <a:srgbClr val="009E73"/>
          </a:solidFill>
          <a:ln xmlns:a="http://schemas.openxmlformats.org/drawingml/2006/main" w="9525">
            <a:solidFill>
              <a:srgbClr val="009E73"/>
            </a:solidFill>
            <a:prstDash val="solid"/>
          </a:ln>
        </p:spPr>
      </p:sp>
      <p:sp>
        <p:nvSpPr>
          <p:cNvPr id="14" name="">
            <a:extLst xmlns:a="http://schemas.openxmlformats.org/drawingml/2006/main">
              <a:ext uri="{FF2B5EF4-FFF2-40B4-BE49-F238E27FC236}">
                <a16:creationId xmlns:a16="http://schemas.microsoft.com/office/drawing/2014/main" id="{6D847191-BD3C-4D7F-A988-B5FCA7AC7407}"/>
              </a:ext>
            </a:extLst>
          </p:cNvPr>
          <p:cNvSpPr>
            <a:spLocks xmlns:a="http://schemas.openxmlformats.org/drawingml/2006/main" noGrp="1"/>
          </p:cNvSpPr>
          <p:nvPr/>
        </p:nvSpPr>
        <p:spPr>
          <a:xfrm xmlns:a="http://schemas.openxmlformats.org/drawingml/2006/main">
            <a:off x="1276350" y="2428875"/>
            <a:ext cx="4076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152538"/>
                </a:solidFill>
              </a:defRPr>
            </a:pPr>
            <a:r>
              <a:rPr sz="1425" b="0">
                <a:solidFill>
                  <a:srgbClr val="152538"/>
                </a:solidFill>
              </a:rPr>
              <a:t>Touch can allocate bounded search motion</a:t>
            </a:r>
          </a:p>
        </p:txBody>
      </p:sp>
      <p:sp>
        <p:nvSpPr>
          <p:cNvPr id="15" name="">
            <a:extLst xmlns:a="http://schemas.openxmlformats.org/drawingml/2006/main">
              <a:ext uri="{FF2B5EF4-FFF2-40B4-BE49-F238E27FC236}">
                <a16:creationId xmlns:a16="http://schemas.microsoft.com/office/drawing/2014/main" id="{D3029B91-AB73-4751-9E33-50C35C6695DD}"/>
              </a:ext>
            </a:extLst>
          </p:cNvPr>
          <p:cNvSpPr>
            <a:spLocks xmlns:a="http://schemas.openxmlformats.org/drawingml/2006/main" noGrp="1"/>
          </p:cNvSpPr>
          <p:nvPr/>
        </p:nvSpPr>
        <p:spPr>
          <a:xfrm xmlns:a="http://schemas.openxmlformats.org/drawingml/2006/main">
            <a:off x="1066800" y="3019425"/>
            <a:ext cx="76200" cy="76200"/>
          </a:xfrm>
          <a:prstGeom xmlns:a="http://schemas.openxmlformats.org/drawingml/2006/main" prst="ellipse">
            <a:avLst/>
          </a:prstGeom>
          <a:solidFill xmlns:a="http://schemas.openxmlformats.org/drawingml/2006/main">
            <a:srgbClr val="009E73"/>
          </a:solidFill>
          <a:ln xmlns:a="http://schemas.openxmlformats.org/drawingml/2006/main" w="9525">
            <a:solidFill>
              <a:srgbClr val="009E73"/>
            </a:solidFill>
            <a:prstDash val="solid"/>
          </a:ln>
        </p:spPr>
      </p:sp>
      <p:sp>
        <p:nvSpPr>
          <p:cNvPr id="16" name="">
            <a:extLst xmlns:a="http://schemas.openxmlformats.org/drawingml/2006/main">
              <a:ext uri="{FF2B5EF4-FFF2-40B4-BE49-F238E27FC236}">
                <a16:creationId xmlns:a16="http://schemas.microsoft.com/office/drawing/2014/main" id="{166E44C2-43A7-4B67-8A16-71084D90A251}"/>
              </a:ext>
            </a:extLst>
          </p:cNvPr>
          <p:cNvSpPr>
            <a:spLocks xmlns:a="http://schemas.openxmlformats.org/drawingml/2006/main" noGrp="1"/>
          </p:cNvSpPr>
          <p:nvPr/>
        </p:nvSpPr>
        <p:spPr>
          <a:xfrm xmlns:a="http://schemas.openxmlformats.org/drawingml/2006/main">
            <a:off x="1276350" y="2924175"/>
            <a:ext cx="4076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152538"/>
                </a:solidFill>
              </a:defRPr>
            </a:pPr>
            <a:r>
              <a:rPr sz="1425" b="0">
                <a:solidFill>
                  <a:srgbClr val="152538"/>
                </a:solidFill>
              </a:rPr>
              <a:t>PGS-O reduces paired travel and time</a:t>
            </a:r>
          </a:p>
        </p:txBody>
      </p:sp>
      <p:sp>
        <p:nvSpPr>
          <p:cNvPr id="17" name="">
            <a:extLst xmlns:a="http://schemas.openxmlformats.org/drawingml/2006/main">
              <a:ext uri="{FF2B5EF4-FFF2-40B4-BE49-F238E27FC236}">
                <a16:creationId xmlns:a16="http://schemas.microsoft.com/office/drawing/2014/main" id="{8C83312D-5F5F-4837-B0BF-8158CDF6CB62}"/>
              </a:ext>
            </a:extLst>
          </p:cNvPr>
          <p:cNvSpPr>
            <a:spLocks xmlns:a="http://schemas.openxmlformats.org/drawingml/2006/main" noGrp="1"/>
          </p:cNvSpPr>
          <p:nvPr/>
        </p:nvSpPr>
        <p:spPr>
          <a:xfrm xmlns:a="http://schemas.openxmlformats.org/drawingml/2006/main">
            <a:off x="1066800" y="3514725"/>
            <a:ext cx="76200" cy="76200"/>
          </a:xfrm>
          <a:prstGeom xmlns:a="http://schemas.openxmlformats.org/drawingml/2006/main" prst="ellipse">
            <a:avLst/>
          </a:prstGeom>
          <a:solidFill xmlns:a="http://schemas.openxmlformats.org/drawingml/2006/main">
            <a:srgbClr val="009E73"/>
          </a:solidFill>
          <a:ln xmlns:a="http://schemas.openxmlformats.org/drawingml/2006/main" w="9525">
            <a:solidFill>
              <a:srgbClr val="009E73"/>
            </a:solidFill>
            <a:prstDash val="solid"/>
          </a:ln>
        </p:spPr>
      </p:sp>
      <p:sp>
        <p:nvSpPr>
          <p:cNvPr id="18" name="">
            <a:extLst xmlns:a="http://schemas.openxmlformats.org/drawingml/2006/main">
              <a:ext uri="{FF2B5EF4-FFF2-40B4-BE49-F238E27FC236}">
                <a16:creationId xmlns:a16="http://schemas.microsoft.com/office/drawing/2014/main" id="{BE6566E7-6B70-4B60-A384-542131F2122C}"/>
              </a:ext>
            </a:extLst>
          </p:cNvPr>
          <p:cNvSpPr>
            <a:spLocks xmlns:a="http://schemas.openxmlformats.org/drawingml/2006/main" noGrp="1"/>
          </p:cNvSpPr>
          <p:nvPr/>
        </p:nvSpPr>
        <p:spPr>
          <a:xfrm xmlns:a="http://schemas.openxmlformats.org/drawingml/2006/main">
            <a:off x="1276350" y="3419475"/>
            <a:ext cx="4076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152538"/>
                </a:solidFill>
              </a:defRPr>
            </a:pPr>
            <a:r>
              <a:rPr sz="1425" b="0">
                <a:solidFill>
                  <a:srgbClr val="152538"/>
                </a:solidFill>
              </a:rPr>
              <a:t>Recovery helps on a fixed stress set</a:t>
            </a:r>
          </a:p>
        </p:txBody>
      </p:sp>
      <p:sp>
        <p:nvSpPr>
          <p:cNvPr id="19" name="">
            <a:extLst xmlns:a="http://schemas.openxmlformats.org/drawingml/2006/main">
              <a:ext uri="{FF2B5EF4-FFF2-40B4-BE49-F238E27FC236}">
                <a16:creationId xmlns:a16="http://schemas.microsoft.com/office/drawing/2014/main" id="{C4798D44-DB51-43B6-8295-539A14733A8B}"/>
              </a:ext>
            </a:extLst>
          </p:cNvPr>
          <p:cNvSpPr>
            <a:spLocks xmlns:a="http://schemas.openxmlformats.org/drawingml/2006/main" noGrp="1"/>
          </p:cNvSpPr>
          <p:nvPr/>
        </p:nvSpPr>
        <p:spPr>
          <a:xfrm xmlns:a="http://schemas.openxmlformats.org/drawingml/2006/main">
            <a:off x="1066800" y="4010025"/>
            <a:ext cx="76200" cy="76200"/>
          </a:xfrm>
          <a:prstGeom xmlns:a="http://schemas.openxmlformats.org/drawingml/2006/main" prst="ellipse">
            <a:avLst/>
          </a:prstGeom>
          <a:solidFill xmlns:a="http://schemas.openxmlformats.org/drawingml/2006/main">
            <a:srgbClr val="009E73"/>
          </a:solidFill>
          <a:ln xmlns:a="http://schemas.openxmlformats.org/drawingml/2006/main" w="9525">
            <a:solidFill>
              <a:srgbClr val="009E73"/>
            </a:solidFill>
            <a:prstDash val="solid"/>
          </a:ln>
        </p:spPr>
      </p:sp>
      <p:sp>
        <p:nvSpPr>
          <p:cNvPr id="20" name="">
            <a:extLst xmlns:a="http://schemas.openxmlformats.org/drawingml/2006/main">
              <a:ext uri="{FF2B5EF4-FFF2-40B4-BE49-F238E27FC236}">
                <a16:creationId xmlns:a16="http://schemas.microsoft.com/office/drawing/2014/main" id="{42E63DEE-28E7-4107-BC26-990618AF25A3}"/>
              </a:ext>
            </a:extLst>
          </p:cNvPr>
          <p:cNvSpPr>
            <a:spLocks xmlns:a="http://schemas.openxmlformats.org/drawingml/2006/main" noGrp="1"/>
          </p:cNvSpPr>
          <p:nvPr/>
        </p:nvSpPr>
        <p:spPr>
          <a:xfrm xmlns:a="http://schemas.openxmlformats.org/drawingml/2006/main">
            <a:off x="1276350" y="3914775"/>
            <a:ext cx="4076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152538"/>
                </a:solidFill>
              </a:defRPr>
            </a:pPr>
            <a:r>
              <a:rPr sz="1425" b="0">
                <a:solidFill>
                  <a:srgbClr val="152538"/>
                </a:solidFill>
              </a:rPr>
              <a:t>Selected hardware runs demonstrate feasibility</a:t>
            </a:r>
          </a:p>
        </p:txBody>
      </p:sp>
      <p:sp>
        <p:nvSpPr>
          <p:cNvPr id="21" name="">
            <a:extLst xmlns:a="http://schemas.openxmlformats.org/drawingml/2006/main">
              <a:ext uri="{FF2B5EF4-FFF2-40B4-BE49-F238E27FC236}">
                <a16:creationId xmlns:a16="http://schemas.microsoft.com/office/drawing/2014/main" id="{47362435-F15B-4A74-9310-CF929F892946}"/>
              </a:ext>
            </a:extLst>
          </p:cNvPr>
          <p:cNvSpPr>
            <a:spLocks xmlns:a="http://schemas.openxmlformats.org/drawingml/2006/main" noGrp="1"/>
          </p:cNvSpPr>
          <p:nvPr/>
        </p:nvSpPr>
        <p:spPr>
          <a:xfrm xmlns:a="http://schemas.openxmlformats.org/drawingml/2006/main">
            <a:off x="6724650" y="2476500"/>
            <a:ext cx="76200" cy="76200"/>
          </a:xfrm>
          <a:prstGeom xmlns:a="http://schemas.openxmlformats.org/drawingml/2006/main" prst="ellipse">
            <a:avLst/>
          </a:prstGeom>
          <a:solidFill xmlns:a="http://schemas.openxmlformats.org/drawingml/2006/main">
            <a:srgbClr val="C74A4A"/>
          </a:solidFill>
          <a:ln xmlns:a="http://schemas.openxmlformats.org/drawingml/2006/main" w="9525">
            <a:solidFill>
              <a:srgbClr val="C74A4A"/>
            </a:solidFill>
            <a:prstDash val="solid"/>
          </a:ln>
        </p:spPr>
      </p:sp>
      <p:sp>
        <p:nvSpPr>
          <p:cNvPr id="22" name="">
            <a:extLst xmlns:a="http://schemas.openxmlformats.org/drawingml/2006/main">
              <a:ext uri="{FF2B5EF4-FFF2-40B4-BE49-F238E27FC236}">
                <a16:creationId xmlns:a16="http://schemas.microsoft.com/office/drawing/2014/main" id="{C6841D16-79B2-43A8-93C6-F1662A0030A5}"/>
              </a:ext>
            </a:extLst>
          </p:cNvPr>
          <p:cNvSpPr>
            <a:spLocks xmlns:a="http://schemas.openxmlformats.org/drawingml/2006/main" noGrp="1"/>
          </p:cNvSpPr>
          <p:nvPr/>
        </p:nvSpPr>
        <p:spPr>
          <a:xfrm xmlns:a="http://schemas.openxmlformats.org/drawingml/2006/main">
            <a:off x="6934200" y="2381250"/>
            <a:ext cx="40767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52538"/>
                </a:solidFill>
              </a:defRPr>
            </a:pPr>
            <a:r>
              <a:rPr sz="1350" b="0">
                <a:solidFill>
                  <a:srgbClr val="152538"/>
                </a:solidFill>
              </a:rPr>
              <a:t>PGS-G superiority</a:t>
            </a:r>
          </a:p>
        </p:txBody>
      </p:sp>
      <p:sp>
        <p:nvSpPr>
          <p:cNvPr id="23" name="">
            <a:extLst xmlns:a="http://schemas.openxmlformats.org/drawingml/2006/main">
              <a:ext uri="{FF2B5EF4-FFF2-40B4-BE49-F238E27FC236}">
                <a16:creationId xmlns:a16="http://schemas.microsoft.com/office/drawing/2014/main" id="{F60322F9-EC2F-4E28-A24B-76E9703E4E47}"/>
              </a:ext>
            </a:extLst>
          </p:cNvPr>
          <p:cNvSpPr>
            <a:spLocks xmlns:a="http://schemas.openxmlformats.org/drawingml/2006/main" noGrp="1"/>
          </p:cNvSpPr>
          <p:nvPr/>
        </p:nvSpPr>
        <p:spPr>
          <a:xfrm xmlns:a="http://schemas.openxmlformats.org/drawingml/2006/main">
            <a:off x="6724650" y="2895600"/>
            <a:ext cx="76200" cy="76200"/>
          </a:xfrm>
          <a:prstGeom xmlns:a="http://schemas.openxmlformats.org/drawingml/2006/main" prst="ellipse">
            <a:avLst/>
          </a:prstGeom>
          <a:solidFill xmlns:a="http://schemas.openxmlformats.org/drawingml/2006/main">
            <a:srgbClr val="C74A4A"/>
          </a:solidFill>
          <a:ln xmlns:a="http://schemas.openxmlformats.org/drawingml/2006/main" w="9525">
            <a:solidFill>
              <a:srgbClr val="C74A4A"/>
            </a:solidFill>
            <a:prstDash val="solid"/>
          </a:ln>
        </p:spPr>
      </p:sp>
      <p:sp>
        <p:nvSpPr>
          <p:cNvPr id="24" name="">
            <a:extLst xmlns:a="http://schemas.openxmlformats.org/drawingml/2006/main">
              <a:ext uri="{FF2B5EF4-FFF2-40B4-BE49-F238E27FC236}">
                <a16:creationId xmlns:a16="http://schemas.microsoft.com/office/drawing/2014/main" id="{CFFCC45F-0456-43F2-9F72-F8500AA191A2}"/>
              </a:ext>
            </a:extLst>
          </p:cNvPr>
          <p:cNvSpPr>
            <a:spLocks xmlns:a="http://schemas.openxmlformats.org/drawingml/2006/main" noGrp="1"/>
          </p:cNvSpPr>
          <p:nvPr/>
        </p:nvSpPr>
        <p:spPr>
          <a:xfrm xmlns:a="http://schemas.openxmlformats.org/drawingml/2006/main">
            <a:off x="6934200" y="2800350"/>
            <a:ext cx="40767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52538"/>
                </a:solidFill>
              </a:defRPr>
            </a:pPr>
            <a:r>
              <a:rPr sz="1350" b="0">
                <a:solidFill>
                  <a:srgbClr val="152538"/>
                </a:solidFill>
              </a:rPr>
              <a:t>A fine-tuning benefit</a:t>
            </a:r>
          </a:p>
        </p:txBody>
      </p:sp>
      <p:sp>
        <p:nvSpPr>
          <p:cNvPr id="25" name="">
            <a:extLst xmlns:a="http://schemas.openxmlformats.org/drawingml/2006/main">
              <a:ext uri="{FF2B5EF4-FFF2-40B4-BE49-F238E27FC236}">
                <a16:creationId xmlns:a16="http://schemas.microsoft.com/office/drawing/2014/main" id="{CF3B7E04-87A7-4248-A6F7-19C63FD7194D}"/>
              </a:ext>
            </a:extLst>
          </p:cNvPr>
          <p:cNvSpPr>
            <a:spLocks xmlns:a="http://schemas.openxmlformats.org/drawingml/2006/main" noGrp="1"/>
          </p:cNvSpPr>
          <p:nvPr/>
        </p:nvSpPr>
        <p:spPr>
          <a:xfrm xmlns:a="http://schemas.openxmlformats.org/drawingml/2006/main">
            <a:off x="6724650" y="3314700"/>
            <a:ext cx="76200" cy="76200"/>
          </a:xfrm>
          <a:prstGeom xmlns:a="http://schemas.openxmlformats.org/drawingml/2006/main" prst="ellipse">
            <a:avLst/>
          </a:prstGeom>
          <a:solidFill xmlns:a="http://schemas.openxmlformats.org/drawingml/2006/main">
            <a:srgbClr val="C74A4A"/>
          </a:solidFill>
          <a:ln xmlns:a="http://schemas.openxmlformats.org/drawingml/2006/main" w="9525">
            <a:solidFill>
              <a:srgbClr val="C74A4A"/>
            </a:solidFill>
            <a:prstDash val="solid"/>
          </a:ln>
        </p:spPr>
      </p:sp>
      <p:sp>
        <p:nvSpPr>
          <p:cNvPr id="26" name="">
            <a:extLst xmlns:a="http://schemas.openxmlformats.org/drawingml/2006/main">
              <a:ext uri="{FF2B5EF4-FFF2-40B4-BE49-F238E27FC236}">
                <a16:creationId xmlns:a16="http://schemas.microsoft.com/office/drawing/2014/main" id="{4EA5BECB-E283-4FD4-BE2E-BC366AE3011C}"/>
              </a:ext>
            </a:extLst>
          </p:cNvPr>
          <p:cNvSpPr>
            <a:spLocks xmlns:a="http://schemas.openxmlformats.org/drawingml/2006/main" noGrp="1"/>
          </p:cNvSpPr>
          <p:nvPr/>
        </p:nvSpPr>
        <p:spPr>
          <a:xfrm xmlns:a="http://schemas.openxmlformats.org/drawingml/2006/main">
            <a:off x="6934200" y="3219450"/>
            <a:ext cx="40767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52538"/>
                </a:solidFill>
              </a:defRPr>
            </a:pPr>
            <a:r>
              <a:rPr sz="1350" b="0">
                <a:solidFill>
                  <a:srgbClr val="152538"/>
                </a:solidFill>
              </a:rPr>
              <a:t>A randomized hardware success rate</a:t>
            </a:r>
          </a:p>
        </p:txBody>
      </p:sp>
      <p:sp>
        <p:nvSpPr>
          <p:cNvPr id="27" name="">
            <a:extLst xmlns:a="http://schemas.openxmlformats.org/drawingml/2006/main">
              <a:ext uri="{FF2B5EF4-FFF2-40B4-BE49-F238E27FC236}">
                <a16:creationId xmlns:a16="http://schemas.microsoft.com/office/drawing/2014/main" id="{051423DC-ECD9-47EE-82C6-494F15220D58}"/>
              </a:ext>
            </a:extLst>
          </p:cNvPr>
          <p:cNvSpPr>
            <a:spLocks xmlns:a="http://schemas.openxmlformats.org/drawingml/2006/main" noGrp="1"/>
          </p:cNvSpPr>
          <p:nvPr/>
        </p:nvSpPr>
        <p:spPr>
          <a:xfrm xmlns:a="http://schemas.openxmlformats.org/drawingml/2006/main">
            <a:off x="6724650" y="3733800"/>
            <a:ext cx="76200" cy="76200"/>
          </a:xfrm>
          <a:prstGeom xmlns:a="http://schemas.openxmlformats.org/drawingml/2006/main" prst="ellipse">
            <a:avLst/>
          </a:prstGeom>
          <a:solidFill xmlns:a="http://schemas.openxmlformats.org/drawingml/2006/main">
            <a:srgbClr val="C74A4A"/>
          </a:solidFill>
          <a:ln xmlns:a="http://schemas.openxmlformats.org/drawingml/2006/main" w="9525">
            <a:solidFill>
              <a:srgbClr val="C74A4A"/>
            </a:solidFill>
            <a:prstDash val="solid"/>
          </a:ln>
        </p:spPr>
      </p:sp>
      <p:sp>
        <p:nvSpPr>
          <p:cNvPr id="28" name="">
            <a:extLst xmlns:a="http://schemas.openxmlformats.org/drawingml/2006/main">
              <a:ext uri="{FF2B5EF4-FFF2-40B4-BE49-F238E27FC236}">
                <a16:creationId xmlns:a16="http://schemas.microsoft.com/office/drawing/2014/main" id="{F2DA99F8-5492-424E-B262-D778AA700830}"/>
              </a:ext>
            </a:extLst>
          </p:cNvPr>
          <p:cNvSpPr>
            <a:spLocks xmlns:a="http://schemas.openxmlformats.org/drawingml/2006/main" noGrp="1"/>
          </p:cNvSpPr>
          <p:nvPr/>
        </p:nvSpPr>
        <p:spPr>
          <a:xfrm xmlns:a="http://schemas.openxmlformats.org/drawingml/2006/main">
            <a:off x="6934200" y="3638550"/>
            <a:ext cx="40767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52538"/>
                </a:solidFill>
              </a:defRPr>
            </a:pPr>
            <a:r>
              <a:rPr sz="1350" b="0">
                <a:solidFill>
                  <a:srgbClr val="152538"/>
                </a:solidFill>
              </a:rPr>
              <a:t>A capture guarantee</a:t>
            </a:r>
          </a:p>
        </p:txBody>
      </p:sp>
      <p:sp>
        <p:nvSpPr>
          <p:cNvPr id="29" name="">
            <a:extLst xmlns:a="http://schemas.openxmlformats.org/drawingml/2006/main">
              <a:ext uri="{FF2B5EF4-FFF2-40B4-BE49-F238E27FC236}">
                <a16:creationId xmlns:a16="http://schemas.microsoft.com/office/drawing/2014/main" id="{E383B282-DDCE-4B24-A47D-83E32EDB51E7}"/>
              </a:ext>
            </a:extLst>
          </p:cNvPr>
          <p:cNvSpPr>
            <a:spLocks xmlns:a="http://schemas.openxmlformats.org/drawingml/2006/main" noGrp="1"/>
          </p:cNvSpPr>
          <p:nvPr/>
        </p:nvSpPr>
        <p:spPr>
          <a:xfrm xmlns:a="http://schemas.openxmlformats.org/drawingml/2006/main">
            <a:off x="6724650" y="4152900"/>
            <a:ext cx="76200" cy="76200"/>
          </a:xfrm>
          <a:prstGeom xmlns:a="http://schemas.openxmlformats.org/drawingml/2006/main" prst="ellipse">
            <a:avLst/>
          </a:prstGeom>
          <a:solidFill xmlns:a="http://schemas.openxmlformats.org/drawingml/2006/main">
            <a:srgbClr val="C74A4A"/>
          </a:solidFill>
          <a:ln xmlns:a="http://schemas.openxmlformats.org/drawingml/2006/main" w="9525">
            <a:solidFill>
              <a:srgbClr val="C74A4A"/>
            </a:solidFill>
            <a:prstDash val="solid"/>
          </a:ln>
        </p:spPr>
      </p:sp>
      <p:sp>
        <p:nvSpPr>
          <p:cNvPr id="30" name="">
            <a:extLst xmlns:a="http://schemas.openxmlformats.org/drawingml/2006/main">
              <a:ext uri="{FF2B5EF4-FFF2-40B4-BE49-F238E27FC236}">
                <a16:creationId xmlns:a16="http://schemas.microsoft.com/office/drawing/2014/main" id="{B78CD86C-8771-447D-8EAE-255BC2A74AE2}"/>
              </a:ext>
            </a:extLst>
          </p:cNvPr>
          <p:cNvSpPr>
            <a:spLocks xmlns:a="http://schemas.openxmlformats.org/drawingml/2006/main" noGrp="1"/>
          </p:cNvSpPr>
          <p:nvPr/>
        </p:nvSpPr>
        <p:spPr>
          <a:xfrm xmlns:a="http://schemas.openxmlformats.org/drawingml/2006/main">
            <a:off x="6934200" y="4057650"/>
            <a:ext cx="40767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52538"/>
                </a:solidFill>
              </a:defRPr>
            </a:pPr>
            <a:r>
              <a:rPr sz="1350" b="0">
                <a:solidFill>
                  <a:srgbClr val="152538"/>
                </a:solidFill>
              </a:rPr>
              <a:t>Torque coupling or thread release</a:t>
            </a:r>
          </a:p>
        </p:txBody>
      </p:sp>
      <p:sp>
        <p:nvSpPr>
          <p:cNvPr id="31" name="">
            <a:extLst xmlns:a="http://schemas.openxmlformats.org/drawingml/2006/main">
              <a:ext uri="{FF2B5EF4-FFF2-40B4-BE49-F238E27FC236}">
                <a16:creationId xmlns:a16="http://schemas.microsoft.com/office/drawing/2014/main" id="{DF341234-66DF-4C73-AFB5-80D49CAC0E96}"/>
              </a:ext>
            </a:extLst>
          </p:cNvPr>
          <p:cNvSpPr>
            <a:spLocks xmlns:a="http://schemas.openxmlformats.org/drawingml/2006/main" noGrp="1"/>
          </p:cNvSpPr>
          <p:nvPr/>
        </p:nvSpPr>
        <p:spPr>
          <a:xfrm xmlns:a="http://schemas.openxmlformats.org/drawingml/2006/main">
            <a:off x="647700" y="5943600"/>
            <a:ext cx="10839450" cy="400050"/>
          </a:xfrm>
          <a:prstGeom xmlns:a="http://schemas.openxmlformats.org/drawingml/2006/main" prst="rect">
            <a:avLst/>
          </a:prstGeom>
          <a:solidFill xmlns:a="http://schemas.openxmlformats.org/drawingml/2006/main">
            <a:srgbClr val="FFF0E2"/>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F014B64F-C43B-43DD-9459-422BB5DF2430}"/>
              </a:ext>
            </a:extLst>
          </p:cNvPr>
          <p:cNvSpPr>
            <a:spLocks xmlns:a="http://schemas.openxmlformats.org/drawingml/2006/main" noGrp="1"/>
          </p:cNvSpPr>
          <p:nvPr/>
        </p:nvSpPr>
        <p:spPr>
          <a:xfrm xmlns:a="http://schemas.openxmlformats.org/drawingml/2006/main">
            <a:off x="647700" y="5943600"/>
            <a:ext cx="57150" cy="400050"/>
          </a:xfrm>
          <a:prstGeom xmlns:a="http://schemas.openxmlformats.org/drawingml/2006/main" prst="rect">
            <a:avLst/>
          </a:prstGeom>
          <a:solidFill xmlns:a="http://schemas.openxmlformats.org/drawingml/2006/main">
            <a:srgbClr val="ED7F0D"/>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4407A123-4FC6-401D-A1A9-21D32F7D6F2B}"/>
              </a:ext>
            </a:extLst>
          </p:cNvPr>
          <p:cNvSpPr>
            <a:spLocks xmlns:a="http://schemas.openxmlformats.org/drawingml/2006/main" noGrp="1"/>
          </p:cNvSpPr>
          <p:nvPr/>
        </p:nvSpPr>
        <p:spPr>
          <a:xfrm xmlns:a="http://schemas.openxmlformats.org/drawingml/2006/main">
            <a:off x="838200" y="5981700"/>
            <a:ext cx="10458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152538"/>
                </a:solidFill>
              </a:defRPr>
            </a:pPr>
            <a:r>
              <a:rPr sz="1275" b="1">
                <a:solidFill>
                  <a:srgbClr val="152538"/>
                </a:solidFill>
              </a:rPr>
              <a:t>The paper is strongest when the validity boundary stays explicit.</a:t>
            </a:r>
          </a:p>
        </p:txBody>
      </p:sp>
    </p:spTree>
    <p:extLst>
      <p:ext uri="{BB962C8B-B14F-4D97-AF65-F5344CB8AC3E}">
        <p14:creationId xmlns:p14="http://schemas.microsoft.com/office/powerpoint/2010/main" val="1395517222"/>
      </p:ext>
    </p:extLst>
  </p:cSld>
</p:sld>
</file>

<file path=ppt/slides/slide35.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8EABABB-767C-42D2-824C-F019803CF9C3}"/>
              </a:ext>
            </a:extLst>
          </p:cNvPr>
          <p:cNvSpPr>
            <a:spLocks xmlns:a="http://schemas.openxmlformats.org/drawingml/2006/main" noGrp="1"/>
          </p:cNvSpPr>
          <p:nvPr/>
        </p:nvSpPr>
        <p:spPr>
          <a:xfrm xmlns:a="http://schemas.openxmlformats.org/drawingml/2006/main">
            <a:off x="647700" y="2286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ED7F0D"/>
                </a:solidFill>
              </a:defRPr>
            </a:pPr>
            <a:r>
              <a:rPr sz="1050" b="1">
                <a:solidFill>
                  <a:srgbClr val="ED7F0D"/>
                </a:solidFill>
              </a:rPr>
              <a:t>35</a:t>
            </a:r>
          </a:p>
        </p:txBody>
      </p:sp>
      <p:sp>
        <p:nvSpPr>
          <p:cNvPr id="2" name="">
            <a:extLst xmlns:a="http://schemas.openxmlformats.org/drawingml/2006/main">
              <a:ext uri="{FF2B5EF4-FFF2-40B4-BE49-F238E27FC236}">
                <a16:creationId xmlns:a16="http://schemas.microsoft.com/office/drawing/2014/main" id="{3EFF5971-D959-49D6-BD06-DC17B1418FAF}"/>
              </a:ext>
            </a:extLst>
          </p:cNvPr>
          <p:cNvSpPr>
            <a:spLocks xmlns:a="http://schemas.openxmlformats.org/drawingml/2006/main" noGrp="1"/>
          </p:cNvSpPr>
          <p:nvPr/>
        </p:nvSpPr>
        <p:spPr>
          <a:xfrm xmlns:a="http://schemas.openxmlformats.org/drawingml/2006/main">
            <a:off x="1104900" y="22860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6B7580"/>
                </a:solidFill>
              </a:defRPr>
            </a:pPr>
            <a:r>
              <a:rPr sz="975" b="1">
                <a:solidFill>
                  <a:srgbClr val="6B7580"/>
                </a:solidFill>
              </a:rPr>
              <a:t>DISCUSSION</a:t>
            </a:r>
          </a:p>
        </p:txBody>
      </p:sp>
      <p:sp>
        <p:nvSpPr>
          <p:cNvPr id="3" name="">
            <a:extLst xmlns:a="http://schemas.openxmlformats.org/drawingml/2006/main">
              <a:ext uri="{FF2B5EF4-FFF2-40B4-BE49-F238E27FC236}">
                <a16:creationId xmlns:a16="http://schemas.microsoft.com/office/drawing/2014/main" id="{1F084CFC-8C09-4CF2-9C9A-FF51CD448F47}"/>
              </a:ext>
            </a:extLst>
          </p:cNvPr>
          <p:cNvSpPr>
            <a:spLocks xmlns:a="http://schemas.openxmlformats.org/drawingml/2006/main" noGrp="1"/>
          </p:cNvSpPr>
          <p:nvPr/>
        </p:nvSpPr>
        <p:spPr>
          <a:xfrm xmlns:a="http://schemas.openxmlformats.org/drawingml/2006/main">
            <a:off x="6191250" y="228600"/>
            <a:ext cx="5353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0">
                <a:solidFill>
                  <a:srgbClr val="6B7580"/>
                </a:solidFill>
              </a:defRPr>
            </a:pPr>
            <a:r>
              <a:rPr sz="825" b="0">
                <a:solidFill>
                  <a:srgbClr val="6B7580"/>
                </a:solidFill>
              </a:rPr>
              <a:t>Problem   Task   Framework   Simulation   Hardware   ● Discussion</a:t>
            </a:r>
          </a:p>
        </p:txBody>
      </p:sp>
      <p:sp>
        <p:nvSpPr>
          <p:cNvPr id="4" name="">
            <a:extLst xmlns:a="http://schemas.openxmlformats.org/drawingml/2006/main">
              <a:ext uri="{FF2B5EF4-FFF2-40B4-BE49-F238E27FC236}">
                <a16:creationId xmlns:a16="http://schemas.microsoft.com/office/drawing/2014/main" id="{52635218-0D82-49CB-A56C-47A934085E0F}"/>
              </a:ext>
            </a:extLst>
          </p:cNvPr>
          <p:cNvSpPr>
            <a:spLocks xmlns:a="http://schemas.openxmlformats.org/drawingml/2006/main" noGrp="1"/>
          </p:cNvSpPr>
          <p:nvPr/>
        </p:nvSpPr>
        <p:spPr>
          <a:xfrm xmlns:a="http://schemas.openxmlformats.org/drawingml/2006/main">
            <a:off x="647700" y="533400"/>
            <a:ext cx="108394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700" b="1">
                <a:solidFill>
                  <a:srgbClr val="004282"/>
                </a:solidFill>
              </a:defRPr>
            </a:pPr>
            <a:r>
              <a:rPr sz="2700" b="1">
                <a:solidFill>
                  <a:srgbClr val="004282"/>
                </a:solidFill>
              </a:rPr>
              <a:t>Touch can shorten search when physical verification keeps authority</a:t>
            </a:r>
          </a:p>
        </p:txBody>
      </p:sp>
      <p:sp>
        <p:nvSpPr>
          <p:cNvPr id="5" name="">
            <a:extLst xmlns:a="http://schemas.openxmlformats.org/drawingml/2006/main">
              <a:ext uri="{FF2B5EF4-FFF2-40B4-BE49-F238E27FC236}">
                <a16:creationId xmlns:a16="http://schemas.microsoft.com/office/drawing/2014/main" id="{C5F3D95C-0C05-4525-931D-16318D36A744}"/>
              </a:ext>
            </a:extLst>
          </p:cNvPr>
          <p:cNvSpPr>
            <a:spLocks xmlns:a="http://schemas.openxmlformats.org/drawingml/2006/main" noGrp="1"/>
          </p:cNvSpPr>
          <p:nvPr/>
        </p:nvSpPr>
        <p:spPr>
          <a:xfrm xmlns:a="http://schemas.openxmlformats.org/drawingml/2006/main">
            <a:off x="647700" y="1257300"/>
            <a:ext cx="609600" cy="47625"/>
          </a:xfrm>
          <a:prstGeom xmlns:a="http://schemas.openxmlformats.org/drawingml/2006/main" prst="rect">
            <a:avLst/>
          </a:prstGeom>
          <a:solidFill xmlns:a="http://schemas.openxmlformats.org/drawingml/2006/main">
            <a:srgbClr val="ED7F0D"/>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490C2D37-960A-4AF7-A634-A59DBF30C63A}"/>
              </a:ext>
            </a:extLst>
          </p:cNvPr>
          <p:cNvSpPr>
            <a:spLocks xmlns:a="http://schemas.openxmlformats.org/drawingml/2006/main" noGrp="1"/>
          </p:cNvSpPr>
          <p:nvPr/>
        </p:nvSpPr>
        <p:spPr>
          <a:xfrm xmlns:a="http://schemas.openxmlformats.org/drawingml/2006/main">
            <a:off x="647700" y="6486525"/>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6B7580"/>
                </a:solidFill>
              </a:defRPr>
            </a:pPr>
            <a:r>
              <a:rPr sz="825" b="0">
                <a:solidFill>
                  <a:srgbClr val="6B7580"/>
                </a:solidFill>
              </a:rPr>
              <a:t>Nan Jinyao · Paper-aligned group review</a:t>
            </a:r>
          </a:p>
        </p:txBody>
      </p:sp>
      <p:sp>
        <p:nvSpPr>
          <p:cNvPr id="7" name="">
            <a:extLst xmlns:a="http://schemas.openxmlformats.org/drawingml/2006/main">
              <a:ext uri="{FF2B5EF4-FFF2-40B4-BE49-F238E27FC236}">
                <a16:creationId xmlns:a16="http://schemas.microsoft.com/office/drawing/2014/main" id="{9B65DA1A-4FED-4615-84FB-1A02079990BC}"/>
              </a:ext>
            </a:extLst>
          </p:cNvPr>
          <p:cNvSpPr>
            <a:spLocks xmlns:a="http://schemas.openxmlformats.org/drawingml/2006/main" noGrp="1"/>
          </p:cNvSpPr>
          <p:nvPr/>
        </p:nvSpPr>
        <p:spPr>
          <a:xfrm xmlns:a="http://schemas.openxmlformats.org/drawingml/2006/main">
            <a:off x="4476750" y="6486525"/>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0">
                <a:solidFill>
                  <a:srgbClr val="6B7580"/>
                </a:solidFill>
              </a:defRPr>
            </a:pPr>
            <a:r>
              <a:rPr sz="825" b="0">
                <a:solidFill>
                  <a:srgbClr val="6B7580"/>
                </a:solidFill>
              </a:rPr>
              <a:t>Conclusion</a:t>
            </a:r>
          </a:p>
        </p:txBody>
      </p:sp>
      <p:sp>
        <p:nvSpPr>
          <p:cNvPr id="8" name="">
            <a:extLst xmlns:a="http://schemas.openxmlformats.org/drawingml/2006/main">
              <a:ext uri="{FF2B5EF4-FFF2-40B4-BE49-F238E27FC236}">
                <a16:creationId xmlns:a16="http://schemas.microsoft.com/office/drawing/2014/main" id="{5D6E43C1-9BDC-4380-A3F3-84B2A60F1404}"/>
              </a:ext>
            </a:extLst>
          </p:cNvPr>
          <p:cNvSpPr>
            <a:spLocks xmlns:a="http://schemas.openxmlformats.org/drawingml/2006/main" noGrp="1"/>
          </p:cNvSpPr>
          <p:nvPr/>
        </p:nvSpPr>
        <p:spPr>
          <a:xfrm xmlns:a="http://schemas.openxmlformats.org/drawingml/2006/main">
            <a:off x="11049000" y="648652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004282"/>
                </a:solidFill>
              </a:defRPr>
            </a:pPr>
            <a:r>
              <a:rPr sz="825" b="1">
                <a:solidFill>
                  <a:srgbClr val="004282"/>
                </a:solidFill>
              </a:rPr>
              <a:t>35</a:t>
            </a:r>
          </a:p>
        </p:txBody>
      </p:sp>
      <p:sp>
        <p:nvSpPr>
          <p:cNvPr id="9" name="">
            <a:extLst xmlns:a="http://schemas.openxmlformats.org/drawingml/2006/main">
              <a:ext uri="{FF2B5EF4-FFF2-40B4-BE49-F238E27FC236}">
                <a16:creationId xmlns:a16="http://schemas.microsoft.com/office/drawing/2014/main" id="{74EDACCF-20FF-4F86-8A3E-E184D53CB810}"/>
              </a:ext>
            </a:extLst>
          </p:cNvPr>
          <p:cNvSpPr>
            <a:spLocks xmlns:a="http://schemas.openxmlformats.org/drawingml/2006/main" noGrp="1"/>
          </p:cNvSpPr>
          <p:nvPr/>
        </p:nvSpPr>
        <p:spPr>
          <a:xfrm xmlns:a="http://schemas.openxmlformats.org/drawingml/2006/main">
            <a:off x="685800" y="1466850"/>
            <a:ext cx="6096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5400" b="1">
                <a:solidFill>
                  <a:srgbClr val="ED7F0D"/>
                </a:solidFill>
              </a:defRPr>
            </a:pPr>
            <a:r>
              <a:rPr sz="5400" b="1">
                <a:solidFill>
                  <a:srgbClr val="ED7F0D"/>
                </a:solidFill>
              </a:rPr>
              <a:t>“</a:t>
            </a:r>
          </a:p>
        </p:txBody>
      </p:sp>
      <p:sp>
        <p:nvSpPr>
          <p:cNvPr id="10" name="">
            <a:extLst xmlns:a="http://schemas.openxmlformats.org/drawingml/2006/main">
              <a:ext uri="{FF2B5EF4-FFF2-40B4-BE49-F238E27FC236}">
                <a16:creationId xmlns:a16="http://schemas.microsoft.com/office/drawing/2014/main" id="{3F0D8031-53D1-47E4-BDD6-A331AD7381C8}"/>
              </a:ext>
            </a:extLst>
          </p:cNvPr>
          <p:cNvSpPr>
            <a:spLocks xmlns:a="http://schemas.openxmlformats.org/drawingml/2006/main" noGrp="1"/>
          </p:cNvSpPr>
          <p:nvPr/>
        </p:nvSpPr>
        <p:spPr>
          <a:xfrm xmlns:a="http://schemas.openxmlformats.org/drawingml/2006/main">
            <a:off x="1200150" y="1685925"/>
            <a:ext cx="98107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025" b="1">
                <a:solidFill>
                  <a:srgbClr val="004282"/>
                </a:solidFill>
              </a:defRPr>
            </a:pPr>
            <a:r>
              <a:rPr sz="2025" b="1">
                <a:solidFill>
                  <a:srgbClr val="004282"/>
                </a:solidFill>
              </a:rPr>
              <a:t>A conical tactile cue can shorten the route when it only controls a bounded shortcut and the unresolved uncertainty stays inside guarded search and verification.</a:t>
            </a:r>
          </a:p>
        </p:txBody>
      </p:sp>
      <p:sp>
        <p:nvSpPr>
          <p:cNvPr id="11" name="">
            <a:extLst xmlns:a="http://schemas.openxmlformats.org/drawingml/2006/main">
              <a:ext uri="{FF2B5EF4-FFF2-40B4-BE49-F238E27FC236}">
                <a16:creationId xmlns:a16="http://schemas.microsoft.com/office/drawing/2014/main" id="{1CBFDB03-3AA4-4AC4-92B8-DF170A5CA7E9}"/>
              </a:ext>
            </a:extLst>
          </p:cNvPr>
          <p:cNvSpPr>
            <a:spLocks xmlns:a="http://schemas.openxmlformats.org/drawingml/2006/main" noGrp="1"/>
          </p:cNvSpPr>
          <p:nvPr/>
        </p:nvSpPr>
        <p:spPr>
          <a:xfrm xmlns:a="http://schemas.openxmlformats.org/drawingml/2006/main">
            <a:off x="2095500" y="3028950"/>
            <a:ext cx="8001000" cy="19050"/>
          </a:xfrm>
          <a:prstGeom xmlns:a="http://schemas.openxmlformats.org/drawingml/2006/main" prst="rect">
            <a:avLst/>
          </a:prstGeom>
          <a:solidFill xmlns:a="http://schemas.openxmlformats.org/drawingml/2006/main">
            <a:srgbClr val="D9E0E6"/>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85CEF214-868C-4DD1-846A-339A96891765}"/>
              </a:ext>
            </a:extLst>
          </p:cNvPr>
          <p:cNvSpPr>
            <a:spLocks xmlns:a="http://schemas.openxmlformats.org/drawingml/2006/main" noGrp="1"/>
          </p:cNvSpPr>
          <p:nvPr/>
        </p:nvSpPr>
        <p:spPr>
          <a:xfrm xmlns:a="http://schemas.openxmlformats.org/drawingml/2006/main">
            <a:off x="1485900" y="3448050"/>
            <a:ext cx="323850" cy="323850"/>
          </a:xfrm>
          <a:prstGeom xmlns:a="http://schemas.openxmlformats.org/drawingml/2006/main" prst="ellipse">
            <a:avLst/>
          </a:prstGeom>
          <a:solidFill xmlns:a="http://schemas.openxmlformats.org/drawingml/2006/main">
            <a:srgbClr val="004282"/>
          </a:solidFill>
          <a:ln xmlns:a="http://schemas.openxmlformats.org/drawingml/2006/main" w="9525">
            <a:solidFill>
              <a:srgbClr val="004282"/>
            </a:solidFill>
            <a:prstDash val="solid"/>
          </a:ln>
        </p:spPr>
      </p:sp>
      <p:sp>
        <p:nvSpPr>
          <p:cNvPr id="13" name="">
            <a:extLst xmlns:a="http://schemas.openxmlformats.org/drawingml/2006/main">
              <a:ext uri="{FF2B5EF4-FFF2-40B4-BE49-F238E27FC236}">
                <a16:creationId xmlns:a16="http://schemas.microsoft.com/office/drawing/2014/main" id="{933039EF-2FFE-43B7-83A8-62BA94186F63}"/>
              </a:ext>
            </a:extLst>
          </p:cNvPr>
          <p:cNvSpPr>
            <a:spLocks xmlns:a="http://schemas.openxmlformats.org/drawingml/2006/main" noGrp="1"/>
          </p:cNvSpPr>
          <p:nvPr/>
        </p:nvSpPr>
        <p:spPr>
          <a:xfrm xmlns:a="http://schemas.openxmlformats.org/drawingml/2006/main">
            <a:off x="1485900" y="35052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FFFFFF"/>
                </a:solidFill>
              </a:defRPr>
            </a:pPr>
            <a:r>
              <a:rPr sz="975" b="1">
                <a:solidFill>
                  <a:srgbClr val="FFFFFF"/>
                </a:solidFill>
              </a:rPr>
              <a:t>1</a:t>
            </a:r>
          </a:p>
        </p:txBody>
      </p:sp>
      <p:sp>
        <p:nvSpPr>
          <p:cNvPr id="14" name="">
            <a:extLst xmlns:a="http://schemas.openxmlformats.org/drawingml/2006/main">
              <a:ext uri="{FF2B5EF4-FFF2-40B4-BE49-F238E27FC236}">
                <a16:creationId xmlns:a16="http://schemas.microsoft.com/office/drawing/2014/main" id="{CBA41B96-F086-45ED-A702-2F3C48BC15E3}"/>
              </a:ext>
            </a:extLst>
          </p:cNvPr>
          <p:cNvSpPr>
            <a:spLocks xmlns:a="http://schemas.openxmlformats.org/drawingml/2006/main" noGrp="1"/>
          </p:cNvSpPr>
          <p:nvPr/>
        </p:nvSpPr>
        <p:spPr>
          <a:xfrm xmlns:a="http://schemas.openxmlformats.org/drawingml/2006/main">
            <a:off x="2019300" y="3429000"/>
            <a:ext cx="8572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a:solidFill>
                  <a:srgbClr val="152538"/>
                </a:solidFill>
              </a:defRPr>
            </a:pPr>
            <a:r>
              <a:rPr sz="1650" b="1">
                <a:solidFill>
                  <a:srgbClr val="152538"/>
                </a:solidFill>
              </a:rPr>
              <a:t>Touch changes where search motion is spent.</a:t>
            </a:r>
          </a:p>
        </p:txBody>
      </p:sp>
      <p:sp>
        <p:nvSpPr>
          <p:cNvPr id="15" name="">
            <a:extLst xmlns:a="http://schemas.openxmlformats.org/drawingml/2006/main">
              <a:ext uri="{FF2B5EF4-FFF2-40B4-BE49-F238E27FC236}">
                <a16:creationId xmlns:a16="http://schemas.microsoft.com/office/drawing/2014/main" id="{9241CADB-9D05-4A67-8B87-4BD22224999C}"/>
              </a:ext>
            </a:extLst>
          </p:cNvPr>
          <p:cNvSpPr>
            <a:spLocks xmlns:a="http://schemas.openxmlformats.org/drawingml/2006/main" noGrp="1"/>
          </p:cNvSpPr>
          <p:nvPr/>
        </p:nvSpPr>
        <p:spPr>
          <a:xfrm xmlns:a="http://schemas.openxmlformats.org/drawingml/2006/main">
            <a:off x="1485900" y="4086225"/>
            <a:ext cx="323850" cy="323850"/>
          </a:xfrm>
          <a:prstGeom xmlns:a="http://schemas.openxmlformats.org/drawingml/2006/main" prst="ellipse">
            <a:avLst/>
          </a:prstGeom>
          <a:solidFill xmlns:a="http://schemas.openxmlformats.org/drawingml/2006/main">
            <a:srgbClr val="009E73"/>
          </a:solidFill>
          <a:ln xmlns:a="http://schemas.openxmlformats.org/drawingml/2006/main" w="9525">
            <a:solidFill>
              <a:srgbClr val="009E73"/>
            </a:solidFill>
            <a:prstDash val="solid"/>
          </a:ln>
        </p:spPr>
      </p:sp>
      <p:sp>
        <p:nvSpPr>
          <p:cNvPr id="16" name="">
            <a:extLst xmlns:a="http://schemas.openxmlformats.org/drawingml/2006/main">
              <a:ext uri="{FF2B5EF4-FFF2-40B4-BE49-F238E27FC236}">
                <a16:creationId xmlns:a16="http://schemas.microsoft.com/office/drawing/2014/main" id="{94E09AD9-E341-4547-B59F-9B7F9EB441E5}"/>
              </a:ext>
            </a:extLst>
          </p:cNvPr>
          <p:cNvSpPr>
            <a:spLocks xmlns:a="http://schemas.openxmlformats.org/drawingml/2006/main" noGrp="1"/>
          </p:cNvSpPr>
          <p:nvPr/>
        </p:nvSpPr>
        <p:spPr>
          <a:xfrm xmlns:a="http://schemas.openxmlformats.org/drawingml/2006/main">
            <a:off x="1485900" y="4143375"/>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FFFFFF"/>
                </a:solidFill>
              </a:defRPr>
            </a:pPr>
            <a:r>
              <a:rPr sz="975" b="1">
                <a:solidFill>
                  <a:srgbClr val="FFFFFF"/>
                </a:solidFill>
              </a:rPr>
              <a:t>2</a:t>
            </a:r>
          </a:p>
        </p:txBody>
      </p:sp>
      <p:sp>
        <p:nvSpPr>
          <p:cNvPr id="17" name="">
            <a:extLst xmlns:a="http://schemas.openxmlformats.org/drawingml/2006/main">
              <a:ext uri="{FF2B5EF4-FFF2-40B4-BE49-F238E27FC236}">
                <a16:creationId xmlns:a16="http://schemas.microsoft.com/office/drawing/2014/main" id="{8F001CA9-1D57-4EDF-8B8A-974DB90FADD2}"/>
              </a:ext>
            </a:extLst>
          </p:cNvPr>
          <p:cNvSpPr>
            <a:spLocks xmlns:a="http://schemas.openxmlformats.org/drawingml/2006/main" noGrp="1"/>
          </p:cNvSpPr>
          <p:nvPr/>
        </p:nvSpPr>
        <p:spPr>
          <a:xfrm xmlns:a="http://schemas.openxmlformats.org/drawingml/2006/main">
            <a:off x="2019300" y="4067175"/>
            <a:ext cx="8572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a:solidFill>
                  <a:srgbClr val="152538"/>
                </a:solidFill>
              </a:defRPr>
            </a:pPr>
            <a:r>
              <a:rPr sz="1650" b="1">
                <a:solidFill>
                  <a:srgbClr val="152538"/>
                </a:solidFill>
              </a:rPr>
              <a:t>Residual search absorbs the missing distance information.</a:t>
            </a:r>
          </a:p>
        </p:txBody>
      </p:sp>
      <p:sp>
        <p:nvSpPr>
          <p:cNvPr id="18" name="">
            <a:extLst xmlns:a="http://schemas.openxmlformats.org/drawingml/2006/main">
              <a:ext uri="{FF2B5EF4-FFF2-40B4-BE49-F238E27FC236}">
                <a16:creationId xmlns:a16="http://schemas.microsoft.com/office/drawing/2014/main" id="{E59866FB-02AE-49ED-92E1-4633BD8ED3FE}"/>
              </a:ext>
            </a:extLst>
          </p:cNvPr>
          <p:cNvSpPr>
            <a:spLocks xmlns:a="http://schemas.openxmlformats.org/drawingml/2006/main" noGrp="1"/>
          </p:cNvSpPr>
          <p:nvPr/>
        </p:nvSpPr>
        <p:spPr>
          <a:xfrm xmlns:a="http://schemas.openxmlformats.org/drawingml/2006/main">
            <a:off x="1485900" y="4724400"/>
            <a:ext cx="323850" cy="323850"/>
          </a:xfrm>
          <a:prstGeom xmlns:a="http://schemas.openxmlformats.org/drawingml/2006/main" prst="ellipse">
            <a:avLst/>
          </a:prstGeom>
          <a:solidFill xmlns:a="http://schemas.openxmlformats.org/drawingml/2006/main">
            <a:srgbClr val="C74A4A"/>
          </a:solidFill>
          <a:ln xmlns:a="http://schemas.openxmlformats.org/drawingml/2006/main" w="9525">
            <a:solidFill>
              <a:srgbClr val="C74A4A"/>
            </a:solidFill>
            <a:prstDash val="solid"/>
          </a:ln>
        </p:spPr>
      </p:sp>
      <p:sp>
        <p:nvSpPr>
          <p:cNvPr id="19" name="">
            <a:extLst xmlns:a="http://schemas.openxmlformats.org/drawingml/2006/main">
              <a:ext uri="{FF2B5EF4-FFF2-40B4-BE49-F238E27FC236}">
                <a16:creationId xmlns:a16="http://schemas.microsoft.com/office/drawing/2014/main" id="{F1907E80-B699-419F-B28E-940710976FFC}"/>
              </a:ext>
            </a:extLst>
          </p:cNvPr>
          <p:cNvSpPr>
            <a:spLocks xmlns:a="http://schemas.openxmlformats.org/drawingml/2006/main" noGrp="1"/>
          </p:cNvSpPr>
          <p:nvPr/>
        </p:nvSpPr>
        <p:spPr>
          <a:xfrm xmlns:a="http://schemas.openxmlformats.org/drawingml/2006/main">
            <a:off x="1485900" y="478155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FFFFFF"/>
                </a:solidFill>
              </a:defRPr>
            </a:pPr>
            <a:r>
              <a:rPr sz="975" b="1">
                <a:solidFill>
                  <a:srgbClr val="FFFFFF"/>
                </a:solidFill>
              </a:rPr>
              <a:t>3</a:t>
            </a:r>
          </a:p>
        </p:txBody>
      </p:sp>
      <p:sp>
        <p:nvSpPr>
          <p:cNvPr id="20" name="">
            <a:extLst xmlns:a="http://schemas.openxmlformats.org/drawingml/2006/main">
              <a:ext uri="{FF2B5EF4-FFF2-40B4-BE49-F238E27FC236}">
                <a16:creationId xmlns:a16="http://schemas.microsoft.com/office/drawing/2014/main" id="{B6F0D7E7-0AEE-45E1-B717-577639346143}"/>
              </a:ext>
            </a:extLst>
          </p:cNvPr>
          <p:cNvSpPr>
            <a:spLocks xmlns:a="http://schemas.openxmlformats.org/drawingml/2006/main" noGrp="1"/>
          </p:cNvSpPr>
          <p:nvPr/>
        </p:nvSpPr>
        <p:spPr>
          <a:xfrm xmlns:a="http://schemas.openxmlformats.org/drawingml/2006/main">
            <a:off x="2019300" y="4705350"/>
            <a:ext cx="8572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a:solidFill>
                  <a:srgbClr val="152538"/>
                </a:solidFill>
              </a:defRPr>
            </a:pPr>
            <a:r>
              <a:rPr sz="1650" b="1">
                <a:solidFill>
                  <a:srgbClr val="152538"/>
                </a:solidFill>
              </a:rPr>
              <a:t>Measured contact and terminal dwell decide success.</a:t>
            </a:r>
          </a:p>
        </p:txBody>
      </p:sp>
      <p:sp>
        <p:nvSpPr>
          <p:cNvPr id="21" name="">
            <a:extLst xmlns:a="http://schemas.openxmlformats.org/drawingml/2006/main">
              <a:ext uri="{FF2B5EF4-FFF2-40B4-BE49-F238E27FC236}">
                <a16:creationId xmlns:a16="http://schemas.microsoft.com/office/drawing/2014/main" id="{959A2F1A-AF19-4F28-BEC6-C9884A08E45B}"/>
              </a:ext>
            </a:extLst>
          </p:cNvPr>
          <p:cNvSpPr>
            <a:spLocks xmlns:a="http://schemas.openxmlformats.org/drawingml/2006/main" noGrp="1"/>
          </p:cNvSpPr>
          <p:nvPr/>
        </p:nvSpPr>
        <p:spPr>
          <a:xfrm xmlns:a="http://schemas.openxmlformats.org/drawingml/2006/main">
            <a:off x="647700" y="5943600"/>
            <a:ext cx="10839450" cy="400050"/>
          </a:xfrm>
          <a:prstGeom xmlns:a="http://schemas.openxmlformats.org/drawingml/2006/main" prst="rect">
            <a:avLst/>
          </a:prstGeom>
          <a:solidFill xmlns:a="http://schemas.openxmlformats.org/drawingml/2006/main">
            <a:srgbClr val="FFF0E2"/>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A405E43C-EE8C-4017-B469-AF82D9F57918}"/>
              </a:ext>
            </a:extLst>
          </p:cNvPr>
          <p:cNvSpPr>
            <a:spLocks xmlns:a="http://schemas.openxmlformats.org/drawingml/2006/main" noGrp="1"/>
          </p:cNvSpPr>
          <p:nvPr/>
        </p:nvSpPr>
        <p:spPr>
          <a:xfrm xmlns:a="http://schemas.openxmlformats.org/drawingml/2006/main">
            <a:off x="647700" y="5943600"/>
            <a:ext cx="57150" cy="400050"/>
          </a:xfrm>
          <a:prstGeom xmlns:a="http://schemas.openxmlformats.org/drawingml/2006/main" prst="rect">
            <a:avLst/>
          </a:prstGeom>
          <a:solidFill xmlns:a="http://schemas.openxmlformats.org/drawingml/2006/main">
            <a:srgbClr val="ED7F0D"/>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B6DBC14E-C566-4A39-B83F-FB24622B185D}"/>
              </a:ext>
            </a:extLst>
          </p:cNvPr>
          <p:cNvSpPr>
            <a:spLocks xmlns:a="http://schemas.openxmlformats.org/drawingml/2006/main" noGrp="1"/>
          </p:cNvSpPr>
          <p:nvPr/>
        </p:nvSpPr>
        <p:spPr>
          <a:xfrm xmlns:a="http://schemas.openxmlformats.org/drawingml/2006/main">
            <a:off x="838200" y="5981700"/>
            <a:ext cx="10458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152538"/>
                </a:solidFill>
              </a:defRPr>
            </a:pPr>
            <a:r>
              <a:rPr sz="1275" b="1">
                <a:solidFill>
                  <a:srgbClr val="152538"/>
                </a:solidFill>
              </a:rPr>
              <a:t>A conical tactile cue can shorten the route when it only controls a bounded shortcut and the unresolved uncertainty stays inside guarded search and verification.</a:t>
            </a:r>
          </a:p>
        </p:txBody>
      </p:sp>
    </p:spTree>
    <p:extLst>
      <p:ext uri="{BB962C8B-B14F-4D97-AF65-F5344CB8AC3E}">
        <p14:creationId xmlns:p14="http://schemas.microsoft.com/office/powerpoint/2010/main" val="860769568"/>
      </p:ext>
    </p:extLst>
  </p:cSld>
</p:sld>
</file>

<file path=ppt/slides/slide36.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7BDEB68-7323-4CAD-BCC7-44791C2D144C}"/>
              </a:ext>
            </a:extLst>
          </p:cNvPr>
          <p:cNvSpPr>
            <a:spLocks xmlns:a="http://schemas.openxmlformats.org/drawingml/2006/main" noGrp="1"/>
          </p:cNvSpPr>
          <p:nvPr/>
        </p:nvSpPr>
        <p:spPr>
          <a:xfrm xmlns:a="http://schemas.openxmlformats.org/drawingml/2006/main">
            <a:off x="647700" y="2286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ED7F0D"/>
                </a:solidFill>
              </a:defRPr>
            </a:pPr>
            <a:r>
              <a:rPr sz="1050" b="1">
                <a:solidFill>
                  <a:srgbClr val="ED7F0D"/>
                </a:solidFill>
              </a:rPr>
              <a:t>36</a:t>
            </a:r>
          </a:p>
        </p:txBody>
      </p:sp>
      <p:sp>
        <p:nvSpPr>
          <p:cNvPr id="2" name="">
            <a:extLst xmlns:a="http://schemas.openxmlformats.org/drawingml/2006/main">
              <a:ext uri="{FF2B5EF4-FFF2-40B4-BE49-F238E27FC236}">
                <a16:creationId xmlns:a16="http://schemas.microsoft.com/office/drawing/2014/main" id="{D1881F02-FB9D-4186-AC3A-037DF530743B}"/>
              </a:ext>
            </a:extLst>
          </p:cNvPr>
          <p:cNvSpPr>
            <a:spLocks xmlns:a="http://schemas.openxmlformats.org/drawingml/2006/main" noGrp="1"/>
          </p:cNvSpPr>
          <p:nvPr/>
        </p:nvSpPr>
        <p:spPr>
          <a:xfrm xmlns:a="http://schemas.openxmlformats.org/drawingml/2006/main">
            <a:off x="1104900" y="22860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6B7580"/>
                </a:solidFill>
              </a:defRPr>
            </a:pPr>
            <a:r>
              <a:rPr sz="975" b="1">
                <a:solidFill>
                  <a:srgbClr val="6B7580"/>
                </a:solidFill>
              </a:rPr>
              <a:t>APPENDIX</a:t>
            </a:r>
          </a:p>
        </p:txBody>
      </p:sp>
      <p:sp>
        <p:nvSpPr>
          <p:cNvPr id="3" name="">
            <a:extLst xmlns:a="http://schemas.openxmlformats.org/drawingml/2006/main">
              <a:ext uri="{FF2B5EF4-FFF2-40B4-BE49-F238E27FC236}">
                <a16:creationId xmlns:a16="http://schemas.microsoft.com/office/drawing/2014/main" id="{79BDDBF6-15A5-4B34-9A73-0B73A6BBA198}"/>
              </a:ext>
            </a:extLst>
          </p:cNvPr>
          <p:cNvSpPr>
            <a:spLocks xmlns:a="http://schemas.openxmlformats.org/drawingml/2006/main" noGrp="1"/>
          </p:cNvSpPr>
          <p:nvPr/>
        </p:nvSpPr>
        <p:spPr>
          <a:xfrm xmlns:a="http://schemas.openxmlformats.org/drawingml/2006/main">
            <a:off x="6191250" y="228600"/>
            <a:ext cx="5353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0">
                <a:solidFill>
                  <a:srgbClr val="6B7580"/>
                </a:solidFill>
              </a:defRPr>
            </a:pPr>
            <a:r>
              <a:rPr sz="825" b="0">
                <a:solidFill>
                  <a:srgbClr val="6B7580"/>
                </a:solidFill>
              </a:rPr>
              <a:t>Problem   Task   Framework   Simulation   Hardware   Discussion</a:t>
            </a:r>
          </a:p>
        </p:txBody>
      </p:sp>
      <p:sp>
        <p:nvSpPr>
          <p:cNvPr id="4" name="">
            <a:extLst xmlns:a="http://schemas.openxmlformats.org/drawingml/2006/main">
              <a:ext uri="{FF2B5EF4-FFF2-40B4-BE49-F238E27FC236}">
                <a16:creationId xmlns:a16="http://schemas.microsoft.com/office/drawing/2014/main" id="{284833B4-8CB4-40A8-A996-8BD062BC3488}"/>
              </a:ext>
            </a:extLst>
          </p:cNvPr>
          <p:cNvSpPr>
            <a:spLocks xmlns:a="http://schemas.openxmlformats.org/drawingml/2006/main" noGrp="1"/>
          </p:cNvSpPr>
          <p:nvPr/>
        </p:nvSpPr>
        <p:spPr>
          <a:xfrm xmlns:a="http://schemas.openxmlformats.org/drawingml/2006/main">
            <a:off x="647700" y="533400"/>
            <a:ext cx="108394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004282"/>
                </a:solidFill>
              </a:defRPr>
            </a:pPr>
            <a:r>
              <a:rPr sz="2850" b="1">
                <a:solidFill>
                  <a:srgbClr val="004282"/>
                </a:solidFill>
              </a:rPr>
              <a:t>Backup: the shortcut bound keeps its assumptions visible</a:t>
            </a:r>
          </a:p>
        </p:txBody>
      </p:sp>
      <p:sp>
        <p:nvSpPr>
          <p:cNvPr id="5" name="">
            <a:extLst xmlns:a="http://schemas.openxmlformats.org/drawingml/2006/main">
              <a:ext uri="{FF2B5EF4-FFF2-40B4-BE49-F238E27FC236}">
                <a16:creationId xmlns:a16="http://schemas.microsoft.com/office/drawing/2014/main" id="{0C9FEDE7-6B5C-4AD8-B685-714ACF36B388}"/>
              </a:ext>
            </a:extLst>
          </p:cNvPr>
          <p:cNvSpPr>
            <a:spLocks xmlns:a="http://schemas.openxmlformats.org/drawingml/2006/main" noGrp="1"/>
          </p:cNvSpPr>
          <p:nvPr/>
        </p:nvSpPr>
        <p:spPr>
          <a:xfrm xmlns:a="http://schemas.openxmlformats.org/drawingml/2006/main">
            <a:off x="647700" y="1257300"/>
            <a:ext cx="609600" cy="47625"/>
          </a:xfrm>
          <a:prstGeom xmlns:a="http://schemas.openxmlformats.org/drawingml/2006/main" prst="rect">
            <a:avLst/>
          </a:prstGeom>
          <a:solidFill xmlns:a="http://schemas.openxmlformats.org/drawingml/2006/main">
            <a:srgbClr val="ED7F0D"/>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71B029EB-B6E1-410D-831B-315783FFD639}"/>
              </a:ext>
            </a:extLst>
          </p:cNvPr>
          <p:cNvSpPr>
            <a:spLocks xmlns:a="http://schemas.openxmlformats.org/drawingml/2006/main" noGrp="1"/>
          </p:cNvSpPr>
          <p:nvPr/>
        </p:nvSpPr>
        <p:spPr>
          <a:xfrm xmlns:a="http://schemas.openxmlformats.org/drawingml/2006/main">
            <a:off x="647700" y="6486525"/>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6B7580"/>
                </a:solidFill>
              </a:defRPr>
            </a:pPr>
            <a:r>
              <a:rPr sz="825" b="0">
                <a:solidFill>
                  <a:srgbClr val="6B7580"/>
                </a:solidFill>
              </a:rPr>
              <a:t>Nan Jinyao · Paper-aligned group review</a:t>
            </a:r>
          </a:p>
        </p:txBody>
      </p:sp>
      <p:sp>
        <p:nvSpPr>
          <p:cNvPr id="7" name="">
            <a:extLst xmlns:a="http://schemas.openxmlformats.org/drawingml/2006/main">
              <a:ext uri="{FF2B5EF4-FFF2-40B4-BE49-F238E27FC236}">
                <a16:creationId xmlns:a16="http://schemas.microsoft.com/office/drawing/2014/main" id="{BF40BA2A-8435-4AA4-94C7-2E4EE36735E2}"/>
              </a:ext>
            </a:extLst>
          </p:cNvPr>
          <p:cNvSpPr>
            <a:spLocks xmlns:a="http://schemas.openxmlformats.org/drawingml/2006/main" noGrp="1"/>
          </p:cNvSpPr>
          <p:nvPr/>
        </p:nvSpPr>
        <p:spPr>
          <a:xfrm xmlns:a="http://schemas.openxmlformats.org/drawingml/2006/main">
            <a:off x="4476750" y="6486525"/>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0">
                <a:solidFill>
                  <a:srgbClr val="6B7580"/>
                </a:solidFill>
              </a:defRPr>
            </a:pPr>
            <a:r>
              <a:rPr sz="825" b="0">
                <a:solidFill>
                  <a:srgbClr val="6B7580"/>
                </a:solidFill>
              </a:rPr>
              <a:t>Sec. III-C · Proposition 1</a:t>
            </a:r>
          </a:p>
        </p:txBody>
      </p:sp>
      <p:sp>
        <p:nvSpPr>
          <p:cNvPr id="8" name="">
            <a:extLst xmlns:a="http://schemas.openxmlformats.org/drawingml/2006/main">
              <a:ext uri="{FF2B5EF4-FFF2-40B4-BE49-F238E27FC236}">
                <a16:creationId xmlns:a16="http://schemas.microsoft.com/office/drawing/2014/main" id="{4B9D2AA1-EBFD-4901-AED7-0E19E1DBE788}"/>
              </a:ext>
            </a:extLst>
          </p:cNvPr>
          <p:cNvSpPr>
            <a:spLocks xmlns:a="http://schemas.openxmlformats.org/drawingml/2006/main" noGrp="1"/>
          </p:cNvSpPr>
          <p:nvPr/>
        </p:nvSpPr>
        <p:spPr>
          <a:xfrm xmlns:a="http://schemas.openxmlformats.org/drawingml/2006/main">
            <a:off x="11049000" y="648652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004282"/>
                </a:solidFill>
              </a:defRPr>
            </a:pPr>
            <a:r>
              <a:rPr sz="825" b="1">
                <a:solidFill>
                  <a:srgbClr val="004282"/>
                </a:solidFill>
              </a:rPr>
              <a:t>36</a:t>
            </a:r>
          </a:p>
        </p:txBody>
      </p:sp>
      <p:sp>
        <p:nvSpPr>
          <p:cNvPr id="9" name="">
            <a:extLst xmlns:a="http://schemas.openxmlformats.org/drawingml/2006/main">
              <a:ext uri="{FF2B5EF4-FFF2-40B4-BE49-F238E27FC236}">
                <a16:creationId xmlns:a16="http://schemas.microsoft.com/office/drawing/2014/main" id="{D4CA6871-EE3D-4F1A-AC85-412F4702C158}"/>
              </a:ext>
            </a:extLst>
          </p:cNvPr>
          <p:cNvSpPr>
            <a:spLocks xmlns:a="http://schemas.openxmlformats.org/drawingml/2006/main" noGrp="1"/>
          </p:cNvSpPr>
          <p:nvPr/>
        </p:nvSpPr>
        <p:spPr>
          <a:xfrm xmlns:a="http://schemas.openxmlformats.org/drawingml/2006/main">
            <a:off x="742950" y="1676400"/>
            <a:ext cx="6953250" cy="2476500"/>
          </a:xfrm>
          <a:prstGeom xmlns:a="http://schemas.openxmlformats.org/drawingml/2006/main" prst="roundRect">
            <a:avLst>
              <a:gd name="adj" fmla="val 3077"/>
            </a:avLst>
          </a:prstGeom>
          <a:solidFill xmlns:a="http://schemas.openxmlformats.org/drawingml/2006/main">
            <a:srgbClr val="FFFFFF"/>
          </a:solidFill>
          <a:ln xmlns:a="http://schemas.openxmlformats.org/drawingml/2006/main" w="19050">
            <a:solidFill>
              <a:srgbClr val="004282"/>
            </a:solidFill>
            <a:prstDash val="solid"/>
          </a:ln>
        </p:spPr>
      </p:sp>
      <p:sp>
        <p:nvSpPr>
          <p:cNvPr id="10" name="">
            <a:extLst xmlns:a="http://schemas.openxmlformats.org/drawingml/2006/main">
              <a:ext uri="{FF2B5EF4-FFF2-40B4-BE49-F238E27FC236}">
                <a16:creationId xmlns:a16="http://schemas.microsoft.com/office/drawing/2014/main" id="{AE9AFB38-CD61-43FF-8BBC-FD3BCE3B72AB}"/>
              </a:ext>
            </a:extLst>
          </p:cNvPr>
          <p:cNvSpPr>
            <a:spLocks xmlns:a="http://schemas.openxmlformats.org/drawingml/2006/main" noGrp="1"/>
          </p:cNvSpPr>
          <p:nvPr/>
        </p:nvSpPr>
        <p:spPr>
          <a:xfrm xmlns:a="http://schemas.openxmlformats.org/drawingml/2006/main">
            <a:off x="1028700" y="2000250"/>
            <a:ext cx="638175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175" b="1">
                <a:solidFill>
                  <a:srgbClr val="004282"/>
                </a:solidFill>
              </a:defRPr>
            </a:pPr>
            <a:r>
              <a:rPr sz="2175" b="1">
                <a:solidFill>
                  <a:srgbClr val="004282"/>
                </a:solidFill>
              </a:rPr>
              <a:t>P̂w[z ≥ L* + 0.25 rₑff] ≥ 1 − α(q)</a:t>
            </a:r>
          </a:p>
          <a:p xmlns:a="http://schemas.openxmlformats.org/drawingml/2006/main">
            <a:pPr algn="ctr">
              <a:defRPr sz="2175" b="1">
                <a:solidFill>
                  <a:srgbClr val="004282"/>
                </a:solidFill>
              </a:defRPr>
            </a:pPr>
            <a:r>
              <a:rPr sz="2175" b="1">
                <a:solidFill>
                  <a:srgbClr val="004282"/>
                </a:solidFill>
              </a:rPr>
              <a:t>L* ≤ λ(q) Q⁽ʷ⁾₀.₉₉(‖C − x₀‖)</a:t>
            </a:r>
          </a:p>
        </p:txBody>
      </p:sp>
      <p:sp>
        <p:nvSpPr>
          <p:cNvPr id="11" name="">
            <a:extLst xmlns:a="http://schemas.openxmlformats.org/drawingml/2006/main">
              <a:ext uri="{FF2B5EF4-FFF2-40B4-BE49-F238E27FC236}">
                <a16:creationId xmlns:a16="http://schemas.microsoft.com/office/drawing/2014/main" id="{2962EF58-08A6-40DC-9BDB-8053C96A4623}"/>
              </a:ext>
            </a:extLst>
          </p:cNvPr>
          <p:cNvSpPr>
            <a:spLocks xmlns:a="http://schemas.openxmlformats.org/drawingml/2006/main" noGrp="1"/>
          </p:cNvSpPr>
          <p:nvPr/>
        </p:nvSpPr>
        <p:spPr>
          <a:xfrm xmlns:a="http://schemas.openxmlformats.org/drawingml/2006/main">
            <a:off x="8096250" y="1762125"/>
            <a:ext cx="2952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ED7F0D"/>
                </a:solidFill>
              </a:defRPr>
            </a:pPr>
            <a:r>
              <a:rPr sz="1350" b="1">
                <a:solidFill>
                  <a:srgbClr val="ED7F0D"/>
                </a:solidFill>
              </a:rPr>
              <a:t>ASSUMPTIONS</a:t>
            </a:r>
          </a:p>
        </p:txBody>
      </p:sp>
      <p:sp>
        <p:nvSpPr>
          <p:cNvPr id="12" name="">
            <a:extLst xmlns:a="http://schemas.openxmlformats.org/drawingml/2006/main">
              <a:ext uri="{FF2B5EF4-FFF2-40B4-BE49-F238E27FC236}">
                <a16:creationId xmlns:a16="http://schemas.microsoft.com/office/drawing/2014/main" id="{2A4D60C9-6B4A-43A4-9498-73A5A432470D}"/>
              </a:ext>
            </a:extLst>
          </p:cNvPr>
          <p:cNvSpPr>
            <a:spLocks xmlns:a="http://schemas.openxmlformats.org/drawingml/2006/main" noGrp="1"/>
          </p:cNvSpPr>
          <p:nvPr/>
        </p:nvSpPr>
        <p:spPr>
          <a:xfrm xmlns:a="http://schemas.openxmlformats.org/drawingml/2006/main">
            <a:off x="8020050" y="2333625"/>
            <a:ext cx="76200" cy="76200"/>
          </a:xfrm>
          <a:prstGeom xmlns:a="http://schemas.openxmlformats.org/drawingml/2006/main" prst="ellipse">
            <a:avLst/>
          </a:prstGeom>
          <a:solidFill xmlns:a="http://schemas.openxmlformats.org/drawingml/2006/main">
            <a:srgbClr val="ED7F0D"/>
          </a:solidFill>
          <a:ln xmlns:a="http://schemas.openxmlformats.org/drawingml/2006/main" w="9525">
            <a:solidFill>
              <a:srgbClr val="ED7F0D"/>
            </a:solidFill>
            <a:prstDash val="solid"/>
          </a:ln>
        </p:spPr>
      </p:sp>
      <p:sp>
        <p:nvSpPr>
          <p:cNvPr id="13" name="">
            <a:extLst xmlns:a="http://schemas.openxmlformats.org/drawingml/2006/main">
              <a:ext uri="{FF2B5EF4-FFF2-40B4-BE49-F238E27FC236}">
                <a16:creationId xmlns:a16="http://schemas.microsoft.com/office/drawing/2014/main" id="{A4A874A8-F3B4-47BC-97D3-653E30E88ABA}"/>
              </a:ext>
            </a:extLst>
          </p:cNvPr>
          <p:cNvSpPr>
            <a:spLocks xmlns:a="http://schemas.openxmlformats.org/drawingml/2006/main" noGrp="1"/>
          </p:cNvSpPr>
          <p:nvPr/>
        </p:nvSpPr>
        <p:spPr>
          <a:xfrm xmlns:a="http://schemas.openxmlformats.org/drawingml/2006/main">
            <a:off x="8229600" y="2238375"/>
            <a:ext cx="29337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52538"/>
                </a:solidFill>
              </a:defRPr>
            </a:pPr>
            <a:r>
              <a:rPr sz="1350" b="0">
                <a:solidFill>
                  <a:srgbClr val="152538"/>
                </a:solidFill>
              </a:rPr>
              <a:t>Fixed weighted-particle set</a:t>
            </a:r>
          </a:p>
        </p:txBody>
      </p:sp>
      <p:sp>
        <p:nvSpPr>
          <p:cNvPr id="14" name="">
            <a:extLst xmlns:a="http://schemas.openxmlformats.org/drawingml/2006/main">
              <a:ext uri="{FF2B5EF4-FFF2-40B4-BE49-F238E27FC236}">
                <a16:creationId xmlns:a16="http://schemas.microsoft.com/office/drawing/2014/main" id="{59D5632B-0E69-4C7B-B79E-64C95087AE3A}"/>
              </a:ext>
            </a:extLst>
          </p:cNvPr>
          <p:cNvSpPr>
            <a:spLocks xmlns:a="http://schemas.openxmlformats.org/drawingml/2006/main" noGrp="1"/>
          </p:cNvSpPr>
          <p:nvPr/>
        </p:nvSpPr>
        <p:spPr>
          <a:xfrm xmlns:a="http://schemas.openxmlformats.org/drawingml/2006/main">
            <a:off x="8020050" y="2962275"/>
            <a:ext cx="76200" cy="76200"/>
          </a:xfrm>
          <a:prstGeom xmlns:a="http://schemas.openxmlformats.org/drawingml/2006/main" prst="ellipse">
            <a:avLst/>
          </a:prstGeom>
          <a:solidFill xmlns:a="http://schemas.openxmlformats.org/drawingml/2006/main">
            <a:srgbClr val="ED7F0D"/>
          </a:solidFill>
          <a:ln xmlns:a="http://schemas.openxmlformats.org/drawingml/2006/main" w="9525">
            <a:solidFill>
              <a:srgbClr val="ED7F0D"/>
            </a:solidFill>
            <a:prstDash val="solid"/>
          </a:ln>
        </p:spPr>
      </p:sp>
      <p:sp>
        <p:nvSpPr>
          <p:cNvPr id="15" name="">
            <a:extLst xmlns:a="http://schemas.openxmlformats.org/drawingml/2006/main">
              <a:ext uri="{FF2B5EF4-FFF2-40B4-BE49-F238E27FC236}">
                <a16:creationId xmlns:a16="http://schemas.microsoft.com/office/drawing/2014/main" id="{9B26A5CB-C590-48EC-A2C4-DF0929D4BCB8}"/>
              </a:ext>
            </a:extLst>
          </p:cNvPr>
          <p:cNvSpPr>
            <a:spLocks xmlns:a="http://schemas.openxmlformats.org/drawingml/2006/main" noGrp="1"/>
          </p:cNvSpPr>
          <p:nvPr/>
        </p:nvSpPr>
        <p:spPr>
          <a:xfrm xmlns:a="http://schemas.openxmlformats.org/drawingml/2006/main">
            <a:off x="8229600" y="2867025"/>
            <a:ext cx="29337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52538"/>
                </a:solidFill>
              </a:defRPr>
            </a:pPr>
            <a:r>
              <a:rPr sz="1350" b="0">
                <a:solidFill>
                  <a:srgbClr val="152538"/>
                </a:solidFill>
              </a:rPr>
              <a:t>p₋ &lt; 0.20 and L* &gt; 0</a:t>
            </a:r>
          </a:p>
        </p:txBody>
      </p:sp>
      <p:sp>
        <p:nvSpPr>
          <p:cNvPr id="16" name="">
            <a:extLst xmlns:a="http://schemas.openxmlformats.org/drawingml/2006/main">
              <a:ext uri="{FF2B5EF4-FFF2-40B4-BE49-F238E27FC236}">
                <a16:creationId xmlns:a16="http://schemas.microsoft.com/office/drawing/2014/main" id="{64DE6049-9F60-47A0-95BA-1CE14980B12E}"/>
              </a:ext>
            </a:extLst>
          </p:cNvPr>
          <p:cNvSpPr>
            <a:spLocks xmlns:a="http://schemas.openxmlformats.org/drawingml/2006/main" noGrp="1"/>
          </p:cNvSpPr>
          <p:nvPr/>
        </p:nvSpPr>
        <p:spPr>
          <a:xfrm xmlns:a="http://schemas.openxmlformats.org/drawingml/2006/main">
            <a:off x="8020050" y="3590925"/>
            <a:ext cx="76200" cy="76200"/>
          </a:xfrm>
          <a:prstGeom xmlns:a="http://schemas.openxmlformats.org/drawingml/2006/main" prst="ellipse">
            <a:avLst/>
          </a:prstGeom>
          <a:solidFill xmlns:a="http://schemas.openxmlformats.org/drawingml/2006/main">
            <a:srgbClr val="ED7F0D"/>
          </a:solidFill>
          <a:ln xmlns:a="http://schemas.openxmlformats.org/drawingml/2006/main" w="9525">
            <a:solidFill>
              <a:srgbClr val="ED7F0D"/>
            </a:solidFill>
            <a:prstDash val="solid"/>
          </a:ln>
        </p:spPr>
      </p:sp>
      <p:sp>
        <p:nvSpPr>
          <p:cNvPr id="17" name="">
            <a:extLst xmlns:a="http://schemas.openxmlformats.org/drawingml/2006/main">
              <a:ext uri="{FF2B5EF4-FFF2-40B4-BE49-F238E27FC236}">
                <a16:creationId xmlns:a16="http://schemas.microsoft.com/office/drawing/2014/main" id="{CB361922-5C6F-4570-A157-4B4578D00C08}"/>
              </a:ext>
            </a:extLst>
          </p:cNvPr>
          <p:cNvSpPr>
            <a:spLocks xmlns:a="http://schemas.openxmlformats.org/drawingml/2006/main" noGrp="1"/>
          </p:cNvSpPr>
          <p:nvPr/>
        </p:nvSpPr>
        <p:spPr>
          <a:xfrm xmlns:a="http://schemas.openxmlformats.org/drawingml/2006/main">
            <a:off x="8229600" y="3495675"/>
            <a:ext cx="29337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52538"/>
                </a:solidFill>
              </a:defRPr>
            </a:pPr>
            <a:r>
              <a:rPr sz="1350" b="0">
                <a:solidFill>
                  <a:srgbClr val="152538"/>
                </a:solidFill>
              </a:rPr>
              <a:t>Exact endpoint execution</a:t>
            </a:r>
          </a:p>
        </p:txBody>
      </p:sp>
      <p:sp>
        <p:nvSpPr>
          <p:cNvPr id="18" name="">
            <a:extLst xmlns:a="http://schemas.openxmlformats.org/drawingml/2006/main">
              <a:ext uri="{FF2B5EF4-FFF2-40B4-BE49-F238E27FC236}">
                <a16:creationId xmlns:a16="http://schemas.microsoft.com/office/drawing/2014/main" id="{22F44D45-2888-4142-AB82-34010C45B4B7}"/>
              </a:ext>
            </a:extLst>
          </p:cNvPr>
          <p:cNvSpPr>
            <a:spLocks xmlns:a="http://schemas.openxmlformats.org/drawingml/2006/main" noGrp="1"/>
          </p:cNvSpPr>
          <p:nvPr/>
        </p:nvSpPr>
        <p:spPr>
          <a:xfrm xmlns:a="http://schemas.openxmlformats.org/drawingml/2006/main">
            <a:off x="8020050" y="4219575"/>
            <a:ext cx="76200" cy="76200"/>
          </a:xfrm>
          <a:prstGeom xmlns:a="http://schemas.openxmlformats.org/drawingml/2006/main" prst="ellipse">
            <a:avLst/>
          </a:prstGeom>
          <a:solidFill xmlns:a="http://schemas.openxmlformats.org/drawingml/2006/main">
            <a:srgbClr val="ED7F0D"/>
          </a:solidFill>
          <a:ln xmlns:a="http://schemas.openxmlformats.org/drawingml/2006/main" w="9525">
            <a:solidFill>
              <a:srgbClr val="ED7F0D"/>
            </a:solidFill>
            <a:prstDash val="solid"/>
          </a:ln>
        </p:spPr>
      </p:sp>
      <p:sp>
        <p:nvSpPr>
          <p:cNvPr id="19" name="">
            <a:extLst xmlns:a="http://schemas.openxmlformats.org/drawingml/2006/main">
              <a:ext uri="{FF2B5EF4-FFF2-40B4-BE49-F238E27FC236}">
                <a16:creationId xmlns:a16="http://schemas.microsoft.com/office/drawing/2014/main" id="{139AFA0B-A93A-4231-AF6C-7E6E153E06A5}"/>
              </a:ext>
            </a:extLst>
          </p:cNvPr>
          <p:cNvSpPr>
            <a:spLocks xmlns:a="http://schemas.openxmlformats.org/drawingml/2006/main" noGrp="1"/>
          </p:cNvSpPr>
          <p:nvPr/>
        </p:nvSpPr>
        <p:spPr>
          <a:xfrm xmlns:a="http://schemas.openxmlformats.org/drawingml/2006/main">
            <a:off x="8229600" y="4124325"/>
            <a:ext cx="29337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52538"/>
                </a:solidFill>
              </a:defRPr>
            </a:pPr>
            <a:r>
              <a:rPr sz="1350" b="0">
                <a:solidFill>
                  <a:srgbClr val="152538"/>
                </a:solidFill>
              </a:rPr>
              <a:t>No guarantee after distribution shift</a:t>
            </a:r>
          </a:p>
        </p:txBody>
      </p:sp>
      <p:sp>
        <p:nvSpPr>
          <p:cNvPr id="20" name="">
            <a:extLst xmlns:a="http://schemas.openxmlformats.org/drawingml/2006/main">
              <a:ext uri="{FF2B5EF4-FFF2-40B4-BE49-F238E27FC236}">
                <a16:creationId xmlns:a16="http://schemas.microsoft.com/office/drawing/2014/main" id="{F6CFA584-ABCE-499E-B97C-98FA06B36AD5}"/>
              </a:ext>
            </a:extLst>
          </p:cNvPr>
          <p:cNvSpPr>
            <a:spLocks xmlns:a="http://schemas.openxmlformats.org/drawingml/2006/main" noGrp="1"/>
          </p:cNvSpPr>
          <p:nvPr/>
        </p:nvSpPr>
        <p:spPr>
          <a:xfrm xmlns:a="http://schemas.openxmlformats.org/drawingml/2006/main">
            <a:off x="1809750" y="4552950"/>
            <a:ext cx="8572500" cy="666750"/>
          </a:xfrm>
          <a:prstGeom xmlns:a="http://schemas.openxmlformats.org/drawingml/2006/main" prst="roundRect">
            <a:avLst>
              <a:gd name="adj" fmla="val 11429"/>
            </a:avLst>
          </a:prstGeom>
          <a:solidFill xmlns:a="http://schemas.openxmlformats.org/drawingml/2006/main">
            <a:srgbClr val="FFF0E2"/>
          </a:solidFill>
          <a:ln xmlns:a="http://schemas.openxmlformats.org/drawingml/2006/main" w="9525">
            <a:solidFill>
              <a:srgbClr val="ED7F0D"/>
            </a:solidFill>
            <a:prstDash val="solid"/>
          </a:ln>
        </p:spPr>
      </p:sp>
      <p:sp>
        <p:nvSpPr>
          <p:cNvPr id="21" name="">
            <a:extLst xmlns:a="http://schemas.openxmlformats.org/drawingml/2006/main">
              <a:ext uri="{FF2B5EF4-FFF2-40B4-BE49-F238E27FC236}">
                <a16:creationId xmlns:a16="http://schemas.microsoft.com/office/drawing/2014/main" id="{0624EA13-0A38-4B19-97B0-EC271BCAA5B9}"/>
              </a:ext>
            </a:extLst>
          </p:cNvPr>
          <p:cNvSpPr>
            <a:spLocks xmlns:a="http://schemas.openxmlformats.org/drawingml/2006/main" noGrp="1"/>
          </p:cNvSpPr>
          <p:nvPr/>
        </p:nvSpPr>
        <p:spPr>
          <a:xfrm xmlns:a="http://schemas.openxmlformats.org/drawingml/2006/main">
            <a:off x="2190750" y="4705350"/>
            <a:ext cx="781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75" b="1">
                <a:solidFill>
                  <a:srgbClr val="ED7F0D"/>
                </a:solidFill>
              </a:defRPr>
            </a:pPr>
            <a:r>
              <a:rPr sz="1875" b="1">
                <a:solidFill>
                  <a:srgbClr val="ED7F0D"/>
                </a:solidFill>
              </a:rPr>
              <a:t>Retained posterior support ≠ capture guarantee</a:t>
            </a:r>
          </a:p>
        </p:txBody>
      </p:sp>
      <p:sp>
        <p:nvSpPr>
          <p:cNvPr id="22" name="">
            <a:extLst xmlns:a="http://schemas.openxmlformats.org/drawingml/2006/main">
              <a:ext uri="{FF2B5EF4-FFF2-40B4-BE49-F238E27FC236}">
                <a16:creationId xmlns:a16="http://schemas.microsoft.com/office/drawing/2014/main" id="{D083DC07-A5C1-47B3-BE25-1E2704EC1CD2}"/>
              </a:ext>
            </a:extLst>
          </p:cNvPr>
          <p:cNvSpPr>
            <a:spLocks xmlns:a="http://schemas.openxmlformats.org/drawingml/2006/main" noGrp="1"/>
          </p:cNvSpPr>
          <p:nvPr/>
        </p:nvSpPr>
        <p:spPr>
          <a:xfrm xmlns:a="http://schemas.openxmlformats.org/drawingml/2006/main">
            <a:off x="647700" y="5943600"/>
            <a:ext cx="10839450" cy="400050"/>
          </a:xfrm>
          <a:prstGeom xmlns:a="http://schemas.openxmlformats.org/drawingml/2006/main" prst="rect">
            <a:avLst/>
          </a:prstGeom>
          <a:solidFill xmlns:a="http://schemas.openxmlformats.org/drawingml/2006/main">
            <a:srgbClr val="FFF0E2"/>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478C14F2-6D8C-4B26-BEFD-B7F585BCBB63}"/>
              </a:ext>
            </a:extLst>
          </p:cNvPr>
          <p:cNvSpPr>
            <a:spLocks xmlns:a="http://schemas.openxmlformats.org/drawingml/2006/main" noGrp="1"/>
          </p:cNvSpPr>
          <p:nvPr/>
        </p:nvSpPr>
        <p:spPr>
          <a:xfrm xmlns:a="http://schemas.openxmlformats.org/drawingml/2006/main">
            <a:off x="647700" y="5943600"/>
            <a:ext cx="57150" cy="400050"/>
          </a:xfrm>
          <a:prstGeom xmlns:a="http://schemas.openxmlformats.org/drawingml/2006/main" prst="rect">
            <a:avLst/>
          </a:prstGeom>
          <a:solidFill xmlns:a="http://schemas.openxmlformats.org/drawingml/2006/main">
            <a:srgbClr val="ED7F0D"/>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568E19D4-9C44-4BC9-BAD0-BC553B2A82C7}"/>
              </a:ext>
            </a:extLst>
          </p:cNvPr>
          <p:cNvSpPr>
            <a:spLocks xmlns:a="http://schemas.openxmlformats.org/drawingml/2006/main" noGrp="1"/>
          </p:cNvSpPr>
          <p:nvPr/>
        </p:nvSpPr>
        <p:spPr>
          <a:xfrm xmlns:a="http://schemas.openxmlformats.org/drawingml/2006/main">
            <a:off x="838200" y="5981700"/>
            <a:ext cx="10458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152538"/>
                </a:solidFill>
              </a:defRPr>
            </a:pPr>
            <a:r>
              <a:rPr sz="1275" b="1">
                <a:solidFill>
                  <a:srgbClr val="152538"/>
                </a:solidFill>
              </a:rPr>
              <a:t>The proposition retains posterior support; it does not guarantee capture.</a:t>
            </a:r>
          </a:p>
        </p:txBody>
      </p:sp>
    </p:spTree>
    <p:extLst>
      <p:ext uri="{BB962C8B-B14F-4D97-AF65-F5344CB8AC3E}">
        <p14:creationId xmlns:p14="http://schemas.microsoft.com/office/powerpoint/2010/main" val="996922293"/>
      </p:ext>
    </p:extLst>
  </p:cSld>
</p:sld>
</file>

<file path=ppt/slides/slide37.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41FBE4D-6A56-40DE-AFC0-7BD9FAF7A6F6}"/>
              </a:ext>
            </a:extLst>
          </p:cNvPr>
          <p:cNvSpPr>
            <a:spLocks xmlns:a="http://schemas.openxmlformats.org/drawingml/2006/main" noGrp="1"/>
          </p:cNvSpPr>
          <p:nvPr/>
        </p:nvSpPr>
        <p:spPr>
          <a:xfrm xmlns:a="http://schemas.openxmlformats.org/drawingml/2006/main">
            <a:off x="647700" y="2286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ED7F0D"/>
                </a:solidFill>
              </a:defRPr>
            </a:pPr>
            <a:r>
              <a:rPr sz="1050" b="1">
                <a:solidFill>
                  <a:srgbClr val="ED7F0D"/>
                </a:solidFill>
              </a:rPr>
              <a:t>37</a:t>
            </a:r>
          </a:p>
        </p:txBody>
      </p:sp>
      <p:sp>
        <p:nvSpPr>
          <p:cNvPr id="2" name="">
            <a:extLst xmlns:a="http://schemas.openxmlformats.org/drawingml/2006/main">
              <a:ext uri="{FF2B5EF4-FFF2-40B4-BE49-F238E27FC236}">
                <a16:creationId xmlns:a16="http://schemas.microsoft.com/office/drawing/2014/main" id="{24AE93F2-EEBE-4AB4-849E-9827029BE1D2}"/>
              </a:ext>
            </a:extLst>
          </p:cNvPr>
          <p:cNvSpPr>
            <a:spLocks xmlns:a="http://schemas.openxmlformats.org/drawingml/2006/main" noGrp="1"/>
          </p:cNvSpPr>
          <p:nvPr/>
        </p:nvSpPr>
        <p:spPr>
          <a:xfrm xmlns:a="http://schemas.openxmlformats.org/drawingml/2006/main">
            <a:off x="1104900" y="22860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6B7580"/>
                </a:solidFill>
              </a:defRPr>
            </a:pPr>
            <a:r>
              <a:rPr sz="975" b="1">
                <a:solidFill>
                  <a:srgbClr val="6B7580"/>
                </a:solidFill>
              </a:rPr>
              <a:t>APPENDIX</a:t>
            </a:r>
          </a:p>
        </p:txBody>
      </p:sp>
      <p:sp>
        <p:nvSpPr>
          <p:cNvPr id="3" name="">
            <a:extLst xmlns:a="http://schemas.openxmlformats.org/drawingml/2006/main">
              <a:ext uri="{FF2B5EF4-FFF2-40B4-BE49-F238E27FC236}">
                <a16:creationId xmlns:a16="http://schemas.microsoft.com/office/drawing/2014/main" id="{22351C08-9BEC-4418-A646-967A054413FE}"/>
              </a:ext>
            </a:extLst>
          </p:cNvPr>
          <p:cNvSpPr>
            <a:spLocks xmlns:a="http://schemas.openxmlformats.org/drawingml/2006/main" noGrp="1"/>
          </p:cNvSpPr>
          <p:nvPr/>
        </p:nvSpPr>
        <p:spPr>
          <a:xfrm xmlns:a="http://schemas.openxmlformats.org/drawingml/2006/main">
            <a:off x="6191250" y="228600"/>
            <a:ext cx="5353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0">
                <a:solidFill>
                  <a:srgbClr val="6B7580"/>
                </a:solidFill>
              </a:defRPr>
            </a:pPr>
            <a:r>
              <a:rPr sz="825" b="0">
                <a:solidFill>
                  <a:srgbClr val="6B7580"/>
                </a:solidFill>
              </a:rPr>
              <a:t>Problem   Task   Framework   Simulation   Hardware   Discussion</a:t>
            </a:r>
          </a:p>
        </p:txBody>
      </p:sp>
      <p:sp>
        <p:nvSpPr>
          <p:cNvPr id="4" name="">
            <a:extLst xmlns:a="http://schemas.openxmlformats.org/drawingml/2006/main">
              <a:ext uri="{FF2B5EF4-FFF2-40B4-BE49-F238E27FC236}">
                <a16:creationId xmlns:a16="http://schemas.microsoft.com/office/drawing/2014/main" id="{B785317F-12F9-4973-B448-D25932FA3088}"/>
              </a:ext>
            </a:extLst>
          </p:cNvPr>
          <p:cNvSpPr>
            <a:spLocks xmlns:a="http://schemas.openxmlformats.org/drawingml/2006/main" noGrp="1"/>
          </p:cNvSpPr>
          <p:nvPr/>
        </p:nvSpPr>
        <p:spPr>
          <a:xfrm xmlns:a="http://schemas.openxmlformats.org/drawingml/2006/main">
            <a:off x="647700" y="533400"/>
            <a:ext cx="108394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004282"/>
                </a:solidFill>
              </a:defRPr>
            </a:pPr>
            <a:r>
              <a:rPr sz="2850" b="1">
                <a:solidFill>
                  <a:srgbClr val="004282"/>
                </a:solidFill>
              </a:rPr>
              <a:t>Backup: full M8 outcomes and paired denominators</a:t>
            </a:r>
          </a:p>
        </p:txBody>
      </p:sp>
      <p:sp>
        <p:nvSpPr>
          <p:cNvPr id="5" name="">
            <a:extLst xmlns:a="http://schemas.openxmlformats.org/drawingml/2006/main">
              <a:ext uri="{FF2B5EF4-FFF2-40B4-BE49-F238E27FC236}">
                <a16:creationId xmlns:a16="http://schemas.microsoft.com/office/drawing/2014/main" id="{81136073-39B8-4000-AAB8-04FC17DBFFF9}"/>
              </a:ext>
            </a:extLst>
          </p:cNvPr>
          <p:cNvSpPr>
            <a:spLocks xmlns:a="http://schemas.openxmlformats.org/drawingml/2006/main" noGrp="1"/>
          </p:cNvSpPr>
          <p:nvPr/>
        </p:nvSpPr>
        <p:spPr>
          <a:xfrm xmlns:a="http://schemas.openxmlformats.org/drawingml/2006/main">
            <a:off x="647700" y="1257300"/>
            <a:ext cx="609600" cy="47625"/>
          </a:xfrm>
          <a:prstGeom xmlns:a="http://schemas.openxmlformats.org/drawingml/2006/main" prst="rect">
            <a:avLst/>
          </a:prstGeom>
          <a:solidFill xmlns:a="http://schemas.openxmlformats.org/drawingml/2006/main">
            <a:srgbClr val="ED7F0D"/>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CED05BBE-498C-4441-8D26-1E9414580BAE}"/>
              </a:ext>
            </a:extLst>
          </p:cNvPr>
          <p:cNvSpPr>
            <a:spLocks xmlns:a="http://schemas.openxmlformats.org/drawingml/2006/main" noGrp="1"/>
          </p:cNvSpPr>
          <p:nvPr/>
        </p:nvSpPr>
        <p:spPr>
          <a:xfrm xmlns:a="http://schemas.openxmlformats.org/drawingml/2006/main">
            <a:off x="647700" y="6486525"/>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6B7580"/>
                </a:solidFill>
              </a:defRPr>
            </a:pPr>
            <a:r>
              <a:rPr sz="825" b="0">
                <a:solidFill>
                  <a:srgbClr val="6B7580"/>
                </a:solidFill>
              </a:rPr>
              <a:t>Nan Jinyao · Paper-aligned group review</a:t>
            </a:r>
          </a:p>
        </p:txBody>
      </p:sp>
      <p:sp>
        <p:nvSpPr>
          <p:cNvPr id="7" name="">
            <a:extLst xmlns:a="http://schemas.openxmlformats.org/drawingml/2006/main">
              <a:ext uri="{FF2B5EF4-FFF2-40B4-BE49-F238E27FC236}">
                <a16:creationId xmlns:a16="http://schemas.microsoft.com/office/drawing/2014/main" id="{6F633D13-E68D-4D20-9D28-8E5B74BA611B}"/>
              </a:ext>
            </a:extLst>
          </p:cNvPr>
          <p:cNvSpPr>
            <a:spLocks xmlns:a="http://schemas.openxmlformats.org/drawingml/2006/main" noGrp="1"/>
          </p:cNvSpPr>
          <p:nvPr/>
        </p:nvSpPr>
        <p:spPr>
          <a:xfrm xmlns:a="http://schemas.openxmlformats.org/drawingml/2006/main">
            <a:off x="4476750" y="6486525"/>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0">
                <a:solidFill>
                  <a:srgbClr val="6B7580"/>
                </a:solidFill>
              </a:defRPr>
            </a:pPr>
            <a:r>
              <a:rPr sz="825" b="0">
                <a:solidFill>
                  <a:srgbClr val="6B7580"/>
                </a:solidFill>
              </a:rPr>
              <a:t>Sec. IV-B–D · Tables I–II</a:t>
            </a:r>
          </a:p>
        </p:txBody>
      </p:sp>
      <p:sp>
        <p:nvSpPr>
          <p:cNvPr id="8" name="">
            <a:extLst xmlns:a="http://schemas.openxmlformats.org/drawingml/2006/main">
              <a:ext uri="{FF2B5EF4-FFF2-40B4-BE49-F238E27FC236}">
                <a16:creationId xmlns:a16="http://schemas.microsoft.com/office/drawing/2014/main" id="{9A43D83F-2586-4CB6-8B31-5E98CE7C6D76}"/>
              </a:ext>
            </a:extLst>
          </p:cNvPr>
          <p:cNvSpPr>
            <a:spLocks xmlns:a="http://schemas.openxmlformats.org/drawingml/2006/main" noGrp="1"/>
          </p:cNvSpPr>
          <p:nvPr/>
        </p:nvSpPr>
        <p:spPr>
          <a:xfrm xmlns:a="http://schemas.openxmlformats.org/drawingml/2006/main">
            <a:off x="11049000" y="648652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004282"/>
                </a:solidFill>
              </a:defRPr>
            </a:pPr>
            <a:r>
              <a:rPr sz="825" b="1">
                <a:solidFill>
                  <a:srgbClr val="004282"/>
                </a:solidFill>
              </a:rPr>
              <a:t>37</a:t>
            </a:r>
          </a:p>
        </p:txBody>
      </p:sp>
      <p:sp>
        <p:nvSpPr>
          <p:cNvPr id="9" name="">
            <a:extLst xmlns:a="http://schemas.openxmlformats.org/drawingml/2006/main">
              <a:ext uri="{FF2B5EF4-FFF2-40B4-BE49-F238E27FC236}">
                <a16:creationId xmlns:a16="http://schemas.microsoft.com/office/drawing/2014/main" id="{6933EB90-6608-4606-B26B-5A838E0B5501}"/>
              </a:ext>
            </a:extLst>
          </p:cNvPr>
          <p:cNvSpPr>
            <a:spLocks xmlns:a="http://schemas.openxmlformats.org/drawingml/2006/main" noGrp="1"/>
          </p:cNvSpPr>
          <p:nvPr/>
        </p:nvSpPr>
        <p:spPr>
          <a:xfrm xmlns:a="http://schemas.openxmlformats.org/drawingml/2006/main">
            <a:off x="781050" y="1752600"/>
            <a:ext cx="2643188" cy="619125"/>
          </a:xfrm>
          <a:prstGeom xmlns:a="http://schemas.openxmlformats.org/drawingml/2006/main" prst="rect">
            <a:avLst/>
          </a:prstGeom>
          <a:solidFill xmlns:a="http://schemas.openxmlformats.org/drawingml/2006/main">
            <a:srgbClr val="004282"/>
          </a:solidFill>
          <a:ln xmlns:a="http://schemas.openxmlformats.org/drawingml/2006/main" w="9525">
            <a:solidFill>
              <a:srgbClr val="D9E0E6"/>
            </a:solidFill>
            <a:prstDash val="solid"/>
          </a:ln>
        </p:spPr>
      </p:sp>
      <p:sp>
        <p:nvSpPr>
          <p:cNvPr id="10" name="">
            <a:extLst xmlns:a="http://schemas.openxmlformats.org/drawingml/2006/main">
              <a:ext uri="{FF2B5EF4-FFF2-40B4-BE49-F238E27FC236}">
                <a16:creationId xmlns:a16="http://schemas.microsoft.com/office/drawing/2014/main" id="{AEC704A4-E2BA-4CD7-83D2-C6986FB7EC17}"/>
              </a:ext>
            </a:extLst>
          </p:cNvPr>
          <p:cNvSpPr>
            <a:spLocks xmlns:a="http://schemas.openxmlformats.org/drawingml/2006/main" noGrp="1"/>
          </p:cNvSpPr>
          <p:nvPr/>
        </p:nvSpPr>
        <p:spPr>
          <a:xfrm xmlns:a="http://schemas.openxmlformats.org/drawingml/2006/main">
            <a:off x="876300" y="1790700"/>
            <a:ext cx="2452688"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FFFFFF"/>
                </a:solidFill>
              </a:defRPr>
            </a:pPr>
            <a:r>
              <a:rPr sz="1200" b="1">
                <a:solidFill>
                  <a:srgbClr val="FFFFFF"/>
                </a:solidFill>
              </a:rPr>
              <a:t>Comparison</a:t>
            </a:r>
          </a:p>
        </p:txBody>
      </p:sp>
      <p:sp>
        <p:nvSpPr>
          <p:cNvPr id="11" name="">
            <a:extLst xmlns:a="http://schemas.openxmlformats.org/drawingml/2006/main">
              <a:ext uri="{FF2B5EF4-FFF2-40B4-BE49-F238E27FC236}">
                <a16:creationId xmlns:a16="http://schemas.microsoft.com/office/drawing/2014/main" id="{3A4D0857-CC3A-4C2C-B48D-68B5FFB07247}"/>
              </a:ext>
            </a:extLst>
          </p:cNvPr>
          <p:cNvSpPr>
            <a:spLocks xmlns:a="http://schemas.openxmlformats.org/drawingml/2006/main" noGrp="1"/>
          </p:cNvSpPr>
          <p:nvPr/>
        </p:nvSpPr>
        <p:spPr>
          <a:xfrm xmlns:a="http://schemas.openxmlformats.org/drawingml/2006/main">
            <a:off x="3424238" y="1752600"/>
            <a:ext cx="2643188" cy="619125"/>
          </a:xfrm>
          <a:prstGeom xmlns:a="http://schemas.openxmlformats.org/drawingml/2006/main" prst="rect">
            <a:avLst/>
          </a:prstGeom>
          <a:solidFill xmlns:a="http://schemas.openxmlformats.org/drawingml/2006/main">
            <a:srgbClr val="004282"/>
          </a:solidFill>
          <a:ln xmlns:a="http://schemas.openxmlformats.org/drawingml/2006/main" w="9525">
            <a:solidFill>
              <a:srgbClr val="D9E0E6"/>
            </a:solidFill>
            <a:prstDash val="solid"/>
          </a:ln>
        </p:spPr>
      </p:sp>
      <p:sp>
        <p:nvSpPr>
          <p:cNvPr id="12" name="">
            <a:extLst xmlns:a="http://schemas.openxmlformats.org/drawingml/2006/main">
              <a:ext uri="{FF2B5EF4-FFF2-40B4-BE49-F238E27FC236}">
                <a16:creationId xmlns:a16="http://schemas.microsoft.com/office/drawing/2014/main" id="{7C3F7091-CB2A-4C30-BBA5-A648D8E77812}"/>
              </a:ext>
            </a:extLst>
          </p:cNvPr>
          <p:cNvSpPr>
            <a:spLocks xmlns:a="http://schemas.openxmlformats.org/drawingml/2006/main" noGrp="1"/>
          </p:cNvSpPr>
          <p:nvPr/>
        </p:nvSpPr>
        <p:spPr>
          <a:xfrm xmlns:a="http://schemas.openxmlformats.org/drawingml/2006/main">
            <a:off x="3519488" y="1790700"/>
            <a:ext cx="2452688"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FFFFFF"/>
                </a:solidFill>
              </a:defRPr>
            </a:pPr>
            <a:r>
              <a:rPr sz="1200" b="1">
                <a:solidFill>
                  <a:srgbClr val="FFFFFF"/>
                </a:solidFill>
              </a:rPr>
              <a:t>Overall count</a:t>
            </a:r>
          </a:p>
        </p:txBody>
      </p:sp>
      <p:sp>
        <p:nvSpPr>
          <p:cNvPr id="13" name="">
            <a:extLst xmlns:a="http://schemas.openxmlformats.org/drawingml/2006/main">
              <a:ext uri="{FF2B5EF4-FFF2-40B4-BE49-F238E27FC236}">
                <a16:creationId xmlns:a16="http://schemas.microsoft.com/office/drawing/2014/main" id="{2AE8D745-411C-4C7C-8EEE-DADE2DD0C91D}"/>
              </a:ext>
            </a:extLst>
          </p:cNvPr>
          <p:cNvSpPr>
            <a:spLocks xmlns:a="http://schemas.openxmlformats.org/drawingml/2006/main" noGrp="1"/>
          </p:cNvSpPr>
          <p:nvPr/>
        </p:nvSpPr>
        <p:spPr>
          <a:xfrm xmlns:a="http://schemas.openxmlformats.org/drawingml/2006/main">
            <a:off x="6067425" y="1752600"/>
            <a:ext cx="2643188" cy="619125"/>
          </a:xfrm>
          <a:prstGeom xmlns:a="http://schemas.openxmlformats.org/drawingml/2006/main" prst="rect">
            <a:avLst/>
          </a:prstGeom>
          <a:solidFill xmlns:a="http://schemas.openxmlformats.org/drawingml/2006/main">
            <a:srgbClr val="004282"/>
          </a:solidFill>
          <a:ln xmlns:a="http://schemas.openxmlformats.org/drawingml/2006/main" w="9525">
            <a:solidFill>
              <a:srgbClr val="D9E0E6"/>
            </a:solidFill>
            <a:prstDash val="solid"/>
          </a:ln>
        </p:spPr>
      </p:sp>
      <p:sp>
        <p:nvSpPr>
          <p:cNvPr id="14" name="">
            <a:extLst xmlns:a="http://schemas.openxmlformats.org/drawingml/2006/main">
              <a:ext uri="{FF2B5EF4-FFF2-40B4-BE49-F238E27FC236}">
                <a16:creationId xmlns:a16="http://schemas.microsoft.com/office/drawing/2014/main" id="{15F16A61-ED28-4BFC-B1F7-F19B8BB6EEBE}"/>
              </a:ext>
            </a:extLst>
          </p:cNvPr>
          <p:cNvSpPr>
            <a:spLocks xmlns:a="http://schemas.openxmlformats.org/drawingml/2006/main" noGrp="1"/>
          </p:cNvSpPr>
          <p:nvPr/>
        </p:nvSpPr>
        <p:spPr>
          <a:xfrm xmlns:a="http://schemas.openxmlformats.org/drawingml/2006/main">
            <a:off x="6162675" y="1790700"/>
            <a:ext cx="2452688"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FFFFFF"/>
                </a:solidFill>
              </a:defRPr>
            </a:pPr>
            <a:r>
              <a:rPr sz="1200" b="1">
                <a:solidFill>
                  <a:srgbClr val="FFFFFF"/>
                </a:solidFill>
              </a:rPr>
              <a:t>Paired denominator</a:t>
            </a:r>
          </a:p>
        </p:txBody>
      </p:sp>
      <p:sp>
        <p:nvSpPr>
          <p:cNvPr id="15" name="">
            <a:extLst xmlns:a="http://schemas.openxmlformats.org/drawingml/2006/main">
              <a:ext uri="{FF2B5EF4-FFF2-40B4-BE49-F238E27FC236}">
                <a16:creationId xmlns:a16="http://schemas.microsoft.com/office/drawing/2014/main" id="{AB5F5EBD-EE1A-49A0-A55C-FCCD02C94D65}"/>
              </a:ext>
            </a:extLst>
          </p:cNvPr>
          <p:cNvSpPr>
            <a:spLocks xmlns:a="http://schemas.openxmlformats.org/drawingml/2006/main" noGrp="1"/>
          </p:cNvSpPr>
          <p:nvPr/>
        </p:nvSpPr>
        <p:spPr>
          <a:xfrm xmlns:a="http://schemas.openxmlformats.org/drawingml/2006/main">
            <a:off x="8710613" y="1752600"/>
            <a:ext cx="2643188" cy="619125"/>
          </a:xfrm>
          <a:prstGeom xmlns:a="http://schemas.openxmlformats.org/drawingml/2006/main" prst="rect">
            <a:avLst/>
          </a:prstGeom>
          <a:solidFill xmlns:a="http://schemas.openxmlformats.org/drawingml/2006/main">
            <a:srgbClr val="004282"/>
          </a:solidFill>
          <a:ln xmlns:a="http://schemas.openxmlformats.org/drawingml/2006/main" w="9525">
            <a:solidFill>
              <a:srgbClr val="D9E0E6"/>
            </a:solidFill>
            <a:prstDash val="solid"/>
          </a:ln>
        </p:spPr>
      </p:sp>
      <p:sp>
        <p:nvSpPr>
          <p:cNvPr id="16" name="">
            <a:extLst xmlns:a="http://schemas.openxmlformats.org/drawingml/2006/main">
              <a:ext uri="{FF2B5EF4-FFF2-40B4-BE49-F238E27FC236}">
                <a16:creationId xmlns:a16="http://schemas.microsoft.com/office/drawing/2014/main" id="{2DA3DA22-2B3E-4D0C-A484-C1993CECE89C}"/>
              </a:ext>
            </a:extLst>
          </p:cNvPr>
          <p:cNvSpPr>
            <a:spLocks xmlns:a="http://schemas.openxmlformats.org/drawingml/2006/main" noGrp="1"/>
          </p:cNvSpPr>
          <p:nvPr/>
        </p:nvSpPr>
        <p:spPr>
          <a:xfrm xmlns:a="http://schemas.openxmlformats.org/drawingml/2006/main">
            <a:off x="8805863" y="1790700"/>
            <a:ext cx="2452688"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FFFFFF"/>
                </a:solidFill>
              </a:defRPr>
            </a:pPr>
            <a:r>
              <a:rPr sz="1200" b="1">
                <a:solidFill>
                  <a:srgbClr val="FFFFFF"/>
                </a:solidFill>
              </a:rPr>
              <a:t>What is reported</a:t>
            </a:r>
          </a:p>
        </p:txBody>
      </p:sp>
      <p:sp>
        <p:nvSpPr>
          <p:cNvPr id="17" name="">
            <a:extLst xmlns:a="http://schemas.openxmlformats.org/drawingml/2006/main">
              <a:ext uri="{FF2B5EF4-FFF2-40B4-BE49-F238E27FC236}">
                <a16:creationId xmlns:a16="http://schemas.microsoft.com/office/drawing/2014/main" id="{B8AE5252-E850-419F-BFA3-984F2EEFD3D5}"/>
              </a:ext>
            </a:extLst>
          </p:cNvPr>
          <p:cNvSpPr>
            <a:spLocks xmlns:a="http://schemas.openxmlformats.org/drawingml/2006/main" noGrp="1"/>
          </p:cNvSpPr>
          <p:nvPr/>
        </p:nvSpPr>
        <p:spPr>
          <a:xfrm xmlns:a="http://schemas.openxmlformats.org/drawingml/2006/main">
            <a:off x="781050" y="2371725"/>
            <a:ext cx="2643188"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D9E0E6"/>
            </a:solidFill>
            <a:prstDash val="solid"/>
          </a:ln>
        </p:spPr>
      </p:sp>
      <p:sp>
        <p:nvSpPr>
          <p:cNvPr id="18" name="">
            <a:extLst xmlns:a="http://schemas.openxmlformats.org/drawingml/2006/main">
              <a:ext uri="{FF2B5EF4-FFF2-40B4-BE49-F238E27FC236}">
                <a16:creationId xmlns:a16="http://schemas.microsoft.com/office/drawing/2014/main" id="{5166325E-1AD4-434D-8AA4-D5DB1CDD4B6B}"/>
              </a:ext>
            </a:extLst>
          </p:cNvPr>
          <p:cNvSpPr>
            <a:spLocks xmlns:a="http://schemas.openxmlformats.org/drawingml/2006/main" noGrp="1"/>
          </p:cNvSpPr>
          <p:nvPr/>
        </p:nvSpPr>
        <p:spPr>
          <a:xfrm xmlns:a="http://schemas.openxmlformats.org/drawingml/2006/main">
            <a:off x="876300" y="2409825"/>
            <a:ext cx="2452688"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52538"/>
                </a:solidFill>
              </a:defRPr>
            </a:pPr>
            <a:r>
              <a:rPr sz="1125" b="0">
                <a:solidFill>
                  <a:srgbClr val="152538"/>
                </a:solidFill>
              </a:rPr>
              <a:t>PGS-O</a:t>
            </a:r>
          </a:p>
        </p:txBody>
      </p:sp>
      <p:sp>
        <p:nvSpPr>
          <p:cNvPr id="19" name="">
            <a:extLst xmlns:a="http://schemas.openxmlformats.org/drawingml/2006/main">
              <a:ext uri="{FF2B5EF4-FFF2-40B4-BE49-F238E27FC236}">
                <a16:creationId xmlns:a16="http://schemas.microsoft.com/office/drawing/2014/main" id="{310E10CA-3AEA-408D-9802-0A033BCDA0B1}"/>
              </a:ext>
            </a:extLst>
          </p:cNvPr>
          <p:cNvSpPr>
            <a:spLocks xmlns:a="http://schemas.openxmlformats.org/drawingml/2006/main" noGrp="1"/>
          </p:cNvSpPr>
          <p:nvPr/>
        </p:nvSpPr>
        <p:spPr>
          <a:xfrm xmlns:a="http://schemas.openxmlformats.org/drawingml/2006/main">
            <a:off x="3424238" y="2371725"/>
            <a:ext cx="2643188"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D9E0E6"/>
            </a:solidFill>
            <a:prstDash val="solid"/>
          </a:ln>
        </p:spPr>
      </p:sp>
      <p:sp>
        <p:nvSpPr>
          <p:cNvPr id="20" name="">
            <a:extLst xmlns:a="http://schemas.openxmlformats.org/drawingml/2006/main">
              <a:ext uri="{FF2B5EF4-FFF2-40B4-BE49-F238E27FC236}">
                <a16:creationId xmlns:a16="http://schemas.microsoft.com/office/drawing/2014/main" id="{BA3DA959-0222-4E3D-AE30-9949553C496C}"/>
              </a:ext>
            </a:extLst>
          </p:cNvPr>
          <p:cNvSpPr>
            <a:spLocks xmlns:a="http://schemas.openxmlformats.org/drawingml/2006/main" noGrp="1"/>
          </p:cNvSpPr>
          <p:nvPr/>
        </p:nvSpPr>
        <p:spPr>
          <a:xfrm xmlns:a="http://schemas.openxmlformats.org/drawingml/2006/main">
            <a:off x="3519488" y="2409825"/>
            <a:ext cx="2452688"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52538"/>
                </a:solidFill>
              </a:defRPr>
            </a:pPr>
            <a:r>
              <a:rPr sz="1125" b="0">
                <a:solidFill>
                  <a:srgbClr val="152538"/>
                </a:solidFill>
              </a:rPr>
              <a:t>20 / 24</a:t>
            </a:r>
          </a:p>
        </p:txBody>
      </p:sp>
      <p:sp>
        <p:nvSpPr>
          <p:cNvPr id="21" name="">
            <a:extLst xmlns:a="http://schemas.openxmlformats.org/drawingml/2006/main">
              <a:ext uri="{FF2B5EF4-FFF2-40B4-BE49-F238E27FC236}">
                <a16:creationId xmlns:a16="http://schemas.microsoft.com/office/drawing/2014/main" id="{654A9F13-0402-49F5-99C1-82A9625957E7}"/>
              </a:ext>
            </a:extLst>
          </p:cNvPr>
          <p:cNvSpPr>
            <a:spLocks xmlns:a="http://schemas.openxmlformats.org/drawingml/2006/main" noGrp="1"/>
          </p:cNvSpPr>
          <p:nvPr/>
        </p:nvSpPr>
        <p:spPr>
          <a:xfrm xmlns:a="http://schemas.openxmlformats.org/drawingml/2006/main">
            <a:off x="6067425" y="2371725"/>
            <a:ext cx="2643188"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D9E0E6"/>
            </a:solidFill>
            <a:prstDash val="solid"/>
          </a:ln>
        </p:spPr>
      </p:sp>
      <p:sp>
        <p:nvSpPr>
          <p:cNvPr id="22" name="">
            <a:extLst xmlns:a="http://schemas.openxmlformats.org/drawingml/2006/main">
              <a:ext uri="{FF2B5EF4-FFF2-40B4-BE49-F238E27FC236}">
                <a16:creationId xmlns:a16="http://schemas.microsoft.com/office/drawing/2014/main" id="{37D51A32-78C9-4824-A256-B38221B17C16}"/>
              </a:ext>
            </a:extLst>
          </p:cNvPr>
          <p:cNvSpPr>
            <a:spLocks xmlns:a="http://schemas.openxmlformats.org/drawingml/2006/main" noGrp="1"/>
          </p:cNvSpPr>
          <p:nvPr/>
        </p:nvSpPr>
        <p:spPr>
          <a:xfrm xmlns:a="http://schemas.openxmlformats.org/drawingml/2006/main">
            <a:off x="6162675" y="2409825"/>
            <a:ext cx="2452688"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52538"/>
                </a:solidFill>
              </a:defRPr>
            </a:pPr>
            <a:r>
              <a:rPr sz="1125" b="0">
                <a:solidFill>
                  <a:srgbClr val="152538"/>
                </a:solidFill>
              </a:rPr>
              <a:t>19 vs Outward</a:t>
            </a:r>
          </a:p>
        </p:txBody>
      </p:sp>
      <p:sp>
        <p:nvSpPr>
          <p:cNvPr id="23" name="">
            <a:extLst xmlns:a="http://schemas.openxmlformats.org/drawingml/2006/main">
              <a:ext uri="{FF2B5EF4-FFF2-40B4-BE49-F238E27FC236}">
                <a16:creationId xmlns:a16="http://schemas.microsoft.com/office/drawing/2014/main" id="{E0B58239-5377-425D-8BE8-C1D940109D71}"/>
              </a:ext>
            </a:extLst>
          </p:cNvPr>
          <p:cNvSpPr>
            <a:spLocks xmlns:a="http://schemas.openxmlformats.org/drawingml/2006/main" noGrp="1"/>
          </p:cNvSpPr>
          <p:nvPr/>
        </p:nvSpPr>
        <p:spPr>
          <a:xfrm xmlns:a="http://schemas.openxmlformats.org/drawingml/2006/main">
            <a:off x="8710613" y="2371725"/>
            <a:ext cx="2643188"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D9E0E6"/>
            </a:solidFill>
            <a:prstDash val="solid"/>
          </a:ln>
        </p:spPr>
      </p:sp>
      <p:sp>
        <p:nvSpPr>
          <p:cNvPr id="24" name="">
            <a:extLst xmlns:a="http://schemas.openxmlformats.org/drawingml/2006/main">
              <a:ext uri="{FF2B5EF4-FFF2-40B4-BE49-F238E27FC236}">
                <a16:creationId xmlns:a16="http://schemas.microsoft.com/office/drawing/2014/main" id="{BA1CAA8B-7F76-4070-BC82-44875EE5ECDA}"/>
              </a:ext>
            </a:extLst>
          </p:cNvPr>
          <p:cNvSpPr>
            <a:spLocks xmlns:a="http://schemas.openxmlformats.org/drawingml/2006/main" noGrp="1"/>
          </p:cNvSpPr>
          <p:nvPr/>
        </p:nvSpPr>
        <p:spPr>
          <a:xfrm xmlns:a="http://schemas.openxmlformats.org/drawingml/2006/main">
            <a:off x="8805863" y="2409825"/>
            <a:ext cx="2452688"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52538"/>
                </a:solidFill>
              </a:defRPr>
            </a:pPr>
            <a:r>
              <a:rPr sz="1125" b="0">
                <a:solidFill>
                  <a:srgbClr val="152538"/>
                </a:solidFill>
              </a:rPr>
              <a:t>median path/time gap</a:t>
            </a:r>
          </a:p>
        </p:txBody>
      </p:sp>
      <p:sp>
        <p:nvSpPr>
          <p:cNvPr id="25" name="">
            <a:extLst xmlns:a="http://schemas.openxmlformats.org/drawingml/2006/main">
              <a:ext uri="{FF2B5EF4-FFF2-40B4-BE49-F238E27FC236}">
                <a16:creationId xmlns:a16="http://schemas.microsoft.com/office/drawing/2014/main" id="{D58CA9E2-683C-4F71-BAB3-C093221356A1}"/>
              </a:ext>
            </a:extLst>
          </p:cNvPr>
          <p:cNvSpPr>
            <a:spLocks xmlns:a="http://schemas.openxmlformats.org/drawingml/2006/main" noGrp="1"/>
          </p:cNvSpPr>
          <p:nvPr/>
        </p:nvSpPr>
        <p:spPr>
          <a:xfrm xmlns:a="http://schemas.openxmlformats.org/drawingml/2006/main">
            <a:off x="781050" y="2990850"/>
            <a:ext cx="2643188" cy="619125"/>
          </a:xfrm>
          <a:prstGeom xmlns:a="http://schemas.openxmlformats.org/drawingml/2006/main" prst="rect">
            <a:avLst/>
          </a:prstGeom>
          <a:solidFill xmlns:a="http://schemas.openxmlformats.org/drawingml/2006/main">
            <a:srgbClr val="E8F1F8"/>
          </a:solidFill>
          <a:ln xmlns:a="http://schemas.openxmlformats.org/drawingml/2006/main" w="9525">
            <a:solidFill>
              <a:srgbClr val="D9E0E6"/>
            </a:solidFill>
            <a:prstDash val="solid"/>
          </a:ln>
        </p:spPr>
      </p:sp>
      <p:sp>
        <p:nvSpPr>
          <p:cNvPr id="26" name="">
            <a:extLst xmlns:a="http://schemas.openxmlformats.org/drawingml/2006/main">
              <a:ext uri="{FF2B5EF4-FFF2-40B4-BE49-F238E27FC236}">
                <a16:creationId xmlns:a16="http://schemas.microsoft.com/office/drawing/2014/main" id="{0060E7D0-0787-43A3-8B17-C199397616A5}"/>
              </a:ext>
            </a:extLst>
          </p:cNvPr>
          <p:cNvSpPr>
            <a:spLocks xmlns:a="http://schemas.openxmlformats.org/drawingml/2006/main" noGrp="1"/>
          </p:cNvSpPr>
          <p:nvPr/>
        </p:nvSpPr>
        <p:spPr>
          <a:xfrm xmlns:a="http://schemas.openxmlformats.org/drawingml/2006/main">
            <a:off x="876300" y="3028950"/>
            <a:ext cx="2452688"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52538"/>
                </a:solidFill>
              </a:defRPr>
            </a:pPr>
            <a:r>
              <a:rPr sz="1125" b="0">
                <a:solidFill>
                  <a:srgbClr val="152538"/>
                </a:solidFill>
              </a:rPr>
              <a:t>PGS-G</a:t>
            </a:r>
          </a:p>
        </p:txBody>
      </p:sp>
      <p:sp>
        <p:nvSpPr>
          <p:cNvPr id="27" name="">
            <a:extLst xmlns:a="http://schemas.openxmlformats.org/drawingml/2006/main">
              <a:ext uri="{FF2B5EF4-FFF2-40B4-BE49-F238E27FC236}">
                <a16:creationId xmlns:a16="http://schemas.microsoft.com/office/drawing/2014/main" id="{419896B0-4A7E-4F5B-8665-7B2BD949109C}"/>
              </a:ext>
            </a:extLst>
          </p:cNvPr>
          <p:cNvSpPr>
            <a:spLocks xmlns:a="http://schemas.openxmlformats.org/drawingml/2006/main" noGrp="1"/>
          </p:cNvSpPr>
          <p:nvPr/>
        </p:nvSpPr>
        <p:spPr>
          <a:xfrm xmlns:a="http://schemas.openxmlformats.org/drawingml/2006/main">
            <a:off x="3424238" y="2990850"/>
            <a:ext cx="2643188" cy="619125"/>
          </a:xfrm>
          <a:prstGeom xmlns:a="http://schemas.openxmlformats.org/drawingml/2006/main" prst="rect">
            <a:avLst/>
          </a:prstGeom>
          <a:solidFill xmlns:a="http://schemas.openxmlformats.org/drawingml/2006/main">
            <a:srgbClr val="E8F1F8"/>
          </a:solidFill>
          <a:ln xmlns:a="http://schemas.openxmlformats.org/drawingml/2006/main" w="9525">
            <a:solidFill>
              <a:srgbClr val="D9E0E6"/>
            </a:solidFill>
            <a:prstDash val="solid"/>
          </a:ln>
        </p:spPr>
      </p:sp>
      <p:sp>
        <p:nvSpPr>
          <p:cNvPr id="28" name="">
            <a:extLst xmlns:a="http://schemas.openxmlformats.org/drawingml/2006/main">
              <a:ext uri="{FF2B5EF4-FFF2-40B4-BE49-F238E27FC236}">
                <a16:creationId xmlns:a16="http://schemas.microsoft.com/office/drawing/2014/main" id="{630A5213-C920-401B-9921-89BC3F657F1D}"/>
              </a:ext>
            </a:extLst>
          </p:cNvPr>
          <p:cNvSpPr>
            <a:spLocks xmlns:a="http://schemas.openxmlformats.org/drawingml/2006/main" noGrp="1"/>
          </p:cNvSpPr>
          <p:nvPr/>
        </p:nvSpPr>
        <p:spPr>
          <a:xfrm xmlns:a="http://schemas.openxmlformats.org/drawingml/2006/main">
            <a:off x="3519488" y="3028950"/>
            <a:ext cx="2452688"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52538"/>
                </a:solidFill>
              </a:defRPr>
            </a:pPr>
            <a:r>
              <a:rPr sz="1125" b="0">
                <a:solidFill>
                  <a:srgbClr val="152538"/>
                </a:solidFill>
              </a:rPr>
              <a:t>19 / 24</a:t>
            </a:r>
          </a:p>
        </p:txBody>
      </p:sp>
      <p:sp>
        <p:nvSpPr>
          <p:cNvPr id="29" name="">
            <a:extLst xmlns:a="http://schemas.openxmlformats.org/drawingml/2006/main">
              <a:ext uri="{FF2B5EF4-FFF2-40B4-BE49-F238E27FC236}">
                <a16:creationId xmlns:a16="http://schemas.microsoft.com/office/drawing/2014/main" id="{94975311-1F4D-4AF7-85F9-25E49C9F5807}"/>
              </a:ext>
            </a:extLst>
          </p:cNvPr>
          <p:cNvSpPr>
            <a:spLocks xmlns:a="http://schemas.openxmlformats.org/drawingml/2006/main" noGrp="1"/>
          </p:cNvSpPr>
          <p:nvPr/>
        </p:nvSpPr>
        <p:spPr>
          <a:xfrm xmlns:a="http://schemas.openxmlformats.org/drawingml/2006/main">
            <a:off x="6067425" y="2990850"/>
            <a:ext cx="2643188" cy="619125"/>
          </a:xfrm>
          <a:prstGeom xmlns:a="http://schemas.openxmlformats.org/drawingml/2006/main" prst="rect">
            <a:avLst/>
          </a:prstGeom>
          <a:solidFill xmlns:a="http://schemas.openxmlformats.org/drawingml/2006/main">
            <a:srgbClr val="E8F1F8"/>
          </a:solidFill>
          <a:ln xmlns:a="http://schemas.openxmlformats.org/drawingml/2006/main" w="9525">
            <a:solidFill>
              <a:srgbClr val="D9E0E6"/>
            </a:solidFill>
            <a:prstDash val="solid"/>
          </a:ln>
        </p:spPr>
      </p:sp>
      <p:sp>
        <p:nvSpPr>
          <p:cNvPr id="30" name="">
            <a:extLst xmlns:a="http://schemas.openxmlformats.org/drawingml/2006/main">
              <a:ext uri="{FF2B5EF4-FFF2-40B4-BE49-F238E27FC236}">
                <a16:creationId xmlns:a16="http://schemas.microsoft.com/office/drawing/2014/main" id="{DD59C78D-DB91-4DB1-8ED7-9DACBC898F4D}"/>
              </a:ext>
            </a:extLst>
          </p:cNvPr>
          <p:cNvSpPr>
            <a:spLocks xmlns:a="http://schemas.openxmlformats.org/drawingml/2006/main" noGrp="1"/>
          </p:cNvSpPr>
          <p:nvPr/>
        </p:nvSpPr>
        <p:spPr>
          <a:xfrm xmlns:a="http://schemas.openxmlformats.org/drawingml/2006/main">
            <a:off x="6162675" y="3028950"/>
            <a:ext cx="2452688"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52538"/>
                </a:solidFill>
              </a:defRPr>
            </a:pPr>
            <a:r>
              <a:rPr sz="1125" b="0">
                <a:solidFill>
                  <a:srgbClr val="152538"/>
                </a:solidFill>
              </a:rPr>
              <a:t>19 vs PGS-O</a:t>
            </a:r>
          </a:p>
        </p:txBody>
      </p:sp>
      <p:sp>
        <p:nvSpPr>
          <p:cNvPr id="31" name="">
            <a:extLst xmlns:a="http://schemas.openxmlformats.org/drawingml/2006/main">
              <a:ext uri="{FF2B5EF4-FFF2-40B4-BE49-F238E27FC236}">
                <a16:creationId xmlns:a16="http://schemas.microsoft.com/office/drawing/2014/main" id="{D7875783-6782-4369-A36E-8FE70C01F806}"/>
              </a:ext>
            </a:extLst>
          </p:cNvPr>
          <p:cNvSpPr>
            <a:spLocks xmlns:a="http://schemas.openxmlformats.org/drawingml/2006/main" noGrp="1"/>
          </p:cNvSpPr>
          <p:nvPr/>
        </p:nvSpPr>
        <p:spPr>
          <a:xfrm xmlns:a="http://schemas.openxmlformats.org/drawingml/2006/main">
            <a:off x="8710613" y="2990850"/>
            <a:ext cx="2643188" cy="619125"/>
          </a:xfrm>
          <a:prstGeom xmlns:a="http://schemas.openxmlformats.org/drawingml/2006/main" prst="rect">
            <a:avLst/>
          </a:prstGeom>
          <a:solidFill xmlns:a="http://schemas.openxmlformats.org/drawingml/2006/main">
            <a:srgbClr val="E8F1F8"/>
          </a:solidFill>
          <a:ln xmlns:a="http://schemas.openxmlformats.org/drawingml/2006/main" w="9525">
            <a:solidFill>
              <a:srgbClr val="D9E0E6"/>
            </a:solidFill>
            <a:prstDash val="solid"/>
          </a:ln>
        </p:spPr>
      </p:sp>
      <p:sp>
        <p:nvSpPr>
          <p:cNvPr id="32" name="">
            <a:extLst xmlns:a="http://schemas.openxmlformats.org/drawingml/2006/main">
              <a:ext uri="{FF2B5EF4-FFF2-40B4-BE49-F238E27FC236}">
                <a16:creationId xmlns:a16="http://schemas.microsoft.com/office/drawing/2014/main" id="{49C8239C-19C5-4916-A0DC-6284A211DD8D}"/>
              </a:ext>
            </a:extLst>
          </p:cNvPr>
          <p:cNvSpPr>
            <a:spLocks xmlns:a="http://schemas.openxmlformats.org/drawingml/2006/main" noGrp="1"/>
          </p:cNvSpPr>
          <p:nvPr/>
        </p:nvSpPr>
        <p:spPr>
          <a:xfrm xmlns:a="http://schemas.openxmlformats.org/drawingml/2006/main">
            <a:off x="8805863" y="3028950"/>
            <a:ext cx="2452688"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52538"/>
                </a:solidFill>
              </a:defRPr>
            </a:pPr>
            <a:r>
              <a:rPr sz="1125" b="0">
                <a:solidFill>
                  <a:srgbClr val="152538"/>
                </a:solidFill>
              </a:rPr>
              <a:t>median path/time gap</a:t>
            </a:r>
          </a:p>
        </p:txBody>
      </p:sp>
      <p:sp>
        <p:nvSpPr>
          <p:cNvPr id="33" name="">
            <a:extLst xmlns:a="http://schemas.openxmlformats.org/drawingml/2006/main">
              <a:ext uri="{FF2B5EF4-FFF2-40B4-BE49-F238E27FC236}">
                <a16:creationId xmlns:a16="http://schemas.microsoft.com/office/drawing/2014/main" id="{A6698D63-C047-4B93-B38B-19FF0C58B280}"/>
              </a:ext>
            </a:extLst>
          </p:cNvPr>
          <p:cNvSpPr>
            <a:spLocks xmlns:a="http://schemas.openxmlformats.org/drawingml/2006/main" noGrp="1"/>
          </p:cNvSpPr>
          <p:nvPr/>
        </p:nvSpPr>
        <p:spPr>
          <a:xfrm xmlns:a="http://schemas.openxmlformats.org/drawingml/2006/main">
            <a:off x="781050" y="3609975"/>
            <a:ext cx="2643188"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D9E0E6"/>
            </a:solidFill>
            <a:prstDash val="solid"/>
          </a:ln>
        </p:spPr>
      </p:sp>
      <p:sp>
        <p:nvSpPr>
          <p:cNvPr id="34" name="">
            <a:extLst xmlns:a="http://schemas.openxmlformats.org/drawingml/2006/main">
              <a:ext uri="{FF2B5EF4-FFF2-40B4-BE49-F238E27FC236}">
                <a16:creationId xmlns:a16="http://schemas.microsoft.com/office/drawing/2014/main" id="{FD77E91D-8DF0-4BE1-8454-96E21516EE0F}"/>
              </a:ext>
            </a:extLst>
          </p:cNvPr>
          <p:cNvSpPr>
            <a:spLocks xmlns:a="http://schemas.openxmlformats.org/drawingml/2006/main" noGrp="1"/>
          </p:cNvSpPr>
          <p:nvPr/>
        </p:nvSpPr>
        <p:spPr>
          <a:xfrm xmlns:a="http://schemas.openxmlformats.org/drawingml/2006/main">
            <a:off x="876300" y="3648075"/>
            <a:ext cx="2452688"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52538"/>
                </a:solidFill>
              </a:defRPr>
            </a:pPr>
            <a:r>
              <a:rPr sz="1125" b="0">
                <a:solidFill>
                  <a:srgbClr val="152538"/>
                </a:solidFill>
              </a:rPr>
              <a:t>Outward</a:t>
            </a:r>
          </a:p>
        </p:txBody>
      </p:sp>
      <p:sp>
        <p:nvSpPr>
          <p:cNvPr id="35" name="">
            <a:extLst xmlns:a="http://schemas.openxmlformats.org/drawingml/2006/main">
              <a:ext uri="{FF2B5EF4-FFF2-40B4-BE49-F238E27FC236}">
                <a16:creationId xmlns:a16="http://schemas.microsoft.com/office/drawing/2014/main" id="{A5F1797F-0C75-4A1A-87CC-4D8359EE7BE3}"/>
              </a:ext>
            </a:extLst>
          </p:cNvPr>
          <p:cNvSpPr>
            <a:spLocks xmlns:a="http://schemas.openxmlformats.org/drawingml/2006/main" noGrp="1"/>
          </p:cNvSpPr>
          <p:nvPr/>
        </p:nvSpPr>
        <p:spPr>
          <a:xfrm xmlns:a="http://schemas.openxmlformats.org/drawingml/2006/main">
            <a:off x="3424238" y="3609975"/>
            <a:ext cx="2643188"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D9E0E6"/>
            </a:solidFill>
            <a:prstDash val="solid"/>
          </a:ln>
        </p:spPr>
      </p:sp>
      <p:sp>
        <p:nvSpPr>
          <p:cNvPr id="36" name="">
            <a:extLst xmlns:a="http://schemas.openxmlformats.org/drawingml/2006/main">
              <a:ext uri="{FF2B5EF4-FFF2-40B4-BE49-F238E27FC236}">
                <a16:creationId xmlns:a16="http://schemas.microsoft.com/office/drawing/2014/main" id="{E27EB493-3EE6-4DEE-8D53-B7B344C81E42}"/>
              </a:ext>
            </a:extLst>
          </p:cNvPr>
          <p:cNvSpPr>
            <a:spLocks xmlns:a="http://schemas.openxmlformats.org/drawingml/2006/main" noGrp="1"/>
          </p:cNvSpPr>
          <p:nvPr/>
        </p:nvSpPr>
        <p:spPr>
          <a:xfrm xmlns:a="http://schemas.openxmlformats.org/drawingml/2006/main">
            <a:off x="3519488" y="3648075"/>
            <a:ext cx="2452688"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52538"/>
                </a:solidFill>
              </a:defRPr>
            </a:pPr>
            <a:r>
              <a:rPr sz="1125" b="0">
                <a:solidFill>
                  <a:srgbClr val="152538"/>
                </a:solidFill>
              </a:rPr>
              <a:t>19 / 24</a:t>
            </a:r>
          </a:p>
        </p:txBody>
      </p:sp>
      <p:sp>
        <p:nvSpPr>
          <p:cNvPr id="37" name="">
            <a:extLst xmlns:a="http://schemas.openxmlformats.org/drawingml/2006/main">
              <a:ext uri="{FF2B5EF4-FFF2-40B4-BE49-F238E27FC236}">
                <a16:creationId xmlns:a16="http://schemas.microsoft.com/office/drawing/2014/main" id="{DABC5095-F773-4CAD-88B1-3C0388551AAE}"/>
              </a:ext>
            </a:extLst>
          </p:cNvPr>
          <p:cNvSpPr>
            <a:spLocks xmlns:a="http://schemas.openxmlformats.org/drawingml/2006/main" noGrp="1"/>
          </p:cNvSpPr>
          <p:nvPr/>
        </p:nvSpPr>
        <p:spPr>
          <a:xfrm xmlns:a="http://schemas.openxmlformats.org/drawingml/2006/main">
            <a:off x="6067425" y="3609975"/>
            <a:ext cx="2643188"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D9E0E6"/>
            </a:solidFill>
            <a:prstDash val="solid"/>
          </a:ln>
        </p:spPr>
      </p:sp>
      <p:sp>
        <p:nvSpPr>
          <p:cNvPr id="38" name="">
            <a:extLst xmlns:a="http://schemas.openxmlformats.org/drawingml/2006/main">
              <a:ext uri="{FF2B5EF4-FFF2-40B4-BE49-F238E27FC236}">
                <a16:creationId xmlns:a16="http://schemas.microsoft.com/office/drawing/2014/main" id="{79B7E39E-567B-4DB7-B6E3-D55C17FCF611}"/>
              </a:ext>
            </a:extLst>
          </p:cNvPr>
          <p:cNvSpPr>
            <a:spLocks xmlns:a="http://schemas.openxmlformats.org/drawingml/2006/main" noGrp="1"/>
          </p:cNvSpPr>
          <p:nvPr/>
        </p:nvSpPr>
        <p:spPr>
          <a:xfrm xmlns:a="http://schemas.openxmlformats.org/drawingml/2006/main">
            <a:off x="6162675" y="3648075"/>
            <a:ext cx="2452688"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52538"/>
                </a:solidFill>
              </a:defRPr>
            </a:pPr>
            <a:r>
              <a:rPr sz="1125" b="0">
                <a:solidFill>
                  <a:srgbClr val="152538"/>
                </a:solidFill>
              </a:rPr>
              <a:t>19 vs PGS-O</a:t>
            </a:r>
          </a:p>
        </p:txBody>
      </p:sp>
      <p:sp>
        <p:nvSpPr>
          <p:cNvPr id="39" name="">
            <a:extLst xmlns:a="http://schemas.openxmlformats.org/drawingml/2006/main">
              <a:ext uri="{FF2B5EF4-FFF2-40B4-BE49-F238E27FC236}">
                <a16:creationId xmlns:a16="http://schemas.microsoft.com/office/drawing/2014/main" id="{7869CE1B-31E8-4BB2-9F3E-853405C867C1}"/>
              </a:ext>
            </a:extLst>
          </p:cNvPr>
          <p:cNvSpPr>
            <a:spLocks xmlns:a="http://schemas.openxmlformats.org/drawingml/2006/main" noGrp="1"/>
          </p:cNvSpPr>
          <p:nvPr/>
        </p:nvSpPr>
        <p:spPr>
          <a:xfrm xmlns:a="http://schemas.openxmlformats.org/drawingml/2006/main">
            <a:off x="8710613" y="3609975"/>
            <a:ext cx="2643188"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D9E0E6"/>
            </a:solidFill>
            <a:prstDash val="solid"/>
          </a:ln>
        </p:spPr>
      </p:sp>
      <p:sp>
        <p:nvSpPr>
          <p:cNvPr id="40" name="">
            <a:extLst xmlns:a="http://schemas.openxmlformats.org/drawingml/2006/main">
              <a:ext uri="{FF2B5EF4-FFF2-40B4-BE49-F238E27FC236}">
                <a16:creationId xmlns:a16="http://schemas.microsoft.com/office/drawing/2014/main" id="{E2601CF3-5156-4FEA-A636-6178BAB3E84D}"/>
              </a:ext>
            </a:extLst>
          </p:cNvPr>
          <p:cNvSpPr>
            <a:spLocks xmlns:a="http://schemas.openxmlformats.org/drawingml/2006/main" noGrp="1"/>
          </p:cNvSpPr>
          <p:nvPr/>
        </p:nvSpPr>
        <p:spPr>
          <a:xfrm xmlns:a="http://schemas.openxmlformats.org/drawingml/2006/main">
            <a:off x="8805863" y="3648075"/>
            <a:ext cx="2452688"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52538"/>
                </a:solidFill>
              </a:defRPr>
            </a:pPr>
            <a:r>
              <a:rPr sz="1125" b="0">
                <a:solidFill>
                  <a:srgbClr val="152538"/>
                </a:solidFill>
              </a:rPr>
              <a:t>complete-policy baseline</a:t>
            </a:r>
          </a:p>
        </p:txBody>
      </p:sp>
      <p:sp>
        <p:nvSpPr>
          <p:cNvPr id="41" name="">
            <a:extLst xmlns:a="http://schemas.openxmlformats.org/drawingml/2006/main">
              <a:ext uri="{FF2B5EF4-FFF2-40B4-BE49-F238E27FC236}">
                <a16:creationId xmlns:a16="http://schemas.microsoft.com/office/drawing/2014/main" id="{52616D36-3A6C-41C7-AB5E-BB7BAA5C9254}"/>
              </a:ext>
            </a:extLst>
          </p:cNvPr>
          <p:cNvSpPr>
            <a:spLocks xmlns:a="http://schemas.openxmlformats.org/drawingml/2006/main" noGrp="1"/>
          </p:cNvSpPr>
          <p:nvPr/>
        </p:nvSpPr>
        <p:spPr>
          <a:xfrm xmlns:a="http://schemas.openxmlformats.org/drawingml/2006/main">
            <a:off x="781050" y="4229100"/>
            <a:ext cx="2643188" cy="619125"/>
          </a:xfrm>
          <a:prstGeom xmlns:a="http://schemas.openxmlformats.org/drawingml/2006/main" prst="rect">
            <a:avLst/>
          </a:prstGeom>
          <a:solidFill xmlns:a="http://schemas.openxmlformats.org/drawingml/2006/main">
            <a:srgbClr val="E8F1F8"/>
          </a:solidFill>
          <a:ln xmlns:a="http://schemas.openxmlformats.org/drawingml/2006/main" w="9525">
            <a:solidFill>
              <a:srgbClr val="D9E0E6"/>
            </a:solidFill>
            <a:prstDash val="solid"/>
          </a:ln>
        </p:spPr>
      </p:sp>
      <p:sp>
        <p:nvSpPr>
          <p:cNvPr id="42" name="">
            <a:extLst xmlns:a="http://schemas.openxmlformats.org/drawingml/2006/main">
              <a:ext uri="{FF2B5EF4-FFF2-40B4-BE49-F238E27FC236}">
                <a16:creationId xmlns:a16="http://schemas.microsoft.com/office/drawing/2014/main" id="{89BF81D7-A993-42C2-AFFA-DCA7D482907E}"/>
              </a:ext>
            </a:extLst>
          </p:cNvPr>
          <p:cNvSpPr>
            <a:spLocks xmlns:a="http://schemas.openxmlformats.org/drawingml/2006/main" noGrp="1"/>
          </p:cNvSpPr>
          <p:nvPr/>
        </p:nvSpPr>
        <p:spPr>
          <a:xfrm xmlns:a="http://schemas.openxmlformats.org/drawingml/2006/main">
            <a:off x="876300" y="4267200"/>
            <a:ext cx="2452688"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52538"/>
                </a:solidFill>
              </a:defRPr>
            </a:pPr>
            <a:r>
              <a:rPr sz="1125" b="0">
                <a:solidFill>
                  <a:srgbClr val="152538"/>
                </a:solidFill>
              </a:rPr>
              <a:t>Direct-4C</a:t>
            </a:r>
          </a:p>
        </p:txBody>
      </p:sp>
      <p:sp>
        <p:nvSpPr>
          <p:cNvPr id="43" name="">
            <a:extLst xmlns:a="http://schemas.openxmlformats.org/drawingml/2006/main">
              <a:ext uri="{FF2B5EF4-FFF2-40B4-BE49-F238E27FC236}">
                <a16:creationId xmlns:a16="http://schemas.microsoft.com/office/drawing/2014/main" id="{FC2C1150-DA18-4933-AF82-D6F8A3B814F9}"/>
              </a:ext>
            </a:extLst>
          </p:cNvPr>
          <p:cNvSpPr>
            <a:spLocks xmlns:a="http://schemas.openxmlformats.org/drawingml/2006/main" noGrp="1"/>
          </p:cNvSpPr>
          <p:nvPr/>
        </p:nvSpPr>
        <p:spPr>
          <a:xfrm xmlns:a="http://schemas.openxmlformats.org/drawingml/2006/main">
            <a:off x="3424238" y="4229100"/>
            <a:ext cx="2643188" cy="619125"/>
          </a:xfrm>
          <a:prstGeom xmlns:a="http://schemas.openxmlformats.org/drawingml/2006/main" prst="rect">
            <a:avLst/>
          </a:prstGeom>
          <a:solidFill xmlns:a="http://schemas.openxmlformats.org/drawingml/2006/main">
            <a:srgbClr val="E8F1F8"/>
          </a:solidFill>
          <a:ln xmlns:a="http://schemas.openxmlformats.org/drawingml/2006/main" w="9525">
            <a:solidFill>
              <a:srgbClr val="D9E0E6"/>
            </a:solidFill>
            <a:prstDash val="solid"/>
          </a:ln>
        </p:spPr>
      </p:sp>
      <p:sp>
        <p:nvSpPr>
          <p:cNvPr id="44" name="">
            <a:extLst xmlns:a="http://schemas.openxmlformats.org/drawingml/2006/main">
              <a:ext uri="{FF2B5EF4-FFF2-40B4-BE49-F238E27FC236}">
                <a16:creationId xmlns:a16="http://schemas.microsoft.com/office/drawing/2014/main" id="{4E7F6CD7-C4CE-457B-8186-D7FE87FE4DEB}"/>
              </a:ext>
            </a:extLst>
          </p:cNvPr>
          <p:cNvSpPr>
            <a:spLocks xmlns:a="http://schemas.openxmlformats.org/drawingml/2006/main" noGrp="1"/>
          </p:cNvSpPr>
          <p:nvPr/>
        </p:nvSpPr>
        <p:spPr>
          <a:xfrm xmlns:a="http://schemas.openxmlformats.org/drawingml/2006/main">
            <a:off x="3519488" y="4267200"/>
            <a:ext cx="2452688"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52538"/>
                </a:solidFill>
              </a:defRPr>
            </a:pPr>
            <a:r>
              <a:rPr sz="1125" b="0">
                <a:solidFill>
                  <a:srgbClr val="152538"/>
                </a:solidFill>
              </a:rPr>
              <a:t>17 / 24</a:t>
            </a:r>
          </a:p>
        </p:txBody>
      </p:sp>
      <p:sp>
        <p:nvSpPr>
          <p:cNvPr id="45" name="">
            <a:extLst xmlns:a="http://schemas.openxmlformats.org/drawingml/2006/main">
              <a:ext uri="{FF2B5EF4-FFF2-40B4-BE49-F238E27FC236}">
                <a16:creationId xmlns:a16="http://schemas.microsoft.com/office/drawing/2014/main" id="{8455978E-55EE-4C33-A0C6-E34676DE5B20}"/>
              </a:ext>
            </a:extLst>
          </p:cNvPr>
          <p:cNvSpPr>
            <a:spLocks xmlns:a="http://schemas.openxmlformats.org/drawingml/2006/main" noGrp="1"/>
          </p:cNvSpPr>
          <p:nvPr/>
        </p:nvSpPr>
        <p:spPr>
          <a:xfrm xmlns:a="http://schemas.openxmlformats.org/drawingml/2006/main">
            <a:off x="6067425" y="4229100"/>
            <a:ext cx="2643188" cy="619125"/>
          </a:xfrm>
          <a:prstGeom xmlns:a="http://schemas.openxmlformats.org/drawingml/2006/main" prst="rect">
            <a:avLst/>
          </a:prstGeom>
          <a:solidFill xmlns:a="http://schemas.openxmlformats.org/drawingml/2006/main">
            <a:srgbClr val="E8F1F8"/>
          </a:solidFill>
          <a:ln xmlns:a="http://schemas.openxmlformats.org/drawingml/2006/main" w="9525">
            <a:solidFill>
              <a:srgbClr val="D9E0E6"/>
            </a:solidFill>
            <a:prstDash val="solid"/>
          </a:ln>
        </p:spPr>
      </p:sp>
      <p:sp>
        <p:nvSpPr>
          <p:cNvPr id="46" name="">
            <a:extLst xmlns:a="http://schemas.openxmlformats.org/drawingml/2006/main">
              <a:ext uri="{FF2B5EF4-FFF2-40B4-BE49-F238E27FC236}">
                <a16:creationId xmlns:a16="http://schemas.microsoft.com/office/drawing/2014/main" id="{A807B01D-61F4-4F3E-A8E0-4A07A03D9EF8}"/>
              </a:ext>
            </a:extLst>
          </p:cNvPr>
          <p:cNvSpPr>
            <a:spLocks xmlns:a="http://schemas.openxmlformats.org/drawingml/2006/main" noGrp="1"/>
          </p:cNvSpPr>
          <p:nvPr/>
        </p:nvSpPr>
        <p:spPr>
          <a:xfrm xmlns:a="http://schemas.openxmlformats.org/drawingml/2006/main">
            <a:off x="6162675" y="4267200"/>
            <a:ext cx="2452688"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52538"/>
                </a:solidFill>
              </a:defRPr>
            </a:pPr>
            <a:r>
              <a:rPr sz="1125" b="0">
                <a:solidFill>
                  <a:srgbClr val="152538"/>
                </a:solidFill>
              </a:rPr>
              <a:t>24 vs 3C proxy</a:t>
            </a:r>
          </a:p>
        </p:txBody>
      </p:sp>
      <p:sp>
        <p:nvSpPr>
          <p:cNvPr id="47" name="">
            <a:extLst xmlns:a="http://schemas.openxmlformats.org/drawingml/2006/main">
              <a:ext uri="{FF2B5EF4-FFF2-40B4-BE49-F238E27FC236}">
                <a16:creationId xmlns:a16="http://schemas.microsoft.com/office/drawing/2014/main" id="{BC385EE7-FEF7-475E-9D8C-4CFBC88A88A2}"/>
              </a:ext>
            </a:extLst>
          </p:cNvPr>
          <p:cNvSpPr>
            <a:spLocks xmlns:a="http://schemas.openxmlformats.org/drawingml/2006/main" noGrp="1"/>
          </p:cNvSpPr>
          <p:nvPr/>
        </p:nvSpPr>
        <p:spPr>
          <a:xfrm xmlns:a="http://schemas.openxmlformats.org/drawingml/2006/main">
            <a:off x="8710613" y="4229100"/>
            <a:ext cx="2643188" cy="619125"/>
          </a:xfrm>
          <a:prstGeom xmlns:a="http://schemas.openxmlformats.org/drawingml/2006/main" prst="rect">
            <a:avLst/>
          </a:prstGeom>
          <a:solidFill xmlns:a="http://schemas.openxmlformats.org/drawingml/2006/main">
            <a:srgbClr val="E8F1F8"/>
          </a:solidFill>
          <a:ln xmlns:a="http://schemas.openxmlformats.org/drawingml/2006/main" w="9525">
            <a:solidFill>
              <a:srgbClr val="D9E0E6"/>
            </a:solidFill>
            <a:prstDash val="solid"/>
          </a:ln>
        </p:spPr>
      </p:sp>
      <p:sp>
        <p:nvSpPr>
          <p:cNvPr id="48" name="">
            <a:extLst xmlns:a="http://schemas.openxmlformats.org/drawingml/2006/main">
              <a:ext uri="{FF2B5EF4-FFF2-40B4-BE49-F238E27FC236}">
                <a16:creationId xmlns:a16="http://schemas.microsoft.com/office/drawing/2014/main" id="{4E0CB6BC-9376-47BD-8BB3-0B512831CA89}"/>
              </a:ext>
            </a:extLst>
          </p:cNvPr>
          <p:cNvSpPr>
            <a:spLocks xmlns:a="http://schemas.openxmlformats.org/drawingml/2006/main" noGrp="1"/>
          </p:cNvSpPr>
          <p:nvPr/>
        </p:nvSpPr>
        <p:spPr>
          <a:xfrm xmlns:a="http://schemas.openxmlformats.org/drawingml/2006/main">
            <a:off x="8805863" y="4267200"/>
            <a:ext cx="2452688"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52538"/>
                </a:solidFill>
              </a:defRPr>
            </a:pPr>
            <a:r>
              <a:rPr sz="1125" b="0">
                <a:solidFill>
                  <a:srgbClr val="152538"/>
                </a:solidFill>
              </a:rPr>
              <a:t>representation ablation</a:t>
            </a:r>
          </a:p>
        </p:txBody>
      </p:sp>
      <p:sp>
        <p:nvSpPr>
          <p:cNvPr id="49" name="">
            <a:extLst xmlns:a="http://schemas.openxmlformats.org/drawingml/2006/main">
              <a:ext uri="{FF2B5EF4-FFF2-40B4-BE49-F238E27FC236}">
                <a16:creationId xmlns:a16="http://schemas.microsoft.com/office/drawing/2014/main" id="{D796EA03-77B8-4101-9402-F64137C69ABA}"/>
              </a:ext>
            </a:extLst>
          </p:cNvPr>
          <p:cNvSpPr>
            <a:spLocks xmlns:a="http://schemas.openxmlformats.org/drawingml/2006/main" noGrp="1"/>
          </p:cNvSpPr>
          <p:nvPr/>
        </p:nvSpPr>
        <p:spPr>
          <a:xfrm xmlns:a="http://schemas.openxmlformats.org/drawingml/2006/main">
            <a:off x="781050" y="4848225"/>
            <a:ext cx="2643188"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D9E0E6"/>
            </a:solidFill>
            <a:prstDash val="solid"/>
          </a:ln>
        </p:spPr>
      </p:sp>
      <p:sp>
        <p:nvSpPr>
          <p:cNvPr id="50" name="">
            <a:extLst xmlns:a="http://schemas.openxmlformats.org/drawingml/2006/main">
              <a:ext uri="{FF2B5EF4-FFF2-40B4-BE49-F238E27FC236}">
                <a16:creationId xmlns:a16="http://schemas.microsoft.com/office/drawing/2014/main" id="{9EC15711-2451-444A-96F4-5652584F4886}"/>
              </a:ext>
            </a:extLst>
          </p:cNvPr>
          <p:cNvSpPr>
            <a:spLocks xmlns:a="http://schemas.openxmlformats.org/drawingml/2006/main" noGrp="1"/>
          </p:cNvSpPr>
          <p:nvPr/>
        </p:nvSpPr>
        <p:spPr>
          <a:xfrm xmlns:a="http://schemas.openxmlformats.org/drawingml/2006/main">
            <a:off x="876300" y="4886325"/>
            <a:ext cx="2452688"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52538"/>
                </a:solidFill>
              </a:defRPr>
            </a:pPr>
            <a:r>
              <a:rPr sz="1125" b="0">
                <a:solidFill>
                  <a:srgbClr val="152538"/>
                </a:solidFill>
              </a:rPr>
              <a:t>Recovery R3</a:t>
            </a:r>
          </a:p>
        </p:txBody>
      </p:sp>
      <p:sp>
        <p:nvSpPr>
          <p:cNvPr id="51" name="">
            <a:extLst xmlns:a="http://schemas.openxmlformats.org/drawingml/2006/main">
              <a:ext uri="{FF2B5EF4-FFF2-40B4-BE49-F238E27FC236}">
                <a16:creationId xmlns:a16="http://schemas.microsoft.com/office/drawing/2014/main" id="{F0863F84-2F27-4A54-B182-8438D7ADEDE1}"/>
              </a:ext>
            </a:extLst>
          </p:cNvPr>
          <p:cNvSpPr>
            <a:spLocks xmlns:a="http://schemas.openxmlformats.org/drawingml/2006/main" noGrp="1"/>
          </p:cNvSpPr>
          <p:nvPr/>
        </p:nvSpPr>
        <p:spPr>
          <a:xfrm xmlns:a="http://schemas.openxmlformats.org/drawingml/2006/main">
            <a:off x="3424238" y="4848225"/>
            <a:ext cx="2643188"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D9E0E6"/>
            </a:solidFill>
            <a:prstDash val="solid"/>
          </a:ln>
        </p:spPr>
      </p:sp>
      <p:sp>
        <p:nvSpPr>
          <p:cNvPr id="52" name="">
            <a:extLst xmlns:a="http://schemas.openxmlformats.org/drawingml/2006/main">
              <a:ext uri="{FF2B5EF4-FFF2-40B4-BE49-F238E27FC236}">
                <a16:creationId xmlns:a16="http://schemas.microsoft.com/office/drawing/2014/main" id="{CB7BBEAC-74BD-4B2A-A8A4-1EBB8C8576EB}"/>
              </a:ext>
            </a:extLst>
          </p:cNvPr>
          <p:cNvSpPr>
            <a:spLocks xmlns:a="http://schemas.openxmlformats.org/drawingml/2006/main" noGrp="1"/>
          </p:cNvSpPr>
          <p:nvPr/>
        </p:nvSpPr>
        <p:spPr>
          <a:xfrm xmlns:a="http://schemas.openxmlformats.org/drawingml/2006/main">
            <a:off x="3519488" y="4886325"/>
            <a:ext cx="2452688"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52538"/>
                </a:solidFill>
              </a:defRPr>
            </a:pPr>
            <a:r>
              <a:rPr sz="1125" b="0">
                <a:solidFill>
                  <a:srgbClr val="152538"/>
                </a:solidFill>
              </a:rPr>
              <a:t>9 / 12</a:t>
            </a:r>
          </a:p>
        </p:txBody>
      </p:sp>
      <p:sp>
        <p:nvSpPr>
          <p:cNvPr id="53" name="">
            <a:extLst xmlns:a="http://schemas.openxmlformats.org/drawingml/2006/main">
              <a:ext uri="{FF2B5EF4-FFF2-40B4-BE49-F238E27FC236}">
                <a16:creationId xmlns:a16="http://schemas.microsoft.com/office/drawing/2014/main" id="{C63494CE-905E-4FA4-AE09-D285E8F1930A}"/>
              </a:ext>
            </a:extLst>
          </p:cNvPr>
          <p:cNvSpPr>
            <a:spLocks xmlns:a="http://schemas.openxmlformats.org/drawingml/2006/main" noGrp="1"/>
          </p:cNvSpPr>
          <p:nvPr/>
        </p:nvSpPr>
        <p:spPr>
          <a:xfrm xmlns:a="http://schemas.openxmlformats.org/drawingml/2006/main">
            <a:off x="6067425" y="4848225"/>
            <a:ext cx="2643188"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D9E0E6"/>
            </a:solidFill>
            <a:prstDash val="solid"/>
          </a:ln>
        </p:spPr>
      </p:sp>
      <p:sp>
        <p:nvSpPr>
          <p:cNvPr id="54" name="">
            <a:extLst xmlns:a="http://schemas.openxmlformats.org/drawingml/2006/main">
              <a:ext uri="{FF2B5EF4-FFF2-40B4-BE49-F238E27FC236}">
                <a16:creationId xmlns:a16="http://schemas.microsoft.com/office/drawing/2014/main" id="{1E76EC5E-363F-4DBD-A1C0-4CCB238CE6EF}"/>
              </a:ext>
            </a:extLst>
          </p:cNvPr>
          <p:cNvSpPr>
            <a:spLocks xmlns:a="http://schemas.openxmlformats.org/drawingml/2006/main" noGrp="1"/>
          </p:cNvSpPr>
          <p:nvPr/>
        </p:nvSpPr>
        <p:spPr>
          <a:xfrm xmlns:a="http://schemas.openxmlformats.org/drawingml/2006/main">
            <a:off x="6162675" y="4886325"/>
            <a:ext cx="2452688"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52538"/>
                </a:solidFill>
              </a:defRPr>
            </a:pPr>
            <a:r>
              <a:rPr sz="1125" b="0">
                <a:solidFill>
                  <a:srgbClr val="152538"/>
                </a:solidFill>
              </a:rPr>
              <a:t>12 vs R0</a:t>
            </a:r>
          </a:p>
        </p:txBody>
      </p:sp>
      <p:sp>
        <p:nvSpPr>
          <p:cNvPr id="55" name="">
            <a:extLst xmlns:a="http://schemas.openxmlformats.org/drawingml/2006/main">
              <a:ext uri="{FF2B5EF4-FFF2-40B4-BE49-F238E27FC236}">
                <a16:creationId xmlns:a16="http://schemas.microsoft.com/office/drawing/2014/main" id="{781D31F8-B0BD-4BEF-87FE-81F1EB314A87}"/>
              </a:ext>
            </a:extLst>
          </p:cNvPr>
          <p:cNvSpPr>
            <a:spLocks xmlns:a="http://schemas.openxmlformats.org/drawingml/2006/main" noGrp="1"/>
          </p:cNvSpPr>
          <p:nvPr/>
        </p:nvSpPr>
        <p:spPr>
          <a:xfrm xmlns:a="http://schemas.openxmlformats.org/drawingml/2006/main">
            <a:off x="8710613" y="4848225"/>
            <a:ext cx="2643188"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D9E0E6"/>
            </a:solidFill>
            <a:prstDash val="solid"/>
          </a:ln>
        </p:spPr>
      </p:sp>
      <p:sp>
        <p:nvSpPr>
          <p:cNvPr id="56" name="">
            <a:extLst xmlns:a="http://schemas.openxmlformats.org/drawingml/2006/main">
              <a:ext uri="{FF2B5EF4-FFF2-40B4-BE49-F238E27FC236}">
                <a16:creationId xmlns:a16="http://schemas.microsoft.com/office/drawing/2014/main" id="{639B9F10-3578-47CA-8BF1-171ACF62AF6B}"/>
              </a:ext>
            </a:extLst>
          </p:cNvPr>
          <p:cNvSpPr>
            <a:spLocks xmlns:a="http://schemas.openxmlformats.org/drawingml/2006/main" noGrp="1"/>
          </p:cNvSpPr>
          <p:nvPr/>
        </p:nvSpPr>
        <p:spPr>
          <a:xfrm xmlns:a="http://schemas.openxmlformats.org/drawingml/2006/main">
            <a:off x="8805863" y="4886325"/>
            <a:ext cx="2452688"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52538"/>
                </a:solidFill>
              </a:defRPr>
            </a:pPr>
            <a:r>
              <a:rPr sz="1125" b="0">
                <a:solidFill>
                  <a:srgbClr val="152538"/>
                </a:solidFill>
              </a:rPr>
              <a:t>paired binary exact test</a:t>
            </a:r>
          </a:p>
        </p:txBody>
      </p:sp>
      <p:sp>
        <p:nvSpPr>
          <p:cNvPr id="57" name="">
            <a:extLst xmlns:a="http://schemas.openxmlformats.org/drawingml/2006/main">
              <a:ext uri="{FF2B5EF4-FFF2-40B4-BE49-F238E27FC236}">
                <a16:creationId xmlns:a16="http://schemas.microsoft.com/office/drawing/2014/main" id="{C669EAED-ACB5-410E-B6B0-BA9436DECA8F}"/>
              </a:ext>
            </a:extLst>
          </p:cNvPr>
          <p:cNvSpPr>
            <a:spLocks xmlns:a="http://schemas.openxmlformats.org/drawingml/2006/main" noGrp="1"/>
          </p:cNvSpPr>
          <p:nvPr/>
        </p:nvSpPr>
        <p:spPr>
          <a:xfrm xmlns:a="http://schemas.openxmlformats.org/drawingml/2006/main">
            <a:off x="647700" y="5943600"/>
            <a:ext cx="10839450" cy="400050"/>
          </a:xfrm>
          <a:prstGeom xmlns:a="http://schemas.openxmlformats.org/drawingml/2006/main" prst="rect">
            <a:avLst/>
          </a:prstGeom>
          <a:solidFill xmlns:a="http://schemas.openxmlformats.org/drawingml/2006/main">
            <a:srgbClr val="FFF0E2"/>
          </a:solidFill>
          <a:ln xmlns:a="http://schemas.openxmlformats.org/drawingml/2006/main" w="0">
            <a:noFill/>
            <a:prstDash val="solid"/>
          </a:ln>
        </p:spPr>
      </p:sp>
      <p:sp>
        <p:nvSpPr>
          <p:cNvPr id="58" name="">
            <a:extLst xmlns:a="http://schemas.openxmlformats.org/drawingml/2006/main">
              <a:ext uri="{FF2B5EF4-FFF2-40B4-BE49-F238E27FC236}">
                <a16:creationId xmlns:a16="http://schemas.microsoft.com/office/drawing/2014/main" id="{991708A4-A2E8-4430-BF0B-7DD0E129F855}"/>
              </a:ext>
            </a:extLst>
          </p:cNvPr>
          <p:cNvSpPr>
            <a:spLocks xmlns:a="http://schemas.openxmlformats.org/drawingml/2006/main" noGrp="1"/>
          </p:cNvSpPr>
          <p:nvPr/>
        </p:nvSpPr>
        <p:spPr>
          <a:xfrm xmlns:a="http://schemas.openxmlformats.org/drawingml/2006/main">
            <a:off x="647700" y="5943600"/>
            <a:ext cx="57150" cy="400050"/>
          </a:xfrm>
          <a:prstGeom xmlns:a="http://schemas.openxmlformats.org/drawingml/2006/main" prst="rect">
            <a:avLst/>
          </a:prstGeom>
          <a:solidFill xmlns:a="http://schemas.openxmlformats.org/drawingml/2006/main">
            <a:srgbClr val="ED7F0D"/>
          </a:solidFill>
          <a:ln xmlns:a="http://schemas.openxmlformats.org/drawingml/2006/main" w="0">
            <a:noFill/>
            <a:prstDash val="solid"/>
          </a:ln>
        </p:spPr>
      </p:sp>
      <p:sp>
        <p:nvSpPr>
          <p:cNvPr id="59" name="">
            <a:extLst xmlns:a="http://schemas.openxmlformats.org/drawingml/2006/main">
              <a:ext uri="{FF2B5EF4-FFF2-40B4-BE49-F238E27FC236}">
                <a16:creationId xmlns:a16="http://schemas.microsoft.com/office/drawing/2014/main" id="{669EDFCC-9497-4C00-BDE3-1C4FC44A31D1}"/>
              </a:ext>
            </a:extLst>
          </p:cNvPr>
          <p:cNvSpPr>
            <a:spLocks xmlns:a="http://schemas.openxmlformats.org/drawingml/2006/main" noGrp="1"/>
          </p:cNvSpPr>
          <p:nvPr/>
        </p:nvSpPr>
        <p:spPr>
          <a:xfrm xmlns:a="http://schemas.openxmlformats.org/drawingml/2006/main">
            <a:off x="838200" y="5981700"/>
            <a:ext cx="10458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152538"/>
                </a:solidFill>
              </a:defRPr>
            </a:pPr>
            <a:r>
              <a:rPr sz="1275" b="1">
                <a:solidFill>
                  <a:srgbClr val="152538"/>
                </a:solidFill>
              </a:rPr>
              <a:t>Overall completion counts and conditional paired-efficiency subsets are different quantities.</a:t>
            </a:r>
          </a:p>
        </p:txBody>
      </p:sp>
    </p:spTree>
    <p:extLst>
      <p:ext uri="{BB962C8B-B14F-4D97-AF65-F5344CB8AC3E}">
        <p14:creationId xmlns:p14="http://schemas.microsoft.com/office/powerpoint/2010/main" val="1912132594"/>
      </p:ext>
    </p:extLst>
  </p:cSld>
</p:sld>
</file>

<file path=ppt/slides/slide38.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17435C4-F726-443B-8CD0-24BAFED6FC36}"/>
              </a:ext>
            </a:extLst>
          </p:cNvPr>
          <p:cNvSpPr>
            <a:spLocks xmlns:a="http://schemas.openxmlformats.org/drawingml/2006/main" noGrp="1"/>
          </p:cNvSpPr>
          <p:nvPr/>
        </p:nvSpPr>
        <p:spPr>
          <a:xfrm xmlns:a="http://schemas.openxmlformats.org/drawingml/2006/main">
            <a:off x="647700" y="2286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ED7F0D"/>
                </a:solidFill>
              </a:defRPr>
            </a:pPr>
            <a:r>
              <a:rPr sz="1050" b="1">
                <a:solidFill>
                  <a:srgbClr val="ED7F0D"/>
                </a:solidFill>
              </a:rPr>
              <a:t>38</a:t>
            </a:r>
          </a:p>
        </p:txBody>
      </p:sp>
      <p:sp>
        <p:nvSpPr>
          <p:cNvPr id="2" name="">
            <a:extLst xmlns:a="http://schemas.openxmlformats.org/drawingml/2006/main">
              <a:ext uri="{FF2B5EF4-FFF2-40B4-BE49-F238E27FC236}">
                <a16:creationId xmlns:a16="http://schemas.microsoft.com/office/drawing/2014/main" id="{8BF21386-A460-4566-AC94-353785613AA0}"/>
              </a:ext>
            </a:extLst>
          </p:cNvPr>
          <p:cNvSpPr>
            <a:spLocks xmlns:a="http://schemas.openxmlformats.org/drawingml/2006/main" noGrp="1"/>
          </p:cNvSpPr>
          <p:nvPr/>
        </p:nvSpPr>
        <p:spPr>
          <a:xfrm xmlns:a="http://schemas.openxmlformats.org/drawingml/2006/main">
            <a:off x="1104900" y="22860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6B7580"/>
                </a:solidFill>
              </a:defRPr>
            </a:pPr>
            <a:r>
              <a:rPr sz="975" b="1">
                <a:solidFill>
                  <a:srgbClr val="6B7580"/>
                </a:solidFill>
              </a:rPr>
              <a:t>APPENDIX</a:t>
            </a:r>
          </a:p>
        </p:txBody>
      </p:sp>
      <p:sp>
        <p:nvSpPr>
          <p:cNvPr id="3" name="">
            <a:extLst xmlns:a="http://schemas.openxmlformats.org/drawingml/2006/main">
              <a:ext uri="{FF2B5EF4-FFF2-40B4-BE49-F238E27FC236}">
                <a16:creationId xmlns:a16="http://schemas.microsoft.com/office/drawing/2014/main" id="{EF0EEF81-3EAF-415F-B7BD-E505330BB40F}"/>
              </a:ext>
            </a:extLst>
          </p:cNvPr>
          <p:cNvSpPr>
            <a:spLocks xmlns:a="http://schemas.openxmlformats.org/drawingml/2006/main" noGrp="1"/>
          </p:cNvSpPr>
          <p:nvPr/>
        </p:nvSpPr>
        <p:spPr>
          <a:xfrm xmlns:a="http://schemas.openxmlformats.org/drawingml/2006/main">
            <a:off x="6191250" y="228600"/>
            <a:ext cx="5353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0">
                <a:solidFill>
                  <a:srgbClr val="6B7580"/>
                </a:solidFill>
              </a:defRPr>
            </a:pPr>
            <a:r>
              <a:rPr sz="825" b="0">
                <a:solidFill>
                  <a:srgbClr val="6B7580"/>
                </a:solidFill>
              </a:rPr>
              <a:t>Problem   Task   Framework   Simulation   Hardware   Discussion</a:t>
            </a:r>
          </a:p>
        </p:txBody>
      </p:sp>
      <p:sp>
        <p:nvSpPr>
          <p:cNvPr id="4" name="">
            <a:extLst xmlns:a="http://schemas.openxmlformats.org/drawingml/2006/main">
              <a:ext uri="{FF2B5EF4-FFF2-40B4-BE49-F238E27FC236}">
                <a16:creationId xmlns:a16="http://schemas.microsoft.com/office/drawing/2014/main" id="{491326E8-0F2A-4EC5-94AF-98FBC4BCB6F5}"/>
              </a:ext>
            </a:extLst>
          </p:cNvPr>
          <p:cNvSpPr>
            <a:spLocks xmlns:a="http://schemas.openxmlformats.org/drawingml/2006/main" noGrp="1"/>
          </p:cNvSpPr>
          <p:nvPr/>
        </p:nvSpPr>
        <p:spPr>
          <a:xfrm xmlns:a="http://schemas.openxmlformats.org/drawingml/2006/main">
            <a:off x="647700" y="533400"/>
            <a:ext cx="108394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700" b="1">
                <a:solidFill>
                  <a:srgbClr val="004282"/>
                </a:solidFill>
              </a:defRPr>
            </a:pPr>
            <a:r>
              <a:rPr sz="2700" b="1">
                <a:solidFill>
                  <a:srgbClr val="004282"/>
                </a:solidFill>
              </a:rPr>
              <a:t>Backup: the next study should close the hardware evidence gap</a:t>
            </a:r>
          </a:p>
        </p:txBody>
      </p:sp>
      <p:sp>
        <p:nvSpPr>
          <p:cNvPr id="5" name="">
            <a:extLst xmlns:a="http://schemas.openxmlformats.org/drawingml/2006/main">
              <a:ext uri="{FF2B5EF4-FFF2-40B4-BE49-F238E27FC236}">
                <a16:creationId xmlns:a16="http://schemas.microsoft.com/office/drawing/2014/main" id="{6CF64D14-4C04-4720-AA7B-47B384C3F503}"/>
              </a:ext>
            </a:extLst>
          </p:cNvPr>
          <p:cNvSpPr>
            <a:spLocks xmlns:a="http://schemas.openxmlformats.org/drawingml/2006/main" noGrp="1"/>
          </p:cNvSpPr>
          <p:nvPr/>
        </p:nvSpPr>
        <p:spPr>
          <a:xfrm xmlns:a="http://schemas.openxmlformats.org/drawingml/2006/main">
            <a:off x="647700" y="1257300"/>
            <a:ext cx="609600" cy="47625"/>
          </a:xfrm>
          <a:prstGeom xmlns:a="http://schemas.openxmlformats.org/drawingml/2006/main" prst="rect">
            <a:avLst/>
          </a:prstGeom>
          <a:solidFill xmlns:a="http://schemas.openxmlformats.org/drawingml/2006/main">
            <a:srgbClr val="ED7F0D"/>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32578B0F-7566-45EE-A8C2-6EFAA136396F}"/>
              </a:ext>
            </a:extLst>
          </p:cNvPr>
          <p:cNvSpPr>
            <a:spLocks xmlns:a="http://schemas.openxmlformats.org/drawingml/2006/main" noGrp="1"/>
          </p:cNvSpPr>
          <p:nvPr/>
        </p:nvSpPr>
        <p:spPr>
          <a:xfrm xmlns:a="http://schemas.openxmlformats.org/drawingml/2006/main">
            <a:off x="647700" y="6486525"/>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6B7580"/>
                </a:solidFill>
              </a:defRPr>
            </a:pPr>
            <a:r>
              <a:rPr sz="825" b="0">
                <a:solidFill>
                  <a:srgbClr val="6B7580"/>
                </a:solidFill>
              </a:rPr>
              <a:t>Nan Jinyao · Paper-aligned group review</a:t>
            </a:r>
          </a:p>
        </p:txBody>
      </p:sp>
      <p:sp>
        <p:nvSpPr>
          <p:cNvPr id="7" name="">
            <a:extLst xmlns:a="http://schemas.openxmlformats.org/drawingml/2006/main">
              <a:ext uri="{FF2B5EF4-FFF2-40B4-BE49-F238E27FC236}">
                <a16:creationId xmlns:a16="http://schemas.microsoft.com/office/drawing/2014/main" id="{6D176E3D-F7E8-4C6A-B17F-74191147C71F}"/>
              </a:ext>
            </a:extLst>
          </p:cNvPr>
          <p:cNvSpPr>
            <a:spLocks xmlns:a="http://schemas.openxmlformats.org/drawingml/2006/main" noGrp="1"/>
          </p:cNvSpPr>
          <p:nvPr/>
        </p:nvSpPr>
        <p:spPr>
          <a:xfrm xmlns:a="http://schemas.openxmlformats.org/drawingml/2006/main">
            <a:off x="4476750" y="6486525"/>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0">
                <a:solidFill>
                  <a:srgbClr val="6B7580"/>
                </a:solidFill>
              </a:defRPr>
            </a:pPr>
            <a:r>
              <a:rPr sz="825" b="0">
                <a:solidFill>
                  <a:srgbClr val="6B7580"/>
                </a:solidFill>
              </a:rPr>
              <a:t>Derived from Discussion</a:t>
            </a:r>
          </a:p>
        </p:txBody>
      </p:sp>
      <p:sp>
        <p:nvSpPr>
          <p:cNvPr id="8" name="">
            <a:extLst xmlns:a="http://schemas.openxmlformats.org/drawingml/2006/main">
              <a:ext uri="{FF2B5EF4-FFF2-40B4-BE49-F238E27FC236}">
                <a16:creationId xmlns:a16="http://schemas.microsoft.com/office/drawing/2014/main" id="{C5BF3A45-EC58-40DA-AC8E-AD23ECC871FA}"/>
              </a:ext>
            </a:extLst>
          </p:cNvPr>
          <p:cNvSpPr>
            <a:spLocks xmlns:a="http://schemas.openxmlformats.org/drawingml/2006/main" noGrp="1"/>
          </p:cNvSpPr>
          <p:nvPr/>
        </p:nvSpPr>
        <p:spPr>
          <a:xfrm xmlns:a="http://schemas.openxmlformats.org/drawingml/2006/main">
            <a:off x="11049000" y="648652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004282"/>
                </a:solidFill>
              </a:defRPr>
            </a:pPr>
            <a:r>
              <a:rPr sz="825" b="1">
                <a:solidFill>
                  <a:srgbClr val="004282"/>
                </a:solidFill>
              </a:rPr>
              <a:t>38</a:t>
            </a:r>
          </a:p>
        </p:txBody>
      </p:sp>
      <p:sp>
        <p:nvSpPr>
          <p:cNvPr id="9" name="">
            <a:extLst xmlns:a="http://schemas.openxmlformats.org/drawingml/2006/main">
              <a:ext uri="{FF2B5EF4-FFF2-40B4-BE49-F238E27FC236}">
                <a16:creationId xmlns:a16="http://schemas.microsoft.com/office/drawing/2014/main" id="{FC15B7B4-838D-411B-8710-AD38CFFE304D}"/>
              </a:ext>
            </a:extLst>
          </p:cNvPr>
          <p:cNvSpPr>
            <a:spLocks xmlns:a="http://schemas.openxmlformats.org/drawingml/2006/main" noGrp="1"/>
          </p:cNvSpPr>
          <p:nvPr/>
        </p:nvSpPr>
        <p:spPr>
          <a:xfrm xmlns:a="http://schemas.openxmlformats.org/drawingml/2006/main">
            <a:off x="838200" y="1676400"/>
            <a:ext cx="114300" cy="742950"/>
          </a:xfrm>
          <a:prstGeom xmlns:a="http://schemas.openxmlformats.org/drawingml/2006/main" prst="rect">
            <a:avLst/>
          </a:prstGeom>
          <a:solidFill xmlns:a="http://schemas.openxmlformats.org/drawingml/2006/main">
            <a:srgbClr val="C74A4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2E0CF58A-F367-4185-AB7F-80B16AF1DF77}"/>
              </a:ext>
            </a:extLst>
          </p:cNvPr>
          <p:cNvSpPr>
            <a:spLocks xmlns:a="http://schemas.openxmlformats.org/drawingml/2006/main" noGrp="1"/>
          </p:cNvSpPr>
          <p:nvPr/>
        </p:nvSpPr>
        <p:spPr>
          <a:xfrm xmlns:a="http://schemas.openxmlformats.org/drawingml/2006/main">
            <a:off x="1143000" y="1676400"/>
            <a:ext cx="9906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152538"/>
                </a:solidFill>
              </a:defRPr>
            </a:pPr>
            <a:r>
              <a:rPr sz="1575" b="1">
                <a:solidFill>
                  <a:srgbClr val="152538"/>
                </a:solidFill>
              </a:rPr>
              <a:t>P0  Randomized hardware repetitions</a:t>
            </a:r>
          </a:p>
          <a:p xmlns:a="http://schemas.openxmlformats.org/drawingml/2006/main">
            <a:pPr algn="l">
              <a:defRPr sz="1575" b="1">
                <a:solidFill>
                  <a:srgbClr val="152538"/>
                </a:solidFill>
              </a:defRPr>
            </a:pPr>
            <a:r>
              <a:rPr sz="1575" b="1">
                <a:solidFill>
                  <a:srgbClr val="152538"/>
                </a:solidFill>
              </a:rPr>
              <a:t>Pre-register starts, denominators and terminal rules.</a:t>
            </a:r>
          </a:p>
        </p:txBody>
      </p:sp>
      <p:sp>
        <p:nvSpPr>
          <p:cNvPr id="11" name="">
            <a:extLst xmlns:a="http://schemas.openxmlformats.org/drawingml/2006/main">
              <a:ext uri="{FF2B5EF4-FFF2-40B4-BE49-F238E27FC236}">
                <a16:creationId xmlns:a16="http://schemas.microsoft.com/office/drawing/2014/main" id="{F3A88778-70CB-4D9D-839C-E68D5B1FFA63}"/>
              </a:ext>
            </a:extLst>
          </p:cNvPr>
          <p:cNvSpPr>
            <a:spLocks xmlns:a="http://schemas.openxmlformats.org/drawingml/2006/main" noGrp="1"/>
          </p:cNvSpPr>
          <p:nvPr/>
        </p:nvSpPr>
        <p:spPr>
          <a:xfrm xmlns:a="http://schemas.openxmlformats.org/drawingml/2006/main">
            <a:off x="838200" y="2647950"/>
            <a:ext cx="114300" cy="742950"/>
          </a:xfrm>
          <a:prstGeom xmlns:a="http://schemas.openxmlformats.org/drawingml/2006/main" prst="rect">
            <a:avLst/>
          </a:prstGeom>
          <a:solidFill xmlns:a="http://schemas.openxmlformats.org/drawingml/2006/main">
            <a:srgbClr val="ED7F0D"/>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AFFC697-A37D-4F7D-B1E4-4EEC9E61693C}"/>
              </a:ext>
            </a:extLst>
          </p:cNvPr>
          <p:cNvSpPr>
            <a:spLocks xmlns:a="http://schemas.openxmlformats.org/drawingml/2006/main" noGrp="1"/>
          </p:cNvSpPr>
          <p:nvPr/>
        </p:nvSpPr>
        <p:spPr>
          <a:xfrm xmlns:a="http://schemas.openxmlformats.org/drawingml/2006/main">
            <a:off x="1143000" y="2647950"/>
            <a:ext cx="9906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0">
                <a:solidFill>
                  <a:srgbClr val="152538"/>
                </a:solidFill>
              </a:defRPr>
            </a:pPr>
            <a:r>
              <a:rPr sz="1575" b="0">
                <a:solidFill>
                  <a:srgbClr val="152538"/>
                </a:solidFill>
              </a:rPr>
              <a:t>P1  First-turn coupling</a:t>
            </a:r>
          </a:p>
          <a:p xmlns:a="http://schemas.openxmlformats.org/drawingml/2006/main">
            <a:pPr algn="l">
              <a:defRPr sz="1575" b="0">
                <a:solidFill>
                  <a:srgbClr val="152538"/>
                </a:solidFill>
              </a:defRPr>
            </a:pPr>
            <a:r>
              <a:rPr sz="1575" b="0">
                <a:solidFill>
                  <a:srgbClr val="152538"/>
                </a:solidFill>
              </a:rPr>
              <a:t>Test torque transfer separately from engagement.</a:t>
            </a:r>
          </a:p>
        </p:txBody>
      </p:sp>
      <p:sp>
        <p:nvSpPr>
          <p:cNvPr id="13" name="">
            <a:extLst xmlns:a="http://schemas.openxmlformats.org/drawingml/2006/main">
              <a:ext uri="{FF2B5EF4-FFF2-40B4-BE49-F238E27FC236}">
                <a16:creationId xmlns:a16="http://schemas.microsoft.com/office/drawing/2014/main" id="{2CAE1B90-F8B3-452E-8CAF-AA9BEEEAE3CC}"/>
              </a:ext>
            </a:extLst>
          </p:cNvPr>
          <p:cNvSpPr>
            <a:spLocks xmlns:a="http://schemas.openxmlformats.org/drawingml/2006/main" noGrp="1"/>
          </p:cNvSpPr>
          <p:nvPr/>
        </p:nvSpPr>
        <p:spPr>
          <a:xfrm xmlns:a="http://schemas.openxmlformats.org/drawingml/2006/main">
            <a:off x="838200" y="3619500"/>
            <a:ext cx="114300" cy="742950"/>
          </a:xfrm>
          <a:prstGeom xmlns:a="http://schemas.openxmlformats.org/drawingml/2006/main" prst="rect">
            <a:avLst/>
          </a:prstGeom>
          <a:solidFill xmlns:a="http://schemas.openxmlformats.org/drawingml/2006/main">
            <a:srgbClr val="004282"/>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C48B9A1A-D915-4959-82F1-CC72F378C37E}"/>
              </a:ext>
            </a:extLst>
          </p:cNvPr>
          <p:cNvSpPr>
            <a:spLocks xmlns:a="http://schemas.openxmlformats.org/drawingml/2006/main" noGrp="1"/>
          </p:cNvSpPr>
          <p:nvPr/>
        </p:nvSpPr>
        <p:spPr>
          <a:xfrm xmlns:a="http://schemas.openxmlformats.org/drawingml/2006/main">
            <a:off x="1143000" y="3619500"/>
            <a:ext cx="9906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0">
                <a:solidFill>
                  <a:srgbClr val="152538"/>
                </a:solidFill>
              </a:defRPr>
            </a:pPr>
            <a:r>
              <a:rPr sz="1575" b="0">
                <a:solidFill>
                  <a:srgbClr val="152538"/>
                </a:solidFill>
              </a:rPr>
              <a:t>P2  Observation robustness</a:t>
            </a:r>
          </a:p>
          <a:p xmlns:a="http://schemas.openxmlformats.org/drawingml/2006/main">
            <a:pPr algn="l">
              <a:defRPr sz="1575" b="0">
                <a:solidFill>
                  <a:srgbClr val="152538"/>
                </a:solidFill>
              </a:defRPr>
            </a:pPr>
            <a:r>
              <a:rPr sz="1575" b="0">
                <a:solidFill>
                  <a:srgbClr val="152538"/>
                </a:solidFill>
              </a:rPr>
              <a:t>Track session drift, wear, temperature and size shift.</a:t>
            </a:r>
          </a:p>
        </p:txBody>
      </p:sp>
      <p:sp>
        <p:nvSpPr>
          <p:cNvPr id="15" name="">
            <a:extLst xmlns:a="http://schemas.openxmlformats.org/drawingml/2006/main">
              <a:ext uri="{FF2B5EF4-FFF2-40B4-BE49-F238E27FC236}">
                <a16:creationId xmlns:a16="http://schemas.microsoft.com/office/drawing/2014/main" id="{215BF065-5EB2-487B-9208-D89ECC8464D6}"/>
              </a:ext>
            </a:extLst>
          </p:cNvPr>
          <p:cNvSpPr>
            <a:spLocks xmlns:a="http://schemas.openxmlformats.org/drawingml/2006/main" noGrp="1"/>
          </p:cNvSpPr>
          <p:nvPr/>
        </p:nvSpPr>
        <p:spPr>
          <a:xfrm xmlns:a="http://schemas.openxmlformats.org/drawingml/2006/main">
            <a:off x="838200" y="4591050"/>
            <a:ext cx="114300" cy="742950"/>
          </a:xfrm>
          <a:prstGeom xmlns:a="http://schemas.openxmlformats.org/drawingml/2006/main" prst="rect">
            <a:avLst/>
          </a:prstGeom>
          <a:solidFill xmlns:a="http://schemas.openxmlformats.org/drawingml/2006/main">
            <a:srgbClr val="009E73"/>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02925968-1DBF-42BE-B40C-2A14AAD215A0}"/>
              </a:ext>
            </a:extLst>
          </p:cNvPr>
          <p:cNvSpPr>
            <a:spLocks xmlns:a="http://schemas.openxmlformats.org/drawingml/2006/main" noGrp="1"/>
          </p:cNvSpPr>
          <p:nvPr/>
        </p:nvSpPr>
        <p:spPr>
          <a:xfrm xmlns:a="http://schemas.openxmlformats.org/drawingml/2006/main">
            <a:off x="1143000" y="4591050"/>
            <a:ext cx="9906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0">
                <a:solidFill>
                  <a:srgbClr val="152538"/>
                </a:solidFill>
              </a:defRPr>
            </a:pPr>
            <a:r>
              <a:rPr sz="1575" b="0">
                <a:solidFill>
                  <a:srgbClr val="152538"/>
                </a:solidFill>
              </a:rPr>
              <a:t>P3  Larger residual regions</a:t>
            </a:r>
          </a:p>
          <a:p xmlns:a="http://schemas.openxmlformats.org/drawingml/2006/main">
            <a:pPr algn="l">
              <a:defRPr sz="1575" b="0">
                <a:solidFill>
                  <a:srgbClr val="152538"/>
                </a:solidFill>
              </a:defRPr>
            </a:pPr>
            <a:r>
              <a:rPr sz="1575" b="0">
                <a:solidFill>
                  <a:srgbClr val="152538"/>
                </a:solidFill>
              </a:rPr>
              <a:t>Re-test whether information planning earns its cost.</a:t>
            </a:r>
          </a:p>
        </p:txBody>
      </p:sp>
      <p:sp>
        <p:nvSpPr>
          <p:cNvPr id="17" name="">
            <a:extLst xmlns:a="http://schemas.openxmlformats.org/drawingml/2006/main">
              <a:ext uri="{FF2B5EF4-FFF2-40B4-BE49-F238E27FC236}">
                <a16:creationId xmlns:a16="http://schemas.microsoft.com/office/drawing/2014/main" id="{5745B7C2-4CA7-4499-B6BB-F935B9E726C4}"/>
              </a:ext>
            </a:extLst>
          </p:cNvPr>
          <p:cNvSpPr>
            <a:spLocks xmlns:a="http://schemas.openxmlformats.org/drawingml/2006/main" noGrp="1"/>
          </p:cNvSpPr>
          <p:nvPr/>
        </p:nvSpPr>
        <p:spPr>
          <a:xfrm xmlns:a="http://schemas.openxmlformats.org/drawingml/2006/main">
            <a:off x="647700" y="5943600"/>
            <a:ext cx="10839450" cy="400050"/>
          </a:xfrm>
          <a:prstGeom xmlns:a="http://schemas.openxmlformats.org/drawingml/2006/main" prst="rect">
            <a:avLst/>
          </a:prstGeom>
          <a:solidFill xmlns:a="http://schemas.openxmlformats.org/drawingml/2006/main">
            <a:srgbClr val="FFF0E2"/>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3AD09427-982D-48A3-8817-3CD536147DB1}"/>
              </a:ext>
            </a:extLst>
          </p:cNvPr>
          <p:cNvSpPr>
            <a:spLocks xmlns:a="http://schemas.openxmlformats.org/drawingml/2006/main" noGrp="1"/>
          </p:cNvSpPr>
          <p:nvPr/>
        </p:nvSpPr>
        <p:spPr>
          <a:xfrm xmlns:a="http://schemas.openxmlformats.org/drawingml/2006/main">
            <a:off x="647700" y="5943600"/>
            <a:ext cx="57150" cy="400050"/>
          </a:xfrm>
          <a:prstGeom xmlns:a="http://schemas.openxmlformats.org/drawingml/2006/main" prst="rect">
            <a:avLst/>
          </a:prstGeom>
          <a:solidFill xmlns:a="http://schemas.openxmlformats.org/drawingml/2006/main">
            <a:srgbClr val="ED7F0D"/>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4E554965-FA4D-45A4-95D2-CF64F50AB6FF}"/>
              </a:ext>
            </a:extLst>
          </p:cNvPr>
          <p:cNvSpPr>
            <a:spLocks xmlns:a="http://schemas.openxmlformats.org/drawingml/2006/main" noGrp="1"/>
          </p:cNvSpPr>
          <p:nvPr/>
        </p:nvSpPr>
        <p:spPr>
          <a:xfrm xmlns:a="http://schemas.openxmlformats.org/drawingml/2006/main">
            <a:off x="838200" y="5981700"/>
            <a:ext cx="10458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152538"/>
                </a:solidFill>
              </a:defRPr>
            </a:pPr>
            <a:r>
              <a:rPr sz="1275" b="1">
                <a:solidFill>
                  <a:srgbClr val="152538"/>
                </a:solidFill>
              </a:rPr>
              <a:t>Each new experiment should close one named validity gap.</a:t>
            </a:r>
          </a:p>
        </p:txBody>
      </p:sp>
    </p:spTree>
    <p:extLst>
      <p:ext uri="{BB962C8B-B14F-4D97-AF65-F5344CB8AC3E}">
        <p14:creationId xmlns:p14="http://schemas.microsoft.com/office/powerpoint/2010/main" val="263494538"/>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8ED3668-A913-44A1-A9C9-C9BF02C6A250}"/>
              </a:ext>
            </a:extLst>
          </p:cNvPr>
          <p:cNvSpPr>
            <a:spLocks xmlns:a="http://schemas.openxmlformats.org/drawingml/2006/main" noGrp="1"/>
          </p:cNvSpPr>
          <p:nvPr/>
        </p:nvSpPr>
        <p:spPr>
          <a:xfrm xmlns:a="http://schemas.openxmlformats.org/drawingml/2006/main">
            <a:off x="0" y="0"/>
            <a:ext cx="12192000" cy="781050"/>
          </a:xfrm>
          <a:prstGeom xmlns:a="http://schemas.openxmlformats.org/drawingml/2006/main" prst="rect">
            <a:avLst/>
          </a:prstGeom>
          <a:solidFill xmlns:a="http://schemas.openxmlformats.org/drawingml/2006/main">
            <a:srgbClr val="004282"/>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3510038-BEB9-4ACD-A8B0-572965F54A12}"/>
              </a:ext>
            </a:extLst>
          </p:cNvPr>
          <p:cNvSpPr>
            <a:spLocks xmlns:a="http://schemas.openxmlformats.org/drawingml/2006/main" noGrp="1"/>
          </p:cNvSpPr>
          <p:nvPr/>
        </p:nvSpPr>
        <p:spPr>
          <a:xfrm xmlns:a="http://schemas.openxmlformats.org/drawingml/2006/main">
            <a:off x="0" y="781050"/>
            <a:ext cx="12192000" cy="66675"/>
          </a:xfrm>
          <a:prstGeom xmlns:a="http://schemas.openxmlformats.org/drawingml/2006/main" prst="rect">
            <a:avLst/>
          </a:prstGeom>
          <a:solidFill xmlns:a="http://schemas.openxmlformats.org/drawingml/2006/main">
            <a:srgbClr val="ED7F0D"/>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CC5D998-9B71-4B49-9550-E3EB559BC791}"/>
              </a:ext>
            </a:extLst>
          </p:cNvPr>
          <p:cNvSpPr>
            <a:spLocks xmlns:a="http://schemas.openxmlformats.org/drawingml/2006/main" noGrp="1"/>
          </p:cNvSpPr>
          <p:nvPr/>
        </p:nvSpPr>
        <p:spPr>
          <a:xfrm xmlns:a="http://schemas.openxmlformats.org/drawingml/2006/main">
            <a:off x="742950" y="190500"/>
            <a:ext cx="400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FFFFFF"/>
                </a:solidFill>
              </a:defRPr>
            </a:pPr>
            <a:r>
              <a:rPr sz="1800" b="1">
                <a:solidFill>
                  <a:srgbClr val="FFFFFF"/>
                </a:solidFill>
              </a:rPr>
              <a:t>DECLARATION</a:t>
            </a:r>
          </a:p>
        </p:txBody>
      </p:sp>
      <p:sp>
        <p:nvSpPr>
          <p:cNvPr id="4" name="">
            <a:extLst xmlns:a="http://schemas.openxmlformats.org/drawingml/2006/main">
              <a:ext uri="{FF2B5EF4-FFF2-40B4-BE49-F238E27FC236}">
                <a16:creationId xmlns:a16="http://schemas.microsoft.com/office/drawing/2014/main" id="{E93B6BCC-EF2F-444C-89BD-59FC091456E1}"/>
              </a:ext>
            </a:extLst>
          </p:cNvPr>
          <p:cNvSpPr>
            <a:spLocks xmlns:a="http://schemas.openxmlformats.org/drawingml/2006/main" noGrp="1"/>
          </p:cNvSpPr>
          <p:nvPr/>
        </p:nvSpPr>
        <p:spPr>
          <a:xfrm xmlns:a="http://schemas.openxmlformats.org/drawingml/2006/main">
            <a:off x="1257300" y="1543050"/>
            <a:ext cx="96774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025" b="0">
                <a:solidFill>
                  <a:srgbClr val="152538"/>
                </a:solidFill>
              </a:defRPr>
            </a:pPr>
            <a:r>
              <a:rPr sz="2025" b="0">
                <a:solidFill>
                  <a:srgbClr val="152538"/>
                </a:solidFill>
              </a:rPr>
              <a:t>I hereby declare that this work is my original work and it has been written by me in its entirety. I have duly acknowledged all the sources of information which have been used in the work.</a:t>
            </a:r>
          </a:p>
        </p:txBody>
      </p:sp>
      <p:sp>
        <p:nvSpPr>
          <p:cNvPr id="5" name="">
            <a:extLst xmlns:a="http://schemas.openxmlformats.org/drawingml/2006/main">
              <a:ext uri="{FF2B5EF4-FFF2-40B4-BE49-F238E27FC236}">
                <a16:creationId xmlns:a16="http://schemas.microsoft.com/office/drawing/2014/main" id="{34CEF0C4-1EB8-4DD8-B9FC-EC6D480D55D4}"/>
              </a:ext>
            </a:extLst>
          </p:cNvPr>
          <p:cNvSpPr>
            <a:spLocks xmlns:a="http://schemas.openxmlformats.org/drawingml/2006/main" noGrp="1"/>
          </p:cNvSpPr>
          <p:nvPr/>
        </p:nvSpPr>
        <p:spPr>
          <a:xfrm xmlns:a="http://schemas.openxmlformats.org/drawingml/2006/main">
            <a:off x="1257300" y="3429000"/>
            <a:ext cx="9677400" cy="19050"/>
          </a:xfrm>
          <a:prstGeom xmlns:a="http://schemas.openxmlformats.org/drawingml/2006/main" prst="rect">
            <a:avLst/>
          </a:prstGeom>
          <a:solidFill xmlns:a="http://schemas.openxmlformats.org/drawingml/2006/main">
            <a:srgbClr val="D9E0E6"/>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54E07998-D3C0-4642-984F-4E87DB26B194}"/>
              </a:ext>
            </a:extLst>
          </p:cNvPr>
          <p:cNvSpPr>
            <a:spLocks xmlns:a="http://schemas.openxmlformats.org/drawingml/2006/main" noGrp="1"/>
          </p:cNvSpPr>
          <p:nvPr/>
        </p:nvSpPr>
        <p:spPr>
          <a:xfrm xmlns:a="http://schemas.openxmlformats.org/drawingml/2006/main">
            <a:off x="1257300" y="3810000"/>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a:solidFill>
                  <a:srgbClr val="004282"/>
                </a:solidFill>
              </a:defRPr>
            </a:pPr>
            <a:r>
              <a:rPr sz="1650" b="1">
                <a:solidFill>
                  <a:srgbClr val="004282"/>
                </a:solidFill>
              </a:rPr>
              <a:t>NAN JINYAO</a:t>
            </a:r>
          </a:p>
        </p:txBody>
      </p:sp>
      <p:sp>
        <p:nvSpPr>
          <p:cNvPr id="7" name="">
            <a:extLst xmlns:a="http://schemas.openxmlformats.org/drawingml/2006/main">
              <a:ext uri="{FF2B5EF4-FFF2-40B4-BE49-F238E27FC236}">
                <a16:creationId xmlns:a16="http://schemas.microsoft.com/office/drawing/2014/main" id="{7822D10A-9A58-49CD-B733-45B5721F7E85}"/>
              </a:ext>
            </a:extLst>
          </p:cNvPr>
          <p:cNvSpPr>
            <a:spLocks xmlns:a="http://schemas.openxmlformats.org/drawingml/2006/main" noGrp="1"/>
          </p:cNvSpPr>
          <p:nvPr/>
        </p:nvSpPr>
        <p:spPr>
          <a:xfrm xmlns:a="http://schemas.openxmlformats.org/drawingml/2006/main">
            <a:off x="1257300" y="451485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6B7580"/>
                </a:solidFill>
              </a:defRPr>
            </a:pPr>
            <a:r>
              <a:rPr sz="1125" b="0">
                <a:solidFill>
                  <a:srgbClr val="6B7580"/>
                </a:solidFill>
              </a:rPr>
              <a:t>Signature</a:t>
            </a:r>
          </a:p>
        </p:txBody>
      </p:sp>
      <p:sp>
        <p:nvSpPr>
          <p:cNvPr id="8" name="">
            <a:extLst xmlns:a="http://schemas.openxmlformats.org/drawingml/2006/main">
              <a:ext uri="{FF2B5EF4-FFF2-40B4-BE49-F238E27FC236}">
                <a16:creationId xmlns:a16="http://schemas.microsoft.com/office/drawing/2014/main" id="{F8E9FABD-898D-4688-A1C5-075A9BF93D72}"/>
              </a:ext>
            </a:extLst>
          </p:cNvPr>
          <p:cNvSpPr>
            <a:spLocks xmlns:a="http://schemas.openxmlformats.org/drawingml/2006/main" noGrp="1"/>
          </p:cNvSpPr>
          <p:nvPr/>
        </p:nvSpPr>
        <p:spPr>
          <a:xfrm xmlns:a="http://schemas.openxmlformats.org/drawingml/2006/main">
            <a:off x="1257300" y="4857750"/>
            <a:ext cx="4000500" cy="628650"/>
          </a:xfrm>
          <a:prstGeom xmlns:a="http://schemas.openxmlformats.org/drawingml/2006/main" prst="rect">
            <a:avLst/>
          </a:prstGeom>
          <a:solidFill xmlns:a="http://schemas.openxmlformats.org/drawingml/2006/main">
            <a:srgbClr val="F7F9FC"/>
          </a:solidFill>
          <a:ln xmlns:a="http://schemas.openxmlformats.org/drawingml/2006/main" w="9525">
            <a:solidFill>
              <a:srgbClr val="D9E0E6"/>
            </a:solidFill>
            <a:prstDash val="solid"/>
          </a:ln>
        </p:spPr>
      </p:sp>
      <p:sp>
        <p:nvSpPr>
          <p:cNvPr id="9" name="">
            <a:extLst xmlns:a="http://schemas.openxmlformats.org/drawingml/2006/main">
              <a:ext uri="{FF2B5EF4-FFF2-40B4-BE49-F238E27FC236}">
                <a16:creationId xmlns:a16="http://schemas.microsoft.com/office/drawing/2014/main" id="{5D97958B-E9F1-40F8-96FB-4CE43966D90E}"/>
              </a:ext>
            </a:extLst>
          </p:cNvPr>
          <p:cNvSpPr>
            <a:spLocks xmlns:a="http://schemas.openxmlformats.org/drawingml/2006/main" noGrp="1"/>
          </p:cNvSpPr>
          <p:nvPr/>
        </p:nvSpPr>
        <p:spPr>
          <a:xfrm xmlns:a="http://schemas.openxmlformats.org/drawingml/2006/main">
            <a:off x="1447800" y="5010150"/>
            <a:ext cx="3619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0">
                <a:solidFill>
                  <a:srgbClr val="6B7580"/>
                </a:solidFill>
              </a:defRPr>
            </a:pPr>
            <a:r>
              <a:rPr sz="1350" b="0">
                <a:solidFill>
                  <a:srgbClr val="6B7580"/>
                </a:solidFill>
              </a:rPr>
              <a:t>[Insert real signature here]</a:t>
            </a:r>
          </a:p>
        </p:txBody>
      </p:sp>
      <p:sp>
        <p:nvSpPr>
          <p:cNvPr id="10" name="">
            <a:extLst xmlns:a="http://schemas.openxmlformats.org/drawingml/2006/main">
              <a:ext uri="{FF2B5EF4-FFF2-40B4-BE49-F238E27FC236}">
                <a16:creationId xmlns:a16="http://schemas.microsoft.com/office/drawing/2014/main" id="{623FF348-975E-414D-8540-F6A426C7DA3C}"/>
              </a:ext>
            </a:extLst>
          </p:cNvPr>
          <p:cNvSpPr>
            <a:spLocks xmlns:a="http://schemas.openxmlformats.org/drawingml/2006/main" noGrp="1"/>
          </p:cNvSpPr>
          <p:nvPr/>
        </p:nvSpPr>
        <p:spPr>
          <a:xfrm xmlns:a="http://schemas.openxmlformats.org/drawingml/2006/main">
            <a:off x="7124700" y="4514850"/>
            <a:ext cx="95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6B7580"/>
                </a:solidFill>
              </a:defRPr>
            </a:pPr>
            <a:r>
              <a:rPr sz="1125" b="0">
                <a:solidFill>
                  <a:srgbClr val="6B7580"/>
                </a:solidFill>
              </a:rPr>
              <a:t>Date</a:t>
            </a:r>
          </a:p>
        </p:txBody>
      </p:sp>
      <p:sp>
        <p:nvSpPr>
          <p:cNvPr id="11" name="">
            <a:extLst xmlns:a="http://schemas.openxmlformats.org/drawingml/2006/main">
              <a:ext uri="{FF2B5EF4-FFF2-40B4-BE49-F238E27FC236}">
                <a16:creationId xmlns:a16="http://schemas.microsoft.com/office/drawing/2014/main" id="{90ED9817-F20E-4359-805F-307CA7F88BAF}"/>
              </a:ext>
            </a:extLst>
          </p:cNvPr>
          <p:cNvSpPr>
            <a:spLocks xmlns:a="http://schemas.openxmlformats.org/drawingml/2006/main" noGrp="1"/>
          </p:cNvSpPr>
          <p:nvPr/>
        </p:nvSpPr>
        <p:spPr>
          <a:xfrm xmlns:a="http://schemas.openxmlformats.org/drawingml/2006/main">
            <a:off x="7124700" y="4857750"/>
            <a:ext cx="3143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a:solidFill>
                  <a:srgbClr val="152538"/>
                </a:solidFill>
              </a:defRPr>
            </a:pPr>
            <a:r>
              <a:rPr sz="1650" b="1">
                <a:solidFill>
                  <a:srgbClr val="152538"/>
                </a:solidFill>
              </a:rPr>
              <a:t>30 August 2026</a:t>
            </a:r>
          </a:p>
        </p:txBody>
      </p:sp>
      <p:sp>
        <p:nvSpPr>
          <p:cNvPr id="12" name="">
            <a:extLst xmlns:a="http://schemas.openxmlformats.org/drawingml/2006/main">
              <a:ext uri="{FF2B5EF4-FFF2-40B4-BE49-F238E27FC236}">
                <a16:creationId xmlns:a16="http://schemas.microsoft.com/office/drawing/2014/main" id="{526714F2-17D2-4405-9388-9DED003C24B7}"/>
              </a:ext>
            </a:extLst>
          </p:cNvPr>
          <p:cNvSpPr>
            <a:spLocks xmlns:a="http://schemas.openxmlformats.org/drawingml/2006/main" noGrp="1"/>
          </p:cNvSpPr>
          <p:nvPr/>
        </p:nvSpPr>
        <p:spPr>
          <a:xfrm xmlns:a="http://schemas.openxmlformats.org/drawingml/2006/main">
            <a:off x="1257300" y="5857875"/>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C74A4A"/>
                </a:solidFill>
              </a:defRPr>
            </a:pPr>
            <a:r>
              <a:rPr sz="975" b="0">
                <a:solidFill>
                  <a:srgbClr val="C74A4A"/>
                </a:solidFill>
              </a:rPr>
              <a:t>No signature was synthesized.</a:t>
            </a:r>
          </a:p>
        </p:txBody>
      </p:sp>
      <p:sp>
        <p:nvSpPr>
          <p:cNvPr id="13" name="">
            <a:extLst xmlns:a="http://schemas.openxmlformats.org/drawingml/2006/main">
              <a:ext uri="{FF2B5EF4-FFF2-40B4-BE49-F238E27FC236}">
                <a16:creationId xmlns:a16="http://schemas.microsoft.com/office/drawing/2014/main" id="{5FF50AD9-8FB8-407D-8A6A-A43D31E18E5E}"/>
              </a:ext>
            </a:extLst>
          </p:cNvPr>
          <p:cNvSpPr>
            <a:spLocks xmlns:a="http://schemas.openxmlformats.org/drawingml/2006/main" noGrp="1"/>
          </p:cNvSpPr>
          <p:nvPr/>
        </p:nvSpPr>
        <p:spPr>
          <a:xfrm xmlns:a="http://schemas.openxmlformats.org/drawingml/2006/main">
            <a:off x="11049000" y="648652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004282"/>
                </a:solidFill>
              </a:defRPr>
            </a:pPr>
            <a:r>
              <a:rPr sz="825" b="1">
                <a:solidFill>
                  <a:srgbClr val="004282"/>
                </a:solidFill>
              </a:rPr>
              <a:t>39</a:t>
            </a:r>
          </a:p>
        </p:txBody>
      </p:sp>
    </p:spTree>
    <p:extLst>
      <p:ext uri="{BB962C8B-B14F-4D97-AF65-F5344CB8AC3E}">
        <p14:creationId xmlns:p14="http://schemas.microsoft.com/office/powerpoint/2010/main" val="49396243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2026-08-30T08:13:46.3290000Z</dcterms:created>
  <dcterms:modified xsi:type="dcterms:W3CDTF">2026-08-30T08:13:46.3290000Z</dcterms:modified>
</coreProperties>
</file>